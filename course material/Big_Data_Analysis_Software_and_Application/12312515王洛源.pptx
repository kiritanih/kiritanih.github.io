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62" r:id="rId5"/>
    <p:sldId id="274" r:id="rId6"/>
    <p:sldId id="269" r:id="rId7"/>
    <p:sldId id="270" r:id="rId8"/>
    <p:sldId id="275" r:id="rId9"/>
    <p:sldId id="271" r:id="rId10"/>
    <p:sldId id="276" r:id="rId11"/>
    <p:sldId id="268" r:id="rId12"/>
    <p:sldId id="277" r:id="rId13"/>
    <p:sldId id="27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信用户" initials="authorId_1284141461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9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9558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8669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72250" y="19558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721600" y="18669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44704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43815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6572250" y="44704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7721600" y="4381500"/>
            <a:ext cx="355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图标配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4732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3340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91948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内容右多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302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860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5080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82115" y="2343785"/>
            <a:ext cx="880681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3200" b="1" i="0"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3200" b="1" i="0">
                <a:latin typeface="微软雅黑" panose="020B0503020204020204" charset="-122"/>
                <a:ea typeface="微软雅黑" panose="020B0503020204020204" charset="-122"/>
              </a:rPr>
              <a:t>GPT-image2</a:t>
            </a:r>
            <a:r>
              <a:rPr lang="zh-CN" altLang="en-US" sz="3200" b="1" i="0">
                <a:latin typeface="微软雅黑" panose="020B0503020204020204" charset="-122"/>
                <a:ea typeface="微软雅黑" panose="020B0503020204020204" charset="-122"/>
              </a:rPr>
              <a:t>看大模型对社会安全的冲击</a:t>
            </a:r>
            <a:endParaRPr lang="en-US" altLang="zh-CN" sz="3200" b="1" i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43350" y="4820920"/>
            <a:ext cx="739902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/>
            <a:r>
              <a:rPr lang="en-US"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12312515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王洛源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algn="ctr"/>
            <a:endParaRPr lang="zh-CN" altLang="en-US" sz="20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75650" y="1068705"/>
            <a:ext cx="3151505" cy="557085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4344035" y="1068705"/>
            <a:ext cx="3333750" cy="529463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533400" y="1136015"/>
            <a:ext cx="3221355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65" y="1307465"/>
            <a:ext cx="751205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2" name="图片 1" descr="mmexport1777959470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381760"/>
            <a:ext cx="2853690" cy="47542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73325" y="1487805"/>
            <a:ext cx="12001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4364355" y="1337310"/>
            <a:ext cx="3857625" cy="49669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510270" y="1435735"/>
            <a:ext cx="3237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那如果我们看到的是这种图呢？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2" name="图片 1" descr="mmexport17779598579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1232535"/>
            <a:ext cx="3006090" cy="43929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95750" y="1280160"/>
            <a:ext cx="6851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有图有真相</a:t>
            </a:r>
            <a:r>
              <a:rPr lang="en-US" altLang="zh-CN"/>
              <a:t> </a:t>
            </a:r>
            <a:r>
              <a:rPr lang="zh-CN" altLang="en-US"/>
              <a:t>是否还是金科玉律？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95750" y="1991360"/>
            <a:ext cx="61550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黑暗森林体系中，最核心的理论是猜疑链假设</a:t>
            </a:r>
            <a:endParaRPr lang="zh-CN" altLang="en-US"/>
          </a:p>
          <a:p>
            <a:r>
              <a:rPr lang="zh-CN" altLang="en-US"/>
              <a:t>无法判断对方是善意的还是恶意的，为了保护自己，只能先行假设对方是恶意的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95750" y="3684905"/>
            <a:ext cx="6776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看到一张图时，我们还会预设这张图是真实的吗？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18160" y="1191895"/>
            <a:ext cx="82067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前沿图像生成已从艺术合成转向合成视觉证据。现有的强大模型融合了照片级真实感渲染、可读排版、参考一致性、编辑控制，以及在若干情况下结合推理或基于搜索的图像构建能力。这些能力为设计、教育、无障碍交流和传播带来了巨大好处，但同时也在削弱社会中最常见的信任捷径之一：即相信一张可信的画面就是可靠的事实记录。</a:t>
            </a:r>
            <a:endParaRPr lang="zh-CN" altLang="en-US"/>
          </a:p>
          <a:p>
            <a:pPr indent="457200"/>
            <a:r>
              <a:rPr lang="zh-CN" altLang="en-US"/>
              <a:t>风险的主要驱动力并非单纯的照片级真实感，而是真实感、可读文本、身份稳定性、快速迭代以及传播情境的综合作用。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3221990"/>
            <a:ext cx="5617845" cy="3489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1340" y="1384300"/>
            <a:ext cx="88671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lvl="1" indent="457200"/>
            <a:r>
              <a:rPr lang="zh-CN" altLang="en-US"/>
              <a:t>一个普遍的直觉是，主要的危险在于完美的照片级逼真。然而，公开案例显示了一个更为细致的观点。许多虚假图像带有明显缺陷却仍被广泛传播，因为其背后的故事在情感上引人注目、时间上紧迫或在政治上便利。如果一种不太真实的图像嵌入在可信的电子邮件链中、由受信任的账户发布或者附在真实的业务流程中，它仍然可能造成危害。</a:t>
            </a:r>
            <a:endParaRPr lang="zh-CN" altLang="en-US"/>
          </a:p>
          <a:p>
            <a:pPr marL="457200" lvl="1" indent="457200"/>
            <a:r>
              <a:rPr lang="en-US" altLang="zh-CN"/>
              <a:t>Risk therefore arises from an artifact-context pair.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962025" y="3782060"/>
            <a:ext cx="98304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2023年5月，一张五角大楼附近爆炸的假图片在网上流传，并在官方和事实核查人员揭穿之前短暂地扰乱了金融市场。</a:t>
            </a:r>
            <a:endParaRPr lang="zh-CN" altLang="en-US"/>
          </a:p>
          <a:p>
            <a:r>
              <a:rPr lang="en-US" altLang="zh-CN"/>
              <a:t>2023</a:t>
            </a:r>
            <a:r>
              <a:rPr lang="zh-CN" altLang="en-US"/>
              <a:t>年美联社报道，一张生成的人工智能图片显示唐纳德·特朗普被逮捕，被当作真实场景分享。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62025" y="5265420"/>
            <a:ext cx="8644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/>
              <a:t>2023</a:t>
            </a:r>
            <a:r>
              <a:rPr lang="zh-CN" altLang="en-US"/>
              <a:t>年的时候，</a:t>
            </a:r>
            <a:r>
              <a:rPr lang="en-US" altLang="zh-CN"/>
              <a:t>AI</a:t>
            </a:r>
            <a:r>
              <a:rPr lang="zh-CN" altLang="en-US"/>
              <a:t>技术还远没有今天成熟，但是足够有冲击性的虚假信息还是很容易被广泛传播，造成恶劣影响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32765" y="1013460"/>
            <a:ext cx="7629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如何解决这一问题？</a:t>
            </a:r>
            <a:endParaRPr lang="zh-CN" altLang="en-US"/>
          </a:p>
          <a:p>
            <a:r>
              <a:rPr lang="zh-CN" altLang="en-US"/>
              <a:t>三种主要途径：信息提供者的声明，模型自己设置的水印标记，立法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32765" y="1961515"/>
            <a:ext cx="10318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水印技术可以添加一个隐藏信号，供检测器恢复。</a:t>
            </a:r>
            <a:r>
              <a:rPr lang="en-US" altLang="zh-CN"/>
              <a:t>Google</a:t>
            </a:r>
            <a:r>
              <a:rPr lang="zh-CN" altLang="en-US"/>
              <a:t>针对</a:t>
            </a:r>
            <a:r>
              <a:rPr lang="en-US" altLang="zh-CN"/>
              <a:t>Nano Banana</a:t>
            </a:r>
            <a:r>
              <a:rPr lang="zh-CN" altLang="en-US"/>
              <a:t>模型的文档描述了</a:t>
            </a:r>
            <a:r>
              <a:rPr lang="en-US" altLang="zh-CN"/>
              <a:t>SynthID，</a:t>
            </a:r>
            <a:r>
              <a:rPr lang="zh-CN" altLang="en-US"/>
              <a:t>并在</a:t>
            </a:r>
            <a:r>
              <a:rPr lang="en-US" altLang="zh-CN"/>
              <a:t>Nano Banana 2</a:t>
            </a:r>
            <a:r>
              <a:rPr lang="zh-CN" altLang="en-US"/>
              <a:t>的文档中介绍了对</a:t>
            </a:r>
            <a:r>
              <a:rPr lang="en-US" altLang="zh-CN"/>
              <a:t>C2PA</a:t>
            </a:r>
            <a:r>
              <a:rPr lang="zh-CN" altLang="en-US"/>
              <a:t>的支持（</a:t>
            </a:r>
            <a:r>
              <a:rPr lang="en-US" altLang="zh-CN"/>
              <a:t>Google, 2025, 2026）。</a:t>
            </a:r>
            <a:r>
              <a:rPr lang="zh-CN" altLang="en-US"/>
              <a:t>当拍摄设备、编辑工具、平台和查看器都保留并展示这一链条时，溯源的效果最强；而当内容经过截图、低质量转发、激进压缩或对抗性编辑时，溯源的效果最弱。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3400" y="3806190"/>
            <a:ext cx="103181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 </a:t>
            </a:r>
            <a:r>
              <a:rPr lang="zh-CN" altLang="en-US"/>
              <a:t>图像检测器作为一种信号是有用的，但它们不能单独承担全部责任。后期处理、压缩、裁剪、对抗优化以及通过截图的分发都可能欺骗检测器。它们还可能产生错误的正面结果，从而伤害艺术家、记者和普通用户。</a:t>
            </a:r>
            <a:endParaRPr lang="zh-CN" altLang="en-US"/>
          </a:p>
          <a:p>
            <a:r>
              <a:rPr lang="zh-CN" altLang="en-US"/>
              <a:t>更安全的框架是基于证据的：在高风险决策中，应询问图像来自哪里，谁控制了拍摄设备，编辑链是否被保留，有哪些独立证据可以证实，以及如果图像是假的，会造成什么样的损害。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32765" y="5591175"/>
            <a:ext cx="10318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模型提供者应将真实文档、官方印章、收据、合同、身份资料、医疗影像、危机场景以及公众人物冒充行为视为高风险类别。当生成的成果可能作为证据使用时，应采取更严格的控制措施。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65" y="3103245"/>
            <a:ext cx="7419340" cy="31769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9440" y="1109980"/>
            <a:ext cx="80441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欧盟《人工智能法案》的透明度框架包含了关于标记和标注</a:t>
            </a:r>
            <a:r>
              <a:rPr lang="en-US" altLang="zh-CN"/>
              <a:t>AI</a:t>
            </a:r>
            <a:r>
              <a:rPr lang="zh-CN" altLang="en-US"/>
              <a:t>生成内容及深度伪造的义务，且欧盟委员会已制定了一份关于标记和标注的实践准则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中国推出了要求对</a:t>
            </a:r>
            <a:r>
              <a:rPr lang="en-US" altLang="zh-CN"/>
              <a:t>AI</a:t>
            </a:r>
            <a:r>
              <a:rPr lang="zh-CN" altLang="en-US"/>
              <a:t>生成和合成内容进行显式及隐式标签的措施，相关规则定于2025年9月1日生效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英国对</a:t>
            </a:r>
            <a:r>
              <a:rPr lang="en-US" altLang="zh-CN"/>
              <a:t>AI</a:t>
            </a:r>
            <a:r>
              <a:rPr lang="zh-CN" altLang="en-US"/>
              <a:t>内容标注和溯源进行了研究，同时指出其国内立法相较于欧盟机制仍不够成熟</a:t>
            </a:r>
            <a:r>
              <a:rPr lang="en-US" altLang="zh-CN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1380" y="2917190"/>
            <a:ext cx="88360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沿图像生成已经跨越了一个重要的社会门槛，风险不仅在于图片看起来真实，更在于模型可以创建具有证据结构的视觉伪造：可阅读的文本、身份一致性、上下文细节以及快速迭代的精修。公共事件已经显示，合成图像如何影响市场、冲突叙事、名人话题、医疗信任和公众人物声誉。更新的系统将同样的风险范围扩展到文档、截图、发票、合同、电子邮件、印章、收据和临床影像中。</a:t>
            </a:r>
            <a:endParaRPr lang="zh-CN" altLang="en-US"/>
          </a:p>
          <a:p>
            <a:r>
              <a:rPr lang="zh-CN" altLang="en-US"/>
              <a:t>因此，社会不需要放弃图像，而是需要停止将视觉可信性视为自动真理。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64335" y="3429000"/>
            <a:ext cx="8806815" cy="7683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sz="4400" b="1" i="0">
                <a:latin typeface="微软雅黑" panose="020B0503020204020204" charset="-122"/>
                <a:ea typeface="微软雅黑" panose="020B0503020204020204" charset="-122"/>
              </a:rPr>
              <a:t>感谢您的聆听！</a:t>
            </a:r>
            <a:endParaRPr lang="zh-CN" sz="4400" b="1" i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2790" y="4687570"/>
            <a:ext cx="90576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打个广告：本</a:t>
            </a:r>
            <a:r>
              <a:rPr lang="en-US" altLang="zh-CN" sz="1000"/>
              <a:t>PPT</a:t>
            </a:r>
            <a:r>
              <a:rPr lang="zh-CN" altLang="en-US" sz="1000"/>
              <a:t>的部分素材和</a:t>
            </a:r>
            <a:r>
              <a:rPr lang="en-US" altLang="zh-CN" sz="1000"/>
              <a:t>topic</a:t>
            </a:r>
            <a:r>
              <a:rPr lang="zh-CN" altLang="en-US" sz="1000"/>
              <a:t>灵感来自博主数字生命卡兹克，是我很喜欢的很有意思的博主，大家可以关注一下</a:t>
            </a:r>
            <a:endParaRPr lang="zh-CN" altLang="en-US" sz="1000"/>
          </a:p>
          <a:p>
            <a:r>
              <a:rPr lang="zh-CN" altLang="en-US" sz="1000"/>
              <a:t>其他参考文献：</a:t>
            </a:r>
            <a:r>
              <a:rPr lang="en-US" altLang="zh-CN" sz="1000"/>
              <a:t>Wu, S., Li, X., Feng, Y., Li, Y., Wang, Z., &amp; Wang, R. (2026). Seeing Is No Longer Believing: Frontier Image Generation Models, Synthetic Visual Evidence, and Real-World Risk. arXiv:2604.24197.</a:t>
            </a:r>
            <a:endParaRPr lang="en-US" altLang="zh-CN" sz="1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266c36a6527553fce379d354fc32c381844a7a"/>
  <p:tag name="KSO_WM_NEWLAYOUT_ID" val="23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3"/>
  <p:tag name="KSO_WM_UNIT_SUBTYPE" val="d"/>
  <p:tag name="KSO_WM_UNIT_TYPE" val="l_h_i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fa8a54e7adee0739134972e8815c9d0ad378299"/>
  <p:tag name="KSO_WM_NEWLAYOUT_ID" val="82"/>
</p:tagLst>
</file>

<file path=ppt/tags/tag15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88363ceabc89091f463b59e729210b0dcb74ce"/>
  <p:tag name="KSO_WM_NEWLAYOUT_ID" val="122"/>
</p:tagLst>
</file>

<file path=ppt/tags/tag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1797</Words>
  <Application>WPS 演示</Application>
  <PresentationFormat>宽屏</PresentationFormat>
  <Paragraphs>47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Neue Haas Grotesk Text Pro</vt:lpstr>
      <vt:lpstr>微软雅黑</vt:lpstr>
      <vt:lpstr>Segoe Print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HaruYuu</cp:lastModifiedBy>
  <cp:revision>59</cp:revision>
  <dcterms:created xsi:type="dcterms:W3CDTF">2023-08-09T12:44:00Z</dcterms:created>
  <dcterms:modified xsi:type="dcterms:W3CDTF">2026-05-13T02:41:16Z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6D5AC98A8488496286A0F2483185B0D7_13</vt:lpwstr>
  </property>
</Properties>
</file>