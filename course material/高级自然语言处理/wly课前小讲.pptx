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微信用户" initials="authorId_1284141461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jpe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-33683" y="855597"/>
            <a:ext cx="12238383" cy="97569"/>
          </a:xfrm>
          <a:prstGeom prst="rect">
            <a:avLst/>
          </a:prstGeom>
          <a:solidFill>
            <a:srgbClr val="1A54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7" t="35967" r="12989" b="40544"/>
          <a:stretch>
            <a:fillRect/>
          </a:stretch>
        </p:blipFill>
        <p:spPr>
          <a:xfrm>
            <a:off x="8869988" y="100321"/>
            <a:ext cx="3085316" cy="63938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480185" y="2358390"/>
            <a:ext cx="8806815" cy="7683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zh-CN" altLang="en-US" sz="4400" b="1" i="0">
                <a:latin typeface="微软雅黑" panose="020B0503020204020204" charset="-122"/>
                <a:ea typeface="微软雅黑" panose="020B0503020204020204" charset="-122"/>
              </a:rPr>
              <a:t>预训练</a:t>
            </a:r>
            <a:r>
              <a:rPr lang="en-US" altLang="zh-CN" sz="4400" b="1" i="0">
                <a:latin typeface="微软雅黑" panose="020B0503020204020204" charset="-122"/>
                <a:ea typeface="微软雅黑" panose="020B0503020204020204" charset="-122"/>
              </a:rPr>
              <a:t>LLM</a:t>
            </a:r>
            <a:r>
              <a:rPr lang="zh-CN" altLang="en-US" sz="4400" b="1" i="0"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altLang="zh-CN" sz="4400" b="1" i="0"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4400" b="1" i="0">
                <a:latin typeface="微软雅黑" panose="020B0503020204020204" charset="-122"/>
                <a:ea typeface="微软雅黑" panose="020B0503020204020204" charset="-122"/>
              </a:rPr>
              <a:t>偏见</a:t>
            </a:r>
            <a:r>
              <a:rPr lang="en-US" altLang="zh-CN" sz="4400" b="1" i="0"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zh-CN" altLang="en-US" sz="4400" b="1" i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55490" y="4962525"/>
            <a:ext cx="5601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12312515</a:t>
            </a:r>
            <a:r>
              <a:rPr lang="zh-CN" altLang="en-US"/>
              <a:t>王洛源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912870" y="3285490"/>
            <a:ext cx="60521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——</a:t>
            </a:r>
            <a:r>
              <a:rPr lang="zh-CN" altLang="en-US" sz="2800"/>
              <a:t>以</a:t>
            </a:r>
            <a:r>
              <a:rPr lang="en-US" altLang="zh-CN" sz="2800"/>
              <a:t>“</a:t>
            </a:r>
            <a:r>
              <a:rPr lang="zh-CN" altLang="en-US" sz="2800"/>
              <a:t>左撇子</a:t>
            </a:r>
            <a:r>
              <a:rPr lang="en-US" altLang="zh-CN" sz="2800"/>
              <a:t>”</a:t>
            </a:r>
            <a:r>
              <a:rPr lang="zh-CN" altLang="en-US" sz="2800"/>
              <a:t>和</a:t>
            </a:r>
            <a:r>
              <a:rPr lang="en-US" altLang="zh-CN" sz="2800"/>
              <a:t>AlphaGo Zero</a:t>
            </a:r>
            <a:r>
              <a:rPr lang="zh-CN" altLang="en-US" sz="2800"/>
              <a:t>为例</a:t>
            </a:r>
            <a:endParaRPr lang="zh-CN" altLang="en-US"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-33683" y="855597"/>
            <a:ext cx="12238383" cy="97569"/>
          </a:xfrm>
          <a:prstGeom prst="rect">
            <a:avLst/>
          </a:prstGeom>
          <a:solidFill>
            <a:srgbClr val="1A54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7" t="35967" r="12989" b="40544"/>
          <a:stretch>
            <a:fillRect/>
          </a:stretch>
        </p:blipFill>
        <p:spPr>
          <a:xfrm>
            <a:off x="8869988" y="100321"/>
            <a:ext cx="3085316" cy="639384"/>
          </a:xfrm>
          <a:prstGeom prst="rect">
            <a:avLst/>
          </a:prstGeom>
        </p:spPr>
      </p:pic>
      <p:pic>
        <p:nvPicPr>
          <p:cNvPr id="2" name="图片 1" descr="mmexport17661178793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" y="548005"/>
            <a:ext cx="3908425" cy="6002020"/>
          </a:xfrm>
          <a:prstGeom prst="rect">
            <a:avLst/>
          </a:prstGeom>
        </p:spPr>
      </p:pic>
      <p:pic>
        <p:nvPicPr>
          <p:cNvPr id="3" name="图片 2" descr="mmexport17661178984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540" y="481965"/>
            <a:ext cx="4671695" cy="2880995"/>
          </a:xfrm>
          <a:prstGeom prst="rect">
            <a:avLst/>
          </a:prstGeom>
        </p:spPr>
      </p:pic>
      <p:pic>
        <p:nvPicPr>
          <p:cNvPr id="8" name="图片 7" descr="mmexport17661179086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0540" y="3429000"/>
            <a:ext cx="3866515" cy="302577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785985" y="3429000"/>
            <a:ext cx="19932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即使是目前最先进的</a:t>
            </a:r>
            <a:r>
              <a:rPr lang="en-US" altLang="zh-CN"/>
              <a:t>LLM</a:t>
            </a:r>
            <a:r>
              <a:rPr lang="zh-CN" altLang="en-US"/>
              <a:t>，似乎也理解不了</a:t>
            </a:r>
            <a:r>
              <a:rPr lang="en-US" altLang="zh-CN"/>
              <a:t>”</a:t>
            </a:r>
            <a:r>
              <a:rPr lang="zh-CN" altLang="en-US"/>
              <a:t>左手写字</a:t>
            </a:r>
            <a:r>
              <a:rPr lang="en-US" altLang="zh-CN"/>
              <a:t>“</a:t>
            </a:r>
            <a:r>
              <a:rPr lang="zh-CN" altLang="en-US"/>
              <a:t>的含义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-33683" y="855597"/>
            <a:ext cx="12238383" cy="97569"/>
          </a:xfrm>
          <a:prstGeom prst="rect">
            <a:avLst/>
          </a:prstGeom>
          <a:solidFill>
            <a:srgbClr val="1A54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7" t="35967" r="12989" b="40544"/>
          <a:stretch>
            <a:fillRect/>
          </a:stretch>
        </p:blipFill>
        <p:spPr>
          <a:xfrm>
            <a:off x="8869988" y="100321"/>
            <a:ext cx="3085316" cy="63938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90" y="1130300"/>
            <a:ext cx="3263900" cy="2298700"/>
          </a:xfrm>
          <a:prstGeom prst="rect">
            <a:avLst/>
          </a:prstGeom>
        </p:spPr>
      </p:pic>
      <p:pic>
        <p:nvPicPr>
          <p:cNvPr id="8" name="图片 7" descr="mmexport1766117879318"/>
          <p:cNvPicPr>
            <a:picLocks noChangeAspect="1"/>
          </p:cNvPicPr>
          <p:nvPr/>
        </p:nvPicPr>
        <p:blipFill>
          <a:blip r:embed="rId3"/>
          <a:srcRect l="650" t="25212" r="-650" b="44096"/>
          <a:stretch>
            <a:fillRect/>
          </a:stretch>
        </p:blipFill>
        <p:spPr>
          <a:xfrm>
            <a:off x="4465320" y="1130300"/>
            <a:ext cx="3908425" cy="184213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360545" y="3649345"/>
            <a:ext cx="68472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预训练模型在遇到不常见的实体</a:t>
            </a:r>
            <a:r>
              <a:rPr lang="en-US" altLang="zh-CN"/>
              <a:t>-</a:t>
            </a:r>
            <a:r>
              <a:rPr lang="zh-CN" altLang="en-US"/>
              <a:t>关系组合时，无法生成忠实于关系约束的图像。这意味着，预训练的文本到图像模型并没有独立于填充词来表示角色</a:t>
            </a:r>
            <a:r>
              <a:rPr lang="en-US" altLang="zh-CN"/>
              <a:t>-</a:t>
            </a:r>
            <a:r>
              <a:rPr lang="zh-CN" altLang="en-US"/>
              <a:t>填充词绑定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-33683" y="855597"/>
            <a:ext cx="12238383" cy="97569"/>
          </a:xfrm>
          <a:prstGeom prst="rect">
            <a:avLst/>
          </a:prstGeom>
          <a:solidFill>
            <a:srgbClr val="1A54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7" t="35967" r="12989" b="40544"/>
          <a:stretch>
            <a:fillRect/>
          </a:stretch>
        </p:blipFill>
        <p:spPr>
          <a:xfrm>
            <a:off x="8869988" y="100321"/>
            <a:ext cx="3085316" cy="63938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31520" y="5063490"/>
            <a:ext cx="1009713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文本到图像生成包含三个重要的独立组件：文本编码器、视觉解码器和一种在这两个空间之间进行通信的机制。生成具有一致空间关系的图像需要：</a:t>
            </a:r>
            <a:r>
              <a:rPr lang="en-US" altLang="zh-CN"/>
              <a:t>1</a:t>
            </a:r>
            <a:r>
              <a:rPr lang="zh-CN" altLang="en-US"/>
              <a:t>）文本编码器明确地编码语言角色，</a:t>
            </a:r>
            <a:r>
              <a:rPr lang="en-US" altLang="zh-CN"/>
              <a:t>2</a:t>
            </a:r>
            <a:r>
              <a:rPr lang="zh-CN" altLang="en-US"/>
              <a:t>）图像生成器区分输出空间中的空间角色，以及</a:t>
            </a:r>
            <a:r>
              <a:rPr lang="en-US" altLang="zh-CN"/>
              <a:t> 3</a:t>
            </a:r>
            <a:r>
              <a:rPr lang="zh-CN" altLang="en-US"/>
              <a:t>）学习从语言角色到视觉角色的正确转换。假设预训练或架构表达能力可以满足前两个要求，那么剩余的核心任务是学习一个有效的通信通道</a:t>
            </a:r>
            <a:r>
              <a:rPr lang="en-US" altLang="zh-CN"/>
              <a:t>——</a:t>
            </a:r>
            <a:r>
              <a:rPr lang="zh-CN" altLang="en-US"/>
              <a:t>通常在扩散模型中实例化为交叉注意力。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55065"/>
            <a:ext cx="6974205" cy="35667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-33683" y="855597"/>
            <a:ext cx="12238383" cy="97569"/>
          </a:xfrm>
          <a:prstGeom prst="rect">
            <a:avLst/>
          </a:prstGeom>
          <a:solidFill>
            <a:srgbClr val="1A54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7" t="35967" r="12989" b="40544"/>
          <a:stretch>
            <a:fillRect/>
          </a:stretch>
        </p:blipFill>
        <p:spPr>
          <a:xfrm>
            <a:off x="8869988" y="100321"/>
            <a:ext cx="3085316" cy="63938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25500" y="5277485"/>
            <a:ext cx="90716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定义了两个指标：</a:t>
            </a:r>
            <a:endParaRPr lang="zh-CN" altLang="en-US"/>
          </a:p>
          <a:p>
            <a:r>
              <a:rPr lang="en-US" altLang="zh-CN"/>
              <a:t>Completeness</a:t>
            </a:r>
            <a:r>
              <a:rPr lang="zh-CN" altLang="en-US"/>
              <a:t>（完整性）：就是每种物体，是否都至少在每个位置上出现过一次。</a:t>
            </a:r>
            <a:endParaRPr lang="en-US" altLang="zh-CN"/>
          </a:p>
          <a:p>
            <a:r>
              <a:rPr lang="en-US" altLang="zh-CN"/>
              <a:t>Balance</a:t>
            </a:r>
            <a:r>
              <a:rPr lang="zh-CN" altLang="en-US"/>
              <a:t>（平衡性）：不同组合出现在数据中的具体比例。数据里的分布情况相近</a:t>
            </a:r>
            <a:endParaRPr lang="zh-CN" altLang="en-US"/>
          </a:p>
        </p:txBody>
      </p:sp>
      <p:pic>
        <p:nvPicPr>
          <p:cNvPr id="3" name="图片 2" descr="mmexport17661202699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0" y="229870"/>
            <a:ext cx="6502400" cy="47205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-33683" y="855597"/>
            <a:ext cx="12238383" cy="97569"/>
          </a:xfrm>
          <a:prstGeom prst="rect">
            <a:avLst/>
          </a:prstGeom>
          <a:solidFill>
            <a:srgbClr val="1A54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7" t="35967" r="12989" b="40544"/>
          <a:stretch>
            <a:fillRect/>
          </a:stretch>
        </p:blipFill>
        <p:spPr>
          <a:xfrm>
            <a:off x="8869988" y="100321"/>
            <a:ext cx="3085316" cy="639384"/>
          </a:xfrm>
          <a:prstGeom prst="rect">
            <a:avLst/>
          </a:prstGeom>
        </p:spPr>
      </p:pic>
      <p:pic>
        <p:nvPicPr>
          <p:cNvPr id="2" name="图片 1" descr="mmexport17661203041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" y="1123950"/>
            <a:ext cx="6221095" cy="36544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95655" y="5163820"/>
            <a:ext cx="73558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当完整度和平衡度都是百分百的时候，模型测试的正确率几乎也是百分百，也就是蓝色的散点。而当完整度和平衡度越来越差的时候，模型正确率也会不断下跌，到了完整度和平衡度最低的灰色散点这里，准确率就没上过百分之四十。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-33683" y="855597"/>
            <a:ext cx="12238383" cy="97569"/>
          </a:xfrm>
          <a:prstGeom prst="rect">
            <a:avLst/>
          </a:prstGeom>
          <a:solidFill>
            <a:srgbClr val="1A54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7" t="35967" r="12989" b="40544"/>
          <a:stretch>
            <a:fillRect/>
          </a:stretch>
        </p:blipFill>
        <p:spPr>
          <a:xfrm>
            <a:off x="8869988" y="100321"/>
            <a:ext cx="3085316" cy="63938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015" y="2255520"/>
            <a:ext cx="7592695" cy="355409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51790" y="1123950"/>
            <a:ext cx="3487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为什么又要提到</a:t>
            </a:r>
            <a:r>
              <a:rPr lang="en-US" altLang="zh-CN"/>
              <a:t>AlphaGo Zero</a:t>
            </a:r>
            <a:r>
              <a:rPr lang="zh-CN" altLang="en-US"/>
              <a:t>？</a:t>
            </a:r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5384165" y="3119120"/>
            <a:ext cx="1880235" cy="462915"/>
          </a:xfrm>
          <a:prstGeom prst="ellipse">
            <a:avLst/>
          </a:prstGeom>
          <a:noFill/>
          <a:ln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-33683" y="855597"/>
            <a:ext cx="12238383" cy="97569"/>
          </a:xfrm>
          <a:prstGeom prst="rect">
            <a:avLst/>
          </a:prstGeom>
          <a:solidFill>
            <a:srgbClr val="1A54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7" t="35967" r="12989" b="40544"/>
          <a:stretch>
            <a:fillRect/>
          </a:stretch>
        </p:blipFill>
        <p:spPr>
          <a:xfrm>
            <a:off x="8869988" y="100321"/>
            <a:ext cx="3085316" cy="639384"/>
          </a:xfrm>
          <a:prstGeom prst="rect">
            <a:avLst/>
          </a:prstGeom>
        </p:spPr>
      </p:pic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1274445" y="1179830"/>
            <a:ext cx="5734685" cy="50730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475480" y="4739005"/>
            <a:ext cx="5873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围棋可以从</a:t>
            </a:r>
            <a:r>
              <a:rPr lang="en-US" altLang="zh-CN"/>
              <a:t>0</a:t>
            </a:r>
            <a:r>
              <a:rPr lang="zh-CN" altLang="en-US"/>
              <a:t>开始学习</a:t>
            </a:r>
            <a:r>
              <a:rPr lang="en-US" altLang="zh-CN"/>
              <a:t> </a:t>
            </a:r>
            <a:r>
              <a:rPr lang="zh-CN" altLang="en-US"/>
              <a:t>我们也是一样</a:t>
            </a:r>
            <a:r>
              <a:rPr lang="en-US" altLang="zh-CN"/>
              <a:t> </a:t>
            </a:r>
            <a:r>
              <a:rPr lang="zh-CN" altLang="en-US"/>
              <a:t>那</a:t>
            </a:r>
            <a:r>
              <a:rPr lang="en-US" altLang="zh-CN"/>
              <a:t>LLM</a:t>
            </a:r>
            <a:r>
              <a:rPr lang="zh-CN" altLang="en-US"/>
              <a:t>呢？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-33683" y="855597"/>
            <a:ext cx="12238383" cy="97569"/>
          </a:xfrm>
          <a:prstGeom prst="rect">
            <a:avLst/>
          </a:prstGeom>
          <a:solidFill>
            <a:srgbClr val="1A54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7" t="35967" r="12989" b="40544"/>
          <a:stretch>
            <a:fillRect/>
          </a:stretch>
        </p:blipFill>
        <p:spPr>
          <a:xfrm>
            <a:off x="8869988" y="100321"/>
            <a:ext cx="3085316" cy="63938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25145" y="1259205"/>
            <a:ext cx="791527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Chang, Y., Zhang, Y., Fang, Z., Wu, Y., Bisk, Y., &amp; Gao, F. (2024). Skews in the Phenomenon Space Hinder Generalization in Text-to-Image Generation. European Conference on Computer Vision.</a:t>
            </a:r>
            <a:endParaRPr lang="en-US" altLang="zh-CN"/>
          </a:p>
          <a:p>
            <a:r>
              <a:rPr lang="en-US" altLang="zh-CN"/>
              <a:t>Silver, D., Schrittwieser, J., Simonyan, K. et al. Mastering the game of Go without human knowledge. Nature 550, 354–359 (2017). https://doi.org/10.1038/nature24270</a:t>
            </a:r>
            <a:endParaRPr lang="en-US" altLang="zh-CN"/>
          </a:p>
          <a:p>
            <a:r>
              <a:rPr lang="en-US" altLang="zh-CN"/>
              <a:t>https://mp.weixin.qq.com/s/fvhz5RHKZJjtcYbxucM1pA</a:t>
            </a:r>
            <a:endParaRPr lang="en-US" altLang="zh-CN"/>
          </a:p>
          <a:p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632460" y="184150"/>
            <a:ext cx="45453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参考文献：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342640" y="3943985"/>
            <a:ext cx="58026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感谢聆听！</a:t>
            </a:r>
            <a:endParaRPr lang="zh-CN" altLang="en-US"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981</Words>
  <Application>WPS 演示</Application>
  <PresentationFormat>宽屏</PresentationFormat>
  <Paragraphs>31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宋体</vt:lpstr>
      <vt:lpstr>Wingdings</vt:lpstr>
      <vt:lpstr>Neue Haas Grotesk Text Pro</vt:lpstr>
      <vt:lpstr>微软雅黑</vt:lpstr>
      <vt:lpstr>Segoe Print</vt:lpstr>
      <vt:lpstr>Calibri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HaruYuu</cp:lastModifiedBy>
  <cp:revision>15</cp:revision>
  <dcterms:created xsi:type="dcterms:W3CDTF">2023-08-09T12:44:00Z</dcterms:created>
  <dcterms:modified xsi:type="dcterms:W3CDTF">2025-12-23T02:07:14Z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478CC5912D6544238C4C4B5F83EB75FA_12</vt:lpwstr>
  </property>
</Properties>
</file>