
<file path=[Content_Types].xml><?xml version="1.0" encoding="utf-8"?>
<Types xmlns="http://schemas.openxmlformats.org/package/2006/content-types">
  <Default Extension="xml" ContentType="application/xml"/>
  <Default Extension="jpeg" ContentType="image/jpeg"/>
  <Default Extension="rels" ContentType="application/vnd.openxmlformats-package.relationships+xml"/>
  <Default Extension="emf" ContentType="image/x-emf"/>
  <Default Extension="vml" ContentType="application/vnd.openxmlformats-officedocument.vmlDrawing"/>
  <Default Extension="bin" ContentType="application/vnd.openxmlformats-officedocument.oleObject"/>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425" r:id="rId3"/>
    <p:sldId id="427" r:id="rId4"/>
    <p:sldId id="426" r:id="rId5"/>
    <p:sldId id="428" r:id="rId6"/>
    <p:sldId id="429" r:id="rId7"/>
    <p:sldId id="430" r:id="rId8"/>
    <p:sldId id="431" r:id="rId9"/>
    <p:sldId id="432" r:id="rId10"/>
    <p:sldId id="434" r:id="rId11"/>
    <p:sldId id="433" r:id="rId12"/>
    <p:sldId id="437" r:id="rId13"/>
    <p:sldId id="438" r:id="rId14"/>
    <p:sldId id="441" r:id="rId15"/>
    <p:sldId id="442" r:id="rId16"/>
    <p:sldId id="439" r:id="rId17"/>
    <p:sldId id="440" r:id="rId18"/>
    <p:sldId id="436" r:id="rId19"/>
    <p:sldId id="443" r:id="rId20"/>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2F57D9"/>
    <a:srgbClr val="0064E5"/>
    <a:srgbClr val="DEEB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058" autoAdjust="0"/>
    <p:restoredTop sz="78169"/>
  </p:normalViewPr>
  <p:slideViewPr>
    <p:cSldViewPr snapToGrid="0">
      <p:cViewPr>
        <p:scale>
          <a:sx n="70" d="100"/>
          <a:sy n="70" d="100"/>
        </p:scale>
        <p:origin x="1208" y="7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tags" Target="tags/tag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2BE604-7FA3-4B3A-BABD-E5F4FC67844B}" type="datetimeFigureOut">
              <a:rPr lang="zh-CN" altLang="en-US" smtClean="0"/>
              <a:t>2026/4/2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63BE11-001D-4FCF-9809-FCC312B3AD6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FB8052A-A712-4579-AC42-D1977B3A32C5}" type="datetimeFigureOut">
              <a:rPr lang="zh-CN" altLang="en-US" smtClean="0"/>
              <a:t>2026/4/2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3471B6-4801-4E17-8E24-C79CE225DF9C}"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8FB8052A-A712-4579-AC42-D1977B3A32C5}" type="datetimeFigureOut">
              <a:rPr lang="zh-CN" altLang="en-US" smtClean="0"/>
              <a:t>2026/4/2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3471B6-4801-4E17-8E24-C79CE225DF9C}"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FB8052A-A712-4579-AC42-D1977B3A32C5}" type="datetimeFigureOut">
              <a:rPr lang="zh-CN" altLang="en-US" smtClean="0"/>
              <a:t>2026/4/2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3471B6-4801-4E17-8E24-C79CE225DF9C}"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8FB8052A-A712-4579-AC42-D1977B3A32C5}" type="datetimeFigureOut">
              <a:rPr lang="zh-CN" altLang="en-US" smtClean="0"/>
              <a:t>2026/4/2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33471B6-4801-4E17-8E24-C79CE225DF9C}"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8FB8052A-A712-4579-AC42-D1977B3A32C5}" type="datetimeFigureOut">
              <a:rPr lang="zh-CN" altLang="en-US" smtClean="0"/>
              <a:t>2026/4/2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33471B6-4801-4E17-8E24-C79CE225DF9C}"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FB8052A-A712-4579-AC42-D1977B3A32C5}" type="datetimeFigureOut">
              <a:rPr lang="zh-CN" altLang="en-US" smtClean="0"/>
              <a:t>2026/4/2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33471B6-4801-4E17-8E24-C79CE225DF9C}"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FB8052A-A712-4579-AC42-D1977B3A32C5}" type="datetimeFigureOut">
              <a:rPr lang="zh-CN" altLang="en-US" smtClean="0"/>
              <a:t>2026/4/2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33471B6-4801-4E17-8E24-C79CE225DF9C}"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FB8052A-A712-4579-AC42-D1977B3A32C5}" type="datetimeFigureOut">
              <a:rPr lang="zh-CN" altLang="en-US" smtClean="0"/>
              <a:t>2026/4/2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33471B6-4801-4E17-8E24-C79CE225DF9C}"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FB8052A-A712-4579-AC42-D1977B3A32C5}" type="datetimeFigureOut">
              <a:rPr lang="zh-CN" altLang="en-US" smtClean="0"/>
              <a:t>2026/4/2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33471B6-4801-4E17-8E24-C79CE225DF9C}"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8FB8052A-A712-4579-AC42-D1977B3A32C5}" type="datetimeFigureOut">
              <a:rPr lang="zh-CN" altLang="en-US" smtClean="0"/>
              <a:t>2026/4/2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3471B6-4801-4E17-8E24-C79CE225DF9C}"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8FB8052A-A712-4579-AC42-D1977B3A32C5}" type="datetimeFigureOut">
              <a:rPr lang="zh-CN" altLang="en-US" smtClean="0"/>
              <a:t>2026/4/2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3471B6-4801-4E17-8E24-C79CE225DF9C}"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vmlDrawing" Target="../drawings/vmlDrawing1.vml"/><Relationship Id="rId14" Type="http://schemas.openxmlformats.org/officeDocument/2006/relationships/tags" Target="../tags/tag2.xml"/><Relationship Id="rId15" Type="http://schemas.openxmlformats.org/officeDocument/2006/relationships/oleObject" Target="../embeddings/oleObject1.bin"/><Relationship Id="rId16" Type="http://schemas.openxmlformats.org/officeDocument/2006/relationships/image" Target="../media/image1.emf"/><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14"/>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63" name="think-cell Slide" r:id="rId15" imgW="7772400" imgH="10058400" progId="TCLayout.ActiveDocument.1">
                  <p:embed/>
                </p:oleObj>
              </mc:Choice>
              <mc:Fallback>
                <p:oleObj name="think-cell Slide" r:id="rId15" imgW="7772400" imgH="10058400" progId="TCLayout.ActiveDocument.1">
                  <p:embed/>
                  <p:pic>
                    <p:nvPicPr>
                      <p:cNvPr id="0" name="图片 1238"/>
                      <p:cNvPicPr/>
                      <p:nvPr/>
                    </p:nvPicPr>
                    <p:blipFill>
                      <a:blip r:embed="rId16"/>
                      <a:stretch>
                        <a:fillRect/>
                      </a:stretch>
                    </p:blipFill>
                    <p:spPr>
                      <a:xfrm>
                        <a:off x="1588" y="1588"/>
                        <a:ext cx="1227" cy="1588"/>
                      </a:xfrm>
                      <a:prstGeom prst="rect">
                        <a:avLst/>
                      </a:prstGeom>
                    </p:spPr>
                  </p:pic>
                </p:oleObj>
              </mc:Fallback>
            </mc:AlternateContent>
          </a:graphicData>
        </a:graphic>
      </p:graphicFrame>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B8052A-A712-4579-AC42-D1977B3A32C5}" type="datetimeFigureOut">
              <a:rPr lang="zh-CN" altLang="en-US" smtClean="0"/>
              <a:t>2026/4/2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3471B6-4801-4E17-8E24-C79CE225DF9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4" Type="http://schemas.openxmlformats.org/officeDocument/2006/relationships/oleObject" Target="../embeddings/oleObject2.bin"/><Relationship Id="rId5" Type="http://schemas.openxmlformats.org/officeDocument/2006/relationships/image" Target="../media/image2.emf"/><Relationship Id="rId6" Type="http://schemas.openxmlformats.org/officeDocument/2006/relationships/image" Target="../media/image3.png"/><Relationship Id="rId1" Type="http://schemas.openxmlformats.org/officeDocument/2006/relationships/vmlDrawing" Target="../drawings/vmlDrawing2.vml"/><Relationship Id="rId2" Type="http://schemas.openxmlformats.org/officeDocument/2006/relationships/tags" Target="../tags/tag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87" name="think-cell Slide" r:id="rId4" imgW="7772400" imgH="10058400" progId="TCLayout.ActiveDocument.1">
                  <p:embed/>
                </p:oleObj>
              </mc:Choice>
              <mc:Fallback>
                <p:oleObj name="think-cell Slide" r:id="rId4" imgW="7772400" imgH="10058400" progId="TCLayout.ActiveDocument.1">
                  <p:embed/>
                  <p:pic>
                    <p:nvPicPr>
                      <p:cNvPr id="0" name="图片 2262"/>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8" name="Picture 2" descr="Image result for sustech"/>
          <p:cNvPicPr>
            <a:picLocks noChangeAspect="1" noChangeArrowheads="1"/>
          </p:cNvPicPr>
          <p:nvPr/>
        </p:nvPicPr>
        <p:blipFill>
          <a:blip r:embed="rId6">
            <a:clrChange>
              <a:clrFrom>
                <a:srgbClr val="EC6C00"/>
              </a:clrFrom>
              <a:clrTo>
                <a:srgbClr val="EC6C00">
                  <a:alpha val="0"/>
                </a:srgbClr>
              </a:clrTo>
            </a:clrChange>
            <a:extLst>
              <a:ext uri="{28A0092B-C50C-407E-A947-70E740481C1C}">
                <a14:useLocalDpi xmlns:a14="http://schemas.microsoft.com/office/drawing/2010/main" val="0"/>
              </a:ext>
            </a:extLst>
          </a:blip>
          <a:srcRect/>
          <a:stretch>
            <a:fillRect/>
          </a:stretch>
        </p:blipFill>
        <p:spPr bwMode="auto">
          <a:xfrm>
            <a:off x="4057656" y="1387477"/>
            <a:ext cx="4014786" cy="4014786"/>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ctrTitle"/>
          </p:nvPr>
        </p:nvSpPr>
        <p:spPr/>
        <p:txBody>
          <a:bodyPr vert="horz">
            <a:normAutofit/>
          </a:bodyPr>
          <a:lstStyle/>
          <a:p>
            <a:r>
              <a:rPr lang="en-US" altLang="zh-CN" sz="4800" dirty="0">
                <a:latin typeface="Calibri" panose="020F0502020204030204" pitchFamily="34" charset="0"/>
                <a:cs typeface="Calibri" panose="020F0502020204030204" pitchFamily="34" charset="0"/>
              </a:rPr>
              <a:t>MidTerm Projects</a:t>
            </a:r>
          </a:p>
        </p:txBody>
      </p:sp>
      <p:sp>
        <p:nvSpPr>
          <p:cNvPr id="3" name="副标题 2"/>
          <p:cNvSpPr>
            <a:spLocks noGrp="1"/>
          </p:cNvSpPr>
          <p:nvPr>
            <p:ph type="subTitle" idx="1"/>
          </p:nvPr>
        </p:nvSpPr>
        <p:spPr>
          <a:xfrm>
            <a:off x="1524000" y="3894932"/>
            <a:ext cx="9144000" cy="1655762"/>
          </a:xfrm>
        </p:spPr>
        <p:txBody>
          <a:bodyPr/>
          <a:lstStyle/>
          <a:p>
            <a:r>
              <a:rPr lang="en-US" altLang="zh-CN" b="1" dirty="0" smtClean="0">
                <a:latin typeface="Calibri" panose="020F0502020204030204" pitchFamily="34" charset="0"/>
                <a:cs typeface="Calibri" panose="020F0502020204030204" pitchFamily="34" charset="0"/>
              </a:rPr>
              <a:t>2025-2026 Spring </a:t>
            </a:r>
            <a:r>
              <a:rPr lang="en-US" altLang="zh-CN" b="1" dirty="0">
                <a:latin typeface="Calibri" panose="020F0502020204030204" pitchFamily="34" charset="0"/>
                <a:cs typeface="Calibri" panose="020F0502020204030204" pitchFamily="34" charset="0"/>
              </a:rPr>
              <a:t>Semester</a:t>
            </a:r>
          </a:p>
          <a:p>
            <a:r>
              <a:rPr lang="en-US" altLang="zh-CN" b="1" dirty="0" smtClean="0">
                <a:latin typeface="Calibri" panose="020F0502020204030204" pitchFamily="34" charset="0"/>
                <a:cs typeface="Calibri" panose="020F0502020204030204" pitchFamily="34" charset="0"/>
              </a:rPr>
              <a:t>Linyi Yang</a:t>
            </a:r>
            <a:endParaRPr lang="zh-CN" altLang="en-US" b="1" dirty="0">
              <a:latin typeface="Calibri" panose="020F0502020204030204" pitchFamily="34" charset="0"/>
              <a:cs typeface="Calibri" panose="020F0502020204030204" pitchFamily="34" charset="0"/>
            </a:endParaRPr>
          </a:p>
        </p:txBody>
      </p:sp>
      <p:cxnSp>
        <p:nvCxnSpPr>
          <p:cNvPr id="5" name="直接连接符 4"/>
          <p:cNvCxnSpPr/>
          <p:nvPr/>
        </p:nvCxnSpPr>
        <p:spPr>
          <a:xfrm>
            <a:off x="2207419" y="3743325"/>
            <a:ext cx="7850981"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7" name="矩形 8"/>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MidTerm Projects</a:t>
            </a:r>
            <a:endParaRPr lang="zh-CN" altLang="en-US" sz="15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MidTerm Projects</a:t>
            </a:r>
            <a:endParaRPr lang="zh-CN" altLang="en-US" sz="1500" dirty="0"/>
          </a:p>
        </p:txBody>
      </p:sp>
      <p:sp>
        <p:nvSpPr>
          <p:cNvPr id="8" name="文本框 4"/>
          <p:cNvSpPr txBox="1"/>
          <p:nvPr/>
        </p:nvSpPr>
        <p:spPr>
          <a:xfrm>
            <a:off x="114921" y="64180"/>
            <a:ext cx="4793456" cy="521970"/>
          </a:xfrm>
          <a:prstGeom prst="rect">
            <a:avLst/>
          </a:prstGeom>
          <a:noFill/>
        </p:spPr>
        <p:txBody>
          <a:bodyPr wrap="square" rtlCol="0">
            <a:spAutoFit/>
          </a:bodyPr>
          <a:lstStyle/>
          <a:p>
            <a:r>
              <a:rPr lang="zh-CN" altLang="en-US" sz="2800" b="1" dirty="0">
                <a:solidFill>
                  <a:srgbClr val="2F57D9"/>
                </a:solidFill>
                <a:latin typeface="Calibri" panose="020F0502020204030204" pitchFamily="34" charset="0"/>
                <a:cs typeface="Calibri" panose="020F0502020204030204" pitchFamily="34" charset="0"/>
              </a:rPr>
              <a:t>任务说明</a:t>
            </a:r>
          </a:p>
        </p:txBody>
      </p:sp>
      <p:sp>
        <p:nvSpPr>
          <p:cNvPr id="3" name="文本框 2"/>
          <p:cNvSpPr txBox="1"/>
          <p:nvPr/>
        </p:nvSpPr>
        <p:spPr>
          <a:xfrm>
            <a:off x="878840" y="1621790"/>
            <a:ext cx="9531350" cy="3138170"/>
          </a:xfrm>
          <a:prstGeom prst="rect">
            <a:avLst/>
          </a:prstGeom>
          <a:noFill/>
        </p:spPr>
        <p:txBody>
          <a:bodyPr wrap="square" rtlCol="0" anchor="t">
            <a:spAutoFit/>
          </a:bodyPr>
          <a:lstStyle/>
          <a:p>
            <a:r>
              <a:rPr lang="zh-CN" altLang="en-US" dirty="0" smtClean="0"/>
              <a:t>通用后训练方法提升</a:t>
            </a:r>
            <a:r>
              <a:rPr lang="en-US" altLang="zh-CN" dirty="0" smtClean="0">
                <a:highlight>
                  <a:srgbClr val="FFFF00"/>
                </a:highlight>
              </a:rPr>
              <a:t> </a:t>
            </a:r>
            <a:r>
              <a:rPr lang="en-US" altLang="zh-CN" dirty="0">
                <a:highlight>
                  <a:srgbClr val="FFFF00"/>
                </a:highlight>
              </a:rPr>
              <a:t>`Qwen3-0.6B-Base` </a:t>
            </a:r>
            <a:r>
              <a:rPr lang="zh-CN" altLang="en-US" dirty="0"/>
              <a:t>在数学任务上的表现。</a:t>
            </a:r>
          </a:p>
          <a:p>
            <a:endParaRPr lang="zh-CN" altLang="en-US" dirty="0"/>
          </a:p>
          <a:p>
            <a:r>
              <a:rPr lang="en-US" altLang="zh-CN" dirty="0"/>
              <a:t>‘</a:t>
            </a:r>
          </a:p>
          <a:p>
            <a:endParaRPr lang="en-US" altLang="zh-CN" dirty="0"/>
          </a:p>
          <a:p>
            <a:r>
              <a:rPr lang="zh-CN" altLang="en-US" dirty="0"/>
              <a:t>测试集例子：</a:t>
            </a:r>
          </a:p>
          <a:p>
            <a:r>
              <a:rPr lang="en-US" altLang="zh-CN" dirty="0"/>
              <a:t>Q: Janet’s ducks lay 20 eggs per day. She eats five for breakfast every morning and bakes muffins for her friends every day with six. She sells the remainder at the farmers' market daily for $3 per fresh duck egg. How much in dollars does she make every day at the farmers' market?</a:t>
            </a:r>
          </a:p>
          <a:p>
            <a:endParaRPr lang="en-US" altLang="zh-CN" dirty="0"/>
          </a:p>
          <a:p>
            <a:r>
              <a:rPr lang="en-US" altLang="zh-CN" dirty="0"/>
              <a:t>A: 27</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MidTerm Projects</a:t>
            </a:r>
            <a:endParaRPr lang="zh-CN" altLang="en-US" sz="1500" dirty="0"/>
          </a:p>
        </p:txBody>
      </p:sp>
      <p:sp>
        <p:nvSpPr>
          <p:cNvPr id="8" name="文本框 4"/>
          <p:cNvSpPr txBox="1"/>
          <p:nvPr/>
        </p:nvSpPr>
        <p:spPr>
          <a:xfrm>
            <a:off x="114921" y="64180"/>
            <a:ext cx="4793456" cy="521970"/>
          </a:xfrm>
          <a:prstGeom prst="rect">
            <a:avLst/>
          </a:prstGeom>
          <a:noFill/>
        </p:spPr>
        <p:txBody>
          <a:bodyPr wrap="square" rtlCol="0">
            <a:spAutoFit/>
          </a:bodyPr>
          <a:lstStyle/>
          <a:p>
            <a:r>
              <a:rPr lang="zh-CN" altLang="en-US" sz="2800" b="1" dirty="0">
                <a:solidFill>
                  <a:srgbClr val="2F57D9"/>
                </a:solidFill>
                <a:latin typeface="Calibri" panose="020F0502020204030204" pitchFamily="34" charset="0"/>
                <a:cs typeface="Calibri" panose="020F0502020204030204" pitchFamily="34" charset="0"/>
              </a:rPr>
              <a:t>模型说明</a:t>
            </a:r>
          </a:p>
        </p:txBody>
      </p:sp>
      <p:sp>
        <p:nvSpPr>
          <p:cNvPr id="3" name="文本框 2"/>
          <p:cNvSpPr txBox="1"/>
          <p:nvPr/>
        </p:nvSpPr>
        <p:spPr>
          <a:xfrm>
            <a:off x="878839" y="1621790"/>
            <a:ext cx="10386853" cy="1754326"/>
          </a:xfrm>
          <a:prstGeom prst="rect">
            <a:avLst/>
          </a:prstGeom>
          <a:noFill/>
        </p:spPr>
        <p:txBody>
          <a:bodyPr wrap="square" rtlCol="0" anchor="t">
            <a:spAutoFit/>
          </a:bodyPr>
          <a:lstStyle/>
          <a:p>
            <a:pPr>
              <a:lnSpc>
                <a:spcPct val="150000"/>
              </a:lnSpc>
            </a:pPr>
            <a:endParaRPr lang="en-US" altLang="zh-CN" dirty="0"/>
          </a:p>
          <a:p>
            <a:pPr>
              <a:lnSpc>
                <a:spcPct val="150000"/>
              </a:lnSpc>
            </a:pPr>
            <a:r>
              <a:rPr lang="en-US" altLang="zh-CN" dirty="0"/>
              <a:t>1. </a:t>
            </a:r>
            <a:r>
              <a:rPr lang="zh-CN" altLang="en-US" dirty="0"/>
              <a:t>唯一允许使用的基础模型为</a:t>
            </a:r>
            <a:r>
              <a:rPr lang="en-US" altLang="zh-CN" dirty="0"/>
              <a:t> `</a:t>
            </a:r>
            <a:r>
              <a:rPr lang="en-US" altLang="zh-CN" dirty="0">
                <a:highlight>
                  <a:srgbClr val="FFFF00"/>
                </a:highlight>
              </a:rPr>
              <a:t>Qwen3-0.6B-Base</a:t>
            </a:r>
            <a:r>
              <a:rPr lang="en-US" altLang="zh-CN" dirty="0"/>
              <a:t>`</a:t>
            </a:r>
            <a:r>
              <a:rPr lang="zh-CN" altLang="en-US" dirty="0"/>
              <a:t>。</a:t>
            </a:r>
          </a:p>
          <a:p>
            <a:pPr>
              <a:lnSpc>
                <a:spcPct val="150000"/>
              </a:lnSpc>
            </a:pPr>
            <a:r>
              <a:rPr lang="en-US" altLang="zh-CN" dirty="0"/>
              <a:t>2</a:t>
            </a:r>
            <a:r>
              <a:rPr lang="en-US" altLang="zh-CN" dirty="0" smtClean="0"/>
              <a:t>. </a:t>
            </a:r>
            <a:r>
              <a:rPr lang="zh-CN" altLang="en-US" dirty="0"/>
              <a:t>允许使用</a:t>
            </a:r>
            <a:r>
              <a:rPr lang="en-US" altLang="zh-CN" dirty="0"/>
              <a:t> `Qwen3-0.6B-Base` </a:t>
            </a:r>
            <a:r>
              <a:rPr lang="zh-CN" altLang="en-US" dirty="0"/>
              <a:t>自行生成合成数据。</a:t>
            </a:r>
          </a:p>
          <a:p>
            <a:pPr>
              <a:lnSpc>
                <a:spcPct val="150000"/>
              </a:lnSpc>
            </a:pPr>
            <a:r>
              <a:rPr lang="en-US" altLang="zh-CN" dirty="0"/>
              <a:t>3</a:t>
            </a:r>
            <a:r>
              <a:rPr lang="en-US" altLang="zh-CN" dirty="0" smtClean="0"/>
              <a:t>. </a:t>
            </a:r>
            <a:r>
              <a:rPr lang="zh-CN" altLang="en-US" dirty="0"/>
              <a:t>允许使用</a:t>
            </a:r>
            <a:r>
              <a:rPr lang="en-US" altLang="zh-CN" dirty="0"/>
              <a:t> `Qwen3-0.6B-Base` </a:t>
            </a:r>
            <a:r>
              <a:rPr lang="zh-CN" altLang="en-US" dirty="0" smtClean="0"/>
              <a:t>参与后训练</a:t>
            </a:r>
            <a:r>
              <a:rPr lang="zh-CN" altLang="en-US" dirty="0"/>
              <a:t>过程</a:t>
            </a:r>
            <a:r>
              <a:rPr lang="zh-CN" altLang="en-US" dirty="0" smtClean="0"/>
              <a:t>。</a:t>
            </a:r>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MidTerm Projects</a:t>
            </a:r>
            <a:endParaRPr lang="zh-CN" altLang="en-US" sz="1500" dirty="0"/>
          </a:p>
        </p:txBody>
      </p:sp>
      <p:sp>
        <p:nvSpPr>
          <p:cNvPr id="8" name="文本框 4"/>
          <p:cNvSpPr txBox="1"/>
          <p:nvPr/>
        </p:nvSpPr>
        <p:spPr>
          <a:xfrm>
            <a:off x="114921" y="64180"/>
            <a:ext cx="4793456" cy="521970"/>
          </a:xfrm>
          <a:prstGeom prst="rect">
            <a:avLst/>
          </a:prstGeom>
          <a:noFill/>
        </p:spPr>
        <p:txBody>
          <a:bodyPr wrap="square" rtlCol="0">
            <a:spAutoFit/>
          </a:bodyPr>
          <a:lstStyle/>
          <a:p>
            <a:r>
              <a:rPr lang="zh-CN" altLang="en-US" sz="2800" b="1" dirty="0">
                <a:solidFill>
                  <a:srgbClr val="2F57D9"/>
                </a:solidFill>
                <a:latin typeface="Calibri" panose="020F0502020204030204" pitchFamily="34" charset="0"/>
                <a:cs typeface="Calibri" panose="020F0502020204030204" pitchFamily="34" charset="0"/>
              </a:rPr>
              <a:t>数据集说明</a:t>
            </a:r>
          </a:p>
        </p:txBody>
      </p:sp>
      <p:pic>
        <p:nvPicPr>
          <p:cNvPr id="2" name="图片 1"/>
          <p:cNvPicPr>
            <a:picLocks noChangeAspect="1"/>
          </p:cNvPicPr>
          <p:nvPr/>
        </p:nvPicPr>
        <p:blipFill>
          <a:blip r:embed="rId3"/>
          <a:stretch>
            <a:fillRect/>
          </a:stretch>
        </p:blipFill>
        <p:spPr>
          <a:xfrm>
            <a:off x="1360170" y="1181100"/>
            <a:ext cx="10122535" cy="4713605"/>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MidTerm Projects</a:t>
            </a:r>
            <a:endParaRPr lang="zh-CN" altLang="en-US" sz="1500" dirty="0"/>
          </a:p>
        </p:txBody>
      </p:sp>
      <p:sp>
        <p:nvSpPr>
          <p:cNvPr id="8" name="文本框 4"/>
          <p:cNvSpPr txBox="1"/>
          <p:nvPr/>
        </p:nvSpPr>
        <p:spPr>
          <a:xfrm>
            <a:off x="114921" y="64180"/>
            <a:ext cx="4793456" cy="521970"/>
          </a:xfrm>
          <a:prstGeom prst="rect">
            <a:avLst/>
          </a:prstGeom>
          <a:noFill/>
        </p:spPr>
        <p:txBody>
          <a:bodyPr wrap="square" rtlCol="0">
            <a:spAutoFit/>
          </a:bodyPr>
          <a:lstStyle/>
          <a:p>
            <a:r>
              <a:rPr lang="zh-CN" altLang="en-US" sz="2800" b="1" dirty="0">
                <a:solidFill>
                  <a:srgbClr val="2F57D9"/>
                </a:solidFill>
                <a:latin typeface="Calibri" panose="020F0502020204030204" pitchFamily="34" charset="0"/>
                <a:cs typeface="Calibri" panose="020F0502020204030204" pitchFamily="34" charset="0"/>
              </a:rPr>
              <a:t>数据集说明</a:t>
            </a:r>
          </a:p>
        </p:txBody>
      </p:sp>
      <p:sp>
        <p:nvSpPr>
          <p:cNvPr id="4" name="文本框 3"/>
          <p:cNvSpPr txBox="1"/>
          <p:nvPr/>
        </p:nvSpPr>
        <p:spPr>
          <a:xfrm>
            <a:off x="800735" y="1389380"/>
            <a:ext cx="9782810" cy="2419124"/>
          </a:xfrm>
          <a:prstGeom prst="rect">
            <a:avLst/>
          </a:prstGeom>
        </p:spPr>
        <p:txBody>
          <a:bodyPr wrap="square">
            <a:spAutoFit/>
          </a:bodyPr>
          <a:lstStyle/>
          <a:p>
            <a:pPr marL="0" indent="0">
              <a:lnSpc>
                <a:spcPct val="180000"/>
              </a:lnSpc>
              <a:spcBef>
                <a:spcPct val="0"/>
              </a:spcBef>
              <a:spcAft>
                <a:spcPct val="0"/>
              </a:spcAft>
              <a:buAutoNum type="arabicPeriod"/>
            </a:pPr>
            <a:r>
              <a:rPr lang="zh-CN" altLang="en-US" sz="2000" b="0" i="0" dirty="0">
                <a:solidFill>
                  <a:srgbClr val="333333"/>
                </a:solidFill>
                <a:ea typeface="+mn-lt"/>
                <a:cs typeface="+mn-lt"/>
              </a:rPr>
              <a:t>唯一允许使用的数据为 </a:t>
            </a:r>
            <a:r>
              <a:rPr lang="en-US" altLang="zh-CN" sz="2400" b="0" i="0" dirty="0">
                <a:solidFill>
                  <a:srgbClr val="333333"/>
                </a:solidFill>
                <a:highlight>
                  <a:srgbClr val="FFFF00"/>
                </a:highlight>
                <a:ea typeface="+mn-lt"/>
                <a:cs typeface="+mn-lt"/>
              </a:rPr>
              <a:t>Nemotron-CC-Math-v1</a:t>
            </a:r>
            <a:r>
              <a:rPr lang="en-US" altLang="zh-CN" sz="2000" b="0" i="0" dirty="0">
                <a:solidFill>
                  <a:srgbClr val="333333"/>
                </a:solidFill>
                <a:highlight>
                  <a:srgbClr val="FFFF00"/>
                </a:highlight>
                <a:ea typeface="+mn-lt"/>
                <a:cs typeface="+mn-lt"/>
              </a:rPr>
              <a:t> </a:t>
            </a:r>
            <a:r>
              <a:rPr lang="zh-CN" altLang="en-US" sz="2000" b="0" i="0" dirty="0">
                <a:solidFill>
                  <a:srgbClr val="333333"/>
                </a:solidFill>
                <a:highlight>
                  <a:srgbClr val="FFFF00"/>
                </a:highlight>
                <a:ea typeface="+mn-lt"/>
                <a:cs typeface="+mn-lt"/>
              </a:rPr>
              <a:t>的指定 </a:t>
            </a:r>
            <a:r>
              <a:rPr lang="en-US" altLang="zh-CN" sz="2000" b="0" i="0" dirty="0">
                <a:solidFill>
                  <a:srgbClr val="333333"/>
                </a:solidFill>
                <a:highlight>
                  <a:srgbClr val="FFFF00"/>
                </a:highlight>
                <a:ea typeface="+mn-lt"/>
                <a:cs typeface="+mn-lt"/>
              </a:rPr>
              <a:t>10 </a:t>
            </a:r>
            <a:r>
              <a:rPr lang="zh-CN" altLang="en-US" sz="2000" b="0" i="0" dirty="0">
                <a:solidFill>
                  <a:srgbClr val="333333"/>
                </a:solidFill>
                <a:highlight>
                  <a:srgbClr val="FFFF00"/>
                </a:highlight>
                <a:ea typeface="+mn-lt"/>
                <a:cs typeface="+mn-lt"/>
              </a:rPr>
              <a:t>万条子集</a:t>
            </a:r>
            <a:r>
              <a:rPr lang="zh-CN" altLang="en-US" sz="2000" b="0" i="0" dirty="0">
                <a:solidFill>
                  <a:srgbClr val="333333"/>
                </a:solidFill>
                <a:ea typeface="+mn-lt"/>
                <a:cs typeface="+mn-lt"/>
              </a:rPr>
              <a:t>。</a:t>
            </a:r>
          </a:p>
          <a:p>
            <a:pPr marL="0" indent="0">
              <a:lnSpc>
                <a:spcPct val="180000"/>
              </a:lnSpc>
              <a:spcBef>
                <a:spcPct val="0"/>
              </a:spcBef>
              <a:spcAft>
                <a:spcPct val="0"/>
              </a:spcAft>
              <a:buAutoNum type="arabicPeriod"/>
            </a:pPr>
            <a:r>
              <a:rPr lang="zh-CN" altLang="en-US" sz="2000" b="0" i="0" dirty="0" smtClean="0">
                <a:solidFill>
                  <a:srgbClr val="333333"/>
                </a:solidFill>
                <a:ea typeface="+mn-lt"/>
                <a:cs typeface="+mn-lt"/>
              </a:rPr>
              <a:t>可以</a:t>
            </a:r>
            <a:r>
              <a:rPr lang="zh-CN" altLang="en-US" sz="2000" b="0" i="0" dirty="0">
                <a:solidFill>
                  <a:srgbClr val="333333"/>
                </a:solidFill>
                <a:ea typeface="+mn-lt"/>
                <a:cs typeface="+mn-lt"/>
              </a:rPr>
              <a:t>对这 </a:t>
            </a:r>
            <a:r>
              <a:rPr lang="en-US" altLang="zh-CN" sz="2000" b="0" i="0" dirty="0">
                <a:solidFill>
                  <a:srgbClr val="333333"/>
                </a:solidFill>
                <a:ea typeface="+mn-lt"/>
                <a:cs typeface="+mn-lt"/>
              </a:rPr>
              <a:t>10 </a:t>
            </a:r>
            <a:r>
              <a:rPr lang="zh-CN" altLang="en-US" sz="2000" b="0" i="0" dirty="0">
                <a:solidFill>
                  <a:srgbClr val="333333"/>
                </a:solidFill>
                <a:ea typeface="+mn-lt"/>
                <a:cs typeface="+mn-lt"/>
              </a:rPr>
              <a:t>万条数据进行过滤、清洗、去重、切分和格式整理。</a:t>
            </a:r>
          </a:p>
          <a:p>
            <a:pPr marL="0" indent="0">
              <a:lnSpc>
                <a:spcPct val="180000"/>
              </a:lnSpc>
              <a:spcBef>
                <a:spcPct val="0"/>
              </a:spcBef>
              <a:spcAft>
                <a:spcPct val="0"/>
              </a:spcAft>
              <a:buAutoNum type="arabicPeriod"/>
            </a:pPr>
            <a:r>
              <a:rPr lang="zh-CN" altLang="en-US" sz="2000" b="0" i="0" dirty="0" smtClean="0">
                <a:solidFill>
                  <a:srgbClr val="333333"/>
                </a:solidFill>
                <a:ea typeface="+mn-lt"/>
                <a:cs typeface="+mn-lt"/>
              </a:rPr>
              <a:t>可以</a:t>
            </a:r>
            <a:r>
              <a:rPr lang="zh-CN" altLang="en-US" sz="2000" b="0" i="0" dirty="0">
                <a:solidFill>
                  <a:srgbClr val="333333"/>
                </a:solidFill>
                <a:ea typeface="+mn-lt"/>
                <a:cs typeface="+mn-lt"/>
              </a:rPr>
              <a:t>基于该子集自行构造 </a:t>
            </a:r>
            <a:r>
              <a:rPr lang="en-US" altLang="zh-CN" sz="2000" b="0" i="0" dirty="0">
                <a:solidFill>
                  <a:srgbClr val="333333"/>
                </a:solidFill>
                <a:ea typeface="+mn-lt"/>
                <a:cs typeface="+mn-lt"/>
              </a:rPr>
              <a:t>QA pair</a:t>
            </a:r>
            <a:r>
              <a:rPr lang="zh-CN" altLang="en-US" sz="2000" b="0" i="0" dirty="0">
                <a:solidFill>
                  <a:srgbClr val="333333"/>
                </a:solidFill>
                <a:ea typeface="+mn-lt"/>
                <a:cs typeface="+mn-lt"/>
              </a:rPr>
              <a:t>、</a:t>
            </a:r>
            <a:r>
              <a:rPr lang="en-US" altLang="zh-CN" sz="2000" b="0" i="0" dirty="0" err="1">
                <a:solidFill>
                  <a:srgbClr val="333333"/>
                </a:solidFill>
                <a:ea typeface="+mn-lt"/>
                <a:cs typeface="+mn-lt"/>
              </a:rPr>
              <a:t>CoT</a:t>
            </a:r>
            <a:r>
              <a:rPr lang="zh-CN" altLang="en-US" sz="2000" b="0" i="0" dirty="0">
                <a:solidFill>
                  <a:srgbClr val="333333"/>
                </a:solidFill>
                <a:ea typeface="+mn-lt"/>
                <a:cs typeface="+mn-lt"/>
              </a:rPr>
              <a:t>、</a:t>
            </a:r>
            <a:r>
              <a:rPr lang="en-US" altLang="zh-CN" sz="2000" b="0" i="0" dirty="0">
                <a:solidFill>
                  <a:srgbClr val="333333"/>
                </a:solidFill>
                <a:ea typeface="+mn-lt"/>
                <a:cs typeface="+mn-lt"/>
              </a:rPr>
              <a:t>thinking </a:t>
            </a:r>
            <a:r>
              <a:rPr lang="zh-CN" altLang="en-US" sz="2000" b="0" i="0" dirty="0">
                <a:solidFill>
                  <a:srgbClr val="333333"/>
                </a:solidFill>
                <a:ea typeface="+mn-lt"/>
                <a:cs typeface="+mn-lt"/>
              </a:rPr>
              <a:t>格式等训练样本</a:t>
            </a:r>
            <a:r>
              <a:rPr lang="zh-CN" altLang="en-US" sz="2000" b="0" i="0" dirty="0" smtClean="0">
                <a:solidFill>
                  <a:srgbClr val="333333"/>
                </a:solidFill>
                <a:ea typeface="+mn-lt"/>
                <a:cs typeface="+mn-lt"/>
              </a:rPr>
              <a:t>。</a:t>
            </a:r>
            <a:endParaRPr lang="en-US" altLang="zh-CN" sz="2000" b="0" i="0" dirty="0" smtClean="0">
              <a:solidFill>
                <a:srgbClr val="333333"/>
              </a:solidFill>
              <a:ea typeface="+mn-lt"/>
              <a:cs typeface="+mn-lt"/>
            </a:endParaRPr>
          </a:p>
          <a:p>
            <a:pPr marL="0" indent="0">
              <a:lnSpc>
                <a:spcPct val="180000"/>
              </a:lnSpc>
              <a:spcBef>
                <a:spcPct val="0"/>
              </a:spcBef>
              <a:spcAft>
                <a:spcPct val="0"/>
              </a:spcAft>
              <a:buAutoNum type="arabicPeriod"/>
            </a:pPr>
            <a:r>
              <a:rPr lang="zh-CN" altLang="en-US" sz="2000" b="0" i="0" dirty="0" smtClean="0">
                <a:solidFill>
                  <a:srgbClr val="333333"/>
                </a:solidFill>
                <a:ea typeface="+mn-lt"/>
                <a:cs typeface="+mn-lt"/>
              </a:rPr>
              <a:t> </a:t>
            </a:r>
            <a:r>
              <a:rPr lang="en-US" altLang="zh-CN" sz="2000" b="0" i="0" dirty="0" smtClean="0">
                <a:solidFill>
                  <a:srgbClr val="333333"/>
                </a:solidFill>
                <a:ea typeface="+mn-lt"/>
                <a:cs typeface="+mn-lt"/>
              </a:rPr>
              <a:t>SFT</a:t>
            </a:r>
            <a:r>
              <a:rPr lang="zh-CN" altLang="en-US" sz="2000" b="0" i="0" dirty="0">
                <a:solidFill>
                  <a:srgbClr val="333333"/>
                </a:solidFill>
                <a:ea typeface="+mn-lt"/>
                <a:cs typeface="+mn-lt"/>
              </a:rPr>
              <a:t>、合成数据、偏好数据和 </a:t>
            </a:r>
            <a:r>
              <a:rPr lang="zh-CN" altLang="en-US" sz="2000" dirty="0" smtClean="0">
                <a:solidFill>
                  <a:srgbClr val="333333"/>
                </a:solidFill>
                <a:ea typeface="+mn-lt"/>
                <a:cs typeface="+mn-lt"/>
              </a:rPr>
              <a:t>任何后训练数据</a:t>
            </a:r>
            <a:r>
              <a:rPr lang="zh-CN" altLang="en-US" sz="2000" b="0" i="0" dirty="0" smtClean="0">
                <a:solidFill>
                  <a:srgbClr val="333333"/>
                </a:solidFill>
                <a:ea typeface="+mn-lt"/>
                <a:cs typeface="+mn-lt"/>
              </a:rPr>
              <a:t>都</a:t>
            </a:r>
            <a:r>
              <a:rPr lang="zh-CN" altLang="en-US" sz="2000" b="0" i="0" dirty="0">
                <a:solidFill>
                  <a:srgbClr val="333333"/>
                </a:solidFill>
                <a:ea typeface="+mn-lt"/>
                <a:cs typeface="+mn-lt"/>
              </a:rPr>
              <a:t>必须仅来源于该 </a:t>
            </a:r>
            <a:r>
              <a:rPr lang="en-US" altLang="zh-CN" sz="2000" b="0" i="0" dirty="0">
                <a:solidFill>
                  <a:srgbClr val="333333"/>
                </a:solidFill>
                <a:ea typeface="+mn-lt"/>
                <a:cs typeface="+mn-lt"/>
              </a:rPr>
              <a:t>10 </a:t>
            </a:r>
            <a:r>
              <a:rPr lang="zh-CN" altLang="en-US" sz="2000" b="0" i="0" dirty="0">
                <a:solidFill>
                  <a:srgbClr val="333333"/>
                </a:solidFill>
                <a:ea typeface="+mn-lt"/>
                <a:cs typeface="+mn-lt"/>
              </a:rPr>
              <a:t>万条子集。</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MidTerm Projects</a:t>
            </a:r>
            <a:endParaRPr lang="zh-CN" altLang="en-US" sz="1500" dirty="0"/>
          </a:p>
        </p:txBody>
      </p:sp>
      <p:sp>
        <p:nvSpPr>
          <p:cNvPr id="8" name="文本框 4"/>
          <p:cNvSpPr txBox="1"/>
          <p:nvPr/>
        </p:nvSpPr>
        <p:spPr>
          <a:xfrm>
            <a:off x="181610" y="64135"/>
            <a:ext cx="7082155" cy="521970"/>
          </a:xfrm>
          <a:prstGeom prst="rect">
            <a:avLst/>
          </a:prstGeom>
          <a:noFill/>
        </p:spPr>
        <p:txBody>
          <a:bodyPr wrap="square" rtlCol="0">
            <a:spAutoFit/>
          </a:bodyPr>
          <a:lstStyle/>
          <a:p>
            <a:r>
              <a:rPr lang="zh-CN" altLang="en-US" sz="2800" b="1" dirty="0">
                <a:solidFill>
                  <a:srgbClr val="2F57D9"/>
                </a:solidFill>
                <a:latin typeface="Calibri" panose="020F0502020204030204" pitchFamily="34" charset="0"/>
                <a:cs typeface="Calibri" panose="020F0502020204030204" pitchFamily="34" charset="0"/>
              </a:rPr>
              <a:t>数据集说明：如何构建</a:t>
            </a:r>
            <a:r>
              <a:rPr lang="en-US" altLang="zh-CN" sz="2800" b="1" dirty="0">
                <a:solidFill>
                  <a:srgbClr val="2F57D9"/>
                </a:solidFill>
                <a:latin typeface="Calibri" panose="020F0502020204030204" pitchFamily="34" charset="0"/>
                <a:cs typeface="Calibri" panose="020F0502020204030204" pitchFamily="34" charset="0"/>
              </a:rPr>
              <a:t>SFT</a:t>
            </a:r>
            <a:r>
              <a:rPr lang="zh-CN" altLang="en-US" sz="2800" b="1" dirty="0">
                <a:solidFill>
                  <a:srgbClr val="2F57D9"/>
                </a:solidFill>
                <a:latin typeface="Calibri" panose="020F0502020204030204" pitchFamily="34" charset="0"/>
                <a:cs typeface="Calibri" panose="020F0502020204030204" pitchFamily="34" charset="0"/>
              </a:rPr>
              <a:t>的</a:t>
            </a:r>
            <a:r>
              <a:rPr lang="en-US" altLang="zh-CN" sz="2800" b="1" dirty="0">
                <a:solidFill>
                  <a:srgbClr val="2F57D9"/>
                </a:solidFill>
                <a:latin typeface="Calibri" panose="020F0502020204030204" pitchFamily="34" charset="0"/>
                <a:cs typeface="Calibri" panose="020F0502020204030204" pitchFamily="34" charset="0"/>
              </a:rPr>
              <a:t>chat</a:t>
            </a:r>
            <a:r>
              <a:rPr lang="zh-CN" altLang="en-US" sz="2800" b="1" dirty="0">
                <a:solidFill>
                  <a:srgbClr val="2F57D9"/>
                </a:solidFill>
                <a:latin typeface="Calibri" panose="020F0502020204030204" pitchFamily="34" charset="0"/>
                <a:cs typeface="Calibri" panose="020F0502020204030204" pitchFamily="34" charset="0"/>
              </a:rPr>
              <a:t>风格数据集</a:t>
            </a:r>
          </a:p>
        </p:txBody>
      </p:sp>
      <p:sp>
        <p:nvSpPr>
          <p:cNvPr id="2" name="圆角矩形 1"/>
          <p:cNvSpPr/>
          <p:nvPr/>
        </p:nvSpPr>
        <p:spPr>
          <a:xfrm>
            <a:off x="981075" y="2473881"/>
            <a:ext cx="3422015" cy="1377950"/>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tLang="zh-CN" sz="800" dirty="0">
              <a:solidFill>
                <a:schemeClr val="tx1"/>
              </a:solidFill>
            </a:endParaRPr>
          </a:p>
          <a:p>
            <a:pPr algn="ctr"/>
            <a:r>
              <a:rPr lang="en-US" altLang="zh-CN" sz="800" dirty="0">
                <a:solidFill>
                  <a:schemeClr val="tx1"/>
                </a:solidFill>
              </a:rPr>
              <a:t>**Problem Background:**</a:t>
            </a:r>
          </a:p>
          <a:p>
            <a:pPr algn="ctr"/>
            <a:r>
              <a:rPr lang="en-US" altLang="zh-CN" sz="800" dirty="0">
                <a:solidFill>
                  <a:schemeClr val="tx1"/>
                </a:solidFill>
              </a:rPr>
              <a:t>As part of my research, I have developed two algorithms for selecting a set of features from a dataset (gene expression data from cancer patients). These features are used to classify unseen samples as either cancerous or non-cancerous. For each run, a solution (a set of features) is generated and tested on \( Z \) unseen samples. The percentage accuracy is calculated as.......</a:t>
            </a:r>
          </a:p>
        </p:txBody>
      </p:sp>
      <p:sp>
        <p:nvSpPr>
          <p:cNvPr id="3" name="矩形 2"/>
          <p:cNvSpPr/>
          <p:nvPr/>
        </p:nvSpPr>
        <p:spPr>
          <a:xfrm>
            <a:off x="3031490" y="2473881"/>
            <a:ext cx="1371600" cy="46355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600">
                <a:solidFill>
                  <a:schemeClr val="bg1"/>
                </a:solidFill>
                <a:ea typeface="+mn-lt"/>
                <a:cs typeface="+mn-lt"/>
                <a:sym typeface="+mn-ea"/>
              </a:rPr>
              <a:t>Nemotron-CC-Math-v1</a:t>
            </a:r>
          </a:p>
        </p:txBody>
      </p:sp>
      <p:cxnSp>
        <p:nvCxnSpPr>
          <p:cNvPr id="5" name="直接箭头连接符 4"/>
          <p:cNvCxnSpPr/>
          <p:nvPr/>
        </p:nvCxnSpPr>
        <p:spPr>
          <a:xfrm>
            <a:off x="4403090" y="2933621"/>
            <a:ext cx="709295" cy="381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7" name="圆角矩形 6"/>
          <p:cNvSpPr/>
          <p:nvPr/>
        </p:nvSpPr>
        <p:spPr>
          <a:xfrm>
            <a:off x="5507355" y="2579926"/>
            <a:ext cx="1541145" cy="741045"/>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a:solidFill>
                  <a:schemeClr val="tx1"/>
                </a:solidFill>
              </a:rPr>
              <a:t>Qwen-3-0.6B-Base</a:t>
            </a:r>
          </a:p>
        </p:txBody>
      </p:sp>
      <p:cxnSp>
        <p:nvCxnSpPr>
          <p:cNvPr id="9" name="直接箭头连接符 8"/>
          <p:cNvCxnSpPr/>
          <p:nvPr/>
        </p:nvCxnSpPr>
        <p:spPr>
          <a:xfrm>
            <a:off x="7578090" y="2933621"/>
            <a:ext cx="709295" cy="381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0" name="圆角矩形 9"/>
          <p:cNvSpPr/>
          <p:nvPr/>
        </p:nvSpPr>
        <p:spPr>
          <a:xfrm>
            <a:off x="4772660" y="3170476"/>
            <a:ext cx="3009900" cy="741045"/>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en-US" altLang="zh-CN" sz="1200">
                <a:solidFill>
                  <a:schemeClr val="tx1"/>
                </a:solidFill>
              </a:rPr>
              <a:t>Q: </a:t>
            </a:r>
            <a:r>
              <a:rPr lang="zh-CN" altLang="en-US" sz="1200">
                <a:solidFill>
                  <a:schemeClr val="tx1"/>
                </a:solidFill>
              </a:rPr>
              <a:t>请你帮我根据这个，出一个合适的题目，格式为</a:t>
            </a:r>
            <a:r>
              <a:rPr lang="en-US" altLang="zh-CN" sz="1200">
                <a:solidFill>
                  <a:schemeClr val="tx1"/>
                </a:solidFill>
              </a:rPr>
              <a:t>[QUESTION][ANSWER]</a:t>
            </a:r>
            <a:r>
              <a:rPr lang="zh-CN" altLang="en-US" sz="1200">
                <a:solidFill>
                  <a:schemeClr val="tx1"/>
                </a:solidFill>
              </a:rPr>
              <a:t>，要求答案标准正确可用。</a:t>
            </a:r>
            <a:br>
              <a:rPr lang="zh-CN" altLang="en-US" sz="1200">
                <a:solidFill>
                  <a:schemeClr val="tx1"/>
                </a:solidFill>
              </a:rPr>
            </a:br>
            <a:r>
              <a:rPr lang="en-US" altLang="zh-CN" sz="1200">
                <a:solidFill>
                  <a:schemeClr val="tx1"/>
                </a:solidFill>
              </a:rPr>
              <a:t>A:</a:t>
            </a:r>
          </a:p>
        </p:txBody>
      </p:sp>
      <p:sp>
        <p:nvSpPr>
          <p:cNvPr id="12" name="圆角矩形 11"/>
          <p:cNvSpPr/>
          <p:nvPr/>
        </p:nvSpPr>
        <p:spPr>
          <a:xfrm>
            <a:off x="8566785" y="2435781"/>
            <a:ext cx="2947670" cy="1377950"/>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600">
                <a:solidFill>
                  <a:schemeClr val="tx1"/>
                </a:solidFill>
              </a:rPr>
              <a:t>[QUESTION] XXXXXXX</a:t>
            </a:r>
          </a:p>
          <a:p>
            <a:pPr algn="ctr"/>
            <a:r>
              <a:rPr lang="en-US" altLang="zh-CN" sz="1600">
                <a:solidFill>
                  <a:schemeClr val="tx1"/>
                </a:solidFill>
              </a:rPr>
              <a:t>[ANSWER] XXXXXXX</a:t>
            </a:r>
          </a:p>
        </p:txBody>
      </p:sp>
      <p:sp>
        <p:nvSpPr>
          <p:cNvPr id="13" name="文本框 12"/>
          <p:cNvSpPr txBox="1"/>
          <p:nvPr/>
        </p:nvSpPr>
        <p:spPr>
          <a:xfrm>
            <a:off x="181610" y="5109210"/>
            <a:ext cx="6096000" cy="521970"/>
          </a:xfrm>
          <a:prstGeom prst="rect">
            <a:avLst/>
          </a:prstGeom>
          <a:noFill/>
        </p:spPr>
        <p:txBody>
          <a:bodyPr wrap="square" rtlCol="0" anchor="t">
            <a:spAutoFit/>
          </a:bodyPr>
          <a:lstStyle/>
          <a:p>
            <a:r>
              <a:rPr lang="zh-CN" altLang="en-US" sz="2800" b="1" dirty="0">
                <a:solidFill>
                  <a:srgbClr val="2F57D9"/>
                </a:solidFill>
                <a:latin typeface="Calibri" panose="020F0502020204030204" pitchFamily="34" charset="0"/>
                <a:cs typeface="Calibri" panose="020F0502020204030204" pitchFamily="34" charset="0"/>
                <a:sym typeface="+mn-ea"/>
              </a:rPr>
              <a:t>构建</a:t>
            </a:r>
            <a:r>
              <a:rPr lang="en-US" altLang="zh-CN" sz="2800" b="1" dirty="0">
                <a:solidFill>
                  <a:srgbClr val="2F57D9"/>
                </a:solidFill>
                <a:latin typeface="Calibri" panose="020F0502020204030204" pitchFamily="34" charset="0"/>
                <a:cs typeface="Calibri" panose="020F0502020204030204" pitchFamily="34" charset="0"/>
                <a:sym typeface="+mn-ea"/>
              </a:rPr>
              <a:t>RLHF</a:t>
            </a:r>
            <a:r>
              <a:rPr lang="zh-CN" altLang="en-US" sz="2800" b="1" dirty="0">
                <a:solidFill>
                  <a:srgbClr val="2F57D9"/>
                </a:solidFill>
                <a:latin typeface="Calibri" panose="020F0502020204030204" pitchFamily="34" charset="0"/>
                <a:cs typeface="Calibri" panose="020F0502020204030204" pitchFamily="34" charset="0"/>
                <a:sym typeface="+mn-ea"/>
              </a:rPr>
              <a:t>格式的数据集，同理。</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MidTerm Projects</a:t>
            </a:r>
            <a:endParaRPr lang="zh-CN" altLang="en-US" sz="1500" dirty="0"/>
          </a:p>
        </p:txBody>
      </p:sp>
      <p:sp>
        <p:nvSpPr>
          <p:cNvPr id="8" name="文本框 4"/>
          <p:cNvSpPr txBox="1"/>
          <p:nvPr/>
        </p:nvSpPr>
        <p:spPr>
          <a:xfrm>
            <a:off x="181610" y="64135"/>
            <a:ext cx="7082155" cy="521970"/>
          </a:xfrm>
          <a:prstGeom prst="rect">
            <a:avLst/>
          </a:prstGeom>
          <a:noFill/>
        </p:spPr>
        <p:txBody>
          <a:bodyPr wrap="square" rtlCol="0">
            <a:spAutoFit/>
          </a:bodyPr>
          <a:lstStyle/>
          <a:p>
            <a:r>
              <a:rPr lang="zh-CN" altLang="en-US" sz="2800" b="1" dirty="0">
                <a:solidFill>
                  <a:srgbClr val="2F57D9"/>
                </a:solidFill>
                <a:latin typeface="Calibri" panose="020F0502020204030204" pitchFamily="34" charset="0"/>
                <a:cs typeface="Calibri" panose="020F0502020204030204" pitchFamily="34" charset="0"/>
              </a:rPr>
              <a:t>数据集说明</a:t>
            </a:r>
          </a:p>
        </p:txBody>
      </p:sp>
      <p:sp>
        <p:nvSpPr>
          <p:cNvPr id="13" name="文本框 12"/>
          <p:cNvSpPr txBox="1"/>
          <p:nvPr/>
        </p:nvSpPr>
        <p:spPr>
          <a:xfrm>
            <a:off x="925195" y="1123315"/>
            <a:ext cx="10162540" cy="4831080"/>
          </a:xfrm>
          <a:prstGeom prst="rect">
            <a:avLst/>
          </a:prstGeom>
          <a:noFill/>
        </p:spPr>
        <p:txBody>
          <a:bodyPr wrap="square" rtlCol="0" anchor="t">
            <a:spAutoFit/>
          </a:bodyPr>
          <a:lstStyle/>
          <a:p>
            <a:r>
              <a:rPr lang="zh-CN" altLang="en-US" sz="2800" dirty="0">
                <a:solidFill>
                  <a:schemeClr val="tx1"/>
                </a:solidFill>
                <a:latin typeface="Calibri" panose="020F0502020204030204" pitchFamily="34" charset="0"/>
                <a:cs typeface="Calibri" panose="020F0502020204030204" pitchFamily="34" charset="0"/>
                <a:sym typeface="+mn-ea"/>
              </a:rPr>
              <a:t>未经处理的训练数据十万条：</a:t>
            </a:r>
            <a:r>
              <a:rPr lang="en-US" altLang="zh-CN" sz="2800" dirty="0">
                <a:solidFill>
                  <a:schemeClr val="tx1"/>
                </a:solidFill>
                <a:latin typeface="Calibri" panose="020F0502020204030204" pitchFamily="34" charset="0"/>
                <a:cs typeface="Calibri" panose="020F0502020204030204" pitchFamily="34" charset="0"/>
                <a:sym typeface="+mn-ea"/>
              </a:rPr>
              <a:t>MidTerm_Project_TrainingData_100000.zip</a:t>
            </a:r>
          </a:p>
          <a:p>
            <a:endParaRPr lang="en-US" altLang="zh-CN" sz="2800" dirty="0">
              <a:solidFill>
                <a:schemeClr val="tx1"/>
              </a:solidFill>
              <a:latin typeface="Calibri" panose="020F0502020204030204" pitchFamily="34" charset="0"/>
              <a:cs typeface="Calibri" panose="020F0502020204030204" pitchFamily="34" charset="0"/>
              <a:sym typeface="+mn-ea"/>
            </a:endParaRPr>
          </a:p>
          <a:p>
            <a:endParaRPr lang="en-US" altLang="zh-CN" sz="2800" dirty="0">
              <a:solidFill>
                <a:schemeClr val="tx1"/>
              </a:solidFill>
              <a:latin typeface="Calibri" panose="020F0502020204030204" pitchFamily="34" charset="0"/>
              <a:cs typeface="Calibri" panose="020F0502020204030204" pitchFamily="34" charset="0"/>
              <a:sym typeface="+mn-ea"/>
            </a:endParaRPr>
          </a:p>
          <a:p>
            <a:endParaRPr lang="en-US" altLang="zh-CN" sz="2800" dirty="0">
              <a:solidFill>
                <a:schemeClr val="tx1"/>
              </a:solidFill>
              <a:latin typeface="Calibri" panose="020F0502020204030204" pitchFamily="34" charset="0"/>
              <a:cs typeface="Calibri" panose="020F0502020204030204" pitchFamily="34" charset="0"/>
              <a:sym typeface="+mn-ea"/>
            </a:endParaRPr>
          </a:p>
          <a:p>
            <a:r>
              <a:rPr lang="zh-CN" altLang="en-US" sz="2800" dirty="0">
                <a:solidFill>
                  <a:schemeClr val="tx1"/>
                </a:solidFill>
                <a:latin typeface="Calibri" panose="020F0502020204030204" pitchFamily="34" charset="0"/>
                <a:cs typeface="Calibri" panose="020F0502020204030204" pitchFamily="34" charset="0"/>
                <a:sym typeface="+mn-ea"/>
              </a:rPr>
              <a:t>验证</a:t>
            </a:r>
            <a:r>
              <a:rPr lang="zh-CN" altLang="en-US" sz="2800" dirty="0" smtClean="0">
                <a:solidFill>
                  <a:schemeClr val="tx1"/>
                </a:solidFill>
                <a:latin typeface="Calibri" panose="020F0502020204030204" pitchFamily="34" charset="0"/>
                <a:cs typeface="Calibri" panose="020F0502020204030204" pitchFamily="34" charset="0"/>
                <a:sym typeface="+mn-ea"/>
              </a:rPr>
              <a:t>集</a:t>
            </a:r>
            <a:r>
              <a:rPr lang="en-US" altLang="zh-CN" sz="2800" dirty="0" smtClean="0">
                <a:solidFill>
                  <a:schemeClr val="tx1"/>
                </a:solidFill>
                <a:latin typeface="Calibri" panose="020F0502020204030204" pitchFamily="34" charset="0"/>
                <a:cs typeface="Calibri" panose="020F0502020204030204" pitchFamily="34" charset="0"/>
                <a:sym typeface="+mn-ea"/>
              </a:rPr>
              <a:t>1000</a:t>
            </a:r>
            <a:r>
              <a:rPr lang="zh-CN" altLang="en-US" sz="2800" dirty="0" smtClean="0">
                <a:solidFill>
                  <a:schemeClr val="tx1"/>
                </a:solidFill>
                <a:latin typeface="Calibri" panose="020F0502020204030204" pitchFamily="34" charset="0"/>
                <a:cs typeface="Calibri" panose="020F0502020204030204" pitchFamily="34" charset="0"/>
                <a:sym typeface="+mn-ea"/>
              </a:rPr>
              <a:t>条</a:t>
            </a:r>
            <a:r>
              <a:rPr lang="zh-CN" altLang="en-US" sz="2800" dirty="0">
                <a:solidFill>
                  <a:schemeClr val="tx1"/>
                </a:solidFill>
                <a:latin typeface="Calibri" panose="020F0502020204030204" pitchFamily="34" charset="0"/>
                <a:cs typeface="Calibri" panose="020F0502020204030204" pitchFamily="34" charset="0"/>
                <a:sym typeface="+mn-ea"/>
              </a:rPr>
              <a:t>：</a:t>
            </a:r>
          </a:p>
          <a:p>
            <a:r>
              <a:rPr lang="en-US" altLang="zh-CN" sz="2800" dirty="0">
                <a:solidFill>
                  <a:schemeClr val="tx1"/>
                </a:solidFill>
                <a:latin typeface="Calibri" panose="020F0502020204030204" pitchFamily="34" charset="0"/>
                <a:cs typeface="Calibri" panose="020F0502020204030204" pitchFamily="34" charset="0"/>
                <a:sym typeface="+mn-ea"/>
              </a:rPr>
              <a:t>MidTerm_Project_ValidData_1000.zip</a:t>
            </a:r>
          </a:p>
          <a:p>
            <a:endParaRPr lang="zh-CN" altLang="en-US" sz="2800" dirty="0">
              <a:solidFill>
                <a:schemeClr val="tx1"/>
              </a:solidFill>
              <a:latin typeface="Calibri" panose="020F0502020204030204" pitchFamily="34" charset="0"/>
              <a:cs typeface="Calibri" panose="020F0502020204030204" pitchFamily="34" charset="0"/>
              <a:sym typeface="+mn-ea"/>
            </a:endParaRPr>
          </a:p>
          <a:p>
            <a:endParaRPr lang="zh-CN" altLang="en-US" sz="2800" dirty="0">
              <a:solidFill>
                <a:schemeClr val="tx1"/>
              </a:solidFill>
              <a:latin typeface="Calibri" panose="020F0502020204030204" pitchFamily="34" charset="0"/>
              <a:cs typeface="Calibri" panose="020F0502020204030204" pitchFamily="34" charset="0"/>
              <a:sym typeface="+mn-ea"/>
            </a:endParaRPr>
          </a:p>
          <a:p>
            <a:r>
              <a:rPr lang="zh-CN" altLang="en-US" sz="2800" dirty="0">
                <a:solidFill>
                  <a:schemeClr val="tx1"/>
                </a:solidFill>
                <a:latin typeface="Calibri" panose="020F0502020204030204" pitchFamily="34" charset="0"/>
                <a:cs typeface="Calibri" panose="020F0502020204030204" pitchFamily="34" charset="0"/>
                <a:sym typeface="+mn-ea"/>
              </a:rPr>
              <a:t>测试集</a:t>
            </a:r>
            <a:r>
              <a:rPr lang="en-US" altLang="zh-CN" sz="2800" dirty="0">
                <a:solidFill>
                  <a:schemeClr val="tx1"/>
                </a:solidFill>
                <a:latin typeface="Calibri" panose="020F0502020204030204" pitchFamily="34" charset="0"/>
                <a:cs typeface="Calibri" panose="020F0502020204030204" pitchFamily="34" charset="0"/>
                <a:sym typeface="+mn-ea"/>
              </a:rPr>
              <a:t> </a:t>
            </a:r>
            <a:r>
              <a:rPr lang="en-US" altLang="zh-CN" sz="2800" dirty="0" smtClean="0">
                <a:solidFill>
                  <a:schemeClr val="tx1"/>
                </a:solidFill>
                <a:latin typeface="Calibri" panose="020F0502020204030204" pitchFamily="34" charset="0"/>
                <a:cs typeface="Calibri" panose="020F0502020204030204" pitchFamily="34" charset="0"/>
                <a:sym typeface="+mn-ea"/>
              </a:rPr>
              <a:t>100 </a:t>
            </a:r>
            <a:r>
              <a:rPr lang="zh-CN" altLang="en-US" sz="2800" dirty="0">
                <a:solidFill>
                  <a:schemeClr val="tx1"/>
                </a:solidFill>
                <a:latin typeface="Calibri" panose="020F0502020204030204" pitchFamily="34" charset="0"/>
                <a:cs typeface="Calibri" panose="020F0502020204030204" pitchFamily="34" charset="0"/>
                <a:sym typeface="+mn-ea"/>
              </a:rPr>
              <a:t>条：</a:t>
            </a:r>
          </a:p>
          <a:p>
            <a:r>
              <a:rPr lang="zh-CN" altLang="en-US" sz="2800" dirty="0">
                <a:solidFill>
                  <a:schemeClr val="tx1"/>
                </a:solidFill>
                <a:latin typeface="Calibri" panose="020F0502020204030204" pitchFamily="34" charset="0"/>
                <a:cs typeface="Calibri" panose="020F0502020204030204" pitchFamily="34" charset="0"/>
                <a:sym typeface="+mn-ea"/>
              </a:rPr>
              <a:t>未知</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MidTerm Projects</a:t>
            </a:r>
            <a:endParaRPr lang="zh-CN" altLang="en-US" sz="1500" dirty="0"/>
          </a:p>
        </p:txBody>
      </p:sp>
      <p:sp>
        <p:nvSpPr>
          <p:cNvPr id="8" name="文本框 4"/>
          <p:cNvSpPr txBox="1"/>
          <p:nvPr/>
        </p:nvSpPr>
        <p:spPr>
          <a:xfrm>
            <a:off x="181610" y="64135"/>
            <a:ext cx="7082155" cy="521970"/>
          </a:xfrm>
          <a:prstGeom prst="rect">
            <a:avLst/>
          </a:prstGeom>
          <a:noFill/>
        </p:spPr>
        <p:txBody>
          <a:bodyPr wrap="square" rtlCol="0">
            <a:spAutoFit/>
          </a:bodyPr>
          <a:lstStyle/>
          <a:p>
            <a:r>
              <a:rPr lang="zh-CN" altLang="en-US" sz="2800" b="1" dirty="0">
                <a:solidFill>
                  <a:srgbClr val="2F57D9"/>
                </a:solidFill>
                <a:latin typeface="Calibri" panose="020F0502020204030204" pitchFamily="34" charset="0"/>
                <a:cs typeface="Calibri" panose="020F0502020204030204" pitchFamily="34" charset="0"/>
              </a:rPr>
              <a:t>算力限制</a:t>
            </a:r>
          </a:p>
        </p:txBody>
      </p:sp>
      <p:sp>
        <p:nvSpPr>
          <p:cNvPr id="13" name="文本框 12"/>
          <p:cNvSpPr txBox="1"/>
          <p:nvPr/>
        </p:nvSpPr>
        <p:spPr>
          <a:xfrm>
            <a:off x="925195" y="1123315"/>
            <a:ext cx="10673080" cy="2159000"/>
          </a:xfrm>
          <a:prstGeom prst="rect">
            <a:avLst/>
          </a:prstGeom>
          <a:noFill/>
        </p:spPr>
        <p:txBody>
          <a:bodyPr wrap="square" rtlCol="0" anchor="t">
            <a:spAutoFit/>
          </a:bodyPr>
          <a:lstStyle/>
          <a:p>
            <a:pPr>
              <a:lnSpc>
                <a:spcPct val="160000"/>
              </a:lnSpc>
            </a:pPr>
            <a:r>
              <a:rPr lang="en-US" altLang="zh-CN" sz="2800" dirty="0">
                <a:solidFill>
                  <a:schemeClr val="tx1"/>
                </a:solidFill>
                <a:latin typeface="Calibri" panose="020F0502020204030204" pitchFamily="34" charset="0"/>
                <a:cs typeface="Calibri" panose="020F0502020204030204" pitchFamily="34" charset="0"/>
                <a:sym typeface="+mn-ea"/>
              </a:rPr>
              <a:t>1. </a:t>
            </a:r>
            <a:r>
              <a:rPr lang="zh-CN" altLang="en-US" sz="2800" dirty="0">
                <a:solidFill>
                  <a:schemeClr val="tx1"/>
                </a:solidFill>
                <a:latin typeface="Calibri" panose="020F0502020204030204" pitchFamily="34" charset="0"/>
                <a:cs typeface="Calibri" panose="020F0502020204030204" pitchFamily="34" charset="0"/>
                <a:sym typeface="+mn-ea"/>
              </a:rPr>
              <a:t>每组总算力预算约为</a:t>
            </a:r>
            <a:r>
              <a:rPr lang="en-US" altLang="zh-CN" sz="2800" dirty="0">
                <a:solidFill>
                  <a:schemeClr val="tx1"/>
                </a:solidFill>
                <a:latin typeface="Calibri" panose="020F0502020204030204" pitchFamily="34" charset="0"/>
                <a:cs typeface="Calibri" panose="020F0502020204030204" pitchFamily="34" charset="0"/>
                <a:sym typeface="+mn-ea"/>
              </a:rPr>
              <a:t> 500 GPU </a:t>
            </a:r>
            <a:r>
              <a:rPr lang="zh-CN" altLang="en-US" sz="2800" dirty="0">
                <a:solidFill>
                  <a:schemeClr val="tx1"/>
                </a:solidFill>
                <a:latin typeface="Calibri" panose="020F0502020204030204" pitchFamily="34" charset="0"/>
                <a:cs typeface="Calibri" panose="020F0502020204030204" pitchFamily="34" charset="0"/>
                <a:sym typeface="+mn-ea"/>
              </a:rPr>
              <a:t>卡时。</a:t>
            </a:r>
          </a:p>
          <a:p>
            <a:pPr>
              <a:lnSpc>
                <a:spcPct val="160000"/>
              </a:lnSpc>
            </a:pPr>
            <a:r>
              <a:rPr lang="en-US" altLang="zh-CN" sz="2800" dirty="0">
                <a:solidFill>
                  <a:schemeClr val="tx1"/>
                </a:solidFill>
                <a:latin typeface="Calibri" panose="020F0502020204030204" pitchFamily="34" charset="0"/>
                <a:cs typeface="Calibri" panose="020F0502020204030204" pitchFamily="34" charset="0"/>
                <a:sym typeface="+mn-ea"/>
              </a:rPr>
              <a:t>2. </a:t>
            </a:r>
            <a:r>
              <a:rPr lang="zh-CN" altLang="en-US" sz="2800" dirty="0">
                <a:solidFill>
                  <a:schemeClr val="tx1"/>
                </a:solidFill>
                <a:latin typeface="Calibri" panose="020F0502020204030204" pitchFamily="34" charset="0"/>
                <a:cs typeface="Calibri" panose="020F0502020204030204" pitchFamily="34" charset="0"/>
                <a:sym typeface="+mn-ea"/>
              </a:rPr>
              <a:t>该预算覆盖全部实验过程，包括数据合成、</a:t>
            </a:r>
            <a:r>
              <a:rPr lang="en-US" altLang="zh-CN" sz="2800" dirty="0" smtClean="0">
                <a:solidFill>
                  <a:schemeClr val="tx1"/>
                </a:solidFill>
                <a:latin typeface="Calibri" panose="020F0502020204030204" pitchFamily="34" charset="0"/>
                <a:cs typeface="Calibri" panose="020F0502020204030204" pitchFamily="34" charset="0"/>
                <a:sym typeface="+mn-ea"/>
              </a:rPr>
              <a:t>SFT </a:t>
            </a:r>
            <a:r>
              <a:rPr lang="zh-CN" altLang="en-US" sz="2800" dirty="0">
                <a:solidFill>
                  <a:schemeClr val="tx1"/>
                </a:solidFill>
                <a:latin typeface="Calibri" panose="020F0502020204030204" pitchFamily="34" charset="0"/>
                <a:cs typeface="Calibri" panose="020F0502020204030204" pitchFamily="34" charset="0"/>
                <a:sym typeface="+mn-ea"/>
              </a:rPr>
              <a:t>和重复实验。</a:t>
            </a:r>
          </a:p>
          <a:p>
            <a:pPr>
              <a:lnSpc>
                <a:spcPct val="160000"/>
              </a:lnSpc>
            </a:pPr>
            <a:r>
              <a:rPr lang="en-US" altLang="zh-CN" sz="2800" dirty="0">
                <a:solidFill>
                  <a:schemeClr val="tx1"/>
                </a:solidFill>
                <a:latin typeface="Calibri" panose="020F0502020204030204" pitchFamily="34" charset="0"/>
                <a:cs typeface="Calibri" panose="020F0502020204030204" pitchFamily="34" charset="0"/>
                <a:sym typeface="+mn-ea"/>
              </a:rPr>
              <a:t>3. </a:t>
            </a:r>
            <a:r>
              <a:rPr lang="zh-CN" altLang="en-US" sz="2800" dirty="0">
                <a:solidFill>
                  <a:schemeClr val="tx1"/>
                </a:solidFill>
                <a:latin typeface="Calibri" panose="020F0502020204030204" pitchFamily="34" charset="0"/>
                <a:cs typeface="Calibri" panose="020F0502020204030204" pitchFamily="34" charset="0"/>
                <a:sym typeface="+mn-ea"/>
              </a:rPr>
              <a:t>各组需自行合理分配算力预算。</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MidTerm Projects</a:t>
            </a:r>
            <a:endParaRPr lang="zh-CN" altLang="en-US" sz="1500" dirty="0"/>
          </a:p>
        </p:txBody>
      </p:sp>
      <p:sp>
        <p:nvSpPr>
          <p:cNvPr id="8" name="文本框 4"/>
          <p:cNvSpPr txBox="1"/>
          <p:nvPr/>
        </p:nvSpPr>
        <p:spPr>
          <a:xfrm>
            <a:off x="181610" y="298688"/>
            <a:ext cx="7082155" cy="521970"/>
          </a:xfrm>
          <a:prstGeom prst="rect">
            <a:avLst/>
          </a:prstGeom>
          <a:noFill/>
        </p:spPr>
        <p:txBody>
          <a:bodyPr wrap="square" rtlCol="0">
            <a:spAutoFit/>
          </a:bodyPr>
          <a:lstStyle/>
          <a:p>
            <a:r>
              <a:rPr lang="zh-CN" altLang="en-US" sz="2800" b="1" dirty="0">
                <a:solidFill>
                  <a:srgbClr val="2F57D9"/>
                </a:solidFill>
                <a:latin typeface="Calibri" panose="020F0502020204030204" pitchFamily="34" charset="0"/>
                <a:cs typeface="Calibri" panose="020F0502020204030204" pitchFamily="34" charset="0"/>
              </a:rPr>
              <a:t>训练与推理限制</a:t>
            </a:r>
          </a:p>
        </p:txBody>
      </p:sp>
      <p:sp>
        <p:nvSpPr>
          <p:cNvPr id="13" name="文本框 12"/>
          <p:cNvSpPr txBox="1"/>
          <p:nvPr/>
        </p:nvSpPr>
        <p:spPr>
          <a:xfrm>
            <a:off x="925194" y="1123315"/>
            <a:ext cx="11090593" cy="4228850"/>
          </a:xfrm>
          <a:prstGeom prst="rect">
            <a:avLst/>
          </a:prstGeom>
          <a:noFill/>
        </p:spPr>
        <p:txBody>
          <a:bodyPr wrap="square" rtlCol="0" anchor="t">
            <a:spAutoFit/>
          </a:bodyPr>
          <a:lstStyle/>
          <a:p>
            <a:pPr>
              <a:lnSpc>
                <a:spcPct val="160000"/>
              </a:lnSpc>
            </a:pPr>
            <a:r>
              <a:rPr lang="en-US" altLang="zh-CN" sz="2800" dirty="0">
                <a:solidFill>
                  <a:schemeClr val="tx1"/>
                </a:solidFill>
                <a:latin typeface="Calibri" panose="020F0502020204030204" pitchFamily="34" charset="0"/>
                <a:cs typeface="Calibri" panose="020F0502020204030204" pitchFamily="34" charset="0"/>
                <a:sym typeface="+mn-ea"/>
              </a:rPr>
              <a:t>1. </a:t>
            </a:r>
            <a:r>
              <a:rPr lang="zh-CN" altLang="en-US" sz="2800" dirty="0">
                <a:solidFill>
                  <a:schemeClr val="tx1"/>
                </a:solidFill>
                <a:latin typeface="Calibri" panose="020F0502020204030204" pitchFamily="34" charset="0"/>
                <a:cs typeface="Calibri" panose="020F0502020204030204" pitchFamily="34" charset="0"/>
                <a:sym typeface="+mn-ea"/>
              </a:rPr>
              <a:t>允许采用</a:t>
            </a:r>
            <a:r>
              <a:rPr lang="en-US" altLang="zh-CN" sz="2800" dirty="0">
                <a:solidFill>
                  <a:schemeClr val="tx1"/>
                </a:solidFill>
                <a:latin typeface="Calibri" panose="020F0502020204030204" pitchFamily="34" charset="0"/>
                <a:cs typeface="Calibri" panose="020F0502020204030204" pitchFamily="34" charset="0"/>
                <a:sym typeface="+mn-ea"/>
              </a:rPr>
              <a:t> </a:t>
            </a:r>
            <a:r>
              <a:rPr lang="en-US" altLang="zh-CN" sz="2800" dirty="0" smtClean="0">
                <a:solidFill>
                  <a:schemeClr val="tx1"/>
                </a:solidFill>
                <a:latin typeface="Calibri" panose="020F0502020204030204" pitchFamily="34" charset="0"/>
                <a:cs typeface="Calibri" panose="020F0502020204030204" pitchFamily="34" charset="0"/>
                <a:sym typeface="+mn-ea"/>
              </a:rPr>
              <a:t>SFT</a:t>
            </a:r>
            <a:r>
              <a:rPr lang="zh-CN" altLang="en-US" sz="2800" dirty="0" smtClean="0">
                <a:solidFill>
                  <a:schemeClr val="tx1"/>
                </a:solidFill>
                <a:latin typeface="Calibri" panose="020F0502020204030204" pitchFamily="34" charset="0"/>
                <a:cs typeface="Calibri" panose="020F0502020204030204" pitchFamily="34" charset="0"/>
                <a:sym typeface="+mn-ea"/>
              </a:rPr>
              <a:t> 类算法，允许修改</a:t>
            </a:r>
            <a:r>
              <a:rPr lang="en-US" altLang="zh-CN" sz="2800" dirty="0" smtClean="0">
                <a:solidFill>
                  <a:schemeClr val="tx1"/>
                </a:solidFill>
                <a:latin typeface="Calibri" panose="020F0502020204030204" pitchFamily="34" charset="0"/>
                <a:cs typeface="Calibri" panose="020F0502020204030204" pitchFamily="34" charset="0"/>
                <a:sym typeface="+mn-ea"/>
              </a:rPr>
              <a:t>SFT</a:t>
            </a:r>
            <a:r>
              <a:rPr lang="zh-CN" altLang="en-US" sz="2800" dirty="0">
                <a:latin typeface="Calibri" panose="020F0502020204030204" pitchFamily="34" charset="0"/>
                <a:cs typeface="Calibri" panose="020F0502020204030204" pitchFamily="34" charset="0"/>
                <a:sym typeface="+mn-ea"/>
              </a:rPr>
              <a:t>类</a:t>
            </a:r>
            <a:r>
              <a:rPr lang="zh-CN" altLang="en-US" sz="2800" dirty="0" smtClean="0">
                <a:latin typeface="Calibri" panose="020F0502020204030204" pitchFamily="34" charset="0"/>
                <a:cs typeface="Calibri" panose="020F0502020204030204" pitchFamily="34" charset="0"/>
                <a:sym typeface="+mn-ea"/>
              </a:rPr>
              <a:t>算法</a:t>
            </a:r>
            <a:r>
              <a:rPr lang="en-US" altLang="zh-CN" sz="2800" dirty="0" smtClean="0">
                <a:latin typeface="Calibri" panose="020F0502020204030204" pitchFamily="34" charset="0"/>
                <a:cs typeface="Calibri" panose="020F0502020204030204" pitchFamily="34" charset="0"/>
                <a:sym typeface="+mn-ea"/>
              </a:rPr>
              <a:t>Loss</a:t>
            </a:r>
            <a:r>
              <a:rPr lang="zh-CN" altLang="en-US" sz="2800" dirty="0" smtClean="0">
                <a:latin typeface="Calibri" panose="020F0502020204030204" pitchFamily="34" charset="0"/>
                <a:cs typeface="Calibri" panose="020F0502020204030204" pitchFamily="34" charset="0"/>
                <a:sym typeface="+mn-ea"/>
              </a:rPr>
              <a:t> </a:t>
            </a:r>
            <a:r>
              <a:rPr lang="en-US" altLang="zh-CN" sz="2800" dirty="0" smtClean="0">
                <a:latin typeface="Calibri" panose="020F0502020204030204" pitchFamily="34" charset="0"/>
                <a:cs typeface="Calibri" panose="020F0502020204030204" pitchFamily="34" charset="0"/>
                <a:sym typeface="+mn-ea"/>
              </a:rPr>
              <a:t>Function</a:t>
            </a:r>
            <a:r>
              <a:rPr lang="zh-CN" altLang="en-US" sz="2800" dirty="0" smtClean="0">
                <a:latin typeface="Calibri" panose="020F0502020204030204" pitchFamily="34" charset="0"/>
                <a:cs typeface="Calibri" panose="020F0502020204030204" pitchFamily="34" charset="0"/>
                <a:sym typeface="+mn-ea"/>
              </a:rPr>
              <a:t>。</a:t>
            </a:r>
            <a:endParaRPr lang="zh-CN" altLang="en-US" sz="2800" dirty="0">
              <a:solidFill>
                <a:schemeClr val="tx1"/>
              </a:solidFill>
              <a:latin typeface="Calibri" panose="020F0502020204030204" pitchFamily="34" charset="0"/>
              <a:cs typeface="Calibri" panose="020F0502020204030204" pitchFamily="34" charset="0"/>
              <a:sym typeface="+mn-ea"/>
            </a:endParaRPr>
          </a:p>
          <a:p>
            <a:pPr>
              <a:lnSpc>
                <a:spcPct val="160000"/>
              </a:lnSpc>
            </a:pPr>
            <a:r>
              <a:rPr lang="en-US" altLang="zh-CN" sz="2800" dirty="0">
                <a:solidFill>
                  <a:schemeClr val="tx1"/>
                </a:solidFill>
                <a:latin typeface="Calibri" panose="020F0502020204030204" pitchFamily="34" charset="0"/>
                <a:cs typeface="Calibri" panose="020F0502020204030204" pitchFamily="34" charset="0"/>
                <a:sym typeface="+mn-ea"/>
              </a:rPr>
              <a:t>2. </a:t>
            </a:r>
            <a:r>
              <a:rPr lang="zh-CN" altLang="en-US" sz="2800" dirty="0">
                <a:solidFill>
                  <a:schemeClr val="tx1"/>
                </a:solidFill>
                <a:latin typeface="Calibri" panose="020F0502020204030204" pitchFamily="34" charset="0"/>
                <a:cs typeface="Calibri" panose="020F0502020204030204" pitchFamily="34" charset="0"/>
                <a:sym typeface="+mn-ea"/>
              </a:rPr>
              <a:t>最终评测时，模型最大生成长度不得超过</a:t>
            </a:r>
            <a:r>
              <a:rPr lang="en-US" altLang="zh-CN" sz="2800" dirty="0">
                <a:solidFill>
                  <a:schemeClr val="tx1"/>
                </a:solidFill>
                <a:latin typeface="Calibri" panose="020F0502020204030204" pitchFamily="34" charset="0"/>
                <a:cs typeface="Calibri" panose="020F0502020204030204" pitchFamily="34" charset="0"/>
                <a:sym typeface="+mn-ea"/>
              </a:rPr>
              <a:t> </a:t>
            </a:r>
            <a:r>
              <a:rPr lang="en-US" altLang="zh-CN" sz="2800" dirty="0" smtClean="0">
                <a:solidFill>
                  <a:schemeClr val="tx1"/>
                </a:solidFill>
                <a:latin typeface="Calibri" panose="020F0502020204030204" pitchFamily="34" charset="0"/>
                <a:cs typeface="Calibri" panose="020F0502020204030204" pitchFamily="34" charset="0"/>
                <a:sym typeface="+mn-ea"/>
              </a:rPr>
              <a:t>9012 </a:t>
            </a:r>
            <a:r>
              <a:rPr lang="en-US" altLang="zh-CN" sz="2800" dirty="0">
                <a:solidFill>
                  <a:schemeClr val="tx1"/>
                </a:solidFill>
                <a:latin typeface="Calibri" panose="020F0502020204030204" pitchFamily="34" charset="0"/>
                <a:cs typeface="Calibri" panose="020F0502020204030204" pitchFamily="34" charset="0"/>
                <a:sym typeface="+mn-ea"/>
              </a:rPr>
              <a:t>tokens</a:t>
            </a:r>
            <a:r>
              <a:rPr lang="zh-CN" altLang="en-US" sz="2800" dirty="0">
                <a:solidFill>
                  <a:schemeClr val="tx1"/>
                </a:solidFill>
                <a:latin typeface="Calibri" panose="020F0502020204030204" pitchFamily="34" charset="0"/>
                <a:cs typeface="Calibri" panose="020F0502020204030204" pitchFamily="34" charset="0"/>
                <a:sym typeface="+mn-ea"/>
              </a:rPr>
              <a:t>。</a:t>
            </a:r>
          </a:p>
          <a:p>
            <a:pPr>
              <a:lnSpc>
                <a:spcPct val="160000"/>
              </a:lnSpc>
            </a:pPr>
            <a:r>
              <a:rPr lang="en-US" altLang="zh-CN" sz="2800" dirty="0">
                <a:solidFill>
                  <a:schemeClr val="tx1"/>
                </a:solidFill>
                <a:latin typeface="Calibri" panose="020F0502020204030204" pitchFamily="34" charset="0"/>
                <a:cs typeface="Calibri" panose="020F0502020204030204" pitchFamily="34" charset="0"/>
                <a:sym typeface="+mn-ea"/>
              </a:rPr>
              <a:t>3. </a:t>
            </a:r>
            <a:r>
              <a:rPr lang="zh-CN" altLang="en-US" sz="2800" dirty="0">
                <a:solidFill>
                  <a:schemeClr val="tx1"/>
                </a:solidFill>
                <a:latin typeface="Calibri" panose="020F0502020204030204" pitchFamily="34" charset="0"/>
                <a:cs typeface="Calibri" panose="020F0502020204030204" pitchFamily="34" charset="0"/>
                <a:sym typeface="+mn-ea"/>
              </a:rPr>
              <a:t>最终评测仅允许单模型直接</a:t>
            </a:r>
            <a:r>
              <a:rPr lang="zh-CN" altLang="en-US" sz="2800" dirty="0" smtClean="0">
                <a:solidFill>
                  <a:schemeClr val="tx1"/>
                </a:solidFill>
                <a:latin typeface="Calibri" panose="020F0502020204030204" pitchFamily="34" charset="0"/>
                <a:cs typeface="Calibri" panose="020F0502020204030204" pitchFamily="34" charset="0"/>
                <a:sym typeface="+mn-ea"/>
              </a:rPr>
              <a:t>生成，推理阶段不会采用搜索算法。</a:t>
            </a:r>
            <a:endParaRPr lang="zh-CN" altLang="en-US" sz="2800" dirty="0">
              <a:solidFill>
                <a:schemeClr val="tx1"/>
              </a:solidFill>
              <a:latin typeface="Calibri" panose="020F0502020204030204" pitchFamily="34" charset="0"/>
              <a:cs typeface="Calibri" panose="020F0502020204030204" pitchFamily="34" charset="0"/>
              <a:sym typeface="+mn-ea"/>
            </a:endParaRPr>
          </a:p>
          <a:p>
            <a:pPr>
              <a:lnSpc>
                <a:spcPct val="160000"/>
              </a:lnSpc>
            </a:pPr>
            <a:r>
              <a:rPr lang="en-US" altLang="zh-CN" sz="2800" dirty="0">
                <a:solidFill>
                  <a:schemeClr val="tx1"/>
                </a:solidFill>
                <a:latin typeface="Calibri" panose="020F0502020204030204" pitchFamily="34" charset="0"/>
                <a:cs typeface="Calibri" panose="020F0502020204030204" pitchFamily="34" charset="0"/>
                <a:sym typeface="+mn-ea"/>
              </a:rPr>
              <a:t>4. </a:t>
            </a:r>
            <a:r>
              <a:rPr lang="zh-CN" altLang="en-US" sz="2800" dirty="0">
                <a:solidFill>
                  <a:schemeClr val="tx1"/>
                </a:solidFill>
                <a:latin typeface="Calibri" panose="020F0502020204030204" pitchFamily="34" charset="0"/>
                <a:cs typeface="Calibri" panose="020F0502020204030204" pitchFamily="34" charset="0"/>
                <a:sym typeface="+mn-ea"/>
              </a:rPr>
              <a:t>各组必须使用所提供的模型</a:t>
            </a:r>
            <a:r>
              <a:rPr lang="en-US" altLang="zh-CN" sz="2800" dirty="0">
                <a:solidFill>
                  <a:schemeClr val="tx1"/>
                </a:solidFill>
                <a:latin typeface="Calibri" panose="020F0502020204030204" pitchFamily="34" charset="0"/>
                <a:cs typeface="Calibri" panose="020F0502020204030204" pitchFamily="34" charset="0"/>
                <a:sym typeface="+mn-ea"/>
              </a:rPr>
              <a:t>Chat</a:t>
            </a:r>
            <a:r>
              <a:rPr lang="zh-CN" altLang="en-US" sz="2800" dirty="0">
                <a:solidFill>
                  <a:schemeClr val="tx1"/>
                </a:solidFill>
                <a:latin typeface="Calibri" panose="020F0502020204030204" pitchFamily="34" charset="0"/>
                <a:cs typeface="Calibri" panose="020F0502020204030204" pitchFamily="34" charset="0"/>
                <a:sym typeface="+mn-ea"/>
              </a:rPr>
              <a:t>模版文件。</a:t>
            </a:r>
          </a:p>
          <a:p>
            <a:pPr>
              <a:lnSpc>
                <a:spcPct val="160000"/>
              </a:lnSpc>
            </a:pPr>
            <a:r>
              <a:rPr lang="en-US" altLang="zh-CN" sz="2800" dirty="0">
                <a:latin typeface="Calibri" panose="020F0502020204030204" pitchFamily="34" charset="0"/>
                <a:cs typeface="Calibri" panose="020F0502020204030204" pitchFamily="34" charset="0"/>
                <a:sym typeface="+mn-ea"/>
              </a:rPr>
              <a:t>5</a:t>
            </a:r>
            <a:r>
              <a:rPr lang="en-US" altLang="zh-CN" sz="2800" dirty="0" smtClean="0">
                <a:solidFill>
                  <a:schemeClr val="tx1"/>
                </a:solidFill>
                <a:latin typeface="Calibri" panose="020F0502020204030204" pitchFamily="34" charset="0"/>
                <a:cs typeface="Calibri" panose="020F0502020204030204" pitchFamily="34" charset="0"/>
                <a:sym typeface="+mn-ea"/>
              </a:rPr>
              <a:t>.</a:t>
            </a:r>
            <a:r>
              <a:rPr lang="zh-CN" altLang="en-US" sz="2800" dirty="0" smtClean="0">
                <a:solidFill>
                  <a:schemeClr val="tx1"/>
                </a:solidFill>
                <a:latin typeface="Calibri" panose="020F0502020204030204" pitchFamily="34" charset="0"/>
                <a:cs typeface="Calibri" panose="020F0502020204030204" pitchFamily="34" charset="0"/>
                <a:sym typeface="+mn-ea"/>
              </a:rPr>
              <a:t> </a:t>
            </a:r>
            <a:r>
              <a:rPr lang="zh-CN" altLang="en-US" sz="2800" dirty="0" smtClean="0">
                <a:latin typeface="Calibri" panose="020F0502020204030204" pitchFamily="34" charset="0"/>
                <a:cs typeface="Calibri" panose="020F0502020204030204" pitchFamily="34" charset="0"/>
                <a:sym typeface="+mn-ea"/>
              </a:rPr>
              <a:t>除 </a:t>
            </a:r>
            <a:r>
              <a:rPr lang="en-US" altLang="zh-CN" sz="2800" dirty="0">
                <a:latin typeface="Calibri" panose="020F0502020204030204" pitchFamily="34" charset="0"/>
                <a:cs typeface="Calibri" panose="020F0502020204030204" pitchFamily="34" charset="0"/>
                <a:sym typeface="+mn-ea"/>
              </a:rPr>
              <a:t>`Qwen3-0.6B-Base` </a:t>
            </a:r>
            <a:r>
              <a:rPr lang="zh-CN" altLang="en-US" sz="2800" dirty="0">
                <a:latin typeface="Calibri" panose="020F0502020204030204" pitchFamily="34" charset="0"/>
                <a:cs typeface="Calibri" panose="020F0502020204030204" pitchFamily="34" charset="0"/>
                <a:sym typeface="+mn-ea"/>
              </a:rPr>
              <a:t>外，推理</a:t>
            </a:r>
            <a:r>
              <a:rPr lang="zh-CN" altLang="en-US" sz="2800" dirty="0" smtClean="0">
                <a:solidFill>
                  <a:schemeClr val="tx1"/>
                </a:solidFill>
                <a:latin typeface="Calibri" panose="020F0502020204030204" pitchFamily="34" charset="0"/>
                <a:cs typeface="Calibri" panose="020F0502020204030204" pitchFamily="34" charset="0"/>
                <a:sym typeface="+mn-ea"/>
              </a:rPr>
              <a:t>时</a:t>
            </a:r>
            <a:r>
              <a:rPr lang="zh-CN" altLang="en-US" sz="2800" dirty="0">
                <a:highlight>
                  <a:srgbClr val="FFFF00"/>
                </a:highlight>
                <a:sym typeface="+mn-ea"/>
              </a:rPr>
              <a:t>不允许</a:t>
            </a:r>
            <a:r>
              <a:rPr lang="zh-CN" altLang="en-US" sz="2800" dirty="0">
                <a:highlight>
                  <a:srgbClr val="FFFF00"/>
                </a:highlight>
                <a:sym typeface="+mn-ea"/>
              </a:rPr>
              <a:t>调用外部</a:t>
            </a:r>
            <a:r>
              <a:rPr lang="zh-CN" altLang="en-US" sz="2800" dirty="0">
                <a:highlight>
                  <a:srgbClr val="FFFF00"/>
                </a:highlight>
                <a:sym typeface="+mn-ea"/>
              </a:rPr>
              <a:t>模型以及检索</a:t>
            </a:r>
            <a:r>
              <a:rPr lang="zh-CN" altLang="en-US" sz="2800" dirty="0">
                <a:highlight>
                  <a:srgbClr val="FFFF00"/>
                </a:highlight>
                <a:sym typeface="+mn-ea"/>
              </a:rPr>
              <a:t>、搜索、计算器、代码执行器或任何</a:t>
            </a:r>
            <a:r>
              <a:rPr lang="zh-CN" altLang="en-US" sz="2800" dirty="0">
                <a:highlight>
                  <a:srgbClr val="FFFF00"/>
                </a:highlight>
                <a:sym typeface="+mn-ea"/>
              </a:rPr>
              <a:t>外部工具</a:t>
            </a:r>
            <a:r>
              <a:rPr lang="zh-CN" altLang="en-US" sz="2800" dirty="0" smtClean="0">
                <a:solidFill>
                  <a:schemeClr val="tx1"/>
                </a:solidFill>
                <a:latin typeface="Calibri" panose="020F0502020204030204" pitchFamily="34" charset="0"/>
                <a:cs typeface="Calibri" panose="020F0502020204030204" pitchFamily="34" charset="0"/>
                <a:sym typeface="+mn-ea"/>
              </a:rPr>
              <a:t>。</a:t>
            </a:r>
            <a:endParaRPr lang="en-US" altLang="zh-CN" sz="2800" dirty="0" smtClean="0">
              <a:solidFill>
                <a:schemeClr val="tx1"/>
              </a:solidFill>
              <a:latin typeface="Calibri" panose="020F0502020204030204" pitchFamily="34" charset="0"/>
              <a:cs typeface="Calibri" panose="020F0502020204030204" pitchFamily="34" charset="0"/>
              <a:sym typeface="+mn-ea"/>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MidTerm Projects</a:t>
            </a:r>
            <a:endParaRPr lang="zh-CN" altLang="en-US" sz="1500" dirty="0"/>
          </a:p>
        </p:txBody>
      </p:sp>
      <p:sp>
        <p:nvSpPr>
          <p:cNvPr id="8" name="文本框 4"/>
          <p:cNvSpPr txBox="1"/>
          <p:nvPr/>
        </p:nvSpPr>
        <p:spPr>
          <a:xfrm>
            <a:off x="227330" y="301625"/>
            <a:ext cx="7082155" cy="521970"/>
          </a:xfrm>
          <a:prstGeom prst="rect">
            <a:avLst/>
          </a:prstGeom>
          <a:noFill/>
        </p:spPr>
        <p:txBody>
          <a:bodyPr wrap="square" rtlCol="0">
            <a:spAutoFit/>
          </a:bodyPr>
          <a:lstStyle/>
          <a:p>
            <a:r>
              <a:rPr lang="zh-CN" altLang="en-US" sz="2800" b="1" dirty="0">
                <a:solidFill>
                  <a:srgbClr val="2F57D9"/>
                </a:solidFill>
                <a:latin typeface="Calibri" panose="020F0502020204030204" pitchFamily="34" charset="0"/>
                <a:cs typeface="Calibri" panose="020F0502020204030204" pitchFamily="34" charset="0"/>
              </a:rPr>
              <a:t>榜单与成绩规则</a:t>
            </a:r>
          </a:p>
        </p:txBody>
      </p:sp>
      <p:sp>
        <p:nvSpPr>
          <p:cNvPr id="13" name="文本框 12"/>
          <p:cNvSpPr txBox="1"/>
          <p:nvPr/>
        </p:nvSpPr>
        <p:spPr>
          <a:xfrm>
            <a:off x="538400" y="865267"/>
            <a:ext cx="11102340" cy="4819781"/>
          </a:xfrm>
          <a:prstGeom prst="rect">
            <a:avLst/>
          </a:prstGeom>
          <a:noFill/>
        </p:spPr>
        <p:txBody>
          <a:bodyPr wrap="square" rtlCol="0" anchor="t">
            <a:spAutoFit/>
          </a:bodyPr>
          <a:lstStyle/>
          <a:p>
            <a:pPr>
              <a:lnSpc>
                <a:spcPct val="160000"/>
              </a:lnSpc>
            </a:pPr>
            <a:r>
              <a:rPr lang="en-US" altLang="zh-CN" sz="2400" dirty="0">
                <a:solidFill>
                  <a:schemeClr val="tx1"/>
                </a:solidFill>
                <a:ea typeface="+mn-lt"/>
                <a:cs typeface="+mn-lt"/>
                <a:sym typeface="+mn-ea"/>
              </a:rPr>
              <a:t>1. </a:t>
            </a:r>
            <a:r>
              <a:rPr lang="zh-CN" altLang="en-US" sz="2400" dirty="0">
                <a:solidFill>
                  <a:schemeClr val="tx1"/>
                </a:solidFill>
                <a:ea typeface="+mn-lt"/>
                <a:cs typeface="+mn-lt"/>
                <a:sym typeface="+mn-ea"/>
              </a:rPr>
              <a:t>比赛期间仅</a:t>
            </a:r>
            <a:r>
              <a:rPr lang="zh-CN" altLang="en-US" sz="2400" b="1" dirty="0">
                <a:solidFill>
                  <a:schemeClr val="tx1"/>
                </a:solidFill>
                <a:ea typeface="+mn-lt"/>
                <a:cs typeface="+mn-lt"/>
                <a:sym typeface="+mn-ea"/>
              </a:rPr>
              <a:t>公开验证集</a:t>
            </a:r>
            <a:r>
              <a:rPr lang="zh-CN" altLang="en-US" sz="2400" dirty="0">
                <a:solidFill>
                  <a:schemeClr val="tx1"/>
                </a:solidFill>
                <a:ea typeface="+mn-lt"/>
                <a:cs typeface="+mn-lt"/>
                <a:sym typeface="+mn-ea"/>
              </a:rPr>
              <a:t>排行榜。</a:t>
            </a:r>
          </a:p>
          <a:p>
            <a:pPr>
              <a:lnSpc>
                <a:spcPct val="160000"/>
              </a:lnSpc>
            </a:pPr>
            <a:r>
              <a:rPr lang="en-US" altLang="zh-CN" sz="2400" dirty="0">
                <a:solidFill>
                  <a:schemeClr val="tx1"/>
                </a:solidFill>
                <a:ea typeface="+mn-lt"/>
                <a:cs typeface="+mn-lt"/>
                <a:sym typeface="+mn-ea"/>
              </a:rPr>
              <a:t>2. </a:t>
            </a:r>
            <a:r>
              <a:rPr lang="zh-CN" altLang="en-US" sz="2400" dirty="0">
                <a:solidFill>
                  <a:schemeClr val="tx1"/>
                </a:solidFill>
                <a:ea typeface="+mn-lt"/>
                <a:cs typeface="+mn-lt"/>
                <a:sym typeface="+mn-ea"/>
              </a:rPr>
              <a:t>测试集结果</a:t>
            </a:r>
            <a:r>
              <a:rPr lang="zh-CN" altLang="en-US" sz="2400" dirty="0" smtClean="0">
                <a:solidFill>
                  <a:schemeClr val="tx1"/>
                </a:solidFill>
                <a:ea typeface="+mn-lt"/>
                <a:cs typeface="+mn-lt"/>
                <a:sym typeface="+mn-ea"/>
              </a:rPr>
              <a:t>在</a:t>
            </a:r>
            <a:r>
              <a:rPr lang="zh-CN" altLang="en-US" sz="2400" dirty="0" smtClean="0">
                <a:ea typeface="+mn-lt"/>
                <a:cs typeface="+mn-lt"/>
                <a:sym typeface="+mn-ea"/>
              </a:rPr>
              <a:t>学期</a:t>
            </a:r>
            <a:r>
              <a:rPr lang="zh-CN" altLang="en-US" sz="2400" dirty="0" smtClean="0">
                <a:solidFill>
                  <a:schemeClr val="tx1"/>
                </a:solidFill>
                <a:ea typeface="+mn-lt"/>
                <a:cs typeface="+mn-lt"/>
                <a:sym typeface="+mn-ea"/>
              </a:rPr>
              <a:t>进行</a:t>
            </a:r>
            <a:r>
              <a:rPr lang="zh-CN" altLang="en-US" sz="2400" dirty="0">
                <a:solidFill>
                  <a:schemeClr val="tx1"/>
                </a:solidFill>
                <a:ea typeface="+mn-lt"/>
                <a:cs typeface="+mn-lt"/>
                <a:sym typeface="+mn-ea"/>
              </a:rPr>
              <a:t>期间</a:t>
            </a:r>
            <a:r>
              <a:rPr lang="zh-CN" altLang="en-US" sz="2400" b="1" dirty="0">
                <a:solidFill>
                  <a:schemeClr val="tx1"/>
                </a:solidFill>
                <a:ea typeface="+mn-lt"/>
                <a:cs typeface="+mn-lt"/>
                <a:sym typeface="+mn-ea"/>
              </a:rPr>
              <a:t>不</a:t>
            </a:r>
            <a:r>
              <a:rPr lang="zh-CN" altLang="en-US" sz="2400" b="1" dirty="0" smtClean="0">
                <a:solidFill>
                  <a:schemeClr val="tx1"/>
                </a:solidFill>
                <a:ea typeface="+mn-lt"/>
                <a:cs typeface="+mn-lt"/>
                <a:sym typeface="+mn-ea"/>
              </a:rPr>
              <a:t>公开，仅公开数据格式示例</a:t>
            </a:r>
            <a:r>
              <a:rPr lang="en-US" altLang="zh-CN" sz="2400" b="1" dirty="0" smtClean="0">
                <a:solidFill>
                  <a:schemeClr val="tx1"/>
                </a:solidFill>
                <a:ea typeface="+mn-lt"/>
                <a:cs typeface="+mn-lt"/>
                <a:sym typeface="+mn-ea"/>
              </a:rPr>
              <a:t>1</a:t>
            </a:r>
            <a:r>
              <a:rPr lang="zh-CN" altLang="en-US" sz="2400" b="1" dirty="0" smtClean="0">
                <a:solidFill>
                  <a:schemeClr val="tx1"/>
                </a:solidFill>
                <a:ea typeface="+mn-lt"/>
                <a:cs typeface="+mn-lt"/>
                <a:sym typeface="+mn-ea"/>
              </a:rPr>
              <a:t>个</a:t>
            </a:r>
            <a:r>
              <a:rPr lang="zh-CN" altLang="en-US" sz="2400" dirty="0" smtClean="0">
                <a:solidFill>
                  <a:schemeClr val="tx1"/>
                </a:solidFill>
                <a:ea typeface="+mn-lt"/>
                <a:cs typeface="+mn-lt"/>
                <a:sym typeface="+mn-ea"/>
              </a:rPr>
              <a:t>。</a:t>
            </a:r>
            <a:endParaRPr lang="zh-CN" altLang="en-US" sz="2400" dirty="0">
              <a:solidFill>
                <a:schemeClr val="tx1"/>
              </a:solidFill>
              <a:ea typeface="+mn-lt"/>
              <a:cs typeface="+mn-lt"/>
              <a:sym typeface="+mn-ea"/>
            </a:endParaRPr>
          </a:p>
          <a:p>
            <a:pPr>
              <a:lnSpc>
                <a:spcPct val="160000"/>
              </a:lnSpc>
            </a:pPr>
            <a:r>
              <a:rPr lang="en-US" altLang="zh-CN" sz="2400" dirty="0">
                <a:solidFill>
                  <a:schemeClr val="tx1"/>
                </a:solidFill>
                <a:ea typeface="+mn-lt"/>
                <a:cs typeface="+mn-lt"/>
                <a:sym typeface="+mn-ea"/>
              </a:rPr>
              <a:t>3. </a:t>
            </a:r>
            <a:r>
              <a:rPr lang="zh-CN" altLang="en-US" sz="2400" dirty="0">
                <a:solidFill>
                  <a:schemeClr val="tx1"/>
                </a:solidFill>
                <a:ea typeface="+mn-lt"/>
                <a:cs typeface="+mn-lt"/>
                <a:sym typeface="+mn-ea"/>
              </a:rPr>
              <a:t>每组可以</a:t>
            </a:r>
            <a:r>
              <a:rPr lang="zh-CN" altLang="en-US" sz="2400" b="1" dirty="0">
                <a:solidFill>
                  <a:schemeClr val="tx1"/>
                </a:solidFill>
                <a:ea typeface="+mn-lt"/>
                <a:cs typeface="+mn-lt"/>
                <a:sym typeface="+mn-ea"/>
              </a:rPr>
              <a:t>多次提交模型</a:t>
            </a:r>
            <a:r>
              <a:rPr lang="zh-CN" altLang="en-US" sz="2400" dirty="0">
                <a:solidFill>
                  <a:schemeClr val="tx1"/>
                </a:solidFill>
                <a:ea typeface="+mn-lt"/>
                <a:cs typeface="+mn-lt"/>
                <a:sym typeface="+mn-ea"/>
              </a:rPr>
              <a:t>。</a:t>
            </a:r>
          </a:p>
          <a:p>
            <a:pPr>
              <a:lnSpc>
                <a:spcPct val="160000"/>
              </a:lnSpc>
            </a:pPr>
            <a:r>
              <a:rPr lang="en-US" altLang="zh-CN" sz="2400" dirty="0">
                <a:ea typeface="+mn-lt"/>
                <a:cs typeface="+mn-lt"/>
                <a:sym typeface="+mn-ea"/>
              </a:rPr>
              <a:t>4</a:t>
            </a:r>
            <a:r>
              <a:rPr lang="en-US" altLang="zh-CN" sz="2400" dirty="0" smtClean="0">
                <a:solidFill>
                  <a:schemeClr val="tx1"/>
                </a:solidFill>
                <a:ea typeface="+mn-lt"/>
                <a:cs typeface="+mn-lt"/>
                <a:sym typeface="+mn-ea"/>
              </a:rPr>
              <a:t>. </a:t>
            </a:r>
            <a:r>
              <a:rPr lang="zh-CN" altLang="en-US" sz="2400" dirty="0">
                <a:solidFill>
                  <a:schemeClr val="tx1"/>
                </a:solidFill>
                <a:ea typeface="+mn-lt"/>
                <a:cs typeface="+mn-lt"/>
                <a:sym typeface="+mn-ea"/>
              </a:rPr>
              <a:t>默认最后一次提交将被视为该组的正式测试集提交，但也可自由选择不同的提交版本。</a:t>
            </a:r>
          </a:p>
          <a:p>
            <a:pPr>
              <a:lnSpc>
                <a:spcPct val="160000"/>
              </a:lnSpc>
            </a:pPr>
            <a:r>
              <a:rPr lang="en-US" altLang="zh-CN" sz="2400" dirty="0">
                <a:ea typeface="+mn-lt"/>
                <a:cs typeface="+mn-lt"/>
                <a:sym typeface="+mn-ea"/>
              </a:rPr>
              <a:t>5</a:t>
            </a:r>
            <a:r>
              <a:rPr lang="en-US" altLang="zh-CN" sz="2400" dirty="0" smtClean="0">
                <a:solidFill>
                  <a:schemeClr val="tx1"/>
                </a:solidFill>
                <a:ea typeface="+mn-lt"/>
                <a:cs typeface="+mn-lt"/>
                <a:sym typeface="+mn-ea"/>
              </a:rPr>
              <a:t>. </a:t>
            </a:r>
            <a:r>
              <a:rPr lang="zh-CN" altLang="en-US" sz="2400" dirty="0">
                <a:solidFill>
                  <a:schemeClr val="tx1"/>
                </a:solidFill>
                <a:ea typeface="+mn-lt"/>
                <a:cs typeface="+mn-lt"/>
                <a:sym typeface="+mn-ea"/>
              </a:rPr>
              <a:t>课程成绩依据最终测试集排名确定，不考虑报告分、过程分或验证集排名。</a:t>
            </a:r>
            <a:endParaRPr lang="en-US" altLang="zh-CN" sz="2400" dirty="0">
              <a:solidFill>
                <a:schemeClr val="tx1"/>
              </a:solidFill>
              <a:ea typeface="+mn-lt"/>
              <a:cs typeface="+mn-lt"/>
              <a:sym typeface="+mn-ea"/>
            </a:endParaRPr>
          </a:p>
          <a:p>
            <a:pPr>
              <a:lnSpc>
                <a:spcPct val="160000"/>
              </a:lnSpc>
            </a:pPr>
            <a:r>
              <a:rPr lang="en-US" altLang="zh-CN" sz="2400" dirty="0">
                <a:ea typeface="+mn-lt"/>
                <a:cs typeface="+mn-lt"/>
                <a:sym typeface="+mn-ea"/>
              </a:rPr>
              <a:t>6</a:t>
            </a:r>
            <a:r>
              <a:rPr lang="en-US" altLang="zh-CN" sz="2400" dirty="0" smtClean="0">
                <a:solidFill>
                  <a:schemeClr val="tx1"/>
                </a:solidFill>
                <a:ea typeface="+mn-lt"/>
                <a:cs typeface="+mn-lt"/>
                <a:sym typeface="+mn-ea"/>
              </a:rPr>
              <a:t>. </a:t>
            </a:r>
            <a:r>
              <a:rPr lang="zh-CN" altLang="en-US" sz="2400" dirty="0" smtClean="0">
                <a:solidFill>
                  <a:schemeClr val="tx1"/>
                </a:solidFill>
                <a:ea typeface="+mn-lt"/>
                <a:cs typeface="+mn-lt"/>
                <a:sym typeface="+mn-ea"/>
              </a:rPr>
              <a:t>验证集测试</a:t>
            </a:r>
            <a:r>
              <a:rPr lang="zh-CN" altLang="en-US" sz="2400" b="1" dirty="0" smtClean="0">
                <a:solidFill>
                  <a:schemeClr val="tx1"/>
                </a:solidFill>
                <a:ea typeface="+mn-lt"/>
                <a:cs typeface="+mn-lt"/>
                <a:sym typeface="+mn-ea"/>
              </a:rPr>
              <a:t>超越</a:t>
            </a:r>
            <a:r>
              <a:rPr lang="zh-CN" altLang="en-US" sz="2400" b="1" dirty="0">
                <a:solidFill>
                  <a:schemeClr val="tx1"/>
                </a:solidFill>
                <a:ea typeface="+mn-lt"/>
                <a:cs typeface="+mn-lt"/>
                <a:sym typeface="+mn-ea"/>
              </a:rPr>
              <a:t>原始</a:t>
            </a:r>
            <a:r>
              <a:rPr lang="en-US" altLang="zh-CN" sz="2400" b="1" dirty="0">
                <a:solidFill>
                  <a:schemeClr val="tx1"/>
                </a:solidFill>
                <a:ea typeface="+mn-lt"/>
                <a:cs typeface="+mn-lt"/>
                <a:sym typeface="+mn-ea"/>
              </a:rPr>
              <a:t>Base</a:t>
            </a:r>
            <a:r>
              <a:rPr lang="zh-CN" altLang="en-US" sz="2400" b="1" dirty="0">
                <a:solidFill>
                  <a:schemeClr val="tx1"/>
                </a:solidFill>
                <a:ea typeface="+mn-lt"/>
                <a:cs typeface="+mn-lt"/>
                <a:sym typeface="+mn-ea"/>
              </a:rPr>
              <a:t>模型性能（例如本任务</a:t>
            </a:r>
            <a:r>
              <a:rPr lang="en-US" altLang="zh-CN" sz="2400" b="1" dirty="0">
                <a:solidFill>
                  <a:schemeClr val="tx1"/>
                </a:solidFill>
                <a:ea typeface="+mn-lt"/>
                <a:cs typeface="+mn-lt"/>
                <a:sym typeface="+mn-ea"/>
              </a:rPr>
              <a:t>Base</a:t>
            </a:r>
            <a:r>
              <a:rPr lang="zh-CN" altLang="en-US" sz="2400" b="1" dirty="0">
                <a:solidFill>
                  <a:schemeClr val="tx1"/>
                </a:solidFill>
                <a:ea typeface="+mn-lt"/>
                <a:cs typeface="+mn-lt"/>
                <a:sym typeface="+mn-ea"/>
              </a:rPr>
              <a:t>模型验证集</a:t>
            </a:r>
            <a:r>
              <a:rPr lang="en-US" altLang="zh-CN" sz="2400" b="1" dirty="0">
                <a:solidFill>
                  <a:schemeClr val="tx1"/>
                </a:solidFill>
                <a:ea typeface="+mn-lt"/>
                <a:cs typeface="+mn-lt"/>
                <a:sym typeface="+mn-ea"/>
              </a:rPr>
              <a:t>38.2%</a:t>
            </a:r>
            <a:r>
              <a:rPr lang="zh-CN" altLang="en-US" sz="2400" b="1" dirty="0">
                <a:solidFill>
                  <a:schemeClr val="tx1"/>
                </a:solidFill>
                <a:ea typeface="+mn-lt"/>
                <a:cs typeface="+mn-lt"/>
                <a:sym typeface="+mn-ea"/>
              </a:rPr>
              <a:t>）视作有效成绩</a:t>
            </a:r>
            <a:r>
              <a:rPr lang="zh-CN" altLang="en-US" sz="2400" dirty="0">
                <a:solidFill>
                  <a:schemeClr val="tx1"/>
                </a:solidFill>
                <a:ea typeface="+mn-lt"/>
                <a:cs typeface="+mn-lt"/>
                <a:sym typeface="+mn-ea"/>
              </a:rPr>
              <a:t>，仅有效成绩参与排名</a:t>
            </a:r>
            <a:r>
              <a:rPr lang="zh-CN" altLang="en-US" sz="2400" dirty="0" smtClean="0">
                <a:solidFill>
                  <a:schemeClr val="tx1"/>
                </a:solidFill>
                <a:ea typeface="+mn-lt"/>
                <a:cs typeface="+mn-lt"/>
                <a:sym typeface="+mn-ea"/>
              </a:rPr>
              <a:t>记分。</a:t>
            </a:r>
            <a:endParaRPr lang="zh-CN" altLang="en-US" sz="2400" dirty="0">
              <a:solidFill>
                <a:schemeClr val="tx1"/>
              </a:solidFill>
              <a:ea typeface="+mn-lt"/>
              <a:cs typeface="+mn-lt"/>
              <a:sym typeface="+mn-ea"/>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MidTerm Projects</a:t>
            </a:r>
            <a:endParaRPr lang="zh-CN" altLang="en-US" sz="1500" dirty="0"/>
          </a:p>
        </p:txBody>
      </p:sp>
      <p:sp>
        <p:nvSpPr>
          <p:cNvPr id="8" name="文本框 4"/>
          <p:cNvSpPr txBox="1"/>
          <p:nvPr/>
        </p:nvSpPr>
        <p:spPr>
          <a:xfrm>
            <a:off x="181610" y="64135"/>
            <a:ext cx="7082155" cy="521970"/>
          </a:xfrm>
          <a:prstGeom prst="rect">
            <a:avLst/>
          </a:prstGeom>
          <a:noFill/>
        </p:spPr>
        <p:txBody>
          <a:bodyPr wrap="square" rtlCol="0">
            <a:spAutoFit/>
          </a:bodyPr>
          <a:lstStyle/>
          <a:p>
            <a:r>
              <a:rPr lang="zh-CN" altLang="en-US" sz="2800" b="1" dirty="0">
                <a:solidFill>
                  <a:srgbClr val="2F57D9"/>
                </a:solidFill>
                <a:latin typeface="Calibri" panose="020F0502020204030204" pitchFamily="34" charset="0"/>
                <a:cs typeface="Calibri" panose="020F0502020204030204" pitchFamily="34" charset="0"/>
              </a:rPr>
              <a:t>提交方式</a:t>
            </a:r>
          </a:p>
        </p:txBody>
      </p:sp>
      <p:sp>
        <p:nvSpPr>
          <p:cNvPr id="13" name="文本框 12"/>
          <p:cNvSpPr txBox="1"/>
          <p:nvPr/>
        </p:nvSpPr>
        <p:spPr>
          <a:xfrm>
            <a:off x="925195" y="1123315"/>
            <a:ext cx="10673080" cy="3537585"/>
          </a:xfrm>
          <a:prstGeom prst="rect">
            <a:avLst/>
          </a:prstGeom>
          <a:noFill/>
        </p:spPr>
        <p:txBody>
          <a:bodyPr wrap="square" rtlCol="0" anchor="t">
            <a:spAutoFit/>
          </a:bodyPr>
          <a:lstStyle/>
          <a:p>
            <a:pPr>
              <a:lnSpc>
                <a:spcPct val="160000"/>
              </a:lnSpc>
            </a:pPr>
            <a:r>
              <a:rPr lang="en-US" altLang="zh-CN" sz="2800" b="1" dirty="0">
                <a:solidFill>
                  <a:schemeClr val="tx1"/>
                </a:solidFill>
                <a:latin typeface="Calibri" panose="020F0502020204030204" pitchFamily="34" charset="0"/>
                <a:cs typeface="Calibri" panose="020F0502020204030204" pitchFamily="34" charset="0"/>
                <a:sym typeface="+mn-ea"/>
              </a:rPr>
              <a:t>1. </a:t>
            </a:r>
            <a:r>
              <a:rPr lang="zh-CN" altLang="en-US" sz="2800" b="1" dirty="0">
                <a:solidFill>
                  <a:schemeClr val="tx1"/>
                </a:solidFill>
                <a:latin typeface="Calibri" panose="020F0502020204030204" pitchFamily="34" charset="0"/>
                <a:cs typeface="Calibri" panose="020F0502020204030204" pitchFamily="34" charset="0"/>
                <a:sym typeface="+mn-ea"/>
              </a:rPr>
              <a:t>各组需将最终模型权重提交到：</a:t>
            </a:r>
            <a:r>
              <a:rPr lang="en-US" altLang="zh-CN" sz="2800" b="1" dirty="0">
                <a:solidFill>
                  <a:schemeClr val="tx1"/>
                </a:solidFill>
                <a:latin typeface="Calibri" panose="020F0502020204030204" pitchFamily="34" charset="0"/>
                <a:cs typeface="Calibri" panose="020F0502020204030204" pitchFamily="34" charset="0"/>
                <a:sym typeface="+mn-ea"/>
              </a:rPr>
              <a:t>`http://10.20.96.21:10808/`</a:t>
            </a:r>
          </a:p>
          <a:p>
            <a:pPr>
              <a:lnSpc>
                <a:spcPct val="160000"/>
              </a:lnSpc>
            </a:pPr>
            <a:r>
              <a:rPr lang="zh-CN" altLang="en-US" sz="2800" b="1" dirty="0">
                <a:solidFill>
                  <a:schemeClr val="tx1"/>
                </a:solidFill>
                <a:latin typeface="Calibri" panose="020F0502020204030204" pitchFamily="34" charset="0"/>
                <a:cs typeface="Calibri" panose="020F0502020204030204" pitchFamily="34" charset="0"/>
                <a:sym typeface="+mn-ea"/>
              </a:rPr>
              <a:t>仅校内可访问。</a:t>
            </a:r>
            <a:endParaRPr lang="en-US" altLang="zh-CN" sz="2800" b="1" dirty="0">
              <a:solidFill>
                <a:schemeClr val="tx1"/>
              </a:solidFill>
              <a:latin typeface="Calibri" panose="020F0502020204030204" pitchFamily="34" charset="0"/>
              <a:cs typeface="Calibri" panose="020F0502020204030204" pitchFamily="34" charset="0"/>
              <a:sym typeface="+mn-ea"/>
            </a:endParaRPr>
          </a:p>
          <a:p>
            <a:pPr>
              <a:lnSpc>
                <a:spcPct val="160000"/>
              </a:lnSpc>
            </a:pPr>
            <a:r>
              <a:rPr lang="en-US" altLang="zh-CN" sz="2800" b="1" dirty="0">
                <a:solidFill>
                  <a:schemeClr val="tx1"/>
                </a:solidFill>
                <a:latin typeface="Calibri" panose="020F0502020204030204" pitchFamily="34" charset="0"/>
                <a:cs typeface="Calibri" panose="020F0502020204030204" pitchFamily="34" charset="0"/>
                <a:sym typeface="+mn-ea"/>
              </a:rPr>
              <a:t>2. </a:t>
            </a:r>
            <a:r>
              <a:rPr lang="zh-CN" altLang="en-US" sz="2800" b="1" dirty="0">
                <a:solidFill>
                  <a:schemeClr val="tx1"/>
                </a:solidFill>
                <a:latin typeface="Calibri" panose="020F0502020204030204" pitchFamily="34" charset="0"/>
                <a:cs typeface="Calibri" panose="020F0502020204030204" pitchFamily="34" charset="0"/>
                <a:sym typeface="+mn-ea"/>
              </a:rPr>
              <a:t>系统会自动加载权重并完成评测。</a:t>
            </a:r>
          </a:p>
          <a:p>
            <a:pPr>
              <a:lnSpc>
                <a:spcPct val="160000"/>
              </a:lnSpc>
            </a:pPr>
            <a:r>
              <a:rPr lang="en-US" altLang="zh-CN" sz="2800" b="1" dirty="0">
                <a:solidFill>
                  <a:schemeClr val="tx1"/>
                </a:solidFill>
                <a:latin typeface="Calibri" panose="020F0502020204030204" pitchFamily="34" charset="0"/>
                <a:cs typeface="Calibri" panose="020F0502020204030204" pitchFamily="34" charset="0"/>
                <a:sym typeface="+mn-ea"/>
              </a:rPr>
              <a:t>3. </a:t>
            </a:r>
            <a:r>
              <a:rPr lang="zh-CN" altLang="en-US" sz="2800" b="1" dirty="0">
                <a:solidFill>
                  <a:schemeClr val="tx1"/>
                </a:solidFill>
                <a:latin typeface="Calibri" panose="020F0502020204030204" pitchFamily="34" charset="0"/>
                <a:cs typeface="Calibri" panose="020F0502020204030204" pitchFamily="34" charset="0"/>
                <a:sym typeface="+mn-ea"/>
              </a:rPr>
              <a:t>提交后可能需要排队等待。</a:t>
            </a:r>
          </a:p>
          <a:p>
            <a:pPr>
              <a:lnSpc>
                <a:spcPct val="160000"/>
              </a:lnSpc>
            </a:pPr>
            <a:r>
              <a:rPr lang="en-US" altLang="zh-CN" sz="2800" b="1" dirty="0">
                <a:solidFill>
                  <a:schemeClr val="tx1"/>
                </a:solidFill>
                <a:latin typeface="Calibri" panose="020F0502020204030204" pitchFamily="34" charset="0"/>
                <a:cs typeface="Calibri" panose="020F0502020204030204" pitchFamily="34" charset="0"/>
                <a:sym typeface="+mn-ea"/>
              </a:rPr>
              <a:t>4. </a:t>
            </a:r>
            <a:r>
              <a:rPr lang="zh-CN" altLang="en-US" sz="2800" b="1" dirty="0">
                <a:solidFill>
                  <a:schemeClr val="tx1"/>
                </a:solidFill>
                <a:latin typeface="Calibri" panose="020F0502020204030204" pitchFamily="34" charset="0"/>
                <a:cs typeface="Calibri" panose="020F0502020204030204" pitchFamily="34" charset="0"/>
                <a:sym typeface="+mn-ea"/>
              </a:rPr>
              <a:t>系统会显示当前提交在验证集上的分数和排名。</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MidTerm Projects</a:t>
            </a:r>
            <a:endParaRPr lang="zh-CN" altLang="en-US" sz="1500" dirty="0"/>
          </a:p>
        </p:txBody>
      </p:sp>
      <p:sp>
        <p:nvSpPr>
          <p:cNvPr id="8" name="文本框 4"/>
          <p:cNvSpPr txBox="1"/>
          <p:nvPr/>
        </p:nvSpPr>
        <p:spPr>
          <a:xfrm>
            <a:off x="181610" y="64135"/>
            <a:ext cx="7082155" cy="521970"/>
          </a:xfrm>
          <a:prstGeom prst="rect">
            <a:avLst/>
          </a:prstGeom>
          <a:noFill/>
        </p:spPr>
        <p:txBody>
          <a:bodyPr wrap="square" rtlCol="0">
            <a:spAutoFit/>
          </a:bodyPr>
          <a:lstStyle/>
          <a:p>
            <a:r>
              <a:rPr lang="zh-CN" altLang="en-US" sz="2800" b="1" dirty="0">
                <a:solidFill>
                  <a:srgbClr val="2F57D9"/>
                </a:solidFill>
                <a:latin typeface="Calibri" panose="020F0502020204030204" pitchFamily="34" charset="0"/>
                <a:cs typeface="Calibri" panose="020F0502020204030204" pitchFamily="34" charset="0"/>
              </a:rPr>
              <a:t>评测平台说明</a:t>
            </a:r>
          </a:p>
        </p:txBody>
      </p:sp>
      <p:pic>
        <p:nvPicPr>
          <p:cNvPr id="2" name="图片 1"/>
          <p:cNvPicPr>
            <a:picLocks noChangeAspect="1"/>
          </p:cNvPicPr>
          <p:nvPr/>
        </p:nvPicPr>
        <p:blipFill>
          <a:blip r:embed="rId3"/>
          <a:stretch>
            <a:fillRect/>
          </a:stretch>
        </p:blipFill>
        <p:spPr>
          <a:xfrm>
            <a:off x="969645" y="962025"/>
            <a:ext cx="10436860" cy="5094605"/>
          </a:xfrm>
          <a:prstGeom prst="rect">
            <a:avLst/>
          </a:prstGeom>
        </p:spPr>
      </p:pic>
      <p:sp>
        <p:nvSpPr>
          <p:cNvPr id="3" name="矩形 2"/>
          <p:cNvSpPr/>
          <p:nvPr/>
        </p:nvSpPr>
        <p:spPr>
          <a:xfrm>
            <a:off x="2014220" y="4254500"/>
            <a:ext cx="1059180" cy="555625"/>
          </a:xfrm>
          <a:prstGeom prst="rect">
            <a:avLst/>
          </a:prstGeom>
          <a:noFill/>
          <a:ln w="63500">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MidTerm Projects</a:t>
            </a:r>
            <a:endParaRPr lang="zh-CN" altLang="en-US" sz="1500" dirty="0"/>
          </a:p>
        </p:txBody>
      </p:sp>
      <p:sp>
        <p:nvSpPr>
          <p:cNvPr id="8" name="文本框 4"/>
          <p:cNvSpPr txBox="1"/>
          <p:nvPr/>
        </p:nvSpPr>
        <p:spPr>
          <a:xfrm>
            <a:off x="181610" y="64135"/>
            <a:ext cx="7082155" cy="521970"/>
          </a:xfrm>
          <a:prstGeom prst="rect">
            <a:avLst/>
          </a:prstGeom>
          <a:noFill/>
        </p:spPr>
        <p:txBody>
          <a:bodyPr wrap="square" rtlCol="0">
            <a:spAutoFit/>
          </a:bodyPr>
          <a:lstStyle/>
          <a:p>
            <a:r>
              <a:rPr lang="zh-CN" altLang="en-US" sz="2800" b="1" dirty="0">
                <a:solidFill>
                  <a:srgbClr val="2F57D9"/>
                </a:solidFill>
                <a:latin typeface="Calibri" panose="020F0502020204030204" pitchFamily="34" charset="0"/>
                <a:cs typeface="Calibri" panose="020F0502020204030204" pitchFamily="34" charset="0"/>
              </a:rPr>
              <a:t>评测平台说明</a:t>
            </a:r>
          </a:p>
        </p:txBody>
      </p:sp>
      <p:pic>
        <p:nvPicPr>
          <p:cNvPr id="4" name="图片 3"/>
          <p:cNvPicPr>
            <a:picLocks noChangeAspect="1"/>
          </p:cNvPicPr>
          <p:nvPr/>
        </p:nvPicPr>
        <p:blipFill>
          <a:blip r:embed="rId3"/>
          <a:stretch>
            <a:fillRect/>
          </a:stretch>
        </p:blipFill>
        <p:spPr>
          <a:xfrm>
            <a:off x="965200" y="892175"/>
            <a:ext cx="9808845" cy="4595495"/>
          </a:xfrm>
          <a:prstGeom prst="rect">
            <a:avLst/>
          </a:prstGeom>
        </p:spPr>
      </p:pic>
      <p:sp>
        <p:nvSpPr>
          <p:cNvPr id="5" name="文本框 4"/>
          <p:cNvSpPr txBox="1"/>
          <p:nvPr/>
        </p:nvSpPr>
        <p:spPr>
          <a:xfrm>
            <a:off x="697865" y="5877560"/>
            <a:ext cx="6049010" cy="337185"/>
          </a:xfrm>
          <a:prstGeom prst="rect">
            <a:avLst/>
          </a:prstGeom>
        </p:spPr>
        <p:txBody>
          <a:bodyPr wrap="square">
            <a:spAutoFit/>
          </a:bodyPr>
          <a:lstStyle/>
          <a:p>
            <a:pPr marL="0" indent="0"/>
            <a:r>
              <a:rPr lang="zh-CN" altLang="en-US" sz="1600" b="0" i="0">
                <a:solidFill>
                  <a:srgbClr val="5D5A55"/>
                </a:solidFill>
                <a:latin typeface="PlatformNotoSerifSC"/>
                <a:ea typeface="PlatformNotoSerifSC"/>
              </a:rPr>
              <a:t>学生默认账号和密码均为对应学号，首次登录后必须修改密码。</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MidTerm Projects</a:t>
            </a:r>
            <a:endParaRPr lang="zh-CN" altLang="en-US" sz="1500" dirty="0"/>
          </a:p>
        </p:txBody>
      </p:sp>
      <p:sp>
        <p:nvSpPr>
          <p:cNvPr id="8" name="文本框 4"/>
          <p:cNvSpPr txBox="1"/>
          <p:nvPr/>
        </p:nvSpPr>
        <p:spPr>
          <a:xfrm>
            <a:off x="181610" y="64135"/>
            <a:ext cx="7082155" cy="521970"/>
          </a:xfrm>
          <a:prstGeom prst="rect">
            <a:avLst/>
          </a:prstGeom>
          <a:noFill/>
        </p:spPr>
        <p:txBody>
          <a:bodyPr wrap="square" rtlCol="0">
            <a:spAutoFit/>
          </a:bodyPr>
          <a:lstStyle/>
          <a:p>
            <a:r>
              <a:rPr lang="zh-CN" altLang="en-US" sz="2800" b="1" dirty="0">
                <a:solidFill>
                  <a:srgbClr val="2F57D9"/>
                </a:solidFill>
                <a:latin typeface="Calibri" panose="020F0502020204030204" pitchFamily="34" charset="0"/>
                <a:cs typeface="Calibri" panose="020F0502020204030204" pitchFamily="34" charset="0"/>
              </a:rPr>
              <a:t>评测平台说明</a:t>
            </a:r>
          </a:p>
        </p:txBody>
      </p:sp>
      <p:sp>
        <p:nvSpPr>
          <p:cNvPr id="5" name="文本框 4"/>
          <p:cNvSpPr txBox="1"/>
          <p:nvPr/>
        </p:nvSpPr>
        <p:spPr>
          <a:xfrm>
            <a:off x="697865" y="5877560"/>
            <a:ext cx="6049010" cy="583565"/>
          </a:xfrm>
          <a:prstGeom prst="rect">
            <a:avLst/>
          </a:prstGeom>
        </p:spPr>
        <p:txBody>
          <a:bodyPr wrap="square">
            <a:spAutoFit/>
          </a:bodyPr>
          <a:lstStyle/>
          <a:p>
            <a:pPr marL="0" indent="0"/>
            <a:r>
              <a:rPr lang="zh-CN" altLang="en-US" sz="1600" b="0" i="0">
                <a:solidFill>
                  <a:srgbClr val="5D5A55"/>
                </a:solidFill>
                <a:latin typeface="PlatformNotoSerifSC"/>
                <a:ea typeface="PlatformNotoSerifSC"/>
              </a:rPr>
              <a:t>点击提交文件，即可上传</a:t>
            </a:r>
            <a:r>
              <a:rPr lang="en-US" altLang="zh-CN" sz="1600" b="0" i="0">
                <a:solidFill>
                  <a:srgbClr val="5D5A55"/>
                </a:solidFill>
                <a:latin typeface="PlatformNotoSerifSC"/>
                <a:ea typeface="PlatformNotoSerifSC"/>
              </a:rPr>
              <a:t>.safetensor</a:t>
            </a:r>
            <a:r>
              <a:rPr lang="zh-CN" altLang="en-US" sz="1600" b="0" i="0">
                <a:solidFill>
                  <a:srgbClr val="5D5A55"/>
                </a:solidFill>
                <a:latin typeface="PlatformNotoSerifSC"/>
                <a:ea typeface="PlatformNotoSerifSC"/>
              </a:rPr>
              <a:t>等模型权重。</a:t>
            </a:r>
          </a:p>
          <a:p>
            <a:pPr marL="0" indent="0"/>
            <a:r>
              <a:rPr lang="zh-CN" altLang="en-US" sz="1600" b="0" i="0">
                <a:solidFill>
                  <a:srgbClr val="5D5A55"/>
                </a:solidFill>
                <a:latin typeface="PlatformNotoSerifSC"/>
                <a:ea typeface="PlatformNotoSerifSC"/>
              </a:rPr>
              <a:t>要求仅上传模型权重然后由系统自动进行评估。</a:t>
            </a:r>
          </a:p>
        </p:txBody>
      </p:sp>
      <p:pic>
        <p:nvPicPr>
          <p:cNvPr id="2" name="图片 1"/>
          <p:cNvPicPr>
            <a:picLocks noChangeAspect="1"/>
          </p:cNvPicPr>
          <p:nvPr/>
        </p:nvPicPr>
        <p:blipFill>
          <a:blip r:embed="rId3"/>
          <a:stretch>
            <a:fillRect/>
          </a:stretch>
        </p:blipFill>
        <p:spPr>
          <a:xfrm>
            <a:off x="1480820" y="917575"/>
            <a:ext cx="9548495" cy="4628515"/>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MidTerm Projects</a:t>
            </a:r>
            <a:endParaRPr lang="zh-CN" altLang="en-US" sz="1500" dirty="0"/>
          </a:p>
        </p:txBody>
      </p:sp>
      <p:sp>
        <p:nvSpPr>
          <p:cNvPr id="8" name="文本框 4"/>
          <p:cNvSpPr txBox="1"/>
          <p:nvPr/>
        </p:nvSpPr>
        <p:spPr>
          <a:xfrm>
            <a:off x="181610" y="64135"/>
            <a:ext cx="7082155" cy="521970"/>
          </a:xfrm>
          <a:prstGeom prst="rect">
            <a:avLst/>
          </a:prstGeom>
          <a:noFill/>
        </p:spPr>
        <p:txBody>
          <a:bodyPr wrap="square" rtlCol="0">
            <a:spAutoFit/>
          </a:bodyPr>
          <a:lstStyle/>
          <a:p>
            <a:r>
              <a:rPr lang="zh-CN" altLang="en-US" sz="2800" b="1" dirty="0">
                <a:solidFill>
                  <a:srgbClr val="2F57D9"/>
                </a:solidFill>
                <a:latin typeface="Calibri" panose="020F0502020204030204" pitchFamily="34" charset="0"/>
                <a:cs typeface="Calibri" panose="020F0502020204030204" pitchFamily="34" charset="0"/>
              </a:rPr>
              <a:t>评测平台说明</a:t>
            </a:r>
          </a:p>
        </p:txBody>
      </p:sp>
      <p:pic>
        <p:nvPicPr>
          <p:cNvPr id="2" name="图片 1"/>
          <p:cNvPicPr>
            <a:picLocks noChangeAspect="1"/>
          </p:cNvPicPr>
          <p:nvPr/>
        </p:nvPicPr>
        <p:blipFill>
          <a:blip r:embed="rId3"/>
          <a:stretch>
            <a:fillRect/>
          </a:stretch>
        </p:blipFill>
        <p:spPr>
          <a:xfrm>
            <a:off x="1449705" y="824865"/>
            <a:ext cx="9615805" cy="4892675"/>
          </a:xfrm>
          <a:prstGeom prst="rect">
            <a:avLst/>
          </a:prstGeom>
        </p:spPr>
      </p:pic>
      <p:sp>
        <p:nvSpPr>
          <p:cNvPr id="3" name="文本框 2"/>
          <p:cNvSpPr txBox="1"/>
          <p:nvPr/>
        </p:nvSpPr>
        <p:spPr>
          <a:xfrm>
            <a:off x="697865" y="5877560"/>
            <a:ext cx="8870950" cy="583565"/>
          </a:xfrm>
          <a:prstGeom prst="rect">
            <a:avLst/>
          </a:prstGeom>
        </p:spPr>
        <p:txBody>
          <a:bodyPr wrap="square">
            <a:spAutoFit/>
          </a:bodyPr>
          <a:lstStyle/>
          <a:p>
            <a:pPr marL="0" indent="0"/>
            <a:r>
              <a:rPr lang="zh-CN" altLang="en-US" sz="1600" b="0" i="0">
                <a:solidFill>
                  <a:srgbClr val="5D5A55"/>
                </a:solidFill>
                <a:latin typeface="PlatformNotoSerifSC"/>
                <a:ea typeface="PlatformNotoSerifSC"/>
              </a:rPr>
              <a:t>进入之后，首先使用</a:t>
            </a:r>
            <a:r>
              <a:rPr lang="en-US" altLang="zh-CN" sz="1600" b="0" i="0">
                <a:solidFill>
                  <a:srgbClr val="5D5A55"/>
                </a:solidFill>
                <a:latin typeface="PlatformNotoSerifSC"/>
                <a:ea typeface="PlatformNotoSerifSC"/>
              </a:rPr>
              <a:t>WinSCP</a:t>
            </a:r>
            <a:r>
              <a:rPr lang="zh-CN" altLang="en-US" sz="1600" b="0" i="0">
                <a:solidFill>
                  <a:srgbClr val="5D5A55"/>
                </a:solidFill>
                <a:latin typeface="PlatformNotoSerifSC"/>
                <a:ea typeface="宋体" panose="02010600030101010101" pitchFamily="2" charset="-122"/>
              </a:rPr>
              <a:t>、</a:t>
            </a:r>
            <a:r>
              <a:rPr lang="en-US" altLang="zh-CN" sz="1600" b="0" i="0">
                <a:solidFill>
                  <a:srgbClr val="5D5A55"/>
                </a:solidFill>
                <a:latin typeface="PlatformNotoSerifSC"/>
                <a:ea typeface="宋体" panose="02010600030101010101" pitchFamily="2" charset="-122"/>
              </a:rPr>
              <a:t>FileZilla</a:t>
            </a:r>
            <a:r>
              <a:rPr lang="zh-CN" altLang="en-US" sz="1600" b="0" i="0">
                <a:solidFill>
                  <a:srgbClr val="5D5A55"/>
                </a:solidFill>
                <a:latin typeface="PlatformNotoSerifSC"/>
                <a:ea typeface="宋体" panose="02010600030101010101" pitchFamily="2" charset="-122"/>
              </a:rPr>
              <a:t>等</a:t>
            </a:r>
            <a:r>
              <a:rPr lang="en-US" altLang="zh-CN" sz="1600" b="0" i="0">
                <a:solidFill>
                  <a:srgbClr val="5D5A55"/>
                </a:solidFill>
                <a:latin typeface="PlatformNotoSerifSC"/>
                <a:ea typeface="宋体" panose="02010600030101010101" pitchFamily="2" charset="-122"/>
              </a:rPr>
              <a:t>SFTP</a:t>
            </a:r>
            <a:r>
              <a:rPr lang="zh-CN" altLang="en-US" sz="1600" b="0" i="0">
                <a:solidFill>
                  <a:srgbClr val="5D5A55"/>
                </a:solidFill>
                <a:latin typeface="PlatformNotoSerifSC"/>
                <a:ea typeface="宋体" panose="02010600030101010101" pitchFamily="2" charset="-122"/>
              </a:rPr>
              <a:t>工具连接服务器，并将</a:t>
            </a:r>
            <a:r>
              <a:rPr lang="en-US" altLang="zh-CN" sz="1600" b="0" i="0">
                <a:solidFill>
                  <a:srgbClr val="5D5A55"/>
                </a:solidFill>
                <a:latin typeface="PlatformNotoSerifSC"/>
                <a:ea typeface="宋体" panose="02010600030101010101" pitchFamily="2" charset="-122"/>
              </a:rPr>
              <a:t>model.safetensor</a:t>
            </a:r>
            <a:r>
              <a:rPr lang="zh-CN" altLang="en-US" sz="1600" b="0" i="0">
                <a:solidFill>
                  <a:srgbClr val="5D5A55"/>
                </a:solidFill>
                <a:latin typeface="PlatformNotoSerifSC"/>
                <a:ea typeface="宋体" panose="02010600030101010101" pitchFamily="2" charset="-122"/>
              </a:rPr>
              <a:t>放入文件夹中，点击顶部</a:t>
            </a:r>
            <a:r>
              <a:rPr lang="en-US" altLang="zh-CN" sz="1600" b="0" i="0">
                <a:solidFill>
                  <a:srgbClr val="5D5A55"/>
                </a:solidFill>
                <a:latin typeface="PlatformNotoSerifSC"/>
                <a:ea typeface="宋体" panose="02010600030101010101" pitchFamily="2" charset="-122"/>
              </a:rPr>
              <a:t>“</a:t>
            </a:r>
            <a:r>
              <a:rPr lang="zh-CN" altLang="en-US" sz="1600" b="0" i="0">
                <a:solidFill>
                  <a:srgbClr val="5D5A55"/>
                </a:solidFill>
                <a:latin typeface="PlatformNotoSerifSC"/>
                <a:ea typeface="宋体" panose="02010600030101010101" pitchFamily="2" charset="-122"/>
              </a:rPr>
              <a:t>刷新列表</a:t>
            </a:r>
            <a:r>
              <a:rPr lang="en-US" altLang="zh-CN" sz="1600" b="0" i="0">
                <a:solidFill>
                  <a:srgbClr val="5D5A55"/>
                </a:solidFill>
                <a:latin typeface="PlatformNotoSerifSC"/>
                <a:ea typeface="宋体" panose="02010600030101010101" pitchFamily="2" charset="-122"/>
              </a:rPr>
              <a:t>”</a:t>
            </a:r>
            <a:r>
              <a:rPr lang="zh-CN" altLang="en-US" sz="1600" b="0" i="0">
                <a:solidFill>
                  <a:srgbClr val="5D5A55"/>
                </a:solidFill>
                <a:latin typeface="PlatformNotoSerifSC"/>
                <a:ea typeface="宋体" panose="02010600030101010101" pitchFamily="2" charset="-122"/>
              </a:rPr>
              <a:t>，即可自动出现上传的权重文件。</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MidTerm Projects</a:t>
            </a:r>
            <a:endParaRPr lang="zh-CN" altLang="en-US" sz="1500" dirty="0"/>
          </a:p>
        </p:txBody>
      </p:sp>
      <p:sp>
        <p:nvSpPr>
          <p:cNvPr id="8" name="文本框 4"/>
          <p:cNvSpPr txBox="1"/>
          <p:nvPr/>
        </p:nvSpPr>
        <p:spPr>
          <a:xfrm>
            <a:off x="181610" y="64135"/>
            <a:ext cx="7082155" cy="521970"/>
          </a:xfrm>
          <a:prstGeom prst="rect">
            <a:avLst/>
          </a:prstGeom>
          <a:noFill/>
        </p:spPr>
        <p:txBody>
          <a:bodyPr wrap="square" rtlCol="0">
            <a:spAutoFit/>
          </a:bodyPr>
          <a:lstStyle/>
          <a:p>
            <a:r>
              <a:rPr lang="zh-CN" altLang="en-US" sz="2800" b="1" dirty="0">
                <a:solidFill>
                  <a:srgbClr val="2F57D9"/>
                </a:solidFill>
                <a:latin typeface="Calibri" panose="020F0502020204030204" pitchFamily="34" charset="0"/>
                <a:cs typeface="Calibri" panose="020F0502020204030204" pitchFamily="34" charset="0"/>
              </a:rPr>
              <a:t>评测平台说明</a:t>
            </a:r>
          </a:p>
        </p:txBody>
      </p:sp>
      <p:sp>
        <p:nvSpPr>
          <p:cNvPr id="5" name="文本框 4"/>
          <p:cNvSpPr txBox="1"/>
          <p:nvPr/>
        </p:nvSpPr>
        <p:spPr>
          <a:xfrm>
            <a:off x="505460" y="5877560"/>
            <a:ext cx="10596880" cy="337185"/>
          </a:xfrm>
          <a:prstGeom prst="rect">
            <a:avLst/>
          </a:prstGeom>
        </p:spPr>
        <p:txBody>
          <a:bodyPr wrap="square">
            <a:spAutoFit/>
          </a:bodyPr>
          <a:lstStyle/>
          <a:p>
            <a:pPr marL="0" indent="0"/>
            <a:r>
              <a:rPr lang="zh-CN" altLang="en-US" sz="1600" b="0" i="0">
                <a:solidFill>
                  <a:srgbClr val="5D5A55"/>
                </a:solidFill>
                <a:latin typeface="PlatformNotoSerifSC"/>
                <a:ea typeface="PlatformNotoSerifSC"/>
              </a:rPr>
              <a:t>提交之后系统自动进行评测，约</a:t>
            </a:r>
            <a:r>
              <a:rPr lang="en-US" altLang="zh-CN" sz="1600" b="0" i="0">
                <a:solidFill>
                  <a:srgbClr val="5D5A55"/>
                </a:solidFill>
                <a:latin typeface="PlatformNotoSerifSC"/>
                <a:ea typeface="PlatformNotoSerifSC"/>
              </a:rPr>
              <a:t>10</a:t>
            </a:r>
            <a:r>
              <a:rPr lang="zh-CN" altLang="en-US" sz="1600" b="0" i="0">
                <a:solidFill>
                  <a:srgbClr val="5D5A55"/>
                </a:solidFill>
                <a:latin typeface="PlatformNotoSerifSC"/>
                <a:ea typeface="PlatformNotoSerifSC"/>
              </a:rPr>
              <a:t>分钟即可完成验证集评分，并提供验证集准确率。超越</a:t>
            </a:r>
            <a:r>
              <a:rPr lang="en-US" altLang="zh-CN" sz="1600" b="0" i="0">
                <a:solidFill>
                  <a:srgbClr val="5D5A55"/>
                </a:solidFill>
                <a:latin typeface="PlatformNotoSerifSC"/>
                <a:ea typeface="PlatformNotoSerifSC"/>
              </a:rPr>
              <a:t>Baseline</a:t>
            </a:r>
            <a:r>
              <a:rPr lang="zh-CN" altLang="en-US" sz="1600" b="0" i="0">
                <a:solidFill>
                  <a:srgbClr val="5D5A55"/>
                </a:solidFill>
                <a:latin typeface="PlatformNotoSerifSC"/>
                <a:ea typeface="PlatformNotoSerifSC"/>
              </a:rPr>
              <a:t>即视作成绩有效。</a:t>
            </a:r>
          </a:p>
        </p:txBody>
      </p:sp>
      <p:pic>
        <p:nvPicPr>
          <p:cNvPr id="7" name="图片 6"/>
          <p:cNvPicPr>
            <a:picLocks noChangeAspect="1"/>
          </p:cNvPicPr>
          <p:nvPr/>
        </p:nvPicPr>
        <p:blipFill>
          <a:blip r:embed="rId3"/>
          <a:stretch>
            <a:fillRect/>
          </a:stretch>
        </p:blipFill>
        <p:spPr>
          <a:xfrm>
            <a:off x="1298575" y="770890"/>
            <a:ext cx="9594215" cy="4718685"/>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MidTerm Projects</a:t>
            </a:r>
            <a:endParaRPr lang="zh-CN" altLang="en-US" sz="1500" dirty="0"/>
          </a:p>
        </p:txBody>
      </p:sp>
      <p:sp>
        <p:nvSpPr>
          <p:cNvPr id="8" name="文本框 4"/>
          <p:cNvSpPr txBox="1"/>
          <p:nvPr/>
        </p:nvSpPr>
        <p:spPr>
          <a:xfrm>
            <a:off x="181610" y="64135"/>
            <a:ext cx="7082155" cy="521970"/>
          </a:xfrm>
          <a:prstGeom prst="rect">
            <a:avLst/>
          </a:prstGeom>
          <a:noFill/>
        </p:spPr>
        <p:txBody>
          <a:bodyPr wrap="square" rtlCol="0">
            <a:spAutoFit/>
          </a:bodyPr>
          <a:lstStyle/>
          <a:p>
            <a:r>
              <a:rPr lang="zh-CN" altLang="en-US" sz="2800" b="1" dirty="0">
                <a:solidFill>
                  <a:srgbClr val="2F57D9"/>
                </a:solidFill>
                <a:latin typeface="Calibri" panose="020F0502020204030204" pitchFamily="34" charset="0"/>
                <a:cs typeface="Calibri" panose="020F0502020204030204" pitchFamily="34" charset="0"/>
              </a:rPr>
              <a:t>评测平台说明</a:t>
            </a:r>
          </a:p>
        </p:txBody>
      </p:sp>
      <p:sp>
        <p:nvSpPr>
          <p:cNvPr id="5" name="文本框 4"/>
          <p:cNvSpPr txBox="1"/>
          <p:nvPr/>
        </p:nvSpPr>
        <p:spPr>
          <a:xfrm>
            <a:off x="697865" y="5877560"/>
            <a:ext cx="7700645" cy="337185"/>
          </a:xfrm>
          <a:prstGeom prst="rect">
            <a:avLst/>
          </a:prstGeom>
        </p:spPr>
        <p:txBody>
          <a:bodyPr wrap="square">
            <a:spAutoFit/>
          </a:bodyPr>
          <a:lstStyle/>
          <a:p>
            <a:pPr marL="0" indent="0"/>
            <a:r>
              <a:rPr lang="en-US" altLang="zh-CN" sz="1600" b="0" i="0">
                <a:solidFill>
                  <a:srgbClr val="5D5A55"/>
                </a:solidFill>
                <a:latin typeface="PlatformNotoSerifSC"/>
                <a:ea typeface="宋体" panose="02010600030101010101" pitchFamily="2" charset="-122"/>
              </a:rPr>
              <a:t>“</a:t>
            </a:r>
            <a:r>
              <a:rPr lang="zh-CN" altLang="en-US" sz="1600" b="0" i="0">
                <a:solidFill>
                  <a:srgbClr val="5D5A55"/>
                </a:solidFill>
                <a:latin typeface="PlatformNotoSerifSC"/>
                <a:ea typeface="宋体" panose="02010600030101010101" pitchFamily="2" charset="-122"/>
              </a:rPr>
              <a:t>聊天演示</a:t>
            </a:r>
            <a:r>
              <a:rPr lang="en-US" altLang="zh-CN" sz="1600" b="0" i="0">
                <a:solidFill>
                  <a:srgbClr val="5D5A55"/>
                </a:solidFill>
                <a:latin typeface="PlatformNotoSerifSC"/>
                <a:ea typeface="宋体" panose="02010600030101010101" pitchFamily="2" charset="-122"/>
              </a:rPr>
              <a:t>”</a:t>
            </a:r>
            <a:r>
              <a:rPr lang="zh-CN" altLang="en-US" sz="1600" b="0" i="0">
                <a:solidFill>
                  <a:srgbClr val="5D5A55"/>
                </a:solidFill>
                <a:latin typeface="PlatformNotoSerifSC"/>
                <a:ea typeface="宋体" panose="02010600030101010101" pitchFamily="2" charset="-122"/>
              </a:rPr>
              <a:t>页面可直接使用聊天框页面，与刚刚提交的模型进行对话与测试</a:t>
            </a:r>
          </a:p>
        </p:txBody>
      </p:sp>
      <p:pic>
        <p:nvPicPr>
          <p:cNvPr id="3" name="图片 2"/>
          <p:cNvPicPr>
            <a:picLocks noChangeAspect="1"/>
          </p:cNvPicPr>
          <p:nvPr/>
        </p:nvPicPr>
        <p:blipFill>
          <a:blip r:embed="rId3"/>
          <a:stretch>
            <a:fillRect/>
          </a:stretch>
        </p:blipFill>
        <p:spPr>
          <a:xfrm>
            <a:off x="1088390" y="846455"/>
            <a:ext cx="9777730" cy="4770755"/>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MidTerm Projects</a:t>
            </a:r>
            <a:endParaRPr lang="zh-CN" altLang="en-US" sz="1500" dirty="0"/>
          </a:p>
        </p:txBody>
      </p:sp>
      <p:sp>
        <p:nvSpPr>
          <p:cNvPr id="8" name="文本框 4"/>
          <p:cNvSpPr txBox="1"/>
          <p:nvPr/>
        </p:nvSpPr>
        <p:spPr>
          <a:xfrm>
            <a:off x="181610" y="64135"/>
            <a:ext cx="7082155" cy="521970"/>
          </a:xfrm>
          <a:prstGeom prst="rect">
            <a:avLst/>
          </a:prstGeom>
          <a:noFill/>
        </p:spPr>
        <p:txBody>
          <a:bodyPr wrap="square" rtlCol="0">
            <a:spAutoFit/>
          </a:bodyPr>
          <a:lstStyle/>
          <a:p>
            <a:r>
              <a:rPr lang="zh-CN" altLang="en-US" sz="2800" b="1" dirty="0">
                <a:solidFill>
                  <a:srgbClr val="2F57D9"/>
                </a:solidFill>
                <a:latin typeface="Calibri" panose="020F0502020204030204" pitchFamily="34" charset="0"/>
                <a:cs typeface="Calibri" panose="020F0502020204030204" pitchFamily="34" charset="0"/>
              </a:rPr>
              <a:t>违规说明</a:t>
            </a:r>
          </a:p>
        </p:txBody>
      </p:sp>
      <p:sp>
        <p:nvSpPr>
          <p:cNvPr id="13" name="文本框 12"/>
          <p:cNvSpPr txBox="1"/>
          <p:nvPr/>
        </p:nvSpPr>
        <p:spPr>
          <a:xfrm>
            <a:off x="495935" y="1123315"/>
            <a:ext cx="11102340" cy="4819781"/>
          </a:xfrm>
          <a:prstGeom prst="rect">
            <a:avLst/>
          </a:prstGeom>
          <a:noFill/>
        </p:spPr>
        <p:txBody>
          <a:bodyPr wrap="square" rtlCol="0" anchor="t">
            <a:spAutoFit/>
          </a:bodyPr>
          <a:lstStyle/>
          <a:p>
            <a:pPr>
              <a:lnSpc>
                <a:spcPct val="160000"/>
              </a:lnSpc>
            </a:pPr>
            <a:r>
              <a:rPr lang="zh-CN" altLang="en-US" sz="2400" dirty="0">
                <a:solidFill>
                  <a:schemeClr val="tx1"/>
                </a:solidFill>
                <a:latin typeface="Calibri" panose="020F0502020204030204" pitchFamily="34" charset="0"/>
                <a:cs typeface="Calibri" panose="020F0502020204030204" pitchFamily="34" charset="0"/>
                <a:sym typeface="+mn-ea"/>
              </a:rPr>
              <a:t>以下行为将视作违反规定，最高可能面临</a:t>
            </a:r>
            <a:r>
              <a:rPr lang="zh-CN" altLang="en-US" sz="2400" dirty="0">
                <a:latin typeface="Calibri" panose="020F0502020204030204" pitchFamily="34" charset="0"/>
                <a:cs typeface="Calibri" panose="020F0502020204030204" pitchFamily="34" charset="0"/>
                <a:sym typeface="+mn-ea"/>
              </a:rPr>
              <a:t>全组</a:t>
            </a:r>
            <a:r>
              <a:rPr lang="zh-CN" altLang="en-US" sz="2400" dirty="0">
                <a:solidFill>
                  <a:schemeClr val="tx1"/>
                </a:solidFill>
                <a:latin typeface="Calibri" panose="020F0502020204030204" pitchFamily="34" charset="0"/>
                <a:cs typeface="Calibri" panose="020F0502020204030204" pitchFamily="34" charset="0"/>
                <a:sym typeface="+mn-ea"/>
              </a:rPr>
              <a:t>成绩记为</a:t>
            </a:r>
            <a:r>
              <a:rPr lang="en-US" altLang="zh-CN" sz="2400" dirty="0">
                <a:solidFill>
                  <a:schemeClr val="tx1"/>
                </a:solidFill>
                <a:latin typeface="Calibri" panose="020F0502020204030204" pitchFamily="34" charset="0"/>
                <a:cs typeface="Calibri" panose="020F0502020204030204" pitchFamily="34" charset="0"/>
                <a:sym typeface="+mn-ea"/>
              </a:rPr>
              <a:t>0</a:t>
            </a:r>
            <a:r>
              <a:rPr lang="zh-CN" altLang="en-US" sz="2400" dirty="0">
                <a:solidFill>
                  <a:schemeClr val="tx1"/>
                </a:solidFill>
                <a:latin typeface="Calibri" panose="020F0502020204030204" pitchFamily="34" charset="0"/>
                <a:cs typeface="Calibri" panose="020F0502020204030204" pitchFamily="34" charset="0"/>
                <a:sym typeface="+mn-ea"/>
              </a:rPr>
              <a:t>分：</a:t>
            </a:r>
          </a:p>
          <a:p>
            <a:pPr>
              <a:lnSpc>
                <a:spcPct val="160000"/>
              </a:lnSpc>
            </a:pPr>
            <a:endParaRPr lang="en-US" altLang="zh-CN" sz="2400" dirty="0">
              <a:solidFill>
                <a:schemeClr val="tx1"/>
              </a:solidFill>
              <a:latin typeface="Calibri" panose="020F0502020204030204" pitchFamily="34" charset="0"/>
              <a:cs typeface="Calibri" panose="020F0502020204030204" pitchFamily="34" charset="0"/>
              <a:sym typeface="+mn-ea"/>
            </a:endParaRPr>
          </a:p>
          <a:p>
            <a:pPr>
              <a:lnSpc>
                <a:spcPct val="160000"/>
              </a:lnSpc>
            </a:pPr>
            <a:r>
              <a:rPr lang="en-US" altLang="zh-CN" sz="2400" dirty="0">
                <a:solidFill>
                  <a:schemeClr val="tx1"/>
                </a:solidFill>
                <a:latin typeface="Calibri" panose="020F0502020204030204" pitchFamily="34" charset="0"/>
                <a:cs typeface="Calibri" panose="020F0502020204030204" pitchFamily="34" charset="0"/>
                <a:sym typeface="+mn-ea"/>
              </a:rPr>
              <a:t>1. </a:t>
            </a:r>
            <a:r>
              <a:rPr lang="zh-CN" altLang="en-US" sz="2400" dirty="0">
                <a:solidFill>
                  <a:schemeClr val="tx1"/>
                </a:solidFill>
                <a:latin typeface="Calibri" panose="020F0502020204030204" pitchFamily="34" charset="0"/>
                <a:cs typeface="Calibri" panose="020F0502020204030204" pitchFamily="34" charset="0"/>
                <a:sym typeface="+mn-ea"/>
              </a:rPr>
              <a:t>通过异常提交方式探测测试集结果。</a:t>
            </a:r>
          </a:p>
          <a:p>
            <a:pPr>
              <a:lnSpc>
                <a:spcPct val="160000"/>
              </a:lnSpc>
            </a:pPr>
            <a:r>
              <a:rPr lang="en-US" altLang="zh-CN" sz="2400" dirty="0">
                <a:solidFill>
                  <a:schemeClr val="tx1"/>
                </a:solidFill>
                <a:latin typeface="Calibri" panose="020F0502020204030204" pitchFamily="34" charset="0"/>
                <a:cs typeface="Calibri" panose="020F0502020204030204" pitchFamily="34" charset="0"/>
                <a:sym typeface="+mn-ea"/>
              </a:rPr>
              <a:t>2. </a:t>
            </a:r>
            <a:r>
              <a:rPr lang="zh-CN" altLang="en-US" sz="2400" dirty="0">
                <a:solidFill>
                  <a:schemeClr val="tx1"/>
                </a:solidFill>
                <a:latin typeface="Calibri" panose="020F0502020204030204" pitchFamily="34" charset="0"/>
                <a:cs typeface="Calibri" panose="020F0502020204030204" pitchFamily="34" charset="0"/>
                <a:sym typeface="+mn-ea"/>
              </a:rPr>
              <a:t>提交与实际训练过程不一致的模型权重。</a:t>
            </a:r>
          </a:p>
          <a:p>
            <a:pPr>
              <a:lnSpc>
                <a:spcPct val="160000"/>
              </a:lnSpc>
            </a:pPr>
            <a:r>
              <a:rPr lang="en-US" altLang="zh-CN" sz="2400" dirty="0">
                <a:solidFill>
                  <a:schemeClr val="tx1"/>
                </a:solidFill>
                <a:latin typeface="Calibri" panose="020F0502020204030204" pitchFamily="34" charset="0"/>
                <a:cs typeface="Calibri" panose="020F0502020204030204" pitchFamily="34" charset="0"/>
                <a:sym typeface="+mn-ea"/>
              </a:rPr>
              <a:t>3. </a:t>
            </a:r>
            <a:r>
              <a:rPr lang="zh-CN" altLang="en-US" sz="2400" dirty="0">
                <a:solidFill>
                  <a:schemeClr val="tx1"/>
                </a:solidFill>
                <a:latin typeface="Calibri" panose="020F0502020204030204" pitchFamily="34" charset="0"/>
                <a:cs typeface="Calibri" panose="020F0502020204030204" pitchFamily="34" charset="0"/>
                <a:sym typeface="+mn-ea"/>
              </a:rPr>
              <a:t>破坏、影响或者攻击其他组的任何进展</a:t>
            </a:r>
            <a:r>
              <a:rPr lang="zh-CN" altLang="en-US" sz="2400" dirty="0" smtClean="0">
                <a:solidFill>
                  <a:schemeClr val="tx1"/>
                </a:solidFill>
                <a:latin typeface="Calibri" panose="020F0502020204030204" pitchFamily="34" charset="0"/>
                <a:cs typeface="Calibri" panose="020F0502020204030204" pitchFamily="34" charset="0"/>
                <a:sym typeface="+mn-ea"/>
              </a:rPr>
              <a:t>。</a:t>
            </a:r>
            <a:endParaRPr lang="en-US" altLang="zh-CN" sz="2400" dirty="0" smtClean="0">
              <a:solidFill>
                <a:schemeClr val="tx1"/>
              </a:solidFill>
              <a:latin typeface="Calibri" panose="020F0502020204030204" pitchFamily="34" charset="0"/>
              <a:cs typeface="Calibri" panose="020F0502020204030204" pitchFamily="34" charset="0"/>
              <a:sym typeface="+mn-ea"/>
            </a:endParaRPr>
          </a:p>
          <a:p>
            <a:pPr>
              <a:lnSpc>
                <a:spcPct val="160000"/>
              </a:lnSpc>
            </a:pPr>
            <a:r>
              <a:rPr lang="en-US" altLang="zh-CN" sz="2400" dirty="0" smtClean="0">
                <a:latin typeface="Calibri" panose="020F0502020204030204" pitchFamily="34" charset="0"/>
                <a:cs typeface="Calibri" panose="020F0502020204030204" pitchFamily="34" charset="0"/>
                <a:sym typeface="+mn-ea"/>
              </a:rPr>
              <a:t>4.</a:t>
            </a:r>
            <a:r>
              <a:rPr lang="zh-CN" altLang="en-US" sz="2400" dirty="0" smtClean="0">
                <a:latin typeface="Calibri" panose="020F0502020204030204" pitchFamily="34" charset="0"/>
                <a:cs typeface="Calibri" panose="020F0502020204030204" pitchFamily="34" charset="0"/>
                <a:sym typeface="+mn-ea"/>
              </a:rPr>
              <a:t> 故意</a:t>
            </a:r>
            <a:r>
              <a:rPr lang="zh-CN" altLang="en-US" sz="2400" dirty="0">
                <a:latin typeface="Calibri" panose="020F0502020204030204" pitchFamily="34" charset="0"/>
                <a:cs typeface="Calibri" panose="020F0502020204030204" pitchFamily="34" charset="0"/>
                <a:sym typeface="+mn-ea"/>
              </a:rPr>
              <a:t>破坏任意服务器设备。</a:t>
            </a:r>
          </a:p>
          <a:p>
            <a:pPr>
              <a:lnSpc>
                <a:spcPct val="160000"/>
              </a:lnSpc>
            </a:pPr>
            <a:r>
              <a:rPr lang="en-US" altLang="zh-CN" sz="2400" dirty="0">
                <a:latin typeface="Calibri" panose="020F0502020204030204" pitchFamily="34" charset="0"/>
                <a:cs typeface="Calibri" panose="020F0502020204030204" pitchFamily="34" charset="0"/>
                <a:sym typeface="+mn-ea"/>
              </a:rPr>
              <a:t>5. </a:t>
            </a:r>
            <a:r>
              <a:rPr lang="zh-CN" altLang="en-US" sz="2400" dirty="0">
                <a:latin typeface="Calibri" panose="020F0502020204030204" pitchFamily="34" charset="0"/>
                <a:cs typeface="Calibri" panose="020F0502020204030204" pitchFamily="34" charset="0"/>
                <a:sym typeface="+mn-ea"/>
              </a:rPr>
              <a:t>使用服务器进行挖矿、出租、用作他用等行为</a:t>
            </a:r>
            <a:r>
              <a:rPr lang="zh-CN" altLang="en-US" sz="2400" dirty="0" smtClean="0">
                <a:latin typeface="Calibri" panose="020F0502020204030204" pitchFamily="34" charset="0"/>
                <a:cs typeface="Calibri" panose="020F0502020204030204" pitchFamily="34" charset="0"/>
                <a:sym typeface="+mn-ea"/>
              </a:rPr>
              <a:t>。</a:t>
            </a:r>
            <a:endParaRPr lang="en-US" altLang="zh-CN" sz="2400" dirty="0" smtClean="0">
              <a:latin typeface="Calibri" panose="020F0502020204030204" pitchFamily="34" charset="0"/>
              <a:cs typeface="Calibri" panose="020F0502020204030204" pitchFamily="34" charset="0"/>
              <a:sym typeface="+mn-ea"/>
            </a:endParaRPr>
          </a:p>
          <a:p>
            <a:pPr>
              <a:lnSpc>
                <a:spcPct val="160000"/>
              </a:lnSpc>
            </a:pPr>
            <a:r>
              <a:rPr lang="en-US" altLang="zh-CN" sz="2400" dirty="0" smtClean="0">
                <a:latin typeface="Calibri" panose="020F0502020204030204" pitchFamily="34" charset="0"/>
                <a:cs typeface="Calibri" panose="020F0502020204030204" pitchFamily="34" charset="0"/>
                <a:sym typeface="+mn-ea"/>
              </a:rPr>
              <a:t>6.</a:t>
            </a:r>
            <a:r>
              <a:rPr lang="zh-CN" altLang="en-US" sz="2400" dirty="0" smtClean="0">
                <a:latin typeface="Calibri" panose="020F0502020204030204" pitchFamily="34" charset="0"/>
                <a:cs typeface="Calibri" panose="020F0502020204030204" pitchFamily="34" charset="0"/>
                <a:sym typeface="+mn-ea"/>
              </a:rPr>
              <a:t> 人身攻击、辱骂其他组成员等不友好行为。</a:t>
            </a:r>
            <a:endParaRPr lang="en-US" altLang="zh-CN" sz="2400" dirty="0">
              <a:latin typeface="Calibri" panose="020F0502020204030204" pitchFamily="34" charset="0"/>
              <a:cs typeface="Calibri" panose="020F0502020204030204" pitchFamily="34" charset="0"/>
              <a:sym typeface="+mn-ea"/>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MidTerm Projects</a:t>
            </a:r>
            <a:endParaRPr lang="zh-CN" altLang="en-US" sz="1500" dirty="0"/>
          </a:p>
        </p:txBody>
      </p:sp>
      <p:sp>
        <p:nvSpPr>
          <p:cNvPr id="8" name="文本框 4"/>
          <p:cNvSpPr txBox="1"/>
          <p:nvPr/>
        </p:nvSpPr>
        <p:spPr>
          <a:xfrm>
            <a:off x="181610" y="64135"/>
            <a:ext cx="7082155" cy="521970"/>
          </a:xfrm>
          <a:prstGeom prst="rect">
            <a:avLst/>
          </a:prstGeom>
          <a:noFill/>
        </p:spPr>
        <p:txBody>
          <a:bodyPr wrap="square" rtlCol="0">
            <a:spAutoFit/>
          </a:bodyPr>
          <a:lstStyle/>
          <a:p>
            <a:r>
              <a:rPr lang="zh-CN" altLang="en-US" sz="2800" b="1" dirty="0">
                <a:solidFill>
                  <a:srgbClr val="2F57D9"/>
                </a:solidFill>
                <a:latin typeface="Calibri" panose="020F0502020204030204" pitchFamily="34" charset="0"/>
                <a:cs typeface="Calibri" panose="020F0502020204030204" pitchFamily="34" charset="0"/>
              </a:rPr>
              <a:t>违规说明</a:t>
            </a:r>
          </a:p>
        </p:txBody>
      </p:sp>
      <p:sp>
        <p:nvSpPr>
          <p:cNvPr id="13" name="文本框 12"/>
          <p:cNvSpPr txBox="1"/>
          <p:nvPr/>
        </p:nvSpPr>
        <p:spPr>
          <a:xfrm>
            <a:off x="495935" y="1123315"/>
            <a:ext cx="11102340" cy="4895215"/>
          </a:xfrm>
          <a:prstGeom prst="rect">
            <a:avLst/>
          </a:prstGeom>
          <a:noFill/>
        </p:spPr>
        <p:txBody>
          <a:bodyPr wrap="square" rtlCol="0" anchor="t">
            <a:noAutofit/>
          </a:bodyPr>
          <a:lstStyle/>
          <a:p>
            <a:pPr>
              <a:lnSpc>
                <a:spcPct val="160000"/>
              </a:lnSpc>
            </a:pPr>
            <a:r>
              <a:rPr lang="zh-CN" altLang="en-US" sz="2400" dirty="0" smtClean="0">
                <a:solidFill>
                  <a:schemeClr val="tx1"/>
                </a:solidFill>
                <a:latin typeface="Calibri" panose="020F0502020204030204" pitchFamily="34" charset="0"/>
                <a:cs typeface="Calibri" panose="020F0502020204030204" pitchFamily="34" charset="0"/>
                <a:sym typeface="+mn-ea"/>
              </a:rPr>
              <a:t>成绩</a:t>
            </a:r>
            <a:r>
              <a:rPr lang="zh-CN" altLang="en-US" sz="2400" dirty="0" smtClean="0">
                <a:latin typeface="Calibri" panose="020F0502020204030204" pitchFamily="34" charset="0"/>
                <a:cs typeface="Calibri" panose="020F0502020204030204" pitchFamily="34" charset="0"/>
                <a:sym typeface="+mn-ea"/>
              </a:rPr>
              <a:t>可能会按照以下</a:t>
            </a:r>
            <a:r>
              <a:rPr lang="zh-CN" altLang="en-US" sz="2400" dirty="0" smtClean="0">
                <a:solidFill>
                  <a:schemeClr val="tx1"/>
                </a:solidFill>
                <a:latin typeface="Calibri" panose="020F0502020204030204" pitchFamily="34" charset="0"/>
                <a:cs typeface="Calibri" panose="020F0502020204030204" pitchFamily="34" charset="0"/>
                <a:sym typeface="+mn-ea"/>
              </a:rPr>
              <a:t>具体情况</a:t>
            </a:r>
            <a:r>
              <a:rPr lang="zh-CN" altLang="en-US" sz="2400" dirty="0" smtClean="0">
                <a:latin typeface="Calibri" panose="020F0502020204030204" pitchFamily="34" charset="0"/>
                <a:cs typeface="Calibri" panose="020F0502020204030204" pitchFamily="34" charset="0"/>
                <a:sym typeface="+mn-ea"/>
              </a:rPr>
              <a:t>扣分</a:t>
            </a:r>
            <a:r>
              <a:rPr lang="zh-CN" altLang="en-US" sz="2400" dirty="0" smtClean="0">
                <a:solidFill>
                  <a:schemeClr val="tx1"/>
                </a:solidFill>
                <a:latin typeface="Calibri" panose="020F0502020204030204" pitchFamily="34" charset="0"/>
                <a:cs typeface="Calibri" panose="020F0502020204030204" pitchFamily="34" charset="0"/>
                <a:sym typeface="+mn-ea"/>
              </a:rPr>
              <a:t>：</a:t>
            </a:r>
            <a:endParaRPr lang="zh-CN" altLang="en-US" sz="2400" dirty="0">
              <a:solidFill>
                <a:schemeClr val="tx1"/>
              </a:solidFill>
              <a:latin typeface="Calibri" panose="020F0502020204030204" pitchFamily="34" charset="0"/>
              <a:cs typeface="Calibri" panose="020F0502020204030204" pitchFamily="34" charset="0"/>
              <a:sym typeface="+mn-ea"/>
            </a:endParaRPr>
          </a:p>
          <a:p>
            <a:pPr>
              <a:lnSpc>
                <a:spcPct val="160000"/>
              </a:lnSpc>
            </a:pPr>
            <a:endParaRPr lang="en-US" altLang="zh-CN" sz="2400" dirty="0">
              <a:solidFill>
                <a:schemeClr val="tx1"/>
              </a:solidFill>
              <a:latin typeface="Calibri" panose="020F0502020204030204" pitchFamily="34" charset="0"/>
              <a:cs typeface="Calibri" panose="020F0502020204030204" pitchFamily="34" charset="0"/>
              <a:sym typeface="+mn-ea"/>
            </a:endParaRPr>
          </a:p>
          <a:p>
            <a:pPr>
              <a:lnSpc>
                <a:spcPct val="160000"/>
              </a:lnSpc>
            </a:pPr>
            <a:r>
              <a:rPr lang="en-US" altLang="zh-CN" sz="2400" dirty="0">
                <a:solidFill>
                  <a:schemeClr val="tx1"/>
                </a:solidFill>
                <a:latin typeface="Calibri" panose="020F0502020204030204" pitchFamily="34" charset="0"/>
                <a:cs typeface="Calibri" panose="020F0502020204030204" pitchFamily="34" charset="0"/>
                <a:sym typeface="+mn-ea"/>
              </a:rPr>
              <a:t>1. </a:t>
            </a:r>
            <a:r>
              <a:rPr lang="zh-CN" altLang="en-US" sz="2400" dirty="0" smtClean="0">
                <a:solidFill>
                  <a:schemeClr val="tx1"/>
                </a:solidFill>
                <a:latin typeface="Calibri" panose="020F0502020204030204" pitchFamily="34" charset="0"/>
                <a:cs typeface="Calibri" panose="020F0502020204030204" pitchFamily="34" charset="0"/>
                <a:sym typeface="+mn-ea"/>
              </a:rPr>
              <a:t>存在</a:t>
            </a:r>
            <a:r>
              <a:rPr lang="zh-CN" altLang="en-US" sz="2400" dirty="0">
                <a:solidFill>
                  <a:schemeClr val="tx1"/>
                </a:solidFill>
                <a:latin typeface="Calibri" panose="020F0502020204030204" pitchFamily="34" charset="0"/>
                <a:cs typeface="Calibri" panose="020F0502020204030204" pitchFamily="34" charset="0"/>
                <a:sym typeface="+mn-ea"/>
              </a:rPr>
              <a:t>造假或者包庇等行为，或者与实际贡献不符。</a:t>
            </a:r>
          </a:p>
          <a:p>
            <a:pPr>
              <a:lnSpc>
                <a:spcPct val="160000"/>
              </a:lnSpc>
            </a:pPr>
            <a:r>
              <a:rPr lang="en-US" altLang="zh-CN" sz="2400" dirty="0">
                <a:solidFill>
                  <a:schemeClr val="tx1"/>
                </a:solidFill>
                <a:latin typeface="Calibri" panose="020F0502020204030204" pitchFamily="34" charset="0"/>
                <a:cs typeface="Calibri" panose="020F0502020204030204" pitchFamily="34" charset="0"/>
                <a:sym typeface="+mn-ea"/>
              </a:rPr>
              <a:t>2. </a:t>
            </a:r>
            <a:r>
              <a:rPr lang="zh-CN" altLang="en-US" sz="2400" dirty="0">
                <a:latin typeface="Calibri" panose="020F0502020204030204" pitchFamily="34" charset="0"/>
                <a:cs typeface="Calibri" panose="020F0502020204030204" pitchFamily="34" charset="0"/>
                <a:sym typeface="+mn-ea"/>
              </a:rPr>
              <a:t>组</a:t>
            </a:r>
            <a:r>
              <a:rPr lang="zh-CN" altLang="en-US" sz="2400" dirty="0" smtClean="0">
                <a:latin typeface="Calibri" panose="020F0502020204030204" pitchFamily="34" charset="0"/>
                <a:cs typeface="Calibri" panose="020F0502020204030204" pitchFamily="34" charset="0"/>
                <a:sym typeface="+mn-ea"/>
              </a:rPr>
              <a:t>内</a:t>
            </a:r>
            <a:r>
              <a:rPr lang="zh-CN" altLang="en-US" sz="2400" dirty="0" smtClean="0">
                <a:solidFill>
                  <a:schemeClr val="tx1"/>
                </a:solidFill>
                <a:latin typeface="Calibri" panose="020F0502020204030204" pitchFamily="34" charset="0"/>
                <a:cs typeface="Calibri" panose="020F0502020204030204" pitchFamily="34" charset="0"/>
                <a:sym typeface="+mn-ea"/>
              </a:rPr>
              <a:t>同学贡献内容有重复。【</a:t>
            </a:r>
            <a:r>
              <a:rPr lang="zh-CN" altLang="en-US" sz="2400" dirty="0">
                <a:solidFill>
                  <a:schemeClr val="tx1"/>
                </a:solidFill>
                <a:latin typeface="Calibri" panose="020F0502020204030204" pitchFamily="34" charset="0"/>
                <a:cs typeface="Calibri" panose="020F0502020204030204" pitchFamily="34" charset="0"/>
                <a:sym typeface="+mn-ea"/>
              </a:rPr>
              <a:t>依据全组提交的第三次作业进行综合判断</a:t>
            </a:r>
            <a:r>
              <a:rPr lang="zh-CN" altLang="en-US" sz="2400" dirty="0" smtClean="0">
                <a:solidFill>
                  <a:schemeClr val="tx1"/>
                </a:solidFill>
                <a:latin typeface="Calibri" panose="020F0502020204030204" pitchFamily="34" charset="0"/>
                <a:cs typeface="Calibri" panose="020F0502020204030204" pitchFamily="34" charset="0"/>
                <a:sym typeface="+mn-ea"/>
              </a:rPr>
              <a:t>】</a:t>
            </a:r>
            <a:endParaRPr lang="zh-CN" altLang="en-US" sz="2400" dirty="0">
              <a:solidFill>
                <a:schemeClr val="tx1"/>
              </a:solidFill>
              <a:latin typeface="Calibri" panose="020F0502020204030204" pitchFamily="34" charset="0"/>
              <a:cs typeface="Calibri" panose="020F0502020204030204" pitchFamily="34" charset="0"/>
              <a:sym typeface="+mn-ea"/>
            </a:endParaRPr>
          </a:p>
          <a:p>
            <a:pPr>
              <a:lnSpc>
                <a:spcPct val="160000"/>
              </a:lnSpc>
            </a:pPr>
            <a:r>
              <a:rPr lang="en-US" altLang="zh-CN" sz="2400" dirty="0">
                <a:solidFill>
                  <a:schemeClr val="tx1"/>
                </a:solidFill>
                <a:latin typeface="Calibri" panose="020F0502020204030204" pitchFamily="34" charset="0"/>
                <a:cs typeface="Calibri" panose="020F0502020204030204" pitchFamily="34" charset="0"/>
                <a:sym typeface="+mn-ea"/>
              </a:rPr>
              <a:t>3. </a:t>
            </a:r>
            <a:r>
              <a:rPr lang="zh-CN" altLang="en-US" sz="2400" dirty="0">
                <a:latin typeface="Calibri" panose="020F0502020204030204" pitchFamily="34" charset="0"/>
                <a:cs typeface="Calibri" panose="020F0502020204030204" pitchFamily="34" charset="0"/>
                <a:sym typeface="+mn-ea"/>
              </a:rPr>
              <a:t>本次期中</a:t>
            </a:r>
            <a:r>
              <a:rPr lang="en-US" altLang="zh-CN" sz="2400" dirty="0">
                <a:latin typeface="Calibri" panose="020F0502020204030204" pitchFamily="34" charset="0"/>
                <a:cs typeface="Calibri" panose="020F0502020204030204" pitchFamily="34" charset="0"/>
                <a:sym typeface="+mn-ea"/>
              </a:rPr>
              <a:t>Project</a:t>
            </a:r>
            <a:r>
              <a:rPr lang="zh-CN" altLang="en-US" sz="2400" dirty="0">
                <a:latin typeface="Calibri" panose="020F0502020204030204" pitchFamily="34" charset="0"/>
                <a:cs typeface="Calibri" panose="020F0502020204030204" pitchFamily="34" charset="0"/>
                <a:sym typeface="+mn-ea"/>
              </a:rPr>
              <a:t>任务期间本组服务器开销超过</a:t>
            </a:r>
            <a:r>
              <a:rPr lang="en-US" altLang="zh-CN" sz="2400" dirty="0">
                <a:latin typeface="Calibri" panose="020F0502020204030204" pitchFamily="34" charset="0"/>
                <a:cs typeface="Calibri" panose="020F0502020204030204" pitchFamily="34" charset="0"/>
                <a:sym typeface="+mn-ea"/>
              </a:rPr>
              <a:t>2500</a:t>
            </a:r>
            <a:r>
              <a:rPr lang="zh-CN" altLang="en-US" sz="2400" dirty="0">
                <a:latin typeface="Calibri" panose="020F0502020204030204" pitchFamily="34" charset="0"/>
                <a:cs typeface="Calibri" panose="020F0502020204030204" pitchFamily="34" charset="0"/>
                <a:sym typeface="+mn-ea"/>
              </a:rPr>
              <a:t>元</a:t>
            </a:r>
            <a:r>
              <a:rPr lang="zh-CN" altLang="en-US" sz="2400" dirty="0" smtClean="0">
                <a:latin typeface="Calibri" panose="020F0502020204030204" pitchFamily="34" charset="0"/>
                <a:cs typeface="Calibri" panose="020F0502020204030204" pitchFamily="34" charset="0"/>
                <a:sym typeface="+mn-ea"/>
              </a:rPr>
              <a:t>。</a:t>
            </a:r>
            <a:endParaRPr lang="en-US" altLang="zh-CN" sz="2400" dirty="0">
              <a:solidFill>
                <a:schemeClr val="tx1"/>
              </a:solidFill>
              <a:latin typeface="Calibri" panose="020F0502020204030204" pitchFamily="34" charset="0"/>
              <a:cs typeface="Calibri" panose="020F0502020204030204" pitchFamily="34" charset="0"/>
              <a:sym typeface="+mn-ea"/>
            </a:endParaRPr>
          </a:p>
          <a:p>
            <a:pPr>
              <a:lnSpc>
                <a:spcPct val="160000"/>
              </a:lnSpc>
            </a:pPr>
            <a:endParaRPr lang="en-US" altLang="zh-CN" sz="2400" dirty="0">
              <a:solidFill>
                <a:schemeClr val="tx1"/>
              </a:solidFill>
              <a:latin typeface="Calibri" panose="020F0502020204030204" pitchFamily="34" charset="0"/>
              <a:cs typeface="Calibri" panose="020F0502020204030204" pitchFamily="34" charset="0"/>
              <a:sym typeface="+mn-ea"/>
            </a:endParaRP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1833</TotalTime>
  <Words>1046</Words>
  <Application>Microsoft Macintosh PowerPoint</Application>
  <PresentationFormat>Widescreen</PresentationFormat>
  <Paragraphs>113</Paragraphs>
  <Slides>19</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19</vt:i4>
      </vt:variant>
    </vt:vector>
  </HeadingPairs>
  <TitlesOfParts>
    <vt:vector size="27" baseType="lpstr">
      <vt:lpstr>Calibri</vt:lpstr>
      <vt:lpstr>PlatformNotoSerifSC</vt:lpstr>
      <vt:lpstr>宋体</vt:lpstr>
      <vt:lpstr>等线</vt:lpstr>
      <vt:lpstr>等线 Light</vt:lpstr>
      <vt:lpstr>Arial</vt:lpstr>
      <vt:lpstr>Office 主题​​</vt:lpstr>
      <vt:lpstr>think-cell Slide</vt:lpstr>
      <vt:lpstr>MidTerm Projects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15.0040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MA409 Statistical Data Analysis (SAS) </dc:title>
  <dc:creator>宋 安琪</dc:creator>
  <cp:lastModifiedBy>yanglinyiucd@</cp:lastModifiedBy>
  <cp:revision>869</cp:revision>
  <cp:lastPrinted>2026-01-19T14:01:00Z</cp:lastPrinted>
  <dcterms:created xsi:type="dcterms:W3CDTF">2020-02-13T12:47:00Z</dcterms:created>
  <dcterms:modified xsi:type="dcterms:W3CDTF">2026-04-02T14:21:54Z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22DE9B56348545E0921F5D62C81FB0B3_13</vt:lpwstr>
  </property>
  <property fmtid="{D5CDD505-2E9C-101B-9397-08002B2CF9AE}" pid="3" name="KSOProductBuildVer">
    <vt:lpwstr>2052-12.1.0.25225</vt:lpwstr>
  </property>
</Properties>
</file>