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432" r:id="rId4"/>
    <p:sldId id="433" r:id="rId5"/>
    <p:sldId id="434" r:id="rId6"/>
    <p:sldId id="435" r:id="rId7"/>
    <p:sldId id="436" r:id="rId8"/>
    <p:sldId id="437" r:id="rId9"/>
    <p:sldId id="425" r:id="rId11"/>
    <p:sldId id="426" r:id="rId12"/>
    <p:sldId id="427" r:id="rId13"/>
    <p:sldId id="428" r:id="rId14"/>
    <p:sldId id="429" r:id="rId15"/>
    <p:sldId id="430" r:id="rId16"/>
    <p:sldId id="431" r:id="rId17"/>
    <p:sldId id="283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7D9"/>
    <a:srgbClr val="0064E5"/>
    <a:srgbClr val="DEEB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8" autoAdjust="0"/>
    <p:restoredTop sz="78099"/>
  </p:normalViewPr>
  <p:slideViewPr>
    <p:cSldViewPr snapToGrid="0">
      <p:cViewPr>
        <p:scale>
          <a:sx n="89" d="100"/>
          <a:sy n="89" d="100"/>
        </p:scale>
        <p:origin x="46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BE604-7FA3-4B3A-BABD-E5F4FC6784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1.emf"/><Relationship Id="rId13" Type="http://schemas.openxmlformats.org/officeDocument/2006/relationships/oleObject" Target="../embeddings/oleObject1.bin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" name="think-cell Slide" r:id="rId13" imgW="7772400" imgH="10058400" progId="TCLayout.ActiveDocument.1">
                  <p:embed/>
                </p:oleObj>
              </mc:Choice>
              <mc:Fallback>
                <p:oleObj name="think-cell Slide" r:id="rId13" imgW="7772400" imgH="10058400" progId="TCLayout.ActiveDocument.1">
                  <p:embed/>
                  <p:pic>
                    <p:nvPicPr>
                      <p:cNvPr id="0" name="图片 123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"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0" name="图片 225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C6C00"/>
              </a:clrFrom>
              <a:clrTo>
                <a:srgbClr val="EC6C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6" y="1387477"/>
            <a:ext cx="4014786" cy="401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vert="horz">
            <a:normAutofit fontScale="90000"/>
          </a:bodyPr>
          <a:lstStyle/>
          <a:p>
            <a:b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sk-SK" altLang="zh-CN" sz="4800" dirty="0" smtClean="0">
                <a:latin typeface="Calibri" panose="020F0502020204030204" pitchFamily="34" charset="0"/>
                <a:cs typeface="Calibri" panose="020F0502020204030204" pitchFamily="34" charset="0"/>
              </a:rPr>
              <a:t>STA324</a:t>
            </a:r>
            <a:b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Foundations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Applications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Large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Models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94932"/>
            <a:ext cx="9144000" cy="1655762"/>
          </a:xfrm>
        </p:spPr>
        <p:txBody>
          <a:bodyPr/>
          <a:lstStyle/>
          <a:p>
            <a:r>
              <a:rPr lang="en-US" altLang="zh-C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2025-2026 Spring </a:t>
            </a: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Semester</a:t>
            </a:r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Linyi Yang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207419" y="3743325"/>
            <a:ext cx="7850981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8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/>
              <a:t>Lecture </a:t>
            </a:r>
            <a:r>
              <a:rPr lang="en-US" altLang="zh-CN" sz="1500" dirty="0" smtClean="0"/>
              <a:t>2   </a:t>
            </a:r>
            <a:r>
              <a:rPr lang="en-US" altLang="zh-CN" sz="1500" dirty="0"/>
              <a:t>						  				                 </a:t>
            </a:r>
            <a:r>
              <a:rPr lang="en-US" altLang="zh-CN" sz="1500" dirty="0" smtClean="0"/>
              <a:t>2026/01/19</a:t>
            </a:r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/>
              <a:t>Lecture 1   </a:t>
            </a:r>
            <a:r>
              <a:rPr lang="en-US" altLang="zh-CN" sz="1500" dirty="0"/>
              <a:t>						  				            		</a:t>
            </a:r>
            <a:endParaRPr lang="zh-CN" altLang="en-US" sz="15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595630"/>
            <a:ext cx="10121900" cy="4937760"/>
          </a:xfrm>
          <a:prstGeom prst="rect">
            <a:avLst/>
          </a:prstGeom>
        </p:spPr>
      </p:pic>
      <p:sp>
        <p:nvSpPr>
          <p:cNvPr id="9" name="文本框 4"/>
          <p:cNvSpPr txBox="1"/>
          <p:nvPr/>
        </p:nvSpPr>
        <p:spPr>
          <a:xfrm>
            <a:off x="848995" y="5820410"/>
            <a:ext cx="903732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>
                <a:sym typeface="+mn-ea"/>
              </a:rPr>
              <a:t>https://ai.paratera.com/#/cloud/compute</a:t>
            </a:r>
            <a:endParaRPr lang="zh-CN" altLang="en-US" sz="3200"/>
          </a:p>
          <a:p>
            <a:pPr marL="0" lvl="1"/>
            <a:endParaRPr lang="zh-CN" altLang="en-US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  <a:sym typeface="+mn-ea"/>
              </a:rPr>
              <a:t>     						  	            		</a:t>
            </a:r>
            <a:endParaRPr lang="zh-CN" altLang="en-US" sz="15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" y="525145"/>
            <a:ext cx="10615930" cy="4488180"/>
          </a:xfrm>
          <a:prstGeom prst="rect">
            <a:avLst/>
          </a:prstGeom>
        </p:spPr>
      </p:pic>
      <p:sp>
        <p:nvSpPr>
          <p:cNvPr id="9" name="文本框 4"/>
          <p:cNvSpPr txBox="1"/>
          <p:nvPr/>
        </p:nvSpPr>
        <p:spPr>
          <a:xfrm>
            <a:off x="700405" y="5236845"/>
            <a:ext cx="9037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云服务器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镜像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共享镜像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创建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云服务器</a:t>
            </a:r>
            <a:endParaRPr lang="zh-CN" altLang="en-US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4"/>
          <p:cNvSpPr txBox="1"/>
          <p:nvPr/>
        </p:nvSpPr>
        <p:spPr>
          <a:xfrm>
            <a:off x="886460" y="5717540"/>
            <a:ext cx="86969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(SUSTech-LLM)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423" y="-161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  <a:sym typeface="+mn-ea"/>
              </a:rPr>
              <a:t>     						  	            		</a:t>
            </a:r>
            <a:endParaRPr lang="zh-CN" altLang="en-US" sz="1500" dirty="0"/>
          </a:p>
        </p:txBody>
      </p:sp>
      <p:sp>
        <p:nvSpPr>
          <p:cNvPr id="9" name="文本框 4"/>
          <p:cNvSpPr txBox="1"/>
          <p:nvPr/>
        </p:nvSpPr>
        <p:spPr>
          <a:xfrm>
            <a:off x="-47625" y="5800725"/>
            <a:ext cx="121888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确保所有设置如图所示。剩余参数使用默认设置。无需添加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数据盘。</a:t>
            </a:r>
            <a:endParaRPr lang="zh-CN" altLang="en-US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5" y="123825"/>
            <a:ext cx="11088370" cy="5510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423" y="-161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  <a:sym typeface="+mn-ea"/>
              </a:rPr>
              <a:t>     						  	            		</a:t>
            </a:r>
            <a:endParaRPr lang="zh-CN" altLang="en-US" sz="15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" y="859790"/>
            <a:ext cx="10802620" cy="4552950"/>
          </a:xfrm>
          <a:prstGeom prst="rect">
            <a:avLst/>
          </a:prstGeom>
        </p:spPr>
      </p:pic>
      <p:sp>
        <p:nvSpPr>
          <p:cNvPr id="4" name="文本框 4"/>
          <p:cNvSpPr txBox="1"/>
          <p:nvPr/>
        </p:nvSpPr>
        <p:spPr>
          <a:xfrm>
            <a:off x="-47625" y="5800725"/>
            <a:ext cx="121888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等待创建完毕后，点击登录信息。获取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地址、用户名、密码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等</a:t>
            </a:r>
            <a:endParaRPr lang="zh-CN" altLang="en-US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423" y="-161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  <a:sym typeface="+mn-ea"/>
              </a:rPr>
              <a:t>     						  	            		</a:t>
            </a:r>
            <a:endParaRPr lang="zh-CN" altLang="en-US" sz="1500" dirty="0"/>
          </a:p>
        </p:txBody>
      </p:sp>
      <p:sp>
        <p:nvSpPr>
          <p:cNvPr id="4" name="文本框 4"/>
          <p:cNvSpPr txBox="1"/>
          <p:nvPr/>
        </p:nvSpPr>
        <p:spPr>
          <a:xfrm>
            <a:off x="3175" y="83185"/>
            <a:ext cx="121888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使用你的终端（或者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xshell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等软件）去连接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服务器。</a:t>
            </a:r>
            <a:endParaRPr lang="zh-CN" altLang="en-US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4"/>
          <p:cNvSpPr txBox="1"/>
          <p:nvPr/>
        </p:nvSpPr>
        <p:spPr>
          <a:xfrm>
            <a:off x="76835" y="4850765"/>
            <a:ext cx="121888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ssh &lt;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用户名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&gt;@&lt;IP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地址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yes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密码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zh-CN" altLang="en-US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" y="1040130"/>
            <a:ext cx="9061450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423" y="-161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  <a:sym typeface="+mn-ea"/>
              </a:rPr>
              <a:t>     						  	            		</a:t>
            </a:r>
            <a:endParaRPr lang="zh-CN" altLang="en-US" sz="15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" y="1590675"/>
            <a:ext cx="8115300" cy="1543050"/>
          </a:xfrm>
          <a:prstGeom prst="rect">
            <a:avLst/>
          </a:prstGeom>
        </p:spPr>
      </p:pic>
      <p:sp>
        <p:nvSpPr>
          <p:cNvPr id="7" name="文本框 4"/>
          <p:cNvSpPr txBox="1"/>
          <p:nvPr/>
        </p:nvSpPr>
        <p:spPr>
          <a:xfrm>
            <a:off x="225425" y="4621530"/>
            <a:ext cx="11663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conda activate llm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/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/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进入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环境，此处可以使用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vllm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openrlhf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等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工具</a:t>
            </a:r>
            <a:endParaRPr lang="zh-CN" altLang="en-US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  <a:sym typeface="+mn-ea"/>
              </a:rPr>
              <a:t>     						  	            		</a:t>
            </a:r>
            <a:endParaRPr lang="zh-CN" altLang="en-US" sz="1500" dirty="0"/>
          </a:p>
        </p:txBody>
      </p:sp>
      <p:sp>
        <p:nvSpPr>
          <p:cNvPr id="8" name="文本框 4"/>
          <p:cNvSpPr txBox="1"/>
          <p:nvPr/>
        </p:nvSpPr>
        <p:spPr>
          <a:xfrm>
            <a:off x="2872091" y="1673270"/>
            <a:ext cx="4793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zh-CN" altLang="en-US" sz="2800" b="1" dirty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6"/>
          <p:cNvSpPr txBox="1"/>
          <p:nvPr/>
        </p:nvSpPr>
        <p:spPr>
          <a:xfrm>
            <a:off x="2943526" y="2184068"/>
            <a:ext cx="6524897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2F57D9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E2. Model Inference and Prompt Engineering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Clr>
                <a:srgbClr val="2F57D9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E2.1 Prompt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Clr>
                <a:srgbClr val="2F57D9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E2.2 Decoding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4"/>
          <p:cNvSpPr txBox="1"/>
          <p:nvPr/>
        </p:nvSpPr>
        <p:spPr>
          <a:xfrm>
            <a:off x="700405" y="511175"/>
            <a:ext cx="9037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 of LLMs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直接连接符 2"/>
          <p:cNvCxnSpPr/>
          <p:nvPr/>
        </p:nvCxnSpPr>
        <p:spPr>
          <a:xfrm>
            <a:off x="771526" y="1150144"/>
            <a:ext cx="6576331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</a:rPr>
              <a:t>     						  	            		</a:t>
            </a:r>
            <a:endParaRPr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00405" y="1365420"/>
            <a:ext cx="10565288" cy="250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Full Sentence: [A, B, C, D]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We want model to predict: A-&gt;B, AB-&gt;C, ABC-&gt;D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1. Parallel Forward Pass: Compute all probabilities at once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Masking ensures Pos 1 only sees A, Pos 2 only sees A+B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logits = model(input=[A, B, C]) 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2. Calculate Loss: Compare all predictions against [B, C, D] simultaneously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loss = cross_entropy(logits, target=[B, C, D])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3. Update: One step learns from the whole sequence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loss.backward()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0405" y="2428875"/>
            <a:ext cx="3982085" cy="304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2365375" y="41148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Who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46525" y="41148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27675" y="41148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98650" y="4813300"/>
            <a:ext cx="4933950" cy="330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LLM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1800" y="4210050"/>
            <a:ext cx="14287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Token</a:t>
            </a:r>
            <a:endParaRPr lang="en-US" altLang="zh-CN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1800" y="5441950"/>
            <a:ext cx="14287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Next Token</a:t>
            </a:r>
            <a:endParaRPr lang="en-US" altLang="zh-CN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65375" y="531495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46525" y="531495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527675" y="531495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?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1800" y="6059805"/>
            <a:ext cx="14287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Loss</a:t>
            </a:r>
            <a:endParaRPr lang="en-US" altLang="zh-CN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97430" y="6051550"/>
            <a:ext cx="897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0.6</a:t>
            </a:r>
            <a:endParaRPr lang="en-US" altLang="zh-CN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459730" y="6047105"/>
            <a:ext cx="897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0.1</a:t>
            </a:r>
            <a:endParaRPr lang="en-US" altLang="zh-CN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810635" y="6057900"/>
            <a:ext cx="897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0.4</a:t>
            </a:r>
            <a:endParaRPr lang="en-US" altLang="zh-CN"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585325" y="37973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Who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937875" y="37973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715375" y="44704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Who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585325" y="44704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851775" y="51435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Who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718550" y="51435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585325" y="51435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7264400" y="3886200"/>
            <a:ext cx="0" cy="25908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0928350" y="44704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934700" y="51435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3" name="直接箭头连接符 32"/>
          <p:cNvCxnSpPr>
            <a:stCxn id="23" idx="3"/>
            <a:endCxn id="24" idx="1"/>
          </p:cNvCxnSpPr>
          <p:nvPr/>
        </p:nvCxnSpPr>
        <p:spPr>
          <a:xfrm>
            <a:off x="10347325" y="4044950"/>
            <a:ext cx="590550" cy="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26" idx="3"/>
            <a:endCxn id="31" idx="1"/>
          </p:cNvCxnSpPr>
          <p:nvPr/>
        </p:nvCxnSpPr>
        <p:spPr>
          <a:xfrm>
            <a:off x="10347325" y="4718050"/>
            <a:ext cx="581025" cy="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9" idx="3"/>
            <a:endCxn id="32" idx="1"/>
          </p:cNvCxnSpPr>
          <p:nvPr/>
        </p:nvCxnSpPr>
        <p:spPr>
          <a:xfrm>
            <a:off x="10347325" y="5391150"/>
            <a:ext cx="587375" cy="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683500" y="3677285"/>
            <a:ext cx="4229100" cy="2075815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305925" y="5908040"/>
            <a:ext cx="132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1 Step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4"/>
          <p:cNvSpPr txBox="1"/>
          <p:nvPr/>
        </p:nvSpPr>
        <p:spPr>
          <a:xfrm>
            <a:off x="700405" y="511175"/>
            <a:ext cx="9037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Inference of LLMs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直接连接符 2"/>
          <p:cNvCxnSpPr/>
          <p:nvPr/>
        </p:nvCxnSpPr>
        <p:spPr>
          <a:xfrm>
            <a:off x="771526" y="1150144"/>
            <a:ext cx="6576331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00405" y="1365250"/>
            <a:ext cx="11542395" cy="250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Prompt: [A, B]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history = [A, B]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Loop is mandatory: We are building the bridge as we walk on it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_ in range(max_len):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# 1. Predict based on current history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logits = model(history)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# 2. Pick the next word (e.g., "C") from the last position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next_token = sample(logits[-1]) 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# 3. CRITICAL: The output "C" must be appended to generate "D"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50"/>
              </a:lnSpc>
              <a:buNone/>
            </a:pPr>
            <a:r>
              <a:rPr lang="en-US" altLang="zh-CN" sz="1600" b="0" dirty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history.append(next_token)</a:t>
            </a:r>
            <a:endParaRPr lang="en-US" altLang="zh-CN" sz="1600" b="0" dirty="0">
              <a:solidFill>
                <a:srgbClr val="3B3B3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46505" y="2466975"/>
            <a:ext cx="2947035" cy="2667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365375" y="41148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Who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46525" y="41148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27675" y="41148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09775" y="4826000"/>
            <a:ext cx="1473200" cy="330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LLM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1800" y="4210050"/>
            <a:ext cx="14287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Token</a:t>
            </a:r>
            <a:endParaRPr lang="en-US" altLang="zh-CN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1800" y="5441950"/>
            <a:ext cx="14287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Next Token</a:t>
            </a:r>
            <a:endParaRPr lang="en-US" altLang="zh-CN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65375" y="531495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46525" y="531495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527675" y="531495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?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585325" y="37973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Who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937875" y="37973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715375" y="44704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Who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585325" y="44704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851775" y="51435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Who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718550" y="51435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Are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585325" y="51435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7264400" y="3886200"/>
            <a:ext cx="0" cy="25908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0928350" y="44704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You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934700" y="5143500"/>
            <a:ext cx="762000" cy="495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?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3" name="直接箭头连接符 32"/>
          <p:cNvCxnSpPr>
            <a:stCxn id="23" idx="3"/>
            <a:endCxn id="24" idx="1"/>
          </p:cNvCxnSpPr>
          <p:nvPr/>
        </p:nvCxnSpPr>
        <p:spPr>
          <a:xfrm>
            <a:off x="10347325" y="4044950"/>
            <a:ext cx="590550" cy="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26" idx="3"/>
            <a:endCxn id="31" idx="1"/>
          </p:cNvCxnSpPr>
          <p:nvPr/>
        </p:nvCxnSpPr>
        <p:spPr>
          <a:xfrm>
            <a:off x="10347325" y="4718050"/>
            <a:ext cx="581025" cy="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9" idx="3"/>
            <a:endCxn id="32" idx="1"/>
          </p:cNvCxnSpPr>
          <p:nvPr/>
        </p:nvCxnSpPr>
        <p:spPr>
          <a:xfrm>
            <a:off x="10347325" y="5391150"/>
            <a:ext cx="587375" cy="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590925" y="4826000"/>
            <a:ext cx="1473200" cy="330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LLM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72075" y="4826000"/>
            <a:ext cx="1473200" cy="330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LLM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301365" y="4165600"/>
            <a:ext cx="4248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+</a:t>
            </a:r>
            <a:endParaRPr lang="en-US" altLang="zh-CN"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928870" y="4165600"/>
            <a:ext cx="4248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+</a:t>
            </a:r>
            <a:endParaRPr lang="en-US" altLang="zh-CN"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683500" y="3677285"/>
            <a:ext cx="4229100" cy="659765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9305925" y="5908040"/>
            <a:ext cx="132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>
                <a:sym typeface="+mn-ea"/>
              </a:rPr>
              <a:t>3 Step</a:t>
            </a:r>
            <a:endParaRPr lang="en-US" altLang="zh-CN"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683500" y="4404995"/>
            <a:ext cx="4229100" cy="62357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683500" y="5096510"/>
            <a:ext cx="4229100" cy="62357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</a:rPr>
              <a:t>     						  	            		</a:t>
            </a:r>
            <a:endParaRPr lang="zh-CN" alt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4"/>
          <p:cNvSpPr txBox="1"/>
          <p:nvPr/>
        </p:nvSpPr>
        <p:spPr>
          <a:xfrm>
            <a:off x="700405" y="511175"/>
            <a:ext cx="9037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is Prefill fast but Decode slow?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直接连接符 2"/>
          <p:cNvCxnSpPr/>
          <p:nvPr/>
        </p:nvCxnSpPr>
        <p:spPr>
          <a:xfrm>
            <a:off x="771526" y="1150144"/>
            <a:ext cx="6576331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10210" y="6037580"/>
            <a:ext cx="11542395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buNone/>
            </a:pPr>
            <a:r>
              <a:rPr lang="en-US" altLang="zh-CN" sz="1600" b="1" dirty="0">
                <a:solidFill>
                  <a:srgbClr val="3B3B3B"/>
                </a:solidFill>
                <a:effectLst/>
                <a:ea typeface="+mn-lt"/>
                <a:cs typeface="Courier New" panose="02070309020205020404" pitchFamily="49" charset="0"/>
              </a:rPr>
              <a:t>Training calculates the future in parallel; Inference must experience time sequentially.</a:t>
            </a:r>
            <a:endParaRPr lang="en-US" altLang="zh-CN" sz="1600" b="1" dirty="0">
              <a:solidFill>
                <a:srgbClr val="3B3B3B"/>
              </a:solidFill>
              <a:effectLst/>
              <a:ea typeface="+mn-lt"/>
              <a:cs typeface="Courier New" panose="020703090202050204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2335" y="1515745"/>
            <a:ext cx="10564495" cy="4058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60000"/>
              </a:spcAft>
            </a:pPr>
            <a:r>
              <a:rPr lang="en-US" altLang="zh-CN" sz="1900" b="1">
                <a:latin typeface="Calibri" panose="020F0502020204030204" pitchFamily="34" charset="0"/>
                <a:cs typeface="Calibri" panose="020F0502020204030204" pitchFamily="34" charset="0"/>
              </a:rPr>
              <a:t>1. Training Phase</a:t>
            </a:r>
            <a:endParaRPr lang="en-US" altLang="zh-CN" sz="19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Mechanism:Teacher Forcing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Data Flow:Parallel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. The model receives the full "Ground Truth" at once.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Operation: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 Uses </a:t>
            </a: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Causal Masking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 to calculate loss for </a:t>
            </a:r>
            <a:r>
              <a:rPr lang="en-US" altLang="zh-CN" sz="1600" i="1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 token positions simultaneously in a single forward pass.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Bottleneck:Compute Bound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 (High Arithmetic Intensity).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buFont typeface="Arial" panose="020B0604020202020204"/>
              <a:buChar char="◦"/>
            </a:pPr>
            <a:r>
              <a:rPr lang="en-US" altLang="zh-CN" sz="1600" i="1">
                <a:latin typeface="Calibri" panose="020F0502020204030204" pitchFamily="34" charset="0"/>
                <a:cs typeface="Calibri" panose="020F0502020204030204" pitchFamily="34" charset="0"/>
              </a:rPr>
              <a:t>The GPU cores are fully saturated computing massive matrix multiplications.</a:t>
            </a:r>
            <a:endParaRPr lang="en-US" altLang="zh-CN" sz="1600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buFont typeface="Arial" panose="020B0604020202020204"/>
              <a:buChar char="◦"/>
            </a:pPr>
            <a:endParaRPr lang="en-US" altLang="zh-CN" sz="1600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0">
              <a:spcBef>
                <a:spcPct val="0"/>
              </a:spcBef>
              <a:buFont typeface="Arial" panose="020B0604020202020204"/>
              <a:buNone/>
            </a:pPr>
            <a:endParaRPr lang="en-US" altLang="zh-CN" sz="1600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lang="en-US" altLang="zh-CN" sz="1900" b="1">
                <a:latin typeface="Calibri" panose="020F0502020204030204" pitchFamily="34" charset="0"/>
                <a:cs typeface="Calibri" panose="020F0502020204030204" pitchFamily="34" charset="0"/>
              </a:rPr>
              <a:t>2. Inference Phase</a:t>
            </a:r>
            <a:endParaRPr lang="en-US" altLang="zh-CN" sz="19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Mechanism:Autoregressive Generation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Data Flow:Serial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. The future is unknown and must be created.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Operation:Token-by-Token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. The output of step $t$ ($y_t$) becomes the mandatory input for step $t+1$ ($x_{t+1}$).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Bottleneck:Memory Bound</a:t>
            </a: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 (Low Arithmetic Intensity).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buFont typeface="Arial" panose="020B0604020202020204"/>
              <a:buChar char="◦"/>
            </a:pPr>
            <a:r>
              <a:rPr lang="en-US" altLang="zh-CN" sz="1600" i="1">
                <a:latin typeface="Calibri" panose="020F0502020204030204" pitchFamily="34" charset="0"/>
                <a:cs typeface="Calibri" panose="020F0502020204030204" pitchFamily="34" charset="0"/>
              </a:rPr>
              <a:t>The GPU spends time moving weights from HBM to cores for every single token generated.</a:t>
            </a:r>
            <a:endParaRPr lang="en-US" altLang="zh-CN" sz="160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</a:rPr>
              <a:t>     						  	            		</a:t>
            </a:r>
            <a:endParaRPr lang="zh-CN" alt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4"/>
          <p:cNvSpPr txBox="1"/>
          <p:nvPr/>
        </p:nvSpPr>
        <p:spPr>
          <a:xfrm>
            <a:off x="700405" y="511175"/>
            <a:ext cx="9037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vllm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直接连接符 2"/>
          <p:cNvCxnSpPr/>
          <p:nvPr/>
        </p:nvCxnSpPr>
        <p:spPr>
          <a:xfrm>
            <a:off x="771526" y="1150144"/>
            <a:ext cx="6576331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</a:rPr>
              <a:t>     						  	            		</a:t>
            </a:r>
            <a:endParaRPr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9315" y="2521585"/>
            <a:ext cx="9622790" cy="22453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>
                <a:latin typeface="Calibri" panose="020F0502020204030204" pitchFamily="34" charset="0"/>
                <a:cs typeface="Calibri" panose="020F0502020204030204" pitchFamily="34" charset="0"/>
              </a:rPr>
              <a:t>PagedAttention (KV cache management), continuous batching</a:t>
            </a:r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zh-C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These are among the core selling points behind vLLM’s high performance and efficiency.</a:t>
            </a:r>
            <a:endParaRPr lang="en-US" altLang="zh-C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b="1">
                <a:latin typeface="Calibri" panose="020F0502020204030204" pitchFamily="34" charset="0"/>
                <a:cs typeface="Calibri" panose="020F0502020204030204" pitchFamily="34" charset="0"/>
              </a:rPr>
              <a:t>Automatic Prefix Caching</a:t>
            </a:r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zh-C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Requests that share the same prefix can reuse the KV cache, making it particularly suitable for scenarios such as multiple queries over the same long document or multi-turn conversations with reused dialogue history.</a:t>
            </a:r>
            <a:endParaRPr lang="en-US" altLang="zh-CN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4"/>
          <p:cNvSpPr txBox="1"/>
          <p:nvPr/>
        </p:nvSpPr>
        <p:spPr>
          <a:xfrm>
            <a:off x="700405" y="511175"/>
            <a:ext cx="9037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vllm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直接连接符 2"/>
          <p:cNvCxnSpPr/>
          <p:nvPr/>
        </p:nvCxnSpPr>
        <p:spPr>
          <a:xfrm>
            <a:off x="771526" y="1150144"/>
            <a:ext cx="6576331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902335" y="1515745"/>
            <a:ext cx="10564495" cy="460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60000"/>
              </a:spcAft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Specific:</a:t>
            </a:r>
            <a:endParaRPr lang="en-US" altLang="zh-CN" sz="16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Best-in-class serving throughput performance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Uses PagedAttention to optimize KV cache memory management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Dynamic batching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Optimized CUDA kernels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lang="en-US" altLang="zh-CN" sz="1600" b="1">
                <a:latin typeface="Calibri" panose="020F0502020204030204" pitchFamily="34" charset="0"/>
                <a:cs typeface="Calibri" panose="020F0502020204030204" pitchFamily="34" charset="0"/>
              </a:rPr>
              <a:t>Usability:</a:t>
            </a:r>
            <a:endParaRPr lang="en-US" altLang="zh-CN" sz="16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High-throughput serving with various decoding algorithms, including parallel sampling, beam search, etc.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Tensor parallelism (TP) to support distributed inference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Streaming output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ct val="0"/>
              </a:spcBef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OpenAI-compatible API service</a:t>
            </a:r>
            <a:endParaRPr lang="en-US" altLang="zh-CN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</a:rPr>
              <a:t>     						  	            		</a:t>
            </a:r>
            <a:endParaRPr lang="zh-CN" alt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4"/>
          <p:cNvSpPr txBox="1"/>
          <p:nvPr/>
        </p:nvSpPr>
        <p:spPr>
          <a:xfrm>
            <a:off x="700405" y="511175"/>
            <a:ext cx="9037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vllm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直接连接符 2"/>
          <p:cNvCxnSpPr/>
          <p:nvPr/>
        </p:nvCxnSpPr>
        <p:spPr>
          <a:xfrm>
            <a:off x="771526" y="1150144"/>
            <a:ext cx="6576331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915670" y="3429000"/>
            <a:ext cx="1056449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60000"/>
              </a:spcAft>
            </a:pPr>
            <a:r>
              <a:rPr lang="en-US" altLang="zh-CN" sz="3600">
                <a:latin typeface="Calibri" panose="020F0502020204030204" pitchFamily="34" charset="0"/>
                <a:cs typeface="Calibri" panose="020F0502020204030204" pitchFamily="34" charset="0"/>
              </a:rPr>
              <a:t>Let’s start experimenting.</a:t>
            </a:r>
            <a:endParaRPr lang="en-US" altLang="zh-CN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</a:rPr>
              <a:t>     						  	            		</a:t>
            </a:r>
            <a:endParaRPr lang="zh-CN" alt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C6C00"/>
              </a:clrFrom>
              <a:clrTo>
                <a:srgbClr val="EC6C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6" y="1387477"/>
            <a:ext cx="4014786" cy="401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714844"/>
            <a:ext cx="9144000" cy="1071563"/>
          </a:xfrm>
        </p:spPr>
        <p:txBody>
          <a:bodyPr vert="horz">
            <a:normAutofit fontScale="90000"/>
          </a:bodyPr>
          <a:lstStyle/>
          <a:p>
            <a:b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End of E2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8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E2.2 Decoding</a:t>
            </a:r>
            <a:r>
              <a:rPr lang="en-US" altLang="zh-CN" sz="1500" dirty="0">
                <a:solidFill>
                  <a:schemeClr val="bg1"/>
                </a:solidFill>
                <a:sym typeface="+mn-ea"/>
              </a:rPr>
              <a:t>     </a:t>
            </a:r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3653</Words>
  <Application>WPS 演示</Application>
  <PresentationFormat>Widescreen</PresentationFormat>
  <Paragraphs>237</Paragraphs>
  <Slides>15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Courier New</vt:lpstr>
      <vt:lpstr>Arial</vt:lpstr>
      <vt:lpstr>等线</vt:lpstr>
      <vt:lpstr>微软雅黑</vt:lpstr>
      <vt:lpstr>Arial Unicode MS</vt:lpstr>
      <vt:lpstr>等线 Light</vt:lpstr>
      <vt:lpstr>Office 主题​​</vt:lpstr>
      <vt:lpstr>TCLayout.ActiveDocument.1</vt:lpstr>
      <vt:lpstr>TCLayout.ActiveDocument.1</vt:lpstr>
      <vt:lpstr>TCLayout.ActiveDocument.1</vt:lpstr>
      <vt:lpstr>  STA324 The Foundations and Applications of Large Language Models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End of E2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MA409 Statistical Data Analysis (SAS) </dc:title>
  <dc:creator>宋 安琪</dc:creator>
  <cp:lastModifiedBy>ADA</cp:lastModifiedBy>
  <cp:revision>854</cp:revision>
  <cp:lastPrinted>2026-01-19T14:01:00Z</cp:lastPrinted>
  <dcterms:created xsi:type="dcterms:W3CDTF">2020-02-13T12:47:00Z</dcterms:created>
  <dcterms:modified xsi:type="dcterms:W3CDTF">2026-03-18T11:10:57Z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05099C8DB71F4314B4601CC843F8323D_12</vt:lpwstr>
  </property>
  <property fmtid="{D5CDD505-2E9C-101B-9397-08002B2CF9AE}" pid="3" name="KSOProductBuildVer">
    <vt:lpwstr>2052-12.1.0.25225</vt:lpwstr>
  </property>
</Properties>
</file>