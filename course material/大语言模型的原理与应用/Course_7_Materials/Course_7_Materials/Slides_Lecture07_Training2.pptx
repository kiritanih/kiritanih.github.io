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425" r:id="rId4"/>
    <p:sldId id="426" r:id="rId6"/>
    <p:sldId id="427" r:id="rId7"/>
    <p:sldId id="428" r:id="rId8"/>
    <p:sldId id="429" r:id="rId9"/>
    <p:sldId id="430" r:id="rId10"/>
    <p:sldId id="431" r:id="rId11"/>
    <p:sldId id="432" r:id="rId12"/>
    <p:sldId id="433" r:id="rId13"/>
    <p:sldId id="434" r:id="rId14"/>
    <p:sldId id="435" r:id="rId15"/>
    <p:sldId id="436" r:id="rId16"/>
    <p:sldId id="437" r:id="rId17"/>
    <p:sldId id="438" r:id="rId18"/>
    <p:sldId id="439" r:id="rId19"/>
    <p:sldId id="440" r:id="rId20"/>
    <p:sldId id="441" r:id="rId21"/>
    <p:sldId id="448" r:id="rId22"/>
    <p:sldId id="449" r:id="rId23"/>
    <p:sldId id="452" r:id="rId24"/>
    <p:sldId id="442" r:id="rId25"/>
    <p:sldId id="455" r:id="rId26"/>
    <p:sldId id="453" r:id="rId27"/>
    <p:sldId id="443" r:id="rId28"/>
    <p:sldId id="450" r:id="rId29"/>
    <p:sldId id="451" r:id="rId30"/>
    <p:sldId id="444" r:id="rId31"/>
    <p:sldId id="456" r:id="rId32"/>
    <p:sldId id="462" r:id="rId33"/>
    <p:sldId id="463" r:id="rId34"/>
    <p:sldId id="464" r:id="rId35"/>
    <p:sldId id="465" r:id="rId36"/>
    <p:sldId id="466" r:id="rId37"/>
    <p:sldId id="467" r:id="rId38"/>
    <p:sldId id="468" r:id="rId39"/>
    <p:sldId id="469" r:id="rId40"/>
    <p:sldId id="470" r:id="rId41"/>
    <p:sldId id="471" r:id="rId42"/>
    <p:sldId id="472" r:id="rId43"/>
    <p:sldId id="461" r:id="rId44"/>
    <p:sldId id="476" r:id="rId45"/>
    <p:sldId id="477" r:id="rId46"/>
    <p:sldId id="478" r:id="rId47"/>
    <p:sldId id="473" r:id="rId48"/>
    <p:sldId id="479" r:id="rId49"/>
    <p:sldId id="480" r:id="rId50"/>
    <p:sldId id="481" r:id="rId51"/>
    <p:sldId id="482" r:id="rId52"/>
    <p:sldId id="483" r:id="rId53"/>
    <p:sldId id="474" r:id="rId54"/>
    <p:sldId id="484" r:id="rId55"/>
    <p:sldId id="475" r:id="rId56"/>
    <p:sldId id="485" r:id="rId57"/>
    <p:sldId id="283" r:id="rId58"/>
  </p:sldIdLst>
  <p:sldSz cx="12192000" cy="6858000"/>
  <p:notesSz cx="6858000" cy="9144000"/>
  <p:custDataLst>
    <p:tags r:id="rId6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57D9"/>
    <a:srgbClr val="0064E5"/>
    <a:srgbClr val="DEEBF7"/>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74" autoAdjust="0"/>
    <p:restoredTop sz="78142"/>
  </p:normalViewPr>
  <p:slideViewPr>
    <p:cSldViewPr snapToGrid="0">
      <p:cViewPr>
        <p:scale>
          <a:sx n="107" d="100"/>
          <a:sy n="107" d="100"/>
        </p:scale>
        <p:origin x="720"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2" Type="http://schemas.openxmlformats.org/officeDocument/2006/relationships/tags" Target="tags/tag4.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3.xml"/><Relationship Id="rId59" Type="http://schemas.openxmlformats.org/officeDocument/2006/relationships/presProps" Target="presProps.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2BE604-7FA3-4B3A-BABD-E5F4FC67844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63BE11-001D-4FCF-9809-FCC312B3AD6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25000"/>
              </a:lnSpc>
              <a:spcBef>
                <a:spcPts val="1200"/>
              </a:spcBef>
            </a:pPr>
            <a:r>
              <a:rPr lang="zh-CN" altLang="en-US" sz="1200" dirty="0" smtClean="0">
                <a:latin typeface="微软雅黑" panose="020B0503020204020204" pitchFamily="34" charset="-122"/>
                <a:ea typeface="微软雅黑" panose="020B0503020204020204" pitchFamily="34" charset="-122"/>
              </a:rPr>
              <a:t>除</a:t>
            </a:r>
            <a:r>
              <a:rPr lang="en-US" altLang="zh-CN" sz="1200" dirty="0" err="1" smtClean="0">
                <a:latin typeface="微软雅黑" panose="020B0503020204020204" pitchFamily="34" charset="-122"/>
                <a:ea typeface="微软雅黑" panose="020B0503020204020204" pitchFamily="34" charset="-122"/>
              </a:rPr>
              <a:t>LoRA</a:t>
            </a:r>
            <a:r>
              <a:rPr lang="en-US" altLang="zh-CN" sz="1200" dirty="0" smtClean="0">
                <a:latin typeface="微软雅黑" panose="020B0503020204020204" pitchFamily="34" charset="-122"/>
                <a:ea typeface="微软雅黑" panose="020B0503020204020204" pitchFamily="34" charset="-122"/>
              </a:rPr>
              <a:t> </a:t>
            </a:r>
            <a:r>
              <a:rPr lang="zh-CN" altLang="en-US" sz="1200" dirty="0" smtClean="0">
                <a:latin typeface="微软雅黑" panose="020B0503020204020204" pitchFamily="34" charset="-122"/>
                <a:ea typeface="微软雅黑" panose="020B0503020204020204" pitchFamily="34" charset="-122"/>
              </a:rPr>
              <a:t>外，也有其他高效微调方法，如</a:t>
            </a:r>
            <a:r>
              <a:rPr lang="zh-CN" altLang="en-US" sz="1200" dirty="0" smtClean="0">
                <a:solidFill>
                  <a:srgbClr val="0070C0"/>
                </a:solidFill>
                <a:latin typeface="微软雅黑" panose="020B0503020204020204" pitchFamily="34" charset="-122"/>
                <a:ea typeface="微软雅黑" panose="020B0503020204020204" pitchFamily="34" charset="-122"/>
              </a:rPr>
              <a:t>微调适配器（</a:t>
            </a:r>
            <a:r>
              <a:rPr lang="en-US" altLang="zh-CN" sz="1200" dirty="0" smtClean="0">
                <a:solidFill>
                  <a:srgbClr val="0070C0"/>
                </a:solidFill>
                <a:latin typeface="微软雅黑" panose="020B0503020204020204" pitchFamily="34" charset="-122"/>
                <a:ea typeface="微软雅黑" panose="020B0503020204020204" pitchFamily="34" charset="-122"/>
              </a:rPr>
              <a:t>Adapter</a:t>
            </a:r>
            <a:r>
              <a:rPr lang="zh-CN" altLang="en-US" sz="1200" dirty="0" smtClean="0">
                <a:solidFill>
                  <a:srgbClr val="0070C0"/>
                </a:solidFill>
                <a:latin typeface="微软雅黑" panose="020B0503020204020204" pitchFamily="34" charset="-122"/>
                <a:ea typeface="微软雅黑" panose="020B0503020204020204" pitchFamily="34" charset="-122"/>
              </a:rPr>
              <a:t>）或前缀微调（</a:t>
            </a:r>
            <a:r>
              <a:rPr lang="en-US" altLang="zh-CN" sz="1200" dirty="0" smtClean="0">
                <a:solidFill>
                  <a:srgbClr val="0070C0"/>
                </a:solidFill>
                <a:latin typeface="微软雅黑" panose="020B0503020204020204" pitchFamily="34" charset="-122"/>
                <a:ea typeface="微软雅黑" panose="020B0503020204020204" pitchFamily="34" charset="-122"/>
              </a:rPr>
              <a:t>Prefix Tuning</a:t>
            </a:r>
            <a:r>
              <a:rPr lang="zh-CN" altLang="en-US" sz="1200" dirty="0" smtClean="0">
                <a:solidFill>
                  <a:srgbClr val="0070C0"/>
                </a:solidFill>
                <a:latin typeface="微软雅黑" panose="020B0503020204020204" pitchFamily="34" charset="-122"/>
                <a:ea typeface="微软雅黑" panose="020B0503020204020204" pitchFamily="34" charset="-122"/>
              </a:rPr>
              <a:t>）</a:t>
            </a:r>
            <a:r>
              <a:rPr lang="zh-CN" altLang="en-US" sz="1200" dirty="0" smtClean="0">
                <a:latin typeface="微软雅黑" panose="020B0503020204020204" pitchFamily="34" charset="-122"/>
                <a:ea typeface="微软雅黑" panose="020B0503020204020204" pitchFamily="34" charset="-122"/>
              </a:rPr>
              <a:t>。微调适配器分别对</a:t>
            </a:r>
            <a:r>
              <a:rPr lang="en-US" altLang="zh-CN" sz="1200" dirty="0" smtClean="0">
                <a:latin typeface="微软雅黑" panose="020B0503020204020204" pitchFamily="34" charset="-122"/>
                <a:ea typeface="微软雅黑" panose="020B0503020204020204" pitchFamily="34" charset="-122"/>
              </a:rPr>
              <a:t>Transformer </a:t>
            </a:r>
            <a:r>
              <a:rPr lang="zh-CN" altLang="en-US" sz="1200" dirty="0" smtClean="0">
                <a:latin typeface="微软雅黑" panose="020B0503020204020204" pitchFamily="34" charset="-122"/>
                <a:ea typeface="微软雅黑" panose="020B0503020204020204" pitchFamily="34" charset="-122"/>
              </a:rPr>
              <a:t>层中的自注意力模块与多层感知（</a:t>
            </a:r>
            <a:r>
              <a:rPr lang="en-US" altLang="zh-CN" sz="1200" dirty="0" smtClean="0">
                <a:latin typeface="微软雅黑" panose="020B0503020204020204" pitchFamily="34" charset="-122"/>
                <a:ea typeface="微软雅黑" panose="020B0503020204020204" pitchFamily="34" charset="-122"/>
              </a:rPr>
              <a:t>MLP</a:t>
            </a:r>
            <a:r>
              <a:rPr lang="zh-CN" altLang="en-US" sz="1200" dirty="0" smtClean="0">
                <a:latin typeface="微软雅黑" panose="020B0503020204020204" pitchFamily="34" charset="-122"/>
                <a:ea typeface="微软雅黑" panose="020B0503020204020204" pitchFamily="34" charset="-122"/>
              </a:rPr>
              <a:t>）模块，以及</a:t>
            </a:r>
            <a:r>
              <a:rPr lang="en-US" altLang="zh-CN" sz="1200" dirty="0" smtClean="0">
                <a:latin typeface="微软雅黑" panose="020B0503020204020204" pitchFamily="34" charset="-122"/>
                <a:ea typeface="微软雅黑" panose="020B0503020204020204" pitchFamily="34" charset="-122"/>
              </a:rPr>
              <a:t>MLP </a:t>
            </a:r>
            <a:r>
              <a:rPr lang="zh-CN" altLang="en-US" sz="1200" dirty="0" smtClean="0">
                <a:latin typeface="微软雅黑" panose="020B0503020204020204" pitchFamily="34" charset="-122"/>
                <a:ea typeface="微软雅黑" panose="020B0503020204020204" pitchFamily="34" charset="-122"/>
              </a:rPr>
              <a:t>模块与残差连接之间添加适配器层（</a:t>
            </a:r>
            <a:r>
              <a:rPr lang="en-US" altLang="zh-CN" sz="1200" dirty="0" smtClean="0">
                <a:latin typeface="微软雅黑" panose="020B0503020204020204" pitchFamily="34" charset="-122"/>
                <a:ea typeface="微软雅黑" panose="020B0503020204020204" pitchFamily="34" charset="-122"/>
              </a:rPr>
              <a:t>Adapter layer</a:t>
            </a:r>
            <a:r>
              <a:rPr lang="zh-CN" altLang="en-US" sz="1200" dirty="0" smtClean="0">
                <a:latin typeface="微软雅黑" panose="020B0503020204020204" pitchFamily="34" charset="-122"/>
                <a:ea typeface="微软雅黑" panose="020B0503020204020204" pitchFamily="34" charset="-122"/>
              </a:rPr>
              <a:t>）作为可训练参数</a:t>
            </a:r>
            <a:r>
              <a:rPr lang="en-US" altLang="zh-CN" sz="1200" dirty="0" smtClean="0">
                <a:latin typeface="微软雅黑" panose="020B0503020204020204" pitchFamily="34" charset="-122"/>
                <a:ea typeface="微软雅黑" panose="020B0503020204020204" pitchFamily="34" charset="-122"/>
              </a:rPr>
              <a:t>[150]</a:t>
            </a:r>
            <a:r>
              <a:rPr lang="zh-CN" altLang="en-US" sz="1200" dirty="0" smtClean="0">
                <a:latin typeface="微软雅黑" panose="020B0503020204020204" pitchFamily="34" charset="-122"/>
                <a:ea typeface="微软雅黑" panose="020B0503020204020204" pitchFamily="34" charset="-122"/>
              </a:rPr>
              <a:t>，</a:t>
            </a:r>
            <a:r>
              <a:rPr lang="zh-CN" altLang="en-US" sz="1200" dirty="0" smtClean="0">
                <a:solidFill>
                  <a:srgbClr val="0070C0"/>
                </a:solidFill>
                <a:latin typeface="微软雅黑" panose="020B0503020204020204" pitchFamily="34" charset="-122"/>
                <a:ea typeface="微软雅黑" panose="020B0503020204020204" pitchFamily="34" charset="-122"/>
              </a:rPr>
              <a:t>该方法及其变体会增加网络的深度</a:t>
            </a:r>
            <a:r>
              <a:rPr lang="zh-CN" altLang="en-US" sz="1200" dirty="0" smtClean="0">
                <a:latin typeface="微软雅黑" panose="020B0503020204020204" pitchFamily="34" charset="-122"/>
                <a:ea typeface="微软雅黑" panose="020B0503020204020204" pitchFamily="34" charset="-122"/>
              </a:rPr>
              <a:t>，</a:t>
            </a:r>
            <a:r>
              <a:rPr lang="zh-CN" altLang="en-US" sz="1200" dirty="0" smtClean="0">
                <a:solidFill>
                  <a:srgbClr val="0070C0"/>
                </a:solidFill>
                <a:latin typeface="微软雅黑" panose="020B0503020204020204" pitchFamily="34" charset="-122"/>
                <a:ea typeface="微软雅黑" panose="020B0503020204020204" pitchFamily="34" charset="-122"/>
              </a:rPr>
              <a:t>从而在模型推理时带来额外的时间开销。</a:t>
            </a:r>
            <a:endParaRPr lang="en-US" altLang="zh-CN" sz="1200" dirty="0" smtClean="0">
              <a:solidFill>
                <a:srgbClr val="0070C0"/>
              </a:solidFill>
              <a:latin typeface="微软雅黑" panose="020B0503020204020204" pitchFamily="34" charset="-122"/>
              <a:ea typeface="微软雅黑" panose="020B0503020204020204" pitchFamily="34" charset="-122"/>
            </a:endParaRPr>
          </a:p>
          <a:p>
            <a:endParaRPr lang="en-US" altLang="zh-CN"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为什么微软的科学家能想到 </a:t>
            </a:r>
            <a:r>
              <a:rPr lang="en-US" altLang="zh-CN" sz="1200" kern="1200" dirty="0" err="1" smtClean="0">
                <a:solidFill>
                  <a:schemeClr val="tx1"/>
                </a:solidFill>
                <a:effectLst/>
                <a:latin typeface="+mn-lt"/>
                <a:ea typeface="+mn-ea"/>
                <a:cs typeface="+mn-cs"/>
              </a:rPr>
              <a:t>LoRA</a:t>
            </a:r>
            <a:r>
              <a:rPr lang="zh-CN" altLang="en-US" sz="1200" kern="1200" dirty="0" smtClean="0">
                <a:solidFill>
                  <a:schemeClr val="tx1"/>
                </a:solidFill>
                <a:effectLst/>
                <a:latin typeface="+mn-lt"/>
                <a:ea typeface="+mn-ea"/>
                <a:cs typeface="+mn-cs"/>
              </a:rPr>
              <a:t>？这源于他们对神经网络的一个极其敏锐的直觉：</a:t>
            </a:r>
            <a:r>
              <a:rPr lang="zh-CN" altLang="en-US" sz="1200" b="1" kern="1200" dirty="0" smtClean="0">
                <a:solidFill>
                  <a:schemeClr val="tx1"/>
                </a:solidFill>
                <a:effectLst/>
                <a:latin typeface="+mn-lt"/>
                <a:ea typeface="+mn-ea"/>
                <a:cs typeface="+mn-cs"/>
              </a:rPr>
              <a:t>“低内在秩（</a:t>
            </a:r>
            <a:r>
              <a:rPr lang="en-US" altLang="zh-CN" sz="1200" b="1" kern="1200" dirty="0" smtClean="0">
                <a:solidFill>
                  <a:schemeClr val="tx1"/>
                </a:solidFill>
                <a:effectLst/>
                <a:latin typeface="+mn-lt"/>
                <a:ea typeface="+mn-ea"/>
                <a:cs typeface="+mn-cs"/>
              </a:rPr>
              <a:t>low intrinsic rank</a:t>
            </a:r>
            <a:r>
              <a:rPr lang="zh-CN" altLang="en-US" sz="1200" b="1"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大模型的参数量动辄千亿，看似极其复杂，但当它在学习某一个特定的下游小任务（比如写周报、模仿某个角色的语气）时，真正需要发生改变的参数空间维度，其实非常低</a:t>
            </a:r>
            <a:r>
              <a:rPr lang="zh-CN" altLang="en-US" sz="1200" kern="1200" dirty="0" smtClean="0">
                <a:solidFill>
                  <a:schemeClr val="tx1"/>
                </a:solidFill>
                <a:effectLst/>
                <a:latin typeface="+mn-lt"/>
                <a:ea typeface="+mn-ea"/>
                <a:cs typeface="+mn-cs"/>
              </a:rPr>
              <a:t>。不</a:t>
            </a:r>
            <a:r>
              <a:rPr lang="zh-CN" altLang="en-US" sz="1200" kern="1200" dirty="0" smtClean="0">
                <a:solidFill>
                  <a:schemeClr val="tx1"/>
                </a:solidFill>
                <a:effectLst/>
                <a:latin typeface="+mn-lt"/>
                <a:ea typeface="+mn-ea"/>
                <a:cs typeface="+mn-cs"/>
              </a:rPr>
              <a:t>需要重塑整个大脑，只需动用极少部分“脑细胞”就够了。</a:t>
            </a:r>
            <a:endParaRPr lang="zh-CN" altLang="en-US" sz="1200" kern="1200" dirty="0" smtClean="0">
              <a:solidFill>
                <a:schemeClr val="tx1"/>
              </a:solidFill>
              <a:effectLst/>
              <a:latin typeface="+mn-lt"/>
              <a:ea typeface="+mn-ea"/>
              <a:cs typeface="+mn-cs"/>
            </a:endParaRPr>
          </a:p>
          <a:p>
            <a:endParaRPr lang="en-US" altLang="zh-CN" sz="1200" b="1" kern="1200" dirty="0" smtClean="0">
              <a:solidFill>
                <a:schemeClr val="tx1"/>
              </a:solidFill>
              <a:effectLst/>
              <a:latin typeface="+mn-lt"/>
              <a:ea typeface="+mn-ea"/>
              <a:cs typeface="+mn-cs"/>
            </a:endParaRPr>
          </a:p>
          <a:p>
            <a:r>
              <a:rPr lang="zh-CN" altLang="en-US" sz="1200" b="1" kern="1200" dirty="0" smtClean="0">
                <a:solidFill>
                  <a:schemeClr val="tx1"/>
                </a:solidFill>
                <a:effectLst/>
                <a:latin typeface="+mn-lt"/>
                <a:ea typeface="+mn-ea"/>
                <a:cs typeface="+mn-cs"/>
              </a:rPr>
              <a:t>第二步：精妙的旁路设计（看右侧对比图）</a:t>
            </a:r>
            <a:endParaRPr lang="zh-CN" altLang="en-US"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既然不需要动全身，工程上该怎么实现呢？</a:t>
            </a:r>
            <a:endParaRPr lang="zh-CN" altLang="en-US" sz="1200" kern="1200" dirty="0" smtClean="0">
              <a:solidFill>
                <a:schemeClr val="tx1"/>
              </a:solidFill>
              <a:effectLst/>
              <a:latin typeface="+mn-lt"/>
              <a:ea typeface="+mn-ea"/>
              <a:cs typeface="+mn-cs"/>
            </a:endParaRPr>
          </a:p>
          <a:p>
            <a:r>
              <a:rPr lang="zh-CN" altLang="en-US" sz="1200" b="1" kern="1200" dirty="0" smtClean="0">
                <a:solidFill>
                  <a:schemeClr val="tx1"/>
                </a:solidFill>
                <a:effectLst/>
                <a:latin typeface="+mn-lt"/>
                <a:ea typeface="+mn-ea"/>
                <a:cs typeface="+mn-cs"/>
              </a:rPr>
              <a:t>（</a:t>
            </a:r>
            <a:r>
              <a:rPr lang="en-US" altLang="zh-CN" sz="1200" b="1" kern="1200" dirty="0" smtClean="0">
                <a:solidFill>
                  <a:schemeClr val="tx1"/>
                </a:solidFill>
                <a:effectLst/>
                <a:latin typeface="+mn-lt"/>
                <a:ea typeface="+mn-ea"/>
                <a:cs typeface="+mn-cs"/>
              </a:rPr>
              <a:t>a</a:t>
            </a:r>
            <a:r>
              <a:rPr lang="zh-CN" altLang="en-US" sz="1200" b="1" kern="1200" dirty="0" smtClean="0">
                <a:solidFill>
                  <a:schemeClr val="tx1"/>
                </a:solidFill>
                <a:effectLst/>
                <a:latin typeface="+mn-lt"/>
                <a:ea typeface="+mn-ea"/>
                <a:cs typeface="+mn-cs"/>
              </a:rPr>
              <a:t>）全量微调：</a:t>
            </a:r>
            <a:r>
              <a:rPr lang="zh-CN" altLang="en-US" sz="1200" kern="1200" dirty="0" smtClean="0">
                <a:solidFill>
                  <a:schemeClr val="tx1"/>
                </a:solidFill>
                <a:effectLst/>
                <a:latin typeface="+mn-lt"/>
                <a:ea typeface="+mn-ea"/>
                <a:cs typeface="+mn-cs"/>
              </a:rPr>
              <a:t> 以前我们微调，是把输入 </a:t>
            </a:r>
            <a:r>
              <a:rPr lang="en-US" altLang="zh-CN" sz="1200" kern="1200" dirty="0" smtClean="0">
                <a:solidFill>
                  <a:schemeClr val="tx1"/>
                </a:solidFill>
                <a:effectLst/>
                <a:latin typeface="+mn-lt"/>
                <a:ea typeface="+mn-ea"/>
                <a:cs typeface="+mn-cs"/>
              </a:rPr>
              <a:t>x </a:t>
            </a:r>
            <a:r>
              <a:rPr lang="zh-CN" altLang="en-US" sz="1200" kern="1200" dirty="0" smtClean="0">
                <a:solidFill>
                  <a:schemeClr val="tx1"/>
                </a:solidFill>
                <a:effectLst/>
                <a:latin typeface="+mn-lt"/>
                <a:ea typeface="+mn-ea"/>
                <a:cs typeface="+mn-cs"/>
              </a:rPr>
              <a:t>乘上原来的大矩阵 </a:t>
            </a:r>
            <a:r>
              <a:rPr lang="en-US" altLang="zh-CN" sz="1200" kern="1200" dirty="0" smtClean="0">
                <a:solidFill>
                  <a:schemeClr val="tx1"/>
                </a:solidFill>
                <a:effectLst/>
                <a:latin typeface="+mn-lt"/>
                <a:ea typeface="+mn-ea"/>
                <a:cs typeface="+mn-cs"/>
              </a:rPr>
              <a:t>W</a:t>
            </a:r>
            <a:r>
              <a:rPr lang="zh-CN" altLang="en-US" sz="1200" kern="1200" dirty="0" smtClean="0">
                <a:solidFill>
                  <a:schemeClr val="tx1"/>
                </a:solidFill>
                <a:effectLst/>
                <a:latin typeface="+mn-lt"/>
                <a:ea typeface="+mn-ea"/>
                <a:cs typeface="+mn-cs"/>
              </a:rPr>
              <a:t>，然后直接去修改整个大矩阵。这个 </a:t>
            </a:r>
            <a:r>
              <a:rPr lang="en-US" altLang="zh-CN" sz="1200" kern="1200" dirty="0" smtClean="0">
                <a:solidFill>
                  <a:schemeClr val="tx1"/>
                </a:solidFill>
                <a:effectLst/>
                <a:latin typeface="+mn-lt"/>
                <a:ea typeface="+mn-ea"/>
                <a:cs typeface="+mn-cs"/>
              </a:rPr>
              <a:t>W </a:t>
            </a:r>
            <a:r>
              <a:rPr lang="zh-CN" altLang="en-US" sz="1200" kern="1200" dirty="0" smtClean="0">
                <a:solidFill>
                  <a:schemeClr val="tx1"/>
                </a:solidFill>
                <a:effectLst/>
                <a:latin typeface="+mn-lt"/>
                <a:ea typeface="+mn-ea"/>
                <a:cs typeface="+mn-cs"/>
              </a:rPr>
              <a:t>包含了成百上千亿的参数，全量更新不仅极慢，而且极度消耗显卡内存。</a:t>
            </a:r>
            <a:endParaRPr lang="zh-CN" altLang="en-US" sz="1200" kern="1200" dirty="0" smtClean="0">
              <a:solidFill>
                <a:schemeClr val="tx1"/>
              </a:solidFill>
              <a:effectLst/>
              <a:latin typeface="+mn-lt"/>
              <a:ea typeface="+mn-ea"/>
              <a:cs typeface="+mn-cs"/>
            </a:endParaRPr>
          </a:p>
          <a:p>
            <a:r>
              <a:rPr lang="zh-CN" altLang="en-US" sz="1200" b="1" kern="1200" dirty="0" smtClean="0">
                <a:solidFill>
                  <a:schemeClr val="tx1"/>
                </a:solidFill>
                <a:effectLst/>
                <a:latin typeface="+mn-lt"/>
                <a:ea typeface="+mn-ea"/>
                <a:cs typeface="+mn-cs"/>
              </a:rPr>
              <a:t>（</a:t>
            </a:r>
            <a:r>
              <a:rPr lang="en-US" altLang="zh-CN" sz="1200" b="1" kern="1200" dirty="0" smtClean="0">
                <a:solidFill>
                  <a:schemeClr val="tx1"/>
                </a:solidFill>
                <a:effectLst/>
                <a:latin typeface="+mn-lt"/>
                <a:ea typeface="+mn-ea"/>
                <a:cs typeface="+mn-cs"/>
              </a:rPr>
              <a:t>b</a:t>
            </a:r>
            <a:r>
              <a:rPr lang="zh-CN" altLang="en-US" sz="1200" b="1" kern="1200" dirty="0" smtClean="0">
                <a:solidFill>
                  <a:schemeClr val="tx1"/>
                </a:solidFill>
                <a:effectLst/>
                <a:latin typeface="+mn-lt"/>
                <a:ea typeface="+mn-ea"/>
                <a:cs typeface="+mn-cs"/>
              </a:rPr>
              <a:t>）</a:t>
            </a:r>
            <a:r>
              <a:rPr lang="en-US" altLang="zh-CN" sz="1200" b="1" kern="1200" dirty="0" err="1" smtClean="0">
                <a:solidFill>
                  <a:schemeClr val="tx1"/>
                </a:solidFill>
                <a:effectLst/>
                <a:latin typeface="+mn-lt"/>
                <a:ea typeface="+mn-ea"/>
                <a:cs typeface="+mn-cs"/>
              </a:rPr>
              <a:t>LoRA</a:t>
            </a:r>
            <a:r>
              <a:rPr lang="en-US" altLang="zh-CN" sz="1200" b="1" kern="1200" dirty="0" smtClean="0">
                <a:solidFill>
                  <a:schemeClr val="tx1"/>
                </a:solidFill>
                <a:effectLst/>
                <a:latin typeface="+mn-lt"/>
                <a:ea typeface="+mn-ea"/>
                <a:cs typeface="+mn-cs"/>
              </a:rPr>
              <a:t> </a:t>
            </a:r>
            <a:r>
              <a:rPr lang="zh-CN" altLang="en-US" sz="1200" b="1" kern="1200" dirty="0" smtClean="0">
                <a:solidFill>
                  <a:schemeClr val="tx1"/>
                </a:solidFill>
                <a:effectLst/>
                <a:latin typeface="+mn-lt"/>
                <a:ea typeface="+mn-ea"/>
                <a:cs typeface="+mn-cs"/>
              </a:rPr>
              <a:t>微调：</a:t>
            </a:r>
            <a:r>
              <a:rPr lang="zh-CN" altLang="en-US" sz="1200" kern="1200" dirty="0" smtClean="0">
                <a:solidFill>
                  <a:schemeClr val="tx1"/>
                </a:solidFill>
                <a:effectLst/>
                <a:latin typeface="+mn-lt"/>
                <a:ea typeface="+mn-ea"/>
                <a:cs typeface="+mn-cs"/>
              </a:rPr>
              <a:t> 魔法就在这里。我们直接把原来庞大的蓝色砖块（</a:t>
            </a:r>
            <a:r>
              <a:rPr lang="en-US" altLang="zh-CN" sz="1200" kern="1200" dirty="0" err="1" smtClean="0">
                <a:solidFill>
                  <a:schemeClr val="tx1"/>
                </a:solidFill>
                <a:effectLst/>
                <a:latin typeface="+mn-lt"/>
                <a:ea typeface="+mn-ea"/>
                <a:cs typeface="+mn-cs"/>
              </a:rPr>
              <a:t>Pretrained</a:t>
            </a:r>
            <a:r>
              <a:rPr lang="en-US" altLang="zh-CN" sz="1200" kern="1200" dirty="0" smtClean="0">
                <a:solidFill>
                  <a:schemeClr val="tx1"/>
                </a:solidFill>
                <a:effectLst/>
                <a:latin typeface="+mn-lt"/>
                <a:ea typeface="+mn-ea"/>
                <a:cs typeface="+mn-cs"/>
              </a:rPr>
              <a:t> Matrix W</a:t>
            </a:r>
            <a:r>
              <a:rPr lang="zh-CN" altLang="en-US" sz="1200" kern="1200" dirty="0" smtClean="0">
                <a:solidFill>
                  <a:schemeClr val="tx1"/>
                </a:solidFill>
                <a:effectLst/>
                <a:latin typeface="+mn-lt"/>
                <a:ea typeface="+mn-ea"/>
                <a:cs typeface="+mn-cs"/>
              </a:rPr>
              <a:t>）**“上锁冻结”**掉，不允许它更新了。然后，我们在它旁边架设一条“旁路（</a:t>
            </a:r>
            <a:r>
              <a:rPr lang="en-US" altLang="zh-CN" sz="1200" kern="1200" dirty="0" smtClean="0">
                <a:solidFill>
                  <a:schemeClr val="tx1"/>
                </a:solidFill>
                <a:effectLst/>
                <a:latin typeface="+mn-lt"/>
                <a:ea typeface="+mn-ea"/>
                <a:cs typeface="+mn-cs"/>
              </a:rPr>
              <a:t>Bypass</a:t>
            </a:r>
            <a:r>
              <a:rPr lang="zh-CN" altLang="en-US" sz="1200" kern="1200" dirty="0" smtClean="0">
                <a:solidFill>
                  <a:schemeClr val="tx1"/>
                </a:solidFill>
                <a:effectLst/>
                <a:latin typeface="+mn-lt"/>
                <a:ea typeface="+mn-ea"/>
                <a:cs typeface="+mn-cs"/>
              </a:rPr>
              <a:t>）”，用两个极其袖珍的矩阵 </a:t>
            </a:r>
            <a:r>
              <a:rPr lang="en-US" altLang="zh-CN" sz="1200" kern="1200" dirty="0" smtClean="0">
                <a:solidFill>
                  <a:schemeClr val="tx1"/>
                </a:solidFill>
                <a:effectLst/>
                <a:latin typeface="+mn-lt"/>
                <a:ea typeface="+mn-ea"/>
                <a:cs typeface="+mn-cs"/>
              </a:rPr>
              <a:t>A </a:t>
            </a:r>
            <a:r>
              <a:rPr lang="zh-CN" altLang="en-US" sz="1200" kern="1200" dirty="0" smtClean="0">
                <a:solidFill>
                  <a:schemeClr val="tx1"/>
                </a:solidFill>
                <a:effectLst/>
                <a:latin typeface="+mn-lt"/>
                <a:ea typeface="+mn-ea"/>
                <a:cs typeface="+mn-cs"/>
              </a:rPr>
              <a:t>和 </a:t>
            </a:r>
            <a:r>
              <a:rPr lang="en-US" altLang="zh-CN" sz="1200" kern="1200" dirty="0" smtClean="0">
                <a:solidFill>
                  <a:schemeClr val="tx1"/>
                </a:solidFill>
                <a:effectLst/>
                <a:latin typeface="+mn-lt"/>
                <a:ea typeface="+mn-ea"/>
                <a:cs typeface="+mn-cs"/>
              </a:rPr>
              <a:t>B </a:t>
            </a:r>
            <a:r>
              <a:rPr lang="zh-CN" altLang="en-US" sz="1200" kern="1200" dirty="0" smtClean="0">
                <a:solidFill>
                  <a:schemeClr val="tx1"/>
                </a:solidFill>
                <a:effectLst/>
                <a:latin typeface="+mn-lt"/>
                <a:ea typeface="+mn-ea"/>
                <a:cs typeface="+mn-cs"/>
              </a:rPr>
              <a:t>来模拟原本那庞大的更新量。</a:t>
            </a:r>
            <a:endParaRPr lang="en-US" altLang="zh-CN"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下一页有一个例子来比较。</a:t>
            </a:r>
            <a:endParaRPr lang="en-US" altLang="zh-CN" sz="1200" kern="1200" dirty="0" smtClean="0">
              <a:solidFill>
                <a:schemeClr val="tx1"/>
              </a:solidFill>
              <a:effectLst/>
              <a:latin typeface="+mn-lt"/>
              <a:ea typeface="+mn-ea"/>
              <a:cs typeface="+mn-cs"/>
            </a:endParaRPr>
          </a:p>
          <a:p>
            <a:endParaRPr lang="zh-CN" altLang="en-US" sz="1200" kern="1200" dirty="0" smtClean="0">
              <a:solidFill>
                <a:schemeClr val="tx1"/>
              </a:solidFill>
              <a:effectLst/>
              <a:latin typeface="+mn-lt"/>
              <a:ea typeface="+mn-ea"/>
              <a:cs typeface="+mn-cs"/>
            </a:endParaRPr>
          </a:p>
          <a:p>
            <a:r>
              <a:rPr lang="zh-CN" altLang="en-US" sz="1200" b="1" kern="1200" dirty="0" smtClean="0">
                <a:solidFill>
                  <a:schemeClr val="tx1"/>
                </a:solidFill>
                <a:effectLst/>
                <a:latin typeface="+mn-lt"/>
                <a:ea typeface="+mn-ea"/>
                <a:cs typeface="+mn-cs"/>
              </a:rPr>
              <a:t>第三步：</a:t>
            </a:r>
            <a:r>
              <a:rPr lang="zh-CN" altLang="en-US" sz="1200" kern="1200" dirty="0" smtClean="0">
                <a:solidFill>
                  <a:schemeClr val="tx1"/>
                </a:solidFill>
                <a:effectLst/>
                <a:latin typeface="+mn-lt"/>
                <a:ea typeface="+mn-ea"/>
                <a:cs typeface="+mn-cs"/>
              </a:rPr>
              <a:t>大家看底部的核心公式：</a:t>
            </a:r>
            <a:r>
              <a:rPr lang="en-US" altLang="zh-CN" sz="1200" kern="1200" dirty="0" smtClean="0">
                <a:solidFill>
                  <a:schemeClr val="tx1"/>
                </a:solidFill>
                <a:effectLst/>
                <a:latin typeface="+mn-lt"/>
                <a:ea typeface="+mn-ea"/>
                <a:cs typeface="+mn-cs"/>
              </a:rPr>
              <a:t>h = </a:t>
            </a:r>
            <a:r>
              <a:rPr lang="en-US" altLang="zh-CN" sz="1200" kern="1200" dirty="0" err="1" smtClean="0">
                <a:solidFill>
                  <a:schemeClr val="tx1"/>
                </a:solidFill>
                <a:effectLst/>
                <a:latin typeface="+mn-lt"/>
                <a:ea typeface="+mn-ea"/>
                <a:cs typeface="+mn-cs"/>
              </a:rPr>
              <a:t>Wx</a:t>
            </a:r>
            <a:r>
              <a:rPr lang="en-US" altLang="zh-CN" sz="1200" kern="1200" dirty="0" smtClean="0">
                <a:solidFill>
                  <a:schemeClr val="tx1"/>
                </a:solidFill>
                <a:effectLst/>
                <a:latin typeface="+mn-lt"/>
                <a:ea typeface="+mn-ea"/>
                <a:cs typeface="+mn-cs"/>
              </a:rPr>
              <a:t> + </a:t>
            </a:r>
            <a:r>
              <a:rPr lang="en-US" altLang="zh-CN" sz="1200" kern="1200" dirty="0" err="1" smtClean="0">
                <a:solidFill>
                  <a:schemeClr val="tx1"/>
                </a:solidFill>
                <a:effectLst/>
                <a:latin typeface="+mn-lt"/>
                <a:ea typeface="+mn-ea"/>
                <a:cs typeface="+mn-cs"/>
              </a:rPr>
              <a:t>BAx</a:t>
            </a:r>
            <a:r>
              <a:rPr lang="zh-CN" altLang="en-US" sz="1200"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原本，我们需要计算并保存一个和原本模型一样庞大的更新矩阵 </a:t>
            </a:r>
            <a:r>
              <a:rPr lang="en-US" altLang="zh-CN" sz="1200" kern="1200" dirty="0" smtClean="0">
                <a:solidFill>
                  <a:schemeClr val="tx1"/>
                </a:solidFill>
                <a:effectLst/>
                <a:latin typeface="+mn-lt"/>
                <a:ea typeface="+mn-ea"/>
                <a:cs typeface="+mn-cs"/>
              </a:rPr>
              <a:t>\Delta W</a:t>
            </a:r>
            <a:r>
              <a:rPr lang="zh-CN" altLang="en-US" sz="1200" kern="1200" dirty="0" smtClean="0">
                <a:solidFill>
                  <a:schemeClr val="tx1"/>
                </a:solidFill>
                <a:effectLst/>
                <a:latin typeface="+mn-lt"/>
                <a:ea typeface="+mn-ea"/>
                <a:cs typeface="+mn-cs"/>
              </a:rPr>
              <a:t>（维度是 </a:t>
            </a:r>
            <a:r>
              <a:rPr lang="en-US" altLang="zh-CN" sz="1200" kern="1200" dirty="0" smtClean="0">
                <a:solidFill>
                  <a:schemeClr val="tx1"/>
                </a:solidFill>
                <a:effectLst/>
                <a:latin typeface="+mn-lt"/>
                <a:ea typeface="+mn-ea"/>
                <a:cs typeface="+mn-cs"/>
              </a:rPr>
              <a:t>m \times n</a:t>
            </a:r>
            <a:r>
              <a:rPr lang="zh-CN" altLang="en-US" sz="1200"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但在 </a:t>
            </a:r>
            <a:r>
              <a:rPr lang="en-US" altLang="zh-CN" sz="1200" kern="1200" dirty="0" err="1" smtClean="0">
                <a:solidFill>
                  <a:schemeClr val="tx1"/>
                </a:solidFill>
                <a:effectLst/>
                <a:latin typeface="+mn-lt"/>
                <a:ea typeface="+mn-ea"/>
                <a:cs typeface="+mn-cs"/>
              </a:rPr>
              <a:t>LoRA</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中，我们把 </a:t>
            </a:r>
            <a:r>
              <a:rPr lang="en-US" altLang="zh-CN" sz="1200" kern="1200" dirty="0" smtClean="0">
                <a:solidFill>
                  <a:schemeClr val="tx1"/>
                </a:solidFill>
                <a:effectLst/>
                <a:latin typeface="+mn-lt"/>
                <a:ea typeface="+mn-ea"/>
                <a:cs typeface="+mn-cs"/>
              </a:rPr>
              <a:t>\Delta W </a:t>
            </a:r>
            <a:r>
              <a:rPr lang="zh-CN" altLang="en-US" sz="1200" kern="1200" dirty="0" smtClean="0">
                <a:solidFill>
                  <a:schemeClr val="tx1"/>
                </a:solidFill>
                <a:effectLst/>
                <a:latin typeface="+mn-lt"/>
                <a:ea typeface="+mn-ea"/>
                <a:cs typeface="+mn-cs"/>
              </a:rPr>
              <a:t>强行拆解成了两个小矩阵的乘积：</a:t>
            </a:r>
            <a:r>
              <a:rPr lang="en-US" altLang="zh-CN" sz="1200" b="1" kern="1200" dirty="0" smtClean="0">
                <a:solidFill>
                  <a:schemeClr val="tx1"/>
                </a:solidFill>
                <a:effectLst/>
                <a:latin typeface="+mn-lt"/>
                <a:ea typeface="+mn-ea"/>
                <a:cs typeface="+mn-cs"/>
              </a:rPr>
              <a:t>\Delta W = BA</a:t>
            </a:r>
            <a:r>
              <a:rPr lang="zh-CN" altLang="en-US" sz="1200"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矩阵 </a:t>
            </a:r>
            <a:r>
              <a:rPr lang="en-US" altLang="zh-CN" sz="1200" kern="1200" dirty="0" smtClean="0">
                <a:solidFill>
                  <a:schemeClr val="tx1"/>
                </a:solidFill>
                <a:effectLst/>
                <a:latin typeface="+mn-lt"/>
                <a:ea typeface="+mn-ea"/>
                <a:cs typeface="+mn-cs"/>
              </a:rPr>
              <a:t>A </a:t>
            </a:r>
            <a:r>
              <a:rPr lang="zh-CN" altLang="en-US" sz="1200" kern="1200" dirty="0" smtClean="0">
                <a:solidFill>
                  <a:schemeClr val="tx1"/>
                </a:solidFill>
                <a:effectLst/>
                <a:latin typeface="+mn-lt"/>
                <a:ea typeface="+mn-ea"/>
                <a:cs typeface="+mn-cs"/>
              </a:rPr>
              <a:t>负责把高维输入“压缩”到一个极低的维度 </a:t>
            </a:r>
            <a:r>
              <a:rPr lang="en-US" altLang="zh-CN" sz="1200" kern="1200" dirty="0" smtClean="0">
                <a:solidFill>
                  <a:schemeClr val="tx1"/>
                </a:solidFill>
                <a:effectLst/>
                <a:latin typeface="+mn-lt"/>
                <a:ea typeface="+mn-ea"/>
                <a:cs typeface="+mn-cs"/>
              </a:rPr>
              <a:t>r</a:t>
            </a:r>
            <a:r>
              <a:rPr lang="zh-CN" altLang="en-US" sz="1200" kern="1200" dirty="0" smtClean="0">
                <a:solidFill>
                  <a:schemeClr val="tx1"/>
                </a:solidFill>
                <a:effectLst/>
                <a:latin typeface="+mn-lt"/>
                <a:ea typeface="+mn-ea"/>
                <a:cs typeface="+mn-cs"/>
              </a:rPr>
              <a:t>（维度 </a:t>
            </a:r>
            <a:r>
              <a:rPr lang="en-US" altLang="zh-CN" sz="1200" kern="1200" dirty="0" smtClean="0">
                <a:solidFill>
                  <a:schemeClr val="tx1"/>
                </a:solidFill>
                <a:effectLst/>
                <a:latin typeface="+mn-lt"/>
                <a:ea typeface="+mn-ea"/>
                <a:cs typeface="+mn-cs"/>
              </a:rPr>
              <a:t>r \times n</a:t>
            </a:r>
            <a:r>
              <a:rPr lang="zh-CN" altLang="en-US" sz="1200"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矩阵 </a:t>
            </a:r>
            <a:r>
              <a:rPr lang="en-US" altLang="zh-CN" sz="1200" kern="1200" dirty="0" smtClean="0">
                <a:solidFill>
                  <a:schemeClr val="tx1"/>
                </a:solidFill>
                <a:effectLst/>
                <a:latin typeface="+mn-lt"/>
                <a:ea typeface="+mn-ea"/>
                <a:cs typeface="+mn-cs"/>
              </a:rPr>
              <a:t>B </a:t>
            </a:r>
            <a:r>
              <a:rPr lang="zh-CN" altLang="en-US" sz="1200" kern="1200" dirty="0" smtClean="0">
                <a:solidFill>
                  <a:schemeClr val="tx1"/>
                </a:solidFill>
                <a:effectLst/>
                <a:latin typeface="+mn-lt"/>
                <a:ea typeface="+mn-ea"/>
                <a:cs typeface="+mn-cs"/>
              </a:rPr>
              <a:t>负责把这个低维度 </a:t>
            </a:r>
            <a:r>
              <a:rPr lang="en-US" altLang="zh-CN" sz="1200" kern="1200" dirty="0" smtClean="0">
                <a:solidFill>
                  <a:schemeClr val="tx1"/>
                </a:solidFill>
                <a:effectLst/>
                <a:latin typeface="+mn-lt"/>
                <a:ea typeface="+mn-ea"/>
                <a:cs typeface="+mn-cs"/>
              </a:rPr>
              <a:t>r </a:t>
            </a:r>
            <a:r>
              <a:rPr lang="zh-CN" altLang="en-US" sz="1200" kern="1200" dirty="0" smtClean="0">
                <a:solidFill>
                  <a:schemeClr val="tx1"/>
                </a:solidFill>
                <a:effectLst/>
                <a:latin typeface="+mn-lt"/>
                <a:ea typeface="+mn-ea"/>
                <a:cs typeface="+mn-cs"/>
              </a:rPr>
              <a:t>重新“放大”回原本的维度（维度 </a:t>
            </a:r>
            <a:r>
              <a:rPr lang="en-US" altLang="zh-CN" sz="1200" kern="1200" dirty="0" smtClean="0">
                <a:solidFill>
                  <a:schemeClr val="tx1"/>
                </a:solidFill>
                <a:effectLst/>
                <a:latin typeface="+mn-lt"/>
                <a:ea typeface="+mn-ea"/>
                <a:cs typeface="+mn-cs"/>
              </a:rPr>
              <a:t>m \times r</a:t>
            </a:r>
            <a:r>
              <a:rPr lang="zh-CN" altLang="en-US" sz="1200"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这里的 </a:t>
            </a:r>
            <a:r>
              <a:rPr lang="en-US" altLang="zh-CN" sz="1200" b="1" kern="1200" dirty="0" smtClean="0">
                <a:solidFill>
                  <a:schemeClr val="tx1"/>
                </a:solidFill>
                <a:effectLst/>
                <a:latin typeface="+mn-lt"/>
                <a:ea typeface="+mn-ea"/>
                <a:cs typeface="+mn-cs"/>
              </a:rPr>
              <a:t>r </a:t>
            </a:r>
            <a:r>
              <a:rPr lang="zh-CN" altLang="en-US" sz="1200" b="1" kern="1200" dirty="0" smtClean="0">
                <a:solidFill>
                  <a:schemeClr val="tx1"/>
                </a:solidFill>
                <a:effectLst/>
                <a:latin typeface="+mn-lt"/>
                <a:ea typeface="+mn-ea"/>
                <a:cs typeface="+mn-cs"/>
              </a:rPr>
              <a:t>就是所谓的“秩（</a:t>
            </a:r>
            <a:r>
              <a:rPr lang="en-US" altLang="zh-CN" sz="1200" b="1" kern="1200" dirty="0" smtClean="0">
                <a:solidFill>
                  <a:schemeClr val="tx1"/>
                </a:solidFill>
                <a:effectLst/>
                <a:latin typeface="+mn-lt"/>
                <a:ea typeface="+mn-ea"/>
                <a:cs typeface="+mn-cs"/>
              </a:rPr>
              <a:t>Rank</a:t>
            </a:r>
            <a:r>
              <a:rPr lang="zh-CN" altLang="en-US" sz="1200" b="1"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。在工程实践中，</a:t>
            </a:r>
            <a:r>
              <a:rPr lang="en-US" altLang="zh-CN" sz="1200" kern="1200" dirty="0" smtClean="0">
                <a:solidFill>
                  <a:schemeClr val="tx1"/>
                </a:solidFill>
                <a:effectLst/>
                <a:latin typeface="+mn-lt"/>
                <a:ea typeface="+mn-ea"/>
                <a:cs typeface="+mn-cs"/>
              </a:rPr>
              <a:t>r </a:t>
            </a:r>
            <a:r>
              <a:rPr lang="zh-CN" altLang="en-US" sz="1200" kern="1200" dirty="0" smtClean="0">
                <a:solidFill>
                  <a:schemeClr val="tx1"/>
                </a:solidFill>
                <a:effectLst/>
                <a:latin typeface="+mn-lt"/>
                <a:ea typeface="+mn-ea"/>
                <a:cs typeface="+mn-cs"/>
              </a:rPr>
              <a:t>往往设置得非常小（比如 </a:t>
            </a:r>
            <a:r>
              <a:rPr lang="en-US" altLang="zh-CN" sz="1200" kern="1200" dirty="0" smtClean="0">
                <a:solidFill>
                  <a:schemeClr val="tx1"/>
                </a:solidFill>
                <a:effectLst/>
                <a:latin typeface="+mn-lt"/>
                <a:ea typeface="+mn-ea"/>
                <a:cs typeface="+mn-cs"/>
              </a:rPr>
              <a:t>4</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8 </a:t>
            </a:r>
            <a:r>
              <a:rPr lang="zh-CN" altLang="en-US" sz="1200" kern="1200" dirty="0" smtClean="0">
                <a:solidFill>
                  <a:schemeClr val="tx1"/>
                </a:solidFill>
                <a:effectLst/>
                <a:latin typeface="+mn-lt"/>
                <a:ea typeface="+mn-ea"/>
                <a:cs typeface="+mn-cs"/>
              </a:rPr>
              <a:t>或 </a:t>
            </a:r>
            <a:r>
              <a:rPr lang="en-US" altLang="zh-CN" sz="1200" kern="1200" dirty="0" smtClean="0">
                <a:solidFill>
                  <a:schemeClr val="tx1"/>
                </a:solidFill>
                <a:effectLst/>
                <a:latin typeface="+mn-lt"/>
                <a:ea typeface="+mn-ea"/>
                <a:cs typeface="+mn-cs"/>
              </a:rPr>
              <a:t>16</a:t>
            </a:r>
            <a:r>
              <a:rPr lang="zh-CN" altLang="en-US" sz="1200"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这带来的参数量锐减是震撼的：你要更新的参数量瞬间从 </a:t>
            </a:r>
            <a:r>
              <a:rPr lang="en-US" altLang="zh-CN" sz="1200" kern="1200" dirty="0" smtClean="0">
                <a:solidFill>
                  <a:schemeClr val="tx1"/>
                </a:solidFill>
                <a:effectLst/>
                <a:latin typeface="+mn-lt"/>
                <a:ea typeface="+mn-ea"/>
                <a:cs typeface="+mn-cs"/>
              </a:rPr>
              <a:t>m \times n </a:t>
            </a:r>
            <a:r>
              <a:rPr lang="zh-CN" altLang="en-US" sz="1200" kern="1200" dirty="0" smtClean="0">
                <a:solidFill>
                  <a:schemeClr val="tx1"/>
                </a:solidFill>
                <a:effectLst/>
                <a:latin typeface="+mn-lt"/>
                <a:ea typeface="+mn-ea"/>
                <a:cs typeface="+mn-cs"/>
              </a:rPr>
              <a:t>暴降到了 </a:t>
            </a:r>
            <a:r>
              <a:rPr lang="en-US" altLang="zh-CN" sz="1200" kern="1200" dirty="0" smtClean="0">
                <a:solidFill>
                  <a:schemeClr val="tx1"/>
                </a:solidFill>
                <a:effectLst/>
                <a:latin typeface="+mn-lt"/>
                <a:ea typeface="+mn-ea"/>
                <a:cs typeface="+mn-cs"/>
              </a:rPr>
              <a:t>r \times (m + n)</a:t>
            </a:r>
            <a:r>
              <a:rPr lang="zh-CN" altLang="en-US" sz="1200"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kern="1200" dirty="0" err="1" smtClean="0">
                <a:solidFill>
                  <a:schemeClr val="tx1"/>
                </a:solidFill>
                <a:effectLst/>
                <a:latin typeface="+mn-lt"/>
                <a:ea typeface="+mn-ea"/>
                <a:cs typeface="+mn-cs"/>
              </a:rPr>
              <a:t>LoRA</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就像是给大模型外挂了一个极其轻量级的“</a:t>
            </a:r>
            <a:r>
              <a:rPr lang="en-US" altLang="zh-CN" sz="1200" kern="1200" dirty="0" smtClean="0">
                <a:solidFill>
                  <a:schemeClr val="tx1"/>
                </a:solidFill>
                <a:effectLst/>
                <a:latin typeface="+mn-lt"/>
                <a:ea typeface="+mn-ea"/>
                <a:cs typeface="+mn-cs"/>
              </a:rPr>
              <a:t>U</a:t>
            </a:r>
            <a:r>
              <a:rPr lang="zh-CN" altLang="en-US" sz="1200" kern="1200" dirty="0" smtClean="0">
                <a:solidFill>
                  <a:schemeClr val="tx1"/>
                </a:solidFill>
                <a:effectLst/>
                <a:latin typeface="+mn-lt"/>
                <a:ea typeface="+mn-ea"/>
                <a:cs typeface="+mn-cs"/>
              </a:rPr>
              <a:t>盘”。大脑本体完全不动，学到的新知识全通过降维压缩存在 </a:t>
            </a:r>
            <a:r>
              <a:rPr lang="en-US" altLang="zh-CN" sz="1200" kern="1200" dirty="0" smtClean="0">
                <a:solidFill>
                  <a:schemeClr val="tx1"/>
                </a:solidFill>
                <a:effectLst/>
                <a:latin typeface="+mn-lt"/>
                <a:ea typeface="+mn-ea"/>
                <a:cs typeface="+mn-cs"/>
              </a:rPr>
              <a:t>U </a:t>
            </a:r>
            <a:r>
              <a:rPr lang="zh-CN" altLang="en-US" sz="1200" kern="1200" dirty="0" smtClean="0">
                <a:solidFill>
                  <a:schemeClr val="tx1"/>
                </a:solidFill>
                <a:effectLst/>
                <a:latin typeface="+mn-lt"/>
                <a:ea typeface="+mn-ea"/>
                <a:cs typeface="+mn-cs"/>
              </a:rPr>
              <a:t>盘里。这就是为什么大家用一张普通的消费级游戏显卡，也能微调参数量相对较大的大模型。</a:t>
            </a:r>
            <a:endParaRPr lang="zh-CN" altLang="en-US" sz="1200" kern="1200" dirty="0" smtClean="0">
              <a:solidFill>
                <a:schemeClr val="tx1"/>
              </a:solidFill>
              <a:effectLst/>
              <a:latin typeface="+mn-lt"/>
              <a:ea typeface="+mn-ea"/>
              <a:cs typeface="+mn-cs"/>
            </a:endParaRPr>
          </a:p>
          <a:p>
            <a:pPr rtl="0"/>
            <a:endParaRPr lang="en-US" sz="1200" kern="1200" dirty="0" smtClean="0">
              <a:solidFill>
                <a:schemeClr val="tx1"/>
              </a:solidFill>
              <a:effectLst/>
              <a:latin typeface="+mn-lt"/>
              <a:ea typeface="+mn-ea"/>
              <a:cs typeface="+mn-cs"/>
            </a:endParaRPr>
          </a:p>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zh-CN" altLang="en-US" sz="1200" kern="1200" dirty="0" smtClean="0">
                <a:solidFill>
                  <a:schemeClr val="tx1"/>
                </a:solidFill>
                <a:effectLst/>
                <a:latin typeface="+mn-lt"/>
                <a:ea typeface="+mn-ea"/>
                <a:cs typeface="+mn-cs"/>
              </a:rPr>
              <a:t>同学们好。刚才我们在黑板上推导了 </a:t>
            </a:r>
            <a:r>
              <a:rPr lang="en-US" altLang="zh-CN" sz="1200" kern="1200" dirty="0" err="1" smtClean="0">
                <a:solidFill>
                  <a:schemeClr val="tx1"/>
                </a:solidFill>
                <a:effectLst/>
                <a:latin typeface="+mn-lt"/>
                <a:ea typeface="+mn-ea"/>
                <a:cs typeface="+mn-cs"/>
              </a:rPr>
              <a:t>LoRA</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的数学原理，现在我们把这些枯燥的公式代入真实的数据，算一笔震撼的工程“经济账”。</a:t>
            </a:r>
            <a:endParaRPr lang="zh-CN" altLang="en-US" sz="1200" kern="1200" dirty="0" smtClean="0">
              <a:solidFill>
                <a:schemeClr val="tx1"/>
              </a:solidFill>
              <a:effectLst/>
              <a:latin typeface="+mn-lt"/>
              <a:ea typeface="+mn-ea"/>
              <a:cs typeface="+mn-cs"/>
            </a:endParaRPr>
          </a:p>
          <a:p>
            <a:pPr rtl="0"/>
            <a:r>
              <a:rPr lang="zh-CN" altLang="en-US" sz="1200" kern="1200" dirty="0" smtClean="0">
                <a:solidFill>
                  <a:schemeClr val="tx1"/>
                </a:solidFill>
                <a:effectLst/>
                <a:latin typeface="+mn-lt"/>
                <a:ea typeface="+mn-ea"/>
                <a:cs typeface="+mn-cs"/>
              </a:rPr>
              <a:t>这页 </a:t>
            </a:r>
            <a:r>
              <a:rPr lang="en-US" altLang="zh-CN" sz="1200" kern="1200" dirty="0" smtClean="0">
                <a:solidFill>
                  <a:schemeClr val="tx1"/>
                </a:solidFill>
                <a:effectLst/>
                <a:latin typeface="+mn-lt"/>
                <a:ea typeface="+mn-ea"/>
                <a:cs typeface="+mn-cs"/>
              </a:rPr>
              <a:t>PPT </a:t>
            </a:r>
            <a:r>
              <a:rPr lang="zh-CN" altLang="en-US" sz="1200" kern="1200" dirty="0" smtClean="0">
                <a:solidFill>
                  <a:schemeClr val="tx1"/>
                </a:solidFill>
                <a:effectLst/>
                <a:latin typeface="+mn-lt"/>
                <a:ea typeface="+mn-ea"/>
                <a:cs typeface="+mn-cs"/>
              </a:rPr>
              <a:t>的核心逻辑，就是向大家展示 </a:t>
            </a:r>
            <a:r>
              <a:rPr lang="en-US" altLang="zh-CN" sz="1200" kern="1200" dirty="0" err="1" smtClean="0">
                <a:solidFill>
                  <a:schemeClr val="tx1"/>
                </a:solidFill>
                <a:effectLst/>
                <a:latin typeface="+mn-lt"/>
                <a:ea typeface="+mn-ea"/>
                <a:cs typeface="+mn-cs"/>
              </a:rPr>
              <a:t>LoRA</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是如何实现**“大模型微调平民化”**的。我们分两笔账来看：</a:t>
            </a:r>
            <a:endParaRPr lang="zh-CN" altLang="en-US" sz="1200" kern="1200" dirty="0" smtClean="0">
              <a:solidFill>
                <a:schemeClr val="tx1"/>
              </a:solidFill>
              <a:effectLst/>
              <a:latin typeface="+mn-lt"/>
              <a:ea typeface="+mn-ea"/>
              <a:cs typeface="+mn-cs"/>
            </a:endParaRPr>
          </a:p>
          <a:p>
            <a:pPr rtl="0"/>
            <a:endParaRPr lang="en-US" altLang="zh-CN" sz="1200" b="1" kern="1200" dirty="0" smtClean="0">
              <a:solidFill>
                <a:schemeClr val="tx1"/>
              </a:solidFill>
              <a:effectLst/>
              <a:latin typeface="+mn-lt"/>
              <a:ea typeface="+mn-ea"/>
              <a:cs typeface="+mn-cs"/>
            </a:endParaRPr>
          </a:p>
          <a:p>
            <a:pPr rtl="0"/>
            <a:r>
              <a:rPr lang="zh-CN" altLang="en-US" sz="1200" b="1" kern="1200" dirty="0" smtClean="0">
                <a:solidFill>
                  <a:schemeClr val="tx1"/>
                </a:solidFill>
                <a:effectLst/>
                <a:latin typeface="+mn-lt"/>
                <a:ea typeface="+mn-ea"/>
                <a:cs typeface="+mn-cs"/>
              </a:rPr>
              <a:t>第一笔账：数学层面的降维打击（看左侧）</a:t>
            </a:r>
            <a:endParaRPr lang="zh-CN" altLang="en-US" sz="1200" kern="1200" dirty="0" smtClean="0">
              <a:solidFill>
                <a:schemeClr val="tx1"/>
              </a:solidFill>
              <a:effectLst/>
              <a:latin typeface="+mn-lt"/>
              <a:ea typeface="+mn-ea"/>
              <a:cs typeface="+mn-cs"/>
            </a:endParaRPr>
          </a:p>
          <a:p>
            <a:pPr rtl="0"/>
            <a:r>
              <a:rPr lang="zh-CN" altLang="en-US" sz="1200" kern="1200" dirty="0" smtClean="0">
                <a:solidFill>
                  <a:schemeClr val="tx1"/>
                </a:solidFill>
                <a:effectLst/>
                <a:latin typeface="+mn-lt"/>
                <a:ea typeface="+mn-ea"/>
                <a:cs typeface="+mn-cs"/>
              </a:rPr>
              <a:t>假设大模型里某一层神经网络的维度是 </a:t>
            </a:r>
            <a:r>
              <a:rPr lang="en-US" altLang="zh-CN" sz="1200" kern="1200" dirty="0" smtClean="0">
                <a:solidFill>
                  <a:schemeClr val="tx1"/>
                </a:solidFill>
                <a:effectLst/>
                <a:latin typeface="+mn-lt"/>
                <a:ea typeface="+mn-ea"/>
                <a:cs typeface="+mn-cs"/>
              </a:rPr>
              <a:t>m = n = 2048</a:t>
            </a:r>
            <a:r>
              <a:rPr lang="zh-CN" altLang="en-US" sz="1200"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pPr rtl="0"/>
            <a:r>
              <a:rPr lang="zh-CN" altLang="en-US" sz="1200" kern="1200" dirty="0" smtClean="0">
                <a:solidFill>
                  <a:schemeClr val="tx1"/>
                </a:solidFill>
                <a:effectLst/>
                <a:latin typeface="+mn-lt"/>
                <a:ea typeface="+mn-ea"/>
                <a:cs typeface="+mn-cs"/>
              </a:rPr>
              <a:t>如果按</a:t>
            </a:r>
            <a:r>
              <a:rPr lang="zh-CN" altLang="en-US" sz="1200" b="1" kern="1200" dirty="0" smtClean="0">
                <a:solidFill>
                  <a:schemeClr val="tx1"/>
                </a:solidFill>
                <a:effectLst/>
                <a:latin typeface="+mn-lt"/>
                <a:ea typeface="+mn-ea"/>
                <a:cs typeface="+mn-cs"/>
              </a:rPr>
              <a:t>传统全量微调</a:t>
            </a:r>
            <a:r>
              <a:rPr lang="zh-CN" altLang="en-US" sz="1200" kern="1200" dirty="0" smtClean="0">
                <a:solidFill>
                  <a:schemeClr val="tx1"/>
                </a:solidFill>
                <a:effectLst/>
                <a:latin typeface="+mn-lt"/>
                <a:ea typeface="+mn-ea"/>
                <a:cs typeface="+mn-cs"/>
              </a:rPr>
              <a:t>，我们需要更新的参数量是 </a:t>
            </a:r>
            <a:r>
              <a:rPr lang="en-US" altLang="zh-CN" sz="1200" kern="1200" dirty="0" smtClean="0">
                <a:solidFill>
                  <a:schemeClr val="tx1"/>
                </a:solidFill>
                <a:effectLst/>
                <a:latin typeface="+mn-lt"/>
                <a:ea typeface="+mn-ea"/>
                <a:cs typeface="+mn-cs"/>
              </a:rPr>
              <a:t>m \times n</a:t>
            </a:r>
            <a:r>
              <a:rPr lang="zh-CN" altLang="en-US" sz="1200" kern="1200" dirty="0" smtClean="0">
                <a:solidFill>
                  <a:schemeClr val="tx1"/>
                </a:solidFill>
                <a:effectLst/>
                <a:latin typeface="+mn-lt"/>
                <a:ea typeface="+mn-ea"/>
                <a:cs typeface="+mn-cs"/>
              </a:rPr>
              <a:t>，大约是 </a:t>
            </a:r>
            <a:r>
              <a:rPr lang="en-US" altLang="zh-CN" sz="1200" b="1" kern="1200" dirty="0" smtClean="0">
                <a:solidFill>
                  <a:schemeClr val="tx1"/>
                </a:solidFill>
                <a:effectLst/>
                <a:latin typeface="+mn-lt"/>
                <a:ea typeface="+mn-ea"/>
                <a:cs typeface="+mn-cs"/>
              </a:rPr>
              <a:t>420</a:t>
            </a:r>
            <a:r>
              <a:rPr lang="zh-CN" altLang="en-US" sz="1200" b="1" kern="1200" dirty="0" smtClean="0">
                <a:solidFill>
                  <a:schemeClr val="tx1"/>
                </a:solidFill>
                <a:effectLst/>
                <a:latin typeface="+mn-lt"/>
                <a:ea typeface="+mn-ea"/>
                <a:cs typeface="+mn-cs"/>
              </a:rPr>
              <a:t>万</a:t>
            </a:r>
            <a:r>
              <a:rPr lang="zh-CN" altLang="en-US" sz="1200"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pPr rtl="0"/>
            <a:r>
              <a:rPr lang="zh-CN" altLang="en-US" sz="1200" kern="1200" dirty="0" smtClean="0">
                <a:solidFill>
                  <a:schemeClr val="tx1"/>
                </a:solidFill>
                <a:effectLst/>
                <a:latin typeface="+mn-lt"/>
                <a:ea typeface="+mn-ea"/>
                <a:cs typeface="+mn-cs"/>
              </a:rPr>
              <a:t>如果按 </a:t>
            </a:r>
            <a:r>
              <a:rPr lang="en-US" altLang="zh-CN" sz="1200" b="1" kern="1200" dirty="0" err="1" smtClean="0">
                <a:solidFill>
                  <a:schemeClr val="tx1"/>
                </a:solidFill>
                <a:effectLst/>
                <a:latin typeface="+mn-lt"/>
                <a:ea typeface="+mn-ea"/>
                <a:cs typeface="+mn-cs"/>
              </a:rPr>
              <a:t>LoRA</a:t>
            </a:r>
            <a:r>
              <a:rPr lang="en-US" altLang="zh-CN" sz="1200" b="1" kern="1200" dirty="0" smtClean="0">
                <a:solidFill>
                  <a:schemeClr val="tx1"/>
                </a:solidFill>
                <a:effectLst/>
                <a:latin typeface="+mn-lt"/>
                <a:ea typeface="+mn-ea"/>
                <a:cs typeface="+mn-cs"/>
              </a:rPr>
              <a:t> </a:t>
            </a:r>
            <a:r>
              <a:rPr lang="zh-CN" altLang="en-US" sz="1200" b="1" kern="1200" dirty="0" smtClean="0">
                <a:solidFill>
                  <a:schemeClr val="tx1"/>
                </a:solidFill>
                <a:effectLst/>
                <a:latin typeface="+mn-lt"/>
                <a:ea typeface="+mn-ea"/>
                <a:cs typeface="+mn-cs"/>
              </a:rPr>
              <a:t>微调</a:t>
            </a:r>
            <a:r>
              <a:rPr lang="zh-CN" altLang="en-US" sz="1200" kern="1200" dirty="0" smtClean="0">
                <a:solidFill>
                  <a:schemeClr val="tx1"/>
                </a:solidFill>
                <a:effectLst/>
                <a:latin typeface="+mn-lt"/>
                <a:ea typeface="+mn-ea"/>
                <a:cs typeface="+mn-cs"/>
              </a:rPr>
              <a:t>，我们把秩 </a:t>
            </a:r>
            <a:r>
              <a:rPr lang="en-US" altLang="zh-CN" sz="1200" kern="1200" dirty="0" smtClean="0">
                <a:solidFill>
                  <a:schemeClr val="tx1"/>
                </a:solidFill>
                <a:effectLst/>
                <a:latin typeface="+mn-lt"/>
                <a:ea typeface="+mn-ea"/>
                <a:cs typeface="+mn-cs"/>
              </a:rPr>
              <a:t>r </a:t>
            </a:r>
            <a:r>
              <a:rPr lang="zh-CN" altLang="en-US" sz="1200" kern="1200" dirty="0" smtClean="0">
                <a:solidFill>
                  <a:schemeClr val="tx1"/>
                </a:solidFill>
                <a:effectLst/>
                <a:latin typeface="+mn-lt"/>
                <a:ea typeface="+mn-ea"/>
                <a:cs typeface="+mn-cs"/>
              </a:rPr>
              <a:t>设为 </a:t>
            </a:r>
            <a:r>
              <a:rPr lang="en-US" altLang="zh-CN" sz="1200" kern="1200" dirty="0" smtClean="0">
                <a:solidFill>
                  <a:schemeClr val="tx1"/>
                </a:solidFill>
                <a:effectLst/>
                <a:latin typeface="+mn-lt"/>
                <a:ea typeface="+mn-ea"/>
                <a:cs typeface="+mn-cs"/>
              </a:rPr>
              <a:t>8</a:t>
            </a:r>
            <a:r>
              <a:rPr lang="zh-CN" altLang="en-US" sz="1200" kern="1200" dirty="0" smtClean="0">
                <a:solidFill>
                  <a:schemeClr val="tx1"/>
                </a:solidFill>
                <a:effectLst/>
                <a:latin typeface="+mn-lt"/>
                <a:ea typeface="+mn-ea"/>
                <a:cs typeface="+mn-cs"/>
              </a:rPr>
              <a:t>，需要更新的参数量变成 </a:t>
            </a:r>
            <a:r>
              <a:rPr lang="en-US" altLang="zh-CN" sz="1200" kern="1200" dirty="0" smtClean="0">
                <a:solidFill>
                  <a:schemeClr val="tx1"/>
                </a:solidFill>
                <a:effectLst/>
                <a:latin typeface="+mn-lt"/>
                <a:ea typeface="+mn-ea"/>
                <a:cs typeface="+mn-cs"/>
              </a:rPr>
              <a:t>r \times (m + n)</a:t>
            </a:r>
            <a:r>
              <a:rPr lang="zh-CN" altLang="en-US" sz="1200" kern="1200" dirty="0" smtClean="0">
                <a:solidFill>
                  <a:schemeClr val="tx1"/>
                </a:solidFill>
                <a:effectLst/>
                <a:latin typeface="+mn-lt"/>
                <a:ea typeface="+mn-ea"/>
                <a:cs typeface="+mn-cs"/>
              </a:rPr>
              <a:t>，算下来仅仅只有 </a:t>
            </a:r>
            <a:r>
              <a:rPr lang="en-US" altLang="zh-CN" sz="1200" b="1" kern="1200" dirty="0" smtClean="0">
                <a:solidFill>
                  <a:schemeClr val="tx1"/>
                </a:solidFill>
                <a:effectLst/>
                <a:latin typeface="+mn-lt"/>
                <a:ea typeface="+mn-ea"/>
                <a:cs typeface="+mn-cs"/>
              </a:rPr>
              <a:t>3.2</a:t>
            </a:r>
            <a:r>
              <a:rPr lang="zh-CN" altLang="en-US" sz="1200" b="1" kern="1200" dirty="0" smtClean="0">
                <a:solidFill>
                  <a:schemeClr val="tx1"/>
                </a:solidFill>
                <a:effectLst/>
                <a:latin typeface="+mn-lt"/>
                <a:ea typeface="+mn-ea"/>
                <a:cs typeface="+mn-cs"/>
              </a:rPr>
              <a:t>万</a:t>
            </a:r>
            <a:r>
              <a:rPr lang="zh-CN" altLang="en-US" sz="1200"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pPr rtl="0"/>
            <a:r>
              <a:rPr lang="en-US" altLang="zh-CN" sz="1200" kern="1200" dirty="0" err="1" smtClean="0">
                <a:solidFill>
                  <a:schemeClr val="tx1"/>
                </a:solidFill>
                <a:effectLst/>
                <a:latin typeface="+mn-lt"/>
                <a:ea typeface="+mn-ea"/>
                <a:cs typeface="+mn-cs"/>
              </a:rPr>
              <a:t>LoRA</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仅仅训练了原本参数量的 </a:t>
            </a:r>
            <a:r>
              <a:rPr lang="en-US" altLang="zh-CN" sz="1200" b="1" kern="1200" dirty="0" smtClean="0">
                <a:solidFill>
                  <a:schemeClr val="tx1"/>
                </a:solidFill>
                <a:effectLst/>
                <a:latin typeface="+mn-lt"/>
                <a:ea typeface="+mn-ea"/>
                <a:cs typeface="+mn-cs"/>
              </a:rPr>
              <a:t>0.07%</a:t>
            </a:r>
            <a:r>
              <a:rPr lang="zh-CN" altLang="en-US" sz="1200" kern="1200" dirty="0" smtClean="0">
                <a:solidFill>
                  <a:schemeClr val="tx1"/>
                </a:solidFill>
                <a:effectLst/>
                <a:latin typeface="+mn-lt"/>
                <a:ea typeface="+mn-ea"/>
                <a:cs typeface="+mn-cs"/>
              </a:rPr>
              <a:t>，就达到了几乎和全量微调相媲美的效果！</a:t>
            </a:r>
            <a:endParaRPr lang="zh-CN" altLang="en-US" sz="1200" kern="1200" dirty="0" smtClean="0">
              <a:solidFill>
                <a:schemeClr val="tx1"/>
              </a:solidFill>
              <a:effectLst/>
              <a:latin typeface="+mn-lt"/>
              <a:ea typeface="+mn-ea"/>
              <a:cs typeface="+mn-cs"/>
            </a:endParaRPr>
          </a:p>
          <a:p>
            <a:pPr rtl="0"/>
            <a:endParaRPr lang="en-US" altLang="zh-CN" sz="1200" b="1" kern="1200" dirty="0" smtClean="0">
              <a:solidFill>
                <a:schemeClr val="tx1"/>
              </a:solidFill>
              <a:effectLst/>
              <a:latin typeface="+mn-lt"/>
              <a:ea typeface="+mn-ea"/>
              <a:cs typeface="+mn-cs"/>
            </a:endParaRPr>
          </a:p>
          <a:p>
            <a:pPr rtl="0"/>
            <a:r>
              <a:rPr lang="zh-CN" altLang="en-US" sz="1200" b="1" kern="1200" dirty="0" smtClean="0">
                <a:solidFill>
                  <a:schemeClr val="tx1"/>
                </a:solidFill>
                <a:effectLst/>
                <a:latin typeface="+mn-lt"/>
                <a:ea typeface="+mn-ea"/>
                <a:cs typeface="+mn-cs"/>
              </a:rPr>
              <a:t>第二笔账：物理层面的阶级跨越（看右侧图表）</a:t>
            </a:r>
            <a:endParaRPr lang="zh-CN" altLang="en-US" sz="1200" kern="1200" dirty="0" smtClean="0">
              <a:solidFill>
                <a:schemeClr val="tx1"/>
              </a:solidFill>
              <a:effectLst/>
              <a:latin typeface="+mn-lt"/>
              <a:ea typeface="+mn-ea"/>
              <a:cs typeface="+mn-cs"/>
            </a:endParaRPr>
          </a:p>
          <a:p>
            <a:pPr rtl="0"/>
            <a:r>
              <a:rPr lang="zh-CN" altLang="en-US" sz="1200" kern="1200" dirty="0" smtClean="0">
                <a:solidFill>
                  <a:schemeClr val="tx1"/>
                </a:solidFill>
                <a:effectLst/>
                <a:latin typeface="+mn-lt"/>
                <a:ea typeface="+mn-ea"/>
                <a:cs typeface="+mn-cs"/>
              </a:rPr>
              <a:t>参数少了，最直接的后果就是</a:t>
            </a:r>
            <a:r>
              <a:rPr lang="zh-CN" altLang="en-US" sz="1200" b="1" kern="1200" dirty="0" smtClean="0">
                <a:solidFill>
                  <a:schemeClr val="tx1"/>
                </a:solidFill>
                <a:effectLst/>
                <a:latin typeface="+mn-lt"/>
                <a:ea typeface="+mn-ea"/>
                <a:cs typeface="+mn-cs"/>
              </a:rPr>
              <a:t>显存消耗（</a:t>
            </a:r>
            <a:r>
              <a:rPr lang="en-US" altLang="zh-CN" sz="1200" b="1" kern="1200" dirty="0" smtClean="0">
                <a:solidFill>
                  <a:schemeClr val="tx1"/>
                </a:solidFill>
                <a:effectLst/>
                <a:latin typeface="+mn-lt"/>
                <a:ea typeface="+mn-ea"/>
                <a:cs typeface="+mn-cs"/>
              </a:rPr>
              <a:t>VRAM Usage</a:t>
            </a:r>
            <a:r>
              <a:rPr lang="zh-CN" altLang="en-US" sz="1200" b="1" kern="1200" dirty="0" smtClean="0">
                <a:solidFill>
                  <a:schemeClr val="tx1"/>
                </a:solidFill>
                <a:effectLst/>
                <a:latin typeface="+mn-lt"/>
                <a:ea typeface="+mn-ea"/>
                <a:cs typeface="+mn-cs"/>
              </a:rPr>
              <a:t>）暴降。这才是工业界最关心的数据。 大家重点盯住图表右侧的 </a:t>
            </a:r>
            <a:r>
              <a:rPr lang="en-US" altLang="zh-CN" sz="1200" b="1" kern="1200" dirty="0" smtClean="0">
                <a:solidFill>
                  <a:schemeClr val="tx1"/>
                </a:solidFill>
                <a:effectLst/>
                <a:latin typeface="+mn-lt"/>
                <a:ea typeface="+mn-ea"/>
                <a:cs typeface="+mn-cs"/>
              </a:rPr>
              <a:t>Llama 2-7B </a:t>
            </a:r>
            <a:r>
              <a:rPr lang="zh-CN" altLang="en-US" sz="1200" b="1" kern="1200" dirty="0" smtClean="0">
                <a:solidFill>
                  <a:schemeClr val="tx1"/>
                </a:solidFill>
                <a:effectLst/>
                <a:latin typeface="+mn-lt"/>
                <a:ea typeface="+mn-ea"/>
                <a:cs typeface="+mn-cs"/>
              </a:rPr>
              <a:t>模型，以及那条至关重要的橙色虚线（</a:t>
            </a:r>
            <a:r>
              <a:rPr lang="en-US" altLang="zh-CN" sz="1200" b="1" kern="1200" dirty="0" smtClean="0">
                <a:solidFill>
                  <a:schemeClr val="tx1"/>
                </a:solidFill>
                <a:effectLst/>
                <a:latin typeface="+mn-lt"/>
                <a:ea typeface="+mn-ea"/>
                <a:cs typeface="+mn-cs"/>
              </a:rPr>
              <a:t>24GB</a:t>
            </a:r>
            <a:r>
              <a:rPr lang="zh-CN" altLang="en-US" sz="1200" b="1"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pPr rtl="0"/>
            <a:r>
              <a:rPr lang="zh-CN" altLang="en-US" sz="1200" kern="1200" dirty="0" smtClean="0">
                <a:solidFill>
                  <a:schemeClr val="tx1"/>
                </a:solidFill>
                <a:effectLst/>
                <a:latin typeface="+mn-lt"/>
                <a:ea typeface="+mn-ea"/>
                <a:cs typeface="+mn-cs"/>
              </a:rPr>
              <a:t>如果你要对这个 </a:t>
            </a:r>
            <a:r>
              <a:rPr lang="en-US" altLang="zh-CN" sz="1200" kern="1200" dirty="0" smtClean="0">
                <a:solidFill>
                  <a:schemeClr val="tx1"/>
                </a:solidFill>
                <a:effectLst/>
                <a:latin typeface="+mn-lt"/>
                <a:ea typeface="+mn-ea"/>
                <a:cs typeface="+mn-cs"/>
              </a:rPr>
              <a:t>70</a:t>
            </a:r>
            <a:r>
              <a:rPr lang="zh-CN" altLang="en-US" sz="1200" kern="1200" dirty="0" smtClean="0">
                <a:solidFill>
                  <a:schemeClr val="tx1"/>
                </a:solidFill>
                <a:effectLst/>
                <a:latin typeface="+mn-lt"/>
                <a:ea typeface="+mn-ea"/>
                <a:cs typeface="+mn-cs"/>
              </a:rPr>
              <a:t>亿参数的模型做</a:t>
            </a:r>
            <a:r>
              <a:rPr lang="zh-CN" altLang="en-US" sz="1200" b="1" kern="1200" dirty="0" smtClean="0">
                <a:solidFill>
                  <a:schemeClr val="tx1"/>
                </a:solidFill>
                <a:effectLst/>
                <a:latin typeface="+mn-lt"/>
                <a:ea typeface="+mn-ea"/>
                <a:cs typeface="+mn-cs"/>
              </a:rPr>
              <a:t>全量微调（红色柱子）</a:t>
            </a:r>
            <a:r>
              <a:rPr lang="zh-CN" altLang="en-US" sz="1200" kern="1200" dirty="0" smtClean="0">
                <a:solidFill>
                  <a:schemeClr val="tx1"/>
                </a:solidFill>
                <a:effectLst/>
                <a:latin typeface="+mn-lt"/>
                <a:ea typeface="+mn-ea"/>
                <a:cs typeface="+mn-cs"/>
              </a:rPr>
              <a:t>，它会一口气吃掉将近 </a:t>
            </a:r>
            <a:r>
              <a:rPr lang="en-US" altLang="zh-CN" sz="1200" b="1" kern="1200" dirty="0" smtClean="0">
                <a:solidFill>
                  <a:schemeClr val="tx1"/>
                </a:solidFill>
                <a:effectLst/>
                <a:latin typeface="+mn-lt"/>
                <a:ea typeface="+mn-ea"/>
                <a:cs typeface="+mn-cs"/>
              </a:rPr>
              <a:t>64GB</a:t>
            </a:r>
            <a:r>
              <a:rPr lang="zh-CN" altLang="en-US" sz="1200" kern="1200" dirty="0" smtClean="0">
                <a:solidFill>
                  <a:schemeClr val="tx1"/>
                </a:solidFill>
                <a:effectLst/>
                <a:latin typeface="+mn-lt"/>
                <a:ea typeface="+mn-ea"/>
                <a:cs typeface="+mn-cs"/>
              </a:rPr>
              <a:t> 的显存。这意味着什么？意味着你必须去租用极其昂贵的工业级显卡（比如一张十几万人民币的 </a:t>
            </a:r>
            <a:r>
              <a:rPr lang="en-US" altLang="zh-CN" sz="1200" kern="1200" dirty="0" smtClean="0">
                <a:solidFill>
                  <a:schemeClr val="tx1"/>
                </a:solidFill>
                <a:effectLst/>
                <a:latin typeface="+mn-lt"/>
                <a:ea typeface="+mn-ea"/>
                <a:cs typeface="+mn-cs"/>
              </a:rPr>
              <a:t>A100</a:t>
            </a:r>
            <a:r>
              <a:rPr lang="zh-CN" altLang="en-US" sz="1200" kern="1200" dirty="0" smtClean="0">
                <a:solidFill>
                  <a:schemeClr val="tx1"/>
                </a:solidFill>
                <a:effectLst/>
                <a:latin typeface="+mn-lt"/>
                <a:ea typeface="+mn-ea"/>
                <a:cs typeface="+mn-cs"/>
              </a:rPr>
              <a:t>）才能跑得动。</a:t>
            </a:r>
            <a:endParaRPr lang="zh-CN" altLang="en-US" sz="1200" kern="1200" dirty="0" smtClean="0">
              <a:solidFill>
                <a:schemeClr val="tx1"/>
              </a:solidFill>
              <a:effectLst/>
              <a:latin typeface="+mn-lt"/>
              <a:ea typeface="+mn-ea"/>
              <a:cs typeface="+mn-cs"/>
            </a:endParaRPr>
          </a:p>
          <a:p>
            <a:pPr rtl="0"/>
            <a:r>
              <a:rPr lang="zh-CN" altLang="en-US" sz="1200" kern="1200" dirty="0" smtClean="0">
                <a:solidFill>
                  <a:schemeClr val="tx1"/>
                </a:solidFill>
                <a:effectLst/>
                <a:latin typeface="+mn-lt"/>
                <a:ea typeface="+mn-ea"/>
                <a:cs typeface="+mn-cs"/>
              </a:rPr>
              <a:t>但如果我们开启 </a:t>
            </a:r>
            <a:r>
              <a:rPr lang="en-US" altLang="zh-CN" sz="1200" b="1" kern="1200" dirty="0" err="1" smtClean="0">
                <a:solidFill>
                  <a:schemeClr val="tx1"/>
                </a:solidFill>
                <a:effectLst/>
                <a:latin typeface="+mn-lt"/>
                <a:ea typeface="+mn-ea"/>
                <a:cs typeface="+mn-cs"/>
              </a:rPr>
              <a:t>LoRA</a:t>
            </a:r>
            <a:r>
              <a:rPr lang="zh-CN" altLang="en-US" sz="1200" b="1" kern="1200" dirty="0" smtClean="0">
                <a:solidFill>
                  <a:schemeClr val="tx1"/>
                </a:solidFill>
                <a:effectLst/>
                <a:latin typeface="+mn-lt"/>
                <a:ea typeface="+mn-ea"/>
                <a:cs typeface="+mn-cs"/>
              </a:rPr>
              <a:t>（绿色柱子）</a:t>
            </a:r>
            <a:r>
              <a:rPr lang="zh-CN" altLang="en-US" sz="1200" kern="1200" dirty="0" smtClean="0">
                <a:solidFill>
                  <a:schemeClr val="tx1"/>
                </a:solidFill>
                <a:effectLst/>
                <a:latin typeface="+mn-lt"/>
                <a:ea typeface="+mn-ea"/>
                <a:cs typeface="+mn-cs"/>
              </a:rPr>
              <a:t>，显存占用瞬间被压缩到了 </a:t>
            </a:r>
            <a:r>
              <a:rPr lang="en-US" altLang="zh-CN" sz="1200" b="1" kern="1200" dirty="0" smtClean="0">
                <a:solidFill>
                  <a:schemeClr val="tx1"/>
                </a:solidFill>
                <a:effectLst/>
                <a:latin typeface="+mn-lt"/>
                <a:ea typeface="+mn-ea"/>
                <a:cs typeface="+mn-cs"/>
              </a:rPr>
              <a:t>23.18GB</a:t>
            </a:r>
            <a:r>
              <a:rPr lang="zh-CN" altLang="en-US" sz="1200"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pPr rtl="0"/>
            <a:endParaRPr lang="en-US" altLang="zh-CN" sz="1200" b="1" kern="1200" dirty="0" smtClean="0">
              <a:solidFill>
                <a:schemeClr val="tx1"/>
              </a:solidFill>
              <a:effectLst/>
              <a:latin typeface="+mn-lt"/>
              <a:ea typeface="+mn-ea"/>
              <a:cs typeface="+mn-cs"/>
            </a:endParaRPr>
          </a:p>
          <a:p>
            <a:pPr rtl="0"/>
            <a:r>
              <a:rPr lang="zh-CN" altLang="en-US" sz="1200" b="1" kern="1200" dirty="0" smtClean="0">
                <a:solidFill>
                  <a:schemeClr val="tx1"/>
                </a:solidFill>
                <a:effectLst/>
                <a:latin typeface="+mn-lt"/>
                <a:ea typeface="+mn-ea"/>
                <a:cs typeface="+mn-cs"/>
              </a:rPr>
              <a:t>为什么 </a:t>
            </a:r>
            <a:r>
              <a:rPr lang="en-US" altLang="zh-CN" sz="1200" b="1" kern="1200" dirty="0" smtClean="0">
                <a:solidFill>
                  <a:schemeClr val="tx1"/>
                </a:solidFill>
                <a:effectLst/>
                <a:latin typeface="+mn-lt"/>
                <a:ea typeface="+mn-ea"/>
                <a:cs typeface="+mn-cs"/>
              </a:rPr>
              <a:t>24GB </a:t>
            </a:r>
            <a:r>
              <a:rPr lang="zh-CN" altLang="en-US" sz="1200" b="1" kern="1200" dirty="0" smtClean="0">
                <a:solidFill>
                  <a:schemeClr val="tx1"/>
                </a:solidFill>
                <a:effectLst/>
                <a:latin typeface="+mn-lt"/>
                <a:ea typeface="+mn-ea"/>
                <a:cs typeface="+mn-cs"/>
              </a:rPr>
              <a:t>和 </a:t>
            </a:r>
            <a:r>
              <a:rPr lang="en-US" altLang="zh-CN" sz="1200" b="1" kern="1200" dirty="0" smtClean="0">
                <a:solidFill>
                  <a:schemeClr val="tx1"/>
                </a:solidFill>
                <a:effectLst/>
                <a:latin typeface="+mn-lt"/>
                <a:ea typeface="+mn-ea"/>
                <a:cs typeface="+mn-cs"/>
              </a:rPr>
              <a:t>23.18GB </a:t>
            </a:r>
            <a:r>
              <a:rPr lang="zh-CN" altLang="en-US" sz="1200" b="1" kern="1200" dirty="0" smtClean="0">
                <a:solidFill>
                  <a:schemeClr val="tx1"/>
                </a:solidFill>
                <a:effectLst/>
                <a:latin typeface="+mn-lt"/>
                <a:ea typeface="+mn-ea"/>
                <a:cs typeface="+mn-cs"/>
              </a:rPr>
              <a:t>这两个数字如此伟大？</a:t>
            </a:r>
            <a:endParaRPr lang="zh-CN" altLang="en-US" sz="1200" kern="1200" dirty="0" smtClean="0">
              <a:solidFill>
                <a:schemeClr val="tx1"/>
              </a:solidFill>
              <a:effectLst/>
              <a:latin typeface="+mn-lt"/>
              <a:ea typeface="+mn-ea"/>
              <a:cs typeface="+mn-cs"/>
            </a:endParaRPr>
          </a:p>
          <a:p>
            <a:pPr rtl="0"/>
            <a:r>
              <a:rPr lang="zh-CN" altLang="en-US" sz="1200" kern="1200" dirty="0" smtClean="0">
                <a:solidFill>
                  <a:schemeClr val="tx1"/>
                </a:solidFill>
                <a:effectLst/>
                <a:latin typeface="+mn-lt"/>
                <a:ea typeface="+mn-ea"/>
                <a:cs typeface="+mn-cs"/>
              </a:rPr>
              <a:t>因为 </a:t>
            </a:r>
            <a:r>
              <a:rPr lang="en-US" altLang="zh-CN" sz="1200" b="1" kern="1200" dirty="0" smtClean="0">
                <a:solidFill>
                  <a:schemeClr val="tx1"/>
                </a:solidFill>
                <a:effectLst/>
                <a:latin typeface="+mn-lt"/>
                <a:ea typeface="+mn-ea"/>
                <a:cs typeface="+mn-cs"/>
              </a:rPr>
              <a:t>24GB</a:t>
            </a:r>
            <a:r>
              <a:rPr lang="zh-CN" altLang="en-US" sz="1200" kern="1200" dirty="0" smtClean="0">
                <a:solidFill>
                  <a:schemeClr val="tx1"/>
                </a:solidFill>
                <a:effectLst/>
                <a:latin typeface="+mn-lt"/>
                <a:ea typeface="+mn-ea"/>
                <a:cs typeface="+mn-cs"/>
              </a:rPr>
              <a:t> 正好是顶级家用游戏显卡（比如 </a:t>
            </a:r>
            <a:r>
              <a:rPr lang="en-US" altLang="zh-CN" sz="1200" kern="1200" dirty="0" smtClean="0">
                <a:solidFill>
                  <a:schemeClr val="tx1"/>
                </a:solidFill>
                <a:effectLst/>
                <a:latin typeface="+mn-lt"/>
                <a:ea typeface="+mn-ea"/>
                <a:cs typeface="+mn-cs"/>
              </a:rPr>
              <a:t>RTX 3090 </a:t>
            </a:r>
            <a:r>
              <a:rPr lang="zh-CN" altLang="en-US" sz="1200" kern="1200" dirty="0" smtClean="0">
                <a:solidFill>
                  <a:schemeClr val="tx1"/>
                </a:solidFill>
                <a:effectLst/>
                <a:latin typeface="+mn-lt"/>
                <a:ea typeface="+mn-ea"/>
                <a:cs typeface="+mn-cs"/>
              </a:rPr>
              <a:t>或 </a:t>
            </a:r>
            <a:r>
              <a:rPr lang="en-US" altLang="zh-CN" sz="1200" kern="1200" dirty="0" smtClean="0">
                <a:solidFill>
                  <a:schemeClr val="tx1"/>
                </a:solidFill>
                <a:effectLst/>
                <a:latin typeface="+mn-lt"/>
                <a:ea typeface="+mn-ea"/>
                <a:cs typeface="+mn-cs"/>
              </a:rPr>
              <a:t>4090</a:t>
            </a:r>
            <a:r>
              <a:rPr lang="zh-CN" altLang="en-US" sz="1200" kern="1200" dirty="0" smtClean="0">
                <a:solidFill>
                  <a:schemeClr val="tx1"/>
                </a:solidFill>
                <a:effectLst/>
                <a:latin typeface="+mn-lt"/>
                <a:ea typeface="+mn-ea"/>
                <a:cs typeface="+mn-cs"/>
              </a:rPr>
              <a:t>）的物理显存上限。</a:t>
            </a:r>
            <a:r>
              <a:rPr lang="en-US" altLang="zh-CN" sz="1200" kern="1200" dirty="0" err="1" smtClean="0">
                <a:solidFill>
                  <a:schemeClr val="tx1"/>
                </a:solidFill>
                <a:effectLst/>
                <a:latin typeface="+mn-lt"/>
                <a:ea typeface="+mn-ea"/>
                <a:cs typeface="+mn-cs"/>
              </a:rPr>
              <a:t>LoRA</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极其精妙地将微调的门槛，从“昂贵的超算中心”拉低到了“普通大学生的宿舍”和“独立开发者的卧室”。</a:t>
            </a:r>
            <a:endParaRPr lang="zh-CN" altLang="en-US" sz="1200" kern="1200" dirty="0" smtClean="0">
              <a:solidFill>
                <a:schemeClr val="tx1"/>
              </a:solidFill>
              <a:effectLst/>
              <a:latin typeface="+mn-lt"/>
              <a:ea typeface="+mn-ea"/>
              <a:cs typeface="+mn-cs"/>
            </a:endParaRPr>
          </a:p>
          <a:p>
            <a:pPr rtl="0"/>
            <a:r>
              <a:rPr lang="zh-CN" altLang="en-US" sz="1200" b="1" kern="1200" dirty="0" smtClean="0">
                <a:solidFill>
                  <a:schemeClr val="tx1"/>
                </a:solidFill>
                <a:effectLst/>
                <a:latin typeface="+mn-lt"/>
                <a:ea typeface="+mn-ea"/>
                <a:cs typeface="+mn-cs"/>
              </a:rPr>
              <a:t>一句话总结：</a:t>
            </a:r>
            <a:endParaRPr lang="zh-CN" altLang="en-US" sz="1200" kern="1200" dirty="0" smtClean="0">
              <a:solidFill>
                <a:schemeClr val="tx1"/>
              </a:solidFill>
              <a:effectLst/>
              <a:latin typeface="+mn-lt"/>
              <a:ea typeface="+mn-ea"/>
              <a:cs typeface="+mn-cs"/>
            </a:endParaRPr>
          </a:p>
          <a:p>
            <a:pPr rtl="0"/>
            <a:r>
              <a:rPr lang="zh-CN" altLang="en-US" sz="1200" kern="1200" dirty="0" smtClean="0">
                <a:solidFill>
                  <a:schemeClr val="tx1"/>
                </a:solidFill>
                <a:effectLst/>
                <a:latin typeface="+mn-lt"/>
                <a:ea typeface="+mn-ea"/>
                <a:cs typeface="+mn-cs"/>
              </a:rPr>
              <a:t>这页 </a:t>
            </a:r>
            <a:r>
              <a:rPr lang="en-US" altLang="zh-CN" sz="1200" kern="1200" dirty="0" smtClean="0">
                <a:solidFill>
                  <a:schemeClr val="tx1"/>
                </a:solidFill>
                <a:effectLst/>
                <a:latin typeface="+mn-lt"/>
                <a:ea typeface="+mn-ea"/>
                <a:cs typeface="+mn-cs"/>
              </a:rPr>
              <a:t>PPT </a:t>
            </a:r>
            <a:r>
              <a:rPr lang="zh-CN" altLang="en-US" sz="1200" kern="1200" dirty="0" smtClean="0">
                <a:solidFill>
                  <a:schemeClr val="tx1"/>
                </a:solidFill>
                <a:effectLst/>
                <a:latin typeface="+mn-lt"/>
                <a:ea typeface="+mn-ea"/>
                <a:cs typeface="+mn-cs"/>
              </a:rPr>
              <a:t>告诉我们，</a:t>
            </a:r>
            <a:r>
              <a:rPr lang="en-US" altLang="zh-CN" sz="1200" kern="1200" dirty="0" err="1" smtClean="0">
                <a:solidFill>
                  <a:schemeClr val="tx1"/>
                </a:solidFill>
                <a:effectLst/>
                <a:latin typeface="+mn-lt"/>
                <a:ea typeface="+mn-ea"/>
                <a:cs typeface="+mn-cs"/>
              </a:rPr>
              <a:t>LoRA</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的伟大之处不仅在于算法的精巧，更在于它彻底打破了算力垄断，让任何拥有一张高端游戏显卡的普通人，都有资格拥抱并改造百亿参数的通用大模型。</a:t>
            </a:r>
            <a:endParaRPr lang="zh-CN" altLang="en-US" sz="1200" kern="1200" dirty="0" smtClean="0">
              <a:solidFill>
                <a:schemeClr val="tx1"/>
              </a:solidFill>
              <a:effectLst/>
              <a:latin typeface="+mn-lt"/>
              <a:ea typeface="+mn-ea"/>
              <a:cs typeface="+mn-cs"/>
            </a:endParaRPr>
          </a:p>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smtClean="0"/>
              <a:t>我们需要用真实的数据来回答一个最核心的质疑：</a:t>
            </a:r>
            <a:r>
              <a:rPr lang="zh-CN" altLang="en-US" b="1" dirty="0" smtClean="0"/>
              <a:t>“走捷径，会不会牺牲模型的智商</a:t>
            </a:r>
            <a:r>
              <a:rPr lang="en-US" altLang="zh-CN" b="1" dirty="0" smtClean="0"/>
              <a:t>/</a:t>
            </a:r>
            <a:r>
              <a:rPr lang="zh-CN" altLang="en-US" b="1" dirty="0" smtClean="0"/>
              <a:t>性能表现？”</a:t>
            </a:r>
            <a:endParaRPr lang="zh-CN" altLang="en-US" dirty="0" smtClean="0"/>
          </a:p>
          <a:p>
            <a:endParaRPr lang="en-US" altLang="zh-CN" dirty="0" smtClean="0"/>
          </a:p>
          <a:p>
            <a:r>
              <a:rPr lang="zh-CN" altLang="en-US" dirty="0" smtClean="0"/>
              <a:t>我们重点关注两个反直觉的学术结论：</a:t>
            </a:r>
            <a:endParaRPr lang="zh-CN" altLang="en-US" dirty="0" smtClean="0"/>
          </a:p>
          <a:p>
            <a:r>
              <a:rPr lang="zh-CN" altLang="en-US" b="1" dirty="0" smtClean="0"/>
              <a:t>第一，极端的工程效率（参数量断崖式下降）</a:t>
            </a:r>
            <a:r>
              <a:rPr lang="zh-CN" altLang="en-US" dirty="0" smtClean="0"/>
              <a:t> 大家把目光直接扫向右侧下方的 </a:t>
            </a:r>
            <a:r>
              <a:rPr lang="en-US" altLang="zh-CN" dirty="0" smtClean="0"/>
              <a:t>GPT-3 </a:t>
            </a:r>
            <a:r>
              <a:rPr lang="zh-CN" altLang="en-US" dirty="0" smtClean="0"/>
              <a:t>表格。 传统的全量微调（</a:t>
            </a:r>
            <a:r>
              <a:rPr lang="en-US" altLang="zh-CN" dirty="0" smtClean="0"/>
              <a:t>FT</a:t>
            </a:r>
            <a:r>
              <a:rPr lang="zh-CN" altLang="en-US" dirty="0" smtClean="0"/>
              <a:t>），需要暴力更新高达 </a:t>
            </a:r>
            <a:r>
              <a:rPr lang="en-US" altLang="zh-CN" b="1" dirty="0" smtClean="0"/>
              <a:t>1752</a:t>
            </a:r>
            <a:r>
              <a:rPr lang="zh-CN" altLang="en-US" b="1" dirty="0" smtClean="0"/>
              <a:t>亿（</a:t>
            </a:r>
            <a:r>
              <a:rPr lang="en-US" altLang="zh-CN" b="1" dirty="0" smtClean="0"/>
              <a:t>175,255.8M</a:t>
            </a:r>
            <a:r>
              <a:rPr lang="zh-CN" altLang="en-US" b="1" dirty="0" smtClean="0"/>
              <a:t>）</a:t>
            </a:r>
            <a:r>
              <a:rPr lang="zh-CN" altLang="en-US" dirty="0" smtClean="0"/>
              <a:t> 个参数。而在应用了 </a:t>
            </a:r>
            <a:r>
              <a:rPr lang="en-US" altLang="zh-CN" dirty="0" err="1" smtClean="0"/>
              <a:t>LoRA</a:t>
            </a:r>
            <a:r>
              <a:rPr lang="en-US" altLang="zh-CN" dirty="0" smtClean="0"/>
              <a:t> </a:t>
            </a:r>
            <a:r>
              <a:rPr lang="zh-CN" altLang="en-US" dirty="0" smtClean="0"/>
              <a:t>之后，同样是微调 </a:t>
            </a:r>
            <a:r>
              <a:rPr lang="en-US" altLang="zh-CN" dirty="0" smtClean="0"/>
              <a:t>GPT-3</a:t>
            </a:r>
            <a:r>
              <a:rPr lang="zh-CN" altLang="en-US" dirty="0" smtClean="0"/>
              <a:t>，真正需要更新的参数量被死死压榨到了仅仅 </a:t>
            </a:r>
            <a:r>
              <a:rPr lang="en-US" altLang="zh-CN" b="1" dirty="0" smtClean="0"/>
              <a:t>470</a:t>
            </a:r>
            <a:r>
              <a:rPr lang="zh-CN" altLang="en-US" b="1" dirty="0" smtClean="0"/>
              <a:t>万（</a:t>
            </a:r>
            <a:r>
              <a:rPr lang="en-US" altLang="zh-CN" b="1" dirty="0" smtClean="0"/>
              <a:t>4.7M</a:t>
            </a:r>
            <a:r>
              <a:rPr lang="zh-CN" altLang="en-US" b="1" dirty="0" smtClean="0"/>
              <a:t>）</a:t>
            </a:r>
            <a:r>
              <a:rPr lang="zh-CN" altLang="en-US" dirty="0" smtClean="0"/>
              <a:t>。 </a:t>
            </a:r>
            <a:endParaRPr lang="en-US" altLang="zh-CN" dirty="0" smtClean="0"/>
          </a:p>
          <a:p>
            <a:r>
              <a:rPr lang="zh-CN" altLang="en-US" dirty="0" smtClean="0"/>
              <a:t>这是几个数量级的抹零！</a:t>
            </a:r>
            <a:endParaRPr lang="en-US" altLang="zh-CN" dirty="0" smtClean="0"/>
          </a:p>
          <a:p>
            <a:endParaRPr lang="en-US" altLang="zh-CN" b="1" dirty="0" smtClean="0"/>
          </a:p>
          <a:p>
            <a:r>
              <a:rPr lang="zh-CN" altLang="en-US" b="1" dirty="0" smtClean="0"/>
              <a:t>第二，违反直觉的卓越性能（不降反升）</a:t>
            </a:r>
            <a:r>
              <a:rPr lang="zh-CN" altLang="en-US" dirty="0" smtClean="0"/>
              <a:t> 参数砍掉那么多，模型变笨了吗？并没有。 大家看右侧上方 </a:t>
            </a:r>
            <a:r>
              <a:rPr lang="en-US" altLang="zh-CN" dirty="0" err="1" smtClean="0"/>
              <a:t>RoBERTa</a:t>
            </a:r>
            <a:r>
              <a:rPr lang="en-US" altLang="zh-CN" dirty="0" smtClean="0"/>
              <a:t> </a:t>
            </a:r>
            <a:r>
              <a:rPr lang="zh-CN" altLang="en-US" dirty="0" smtClean="0"/>
              <a:t>模型的评测表，看最后一列的平均分（</a:t>
            </a:r>
            <a:r>
              <a:rPr lang="en-US" altLang="zh-CN" dirty="0" smtClean="0"/>
              <a:t>Avg.</a:t>
            </a:r>
            <a:r>
              <a:rPr lang="zh-CN" altLang="en-US" dirty="0" smtClean="0"/>
              <a:t>）。全量微调（</a:t>
            </a:r>
            <a:r>
              <a:rPr lang="en-US" altLang="zh-CN" dirty="0" smtClean="0"/>
              <a:t>FT</a:t>
            </a:r>
            <a:r>
              <a:rPr lang="zh-CN" altLang="en-US" dirty="0" smtClean="0"/>
              <a:t>）的得分是 </a:t>
            </a:r>
            <a:r>
              <a:rPr lang="en-US" altLang="zh-CN" b="1" dirty="0" smtClean="0"/>
              <a:t>86.4</a:t>
            </a:r>
            <a:r>
              <a:rPr lang="zh-CN" altLang="en-US" dirty="0" smtClean="0"/>
              <a:t>，而只更新了极少参数的 </a:t>
            </a:r>
            <a:r>
              <a:rPr lang="en-US" altLang="zh-CN" dirty="0" err="1" smtClean="0"/>
              <a:t>LoRA</a:t>
            </a:r>
            <a:r>
              <a:rPr lang="zh-CN" altLang="en-US" dirty="0" smtClean="0"/>
              <a:t>，不仅没有掉分，反而拿到了更高的 </a:t>
            </a:r>
            <a:r>
              <a:rPr lang="en-US" altLang="zh-CN" b="1" dirty="0" smtClean="0"/>
              <a:t>87.2</a:t>
            </a:r>
            <a:r>
              <a:rPr lang="zh-CN" altLang="en-US" dirty="0" smtClean="0"/>
              <a:t> 分。 为什么会这样？从学术逻辑上来讲，全量更新庞大的参数矩阵，极其容易在下游的小数据集上产生</a:t>
            </a:r>
            <a:r>
              <a:rPr lang="zh-CN" altLang="en-US" b="1" dirty="0" smtClean="0"/>
              <a:t>过拟合（</a:t>
            </a:r>
            <a:r>
              <a:rPr lang="en-US" altLang="zh-CN" b="1" dirty="0" smtClean="0"/>
              <a:t>Over-fitting</a:t>
            </a:r>
            <a:r>
              <a:rPr lang="zh-CN" altLang="en-US" b="1" dirty="0" smtClean="0"/>
              <a:t>）</a:t>
            </a:r>
            <a:r>
              <a:rPr lang="zh-CN" altLang="en-US" dirty="0" smtClean="0"/>
              <a:t>。而 </a:t>
            </a:r>
            <a:r>
              <a:rPr lang="en-US" altLang="zh-CN" dirty="0" err="1" smtClean="0"/>
              <a:t>LoRA</a:t>
            </a:r>
            <a:r>
              <a:rPr lang="en-US" altLang="zh-CN" dirty="0" smtClean="0"/>
              <a:t> </a:t>
            </a:r>
            <a:r>
              <a:rPr lang="zh-CN" altLang="en-US" dirty="0" smtClean="0"/>
              <a:t>这种低秩约束的机制，天然自带一种**正则化（</a:t>
            </a:r>
            <a:r>
              <a:rPr lang="en-US" altLang="zh-CN" dirty="0" smtClean="0"/>
              <a:t>Regularization</a:t>
            </a:r>
            <a:r>
              <a:rPr lang="zh-CN" altLang="en-US" dirty="0" smtClean="0"/>
              <a:t>）**的效果，反而保留了基座模型原本优秀的泛化能力。</a:t>
            </a:r>
            <a:endParaRPr lang="en-US" altLang="zh-CN" dirty="0" smtClean="0"/>
          </a:p>
          <a:p>
            <a:endParaRPr lang="zh-CN" altLang="en-US" dirty="0" smtClean="0"/>
          </a:p>
          <a:p>
            <a:r>
              <a:rPr lang="zh-CN" altLang="en-US" b="1" dirty="0" smtClean="0"/>
              <a:t>最后，</a:t>
            </a:r>
            <a:r>
              <a:rPr lang="zh-CN" altLang="en-US" dirty="0" smtClean="0"/>
              <a:t>正因为 </a:t>
            </a:r>
            <a:r>
              <a:rPr lang="en-US" altLang="zh-CN" dirty="0" err="1" smtClean="0"/>
              <a:t>LoRA</a:t>
            </a:r>
            <a:r>
              <a:rPr lang="en-US" altLang="zh-CN" dirty="0" smtClean="0"/>
              <a:t> </a:t>
            </a:r>
            <a:r>
              <a:rPr lang="zh-CN" altLang="en-US" dirty="0" smtClean="0"/>
              <a:t>在逻辑上的优雅和效率上的极致，它目前已经成为整个大模型微调领域的基石。大家看左下角，沿着它的思路，学术界后来又衍生出了量化版本的 </a:t>
            </a:r>
            <a:r>
              <a:rPr lang="en-US" altLang="zh-CN" dirty="0" err="1" smtClean="0"/>
              <a:t>QLoRA</a:t>
            </a:r>
            <a:r>
              <a:rPr lang="zh-CN" altLang="en-US" dirty="0" smtClean="0"/>
              <a:t>、基于奇异值分解的 </a:t>
            </a:r>
            <a:r>
              <a:rPr lang="en-US" altLang="zh-CN" dirty="0" err="1" smtClean="0"/>
              <a:t>PiSSA</a:t>
            </a:r>
            <a:r>
              <a:rPr lang="en-US" altLang="zh-CN" dirty="0" smtClean="0"/>
              <a:t> </a:t>
            </a:r>
            <a:r>
              <a:rPr lang="zh-CN" altLang="en-US" dirty="0" smtClean="0"/>
              <a:t>等等，彻底点燃了开源社区的繁荣。</a:t>
            </a:r>
            <a:endParaRPr lang="zh-CN" altLang="en-US" dirty="0" smtClean="0"/>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zh-CN" altLang="en-US" sz="1200" kern="1200" dirty="0" smtClean="0">
                <a:solidFill>
                  <a:schemeClr val="tx1"/>
                </a:solidFill>
                <a:effectLst/>
                <a:latin typeface="+mn-lt"/>
                <a:ea typeface="+mn-ea"/>
                <a:cs typeface="+mn-cs"/>
              </a:rPr>
              <a:t>同学们好。前面咱们推导了 </a:t>
            </a:r>
            <a:r>
              <a:rPr lang="en-US" altLang="zh-CN" sz="1200" kern="1200" dirty="0" err="1" smtClean="0">
                <a:solidFill>
                  <a:schemeClr val="tx1"/>
                </a:solidFill>
                <a:effectLst/>
                <a:latin typeface="+mn-lt"/>
                <a:ea typeface="+mn-ea"/>
                <a:cs typeface="+mn-cs"/>
              </a:rPr>
              <a:t>LoRA</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的数学原理，也算了它省下的“显存账本”。但这节课，我们要剥开理论的外衣，直接看最硬核的工程源码。</a:t>
            </a:r>
            <a:endParaRPr lang="zh-CN" altLang="en-US" sz="1200" kern="1200" dirty="0" smtClean="0">
              <a:solidFill>
                <a:schemeClr val="tx1"/>
              </a:solidFill>
              <a:effectLst/>
              <a:latin typeface="+mn-lt"/>
              <a:ea typeface="+mn-ea"/>
              <a:cs typeface="+mn-cs"/>
            </a:endParaRPr>
          </a:p>
          <a:p>
            <a:pPr rtl="0"/>
            <a:r>
              <a:rPr lang="zh-CN" altLang="en-US" sz="1200" kern="1200" dirty="0" smtClean="0">
                <a:solidFill>
                  <a:schemeClr val="tx1"/>
                </a:solidFill>
                <a:effectLst/>
                <a:latin typeface="+mn-lt"/>
                <a:ea typeface="+mn-ea"/>
                <a:cs typeface="+mn-cs"/>
              </a:rPr>
              <a:t>这页 </a:t>
            </a:r>
            <a:r>
              <a:rPr lang="en-US" altLang="zh-CN" sz="1200" kern="1200" dirty="0" smtClean="0">
                <a:solidFill>
                  <a:schemeClr val="tx1"/>
                </a:solidFill>
                <a:effectLst/>
                <a:latin typeface="+mn-lt"/>
                <a:ea typeface="+mn-ea"/>
                <a:cs typeface="+mn-cs"/>
              </a:rPr>
              <a:t>PPT </a:t>
            </a:r>
            <a:r>
              <a:rPr lang="zh-CN" altLang="en-US" sz="1200" kern="1200" dirty="0" smtClean="0">
                <a:solidFill>
                  <a:schemeClr val="tx1"/>
                </a:solidFill>
                <a:effectLst/>
                <a:latin typeface="+mn-lt"/>
                <a:ea typeface="+mn-ea"/>
                <a:cs typeface="+mn-cs"/>
              </a:rPr>
              <a:t>展示的是 </a:t>
            </a:r>
            <a:r>
              <a:rPr lang="en-US" altLang="zh-CN" sz="1200" kern="1200" dirty="0" err="1" smtClean="0">
                <a:solidFill>
                  <a:schemeClr val="tx1"/>
                </a:solidFill>
                <a:effectLst/>
                <a:latin typeface="+mn-lt"/>
                <a:ea typeface="+mn-ea"/>
                <a:cs typeface="+mn-cs"/>
              </a:rPr>
              <a:t>LoRA</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核心模块在 </a:t>
            </a:r>
            <a:r>
              <a:rPr lang="en-US" altLang="zh-CN" sz="1200" kern="1200" dirty="0" err="1" smtClean="0">
                <a:solidFill>
                  <a:schemeClr val="tx1"/>
                </a:solidFill>
                <a:effectLst/>
                <a:latin typeface="+mn-lt"/>
                <a:ea typeface="+mn-ea"/>
                <a:cs typeface="+mn-cs"/>
              </a:rPr>
              <a:t>PyTorch</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中的极简实现。别看只有短短十几行代码，里面藏着三个极具工业级智慧的“神来之笔”。咱们顺着代码一行行看：</a:t>
            </a:r>
            <a:endParaRPr lang="zh-CN" altLang="en-US" sz="1200" kern="1200" dirty="0" smtClean="0">
              <a:solidFill>
                <a:schemeClr val="tx1"/>
              </a:solidFill>
              <a:effectLst/>
              <a:latin typeface="+mn-lt"/>
              <a:ea typeface="+mn-ea"/>
              <a:cs typeface="+mn-cs"/>
            </a:endParaRPr>
          </a:p>
          <a:p>
            <a:pPr rtl="0"/>
            <a:r>
              <a:rPr lang="zh-CN" altLang="en-US" sz="1200" b="1" kern="1200" dirty="0" smtClean="0">
                <a:solidFill>
                  <a:schemeClr val="tx1"/>
                </a:solidFill>
                <a:effectLst/>
                <a:latin typeface="+mn-lt"/>
                <a:ea typeface="+mn-ea"/>
                <a:cs typeface="+mn-cs"/>
              </a:rPr>
              <a:t>第一处神来之笔：冻结基座（</a:t>
            </a:r>
            <a:r>
              <a:rPr lang="en-US" altLang="zh-CN" sz="1200" b="1" kern="1200" dirty="0" smtClean="0">
                <a:solidFill>
                  <a:schemeClr val="tx1"/>
                </a:solidFill>
                <a:effectLst/>
                <a:latin typeface="+mn-lt"/>
                <a:ea typeface="+mn-ea"/>
                <a:cs typeface="+mn-cs"/>
              </a:rPr>
              <a:t>Gradient Freezing</a:t>
            </a:r>
            <a:r>
              <a:rPr lang="zh-CN" altLang="en-US" sz="1200" b="1"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pPr rtl="0"/>
            <a:r>
              <a:rPr lang="zh-CN" altLang="en-US" sz="1200" kern="1200" dirty="0" smtClean="0">
                <a:solidFill>
                  <a:schemeClr val="tx1"/>
                </a:solidFill>
                <a:effectLst/>
                <a:latin typeface="+mn-lt"/>
                <a:ea typeface="+mn-ea"/>
                <a:cs typeface="+mn-cs"/>
              </a:rPr>
              <a:t>大家看 </a:t>
            </a:r>
            <a:r>
              <a:rPr lang="en-US" altLang="zh-CN" sz="1200" kern="1200" dirty="0" smtClean="0">
                <a:solidFill>
                  <a:schemeClr val="tx1"/>
                </a:solidFill>
                <a:effectLst/>
                <a:latin typeface="+mn-lt"/>
                <a:ea typeface="+mn-ea"/>
                <a:cs typeface="+mn-cs"/>
              </a:rPr>
              <a:t>__</a:t>
            </a:r>
            <a:r>
              <a:rPr lang="en-US" altLang="zh-CN" sz="1200" kern="1200" dirty="0" err="1" smtClean="0">
                <a:solidFill>
                  <a:schemeClr val="tx1"/>
                </a:solidFill>
                <a:effectLst/>
                <a:latin typeface="+mn-lt"/>
                <a:ea typeface="+mn-ea"/>
                <a:cs typeface="+mn-cs"/>
              </a:rPr>
              <a:t>init</a:t>
            </a:r>
            <a:r>
              <a:rPr lang="en-US" altLang="zh-CN" sz="1200" kern="1200" dirty="0" smtClean="0">
                <a:solidFill>
                  <a:schemeClr val="tx1"/>
                </a:solidFill>
                <a:effectLst/>
                <a:latin typeface="+mn-lt"/>
                <a:ea typeface="+mn-ea"/>
                <a:cs typeface="+mn-cs"/>
              </a:rPr>
              <a:t>__ </a:t>
            </a:r>
            <a:r>
              <a:rPr lang="zh-CN" altLang="en-US" sz="1200" kern="1200" dirty="0" smtClean="0">
                <a:solidFill>
                  <a:schemeClr val="tx1"/>
                </a:solidFill>
                <a:effectLst/>
                <a:latin typeface="+mn-lt"/>
                <a:ea typeface="+mn-ea"/>
                <a:cs typeface="+mn-cs"/>
              </a:rPr>
              <a:t>函数的下半部分，那两句极其霸道的代码：</a:t>
            </a:r>
            <a:r>
              <a:rPr lang="en-US" altLang="zh-CN" sz="1200" kern="1200" dirty="0" err="1" smtClean="0">
                <a:solidFill>
                  <a:schemeClr val="tx1"/>
                </a:solidFill>
                <a:effectLst/>
                <a:latin typeface="+mn-lt"/>
                <a:ea typeface="+mn-ea"/>
                <a:cs typeface="+mn-cs"/>
              </a:rPr>
              <a:t>requires_grad</a:t>
            </a:r>
            <a:r>
              <a:rPr lang="en-US" altLang="zh-CN" sz="1200" kern="1200" dirty="0" smtClean="0">
                <a:solidFill>
                  <a:schemeClr val="tx1"/>
                </a:solidFill>
                <a:effectLst/>
                <a:latin typeface="+mn-lt"/>
                <a:ea typeface="+mn-ea"/>
                <a:cs typeface="+mn-cs"/>
              </a:rPr>
              <a:t> = False</a:t>
            </a:r>
            <a:r>
              <a:rPr lang="zh-CN" altLang="en-US" sz="1200"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pPr rtl="0"/>
            <a:r>
              <a:rPr lang="zh-CN" altLang="en-US" sz="1200" kern="1200" dirty="0" smtClean="0">
                <a:solidFill>
                  <a:schemeClr val="tx1"/>
                </a:solidFill>
                <a:effectLst/>
                <a:latin typeface="+mn-lt"/>
                <a:ea typeface="+mn-ea"/>
                <a:cs typeface="+mn-cs"/>
              </a:rPr>
              <a:t>这就是我们在代码层面给大模型“上锁”。它强行告诉深度学习框架：原来那个庞大的 </a:t>
            </a:r>
            <a:r>
              <a:rPr lang="en-US" altLang="zh-CN" sz="1200" kern="1200" dirty="0" err="1" smtClean="0">
                <a:solidFill>
                  <a:schemeClr val="tx1"/>
                </a:solidFill>
                <a:effectLst/>
                <a:latin typeface="+mn-lt"/>
                <a:ea typeface="+mn-ea"/>
                <a:cs typeface="+mn-cs"/>
              </a:rPr>
              <a:t>original_layer</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矩阵，在反向传播时绝对不允许计算梯度！正是这行不起眼的代码，替我们砍掉了 </a:t>
            </a:r>
            <a:r>
              <a:rPr lang="en-US" altLang="zh-CN" sz="1200" kern="1200" dirty="0" smtClean="0">
                <a:solidFill>
                  <a:schemeClr val="tx1"/>
                </a:solidFill>
                <a:effectLst/>
                <a:latin typeface="+mn-lt"/>
                <a:ea typeface="+mn-ea"/>
                <a:cs typeface="+mn-cs"/>
              </a:rPr>
              <a:t>99% </a:t>
            </a:r>
            <a:r>
              <a:rPr lang="zh-CN" altLang="en-US" sz="1200" kern="1200" dirty="0" smtClean="0">
                <a:solidFill>
                  <a:schemeClr val="tx1"/>
                </a:solidFill>
                <a:effectLst/>
                <a:latin typeface="+mn-lt"/>
                <a:ea typeface="+mn-ea"/>
                <a:cs typeface="+mn-cs"/>
              </a:rPr>
              <a:t>的显存消耗。</a:t>
            </a:r>
            <a:endParaRPr lang="zh-CN" altLang="en-US" sz="1200" kern="1200" dirty="0" smtClean="0">
              <a:solidFill>
                <a:schemeClr val="tx1"/>
              </a:solidFill>
              <a:effectLst/>
              <a:latin typeface="+mn-lt"/>
              <a:ea typeface="+mn-ea"/>
              <a:cs typeface="+mn-cs"/>
            </a:endParaRPr>
          </a:p>
          <a:p>
            <a:pPr rtl="0"/>
            <a:r>
              <a:rPr lang="zh-CN" altLang="en-US" sz="1200" b="1" kern="1200" dirty="0" smtClean="0">
                <a:solidFill>
                  <a:schemeClr val="tx1"/>
                </a:solidFill>
                <a:effectLst/>
                <a:latin typeface="+mn-lt"/>
                <a:ea typeface="+mn-ea"/>
                <a:cs typeface="+mn-cs"/>
              </a:rPr>
              <a:t>第二处神来之笔：旁路降维（</a:t>
            </a:r>
            <a:r>
              <a:rPr lang="en-US" altLang="zh-CN" sz="1200" b="1" kern="1200" dirty="0" smtClean="0">
                <a:solidFill>
                  <a:schemeClr val="tx1"/>
                </a:solidFill>
                <a:effectLst/>
                <a:latin typeface="+mn-lt"/>
                <a:ea typeface="+mn-ea"/>
                <a:cs typeface="+mn-cs"/>
              </a:rPr>
              <a:t>Core Idea</a:t>
            </a:r>
            <a:r>
              <a:rPr lang="zh-CN" altLang="en-US" sz="1200" b="1"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pPr rtl="0"/>
            <a:r>
              <a:rPr lang="zh-CN" altLang="en-US" sz="1200" kern="1200" dirty="0" smtClean="0">
                <a:solidFill>
                  <a:schemeClr val="tx1"/>
                </a:solidFill>
                <a:effectLst/>
                <a:latin typeface="+mn-lt"/>
                <a:ea typeface="+mn-ea"/>
                <a:cs typeface="+mn-cs"/>
              </a:rPr>
              <a:t>基座冻住了，新知识怎么学？看中间定义 </a:t>
            </a:r>
            <a:r>
              <a:rPr lang="en-US" altLang="zh-CN" sz="1200" kern="1200" dirty="0" err="1" smtClean="0">
                <a:solidFill>
                  <a:schemeClr val="tx1"/>
                </a:solidFill>
                <a:effectLst/>
                <a:latin typeface="+mn-lt"/>
                <a:ea typeface="+mn-ea"/>
                <a:cs typeface="+mn-cs"/>
              </a:rPr>
              <a:t>lora_A</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和 </a:t>
            </a:r>
            <a:r>
              <a:rPr lang="en-US" altLang="zh-CN" sz="1200" kern="1200" dirty="0" err="1" smtClean="0">
                <a:solidFill>
                  <a:schemeClr val="tx1"/>
                </a:solidFill>
                <a:effectLst/>
                <a:latin typeface="+mn-lt"/>
                <a:ea typeface="+mn-ea"/>
                <a:cs typeface="+mn-cs"/>
              </a:rPr>
              <a:t>lora_B</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的地方。</a:t>
            </a:r>
            <a:endParaRPr lang="zh-CN" altLang="en-US" sz="1200" kern="1200" dirty="0" smtClean="0">
              <a:solidFill>
                <a:schemeClr val="tx1"/>
              </a:solidFill>
              <a:effectLst/>
              <a:latin typeface="+mn-lt"/>
              <a:ea typeface="+mn-ea"/>
              <a:cs typeface="+mn-cs"/>
            </a:endParaRPr>
          </a:p>
          <a:p>
            <a:pPr rtl="0"/>
            <a:r>
              <a:rPr lang="en-US" altLang="zh-CN" sz="1200" kern="1200" dirty="0" err="1" smtClean="0">
                <a:solidFill>
                  <a:schemeClr val="tx1"/>
                </a:solidFill>
                <a:effectLst/>
                <a:latin typeface="+mn-lt"/>
                <a:ea typeface="+mn-ea"/>
                <a:cs typeface="+mn-cs"/>
              </a:rPr>
              <a:t>lora_A</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是一个**降维（</a:t>
            </a:r>
            <a:r>
              <a:rPr lang="en-US" altLang="zh-CN" sz="1200" kern="1200" dirty="0" smtClean="0">
                <a:solidFill>
                  <a:schemeClr val="tx1"/>
                </a:solidFill>
                <a:effectLst/>
                <a:latin typeface="+mn-lt"/>
                <a:ea typeface="+mn-ea"/>
                <a:cs typeface="+mn-cs"/>
              </a:rPr>
              <a:t>down-projection</a:t>
            </a:r>
            <a:r>
              <a:rPr lang="zh-CN" altLang="en-US" sz="1200" kern="1200" dirty="0" smtClean="0">
                <a:solidFill>
                  <a:schemeClr val="tx1"/>
                </a:solidFill>
                <a:effectLst/>
                <a:latin typeface="+mn-lt"/>
                <a:ea typeface="+mn-ea"/>
                <a:cs typeface="+mn-cs"/>
              </a:rPr>
              <a:t>）**矩阵，把高维的输入特征强行压缩到极其微小的 </a:t>
            </a:r>
            <a:r>
              <a:rPr lang="en-US" altLang="zh-CN" sz="1200" kern="1200" dirty="0" smtClean="0">
                <a:solidFill>
                  <a:schemeClr val="tx1"/>
                </a:solidFill>
                <a:effectLst/>
                <a:latin typeface="+mn-lt"/>
                <a:ea typeface="+mn-ea"/>
                <a:cs typeface="+mn-cs"/>
              </a:rPr>
              <a:t>rank </a:t>
            </a:r>
            <a:r>
              <a:rPr lang="zh-CN" altLang="en-US" sz="1200" kern="1200" dirty="0" smtClean="0">
                <a:solidFill>
                  <a:schemeClr val="tx1"/>
                </a:solidFill>
                <a:effectLst/>
                <a:latin typeface="+mn-lt"/>
                <a:ea typeface="+mn-ea"/>
                <a:cs typeface="+mn-cs"/>
              </a:rPr>
              <a:t>维度。</a:t>
            </a:r>
            <a:endParaRPr lang="zh-CN" altLang="en-US" sz="1200" kern="1200" dirty="0" smtClean="0">
              <a:solidFill>
                <a:schemeClr val="tx1"/>
              </a:solidFill>
              <a:effectLst/>
              <a:latin typeface="+mn-lt"/>
              <a:ea typeface="+mn-ea"/>
              <a:cs typeface="+mn-cs"/>
            </a:endParaRPr>
          </a:p>
          <a:p>
            <a:pPr rtl="0"/>
            <a:r>
              <a:rPr lang="en-US" altLang="zh-CN" sz="1200" kern="1200" dirty="0" err="1" smtClean="0">
                <a:solidFill>
                  <a:schemeClr val="tx1"/>
                </a:solidFill>
                <a:effectLst/>
                <a:latin typeface="+mn-lt"/>
                <a:ea typeface="+mn-ea"/>
                <a:cs typeface="+mn-cs"/>
              </a:rPr>
              <a:t>lora_B</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是一个**升维（</a:t>
            </a:r>
            <a:r>
              <a:rPr lang="en-US" altLang="zh-CN" sz="1200" kern="1200" dirty="0" smtClean="0">
                <a:solidFill>
                  <a:schemeClr val="tx1"/>
                </a:solidFill>
                <a:effectLst/>
                <a:latin typeface="+mn-lt"/>
                <a:ea typeface="+mn-ea"/>
                <a:cs typeface="+mn-cs"/>
              </a:rPr>
              <a:t>up-projection</a:t>
            </a:r>
            <a:r>
              <a:rPr lang="zh-CN" altLang="en-US" sz="1200" kern="1200" dirty="0" smtClean="0">
                <a:solidFill>
                  <a:schemeClr val="tx1"/>
                </a:solidFill>
                <a:effectLst/>
                <a:latin typeface="+mn-lt"/>
                <a:ea typeface="+mn-ea"/>
                <a:cs typeface="+mn-cs"/>
              </a:rPr>
              <a:t>）**矩阵，把微小维度再还原回输出维度。</a:t>
            </a:r>
            <a:endParaRPr lang="zh-CN" altLang="en-US" sz="1200" kern="1200" dirty="0" smtClean="0">
              <a:solidFill>
                <a:schemeClr val="tx1"/>
              </a:solidFill>
              <a:effectLst/>
              <a:latin typeface="+mn-lt"/>
              <a:ea typeface="+mn-ea"/>
              <a:cs typeface="+mn-cs"/>
            </a:endParaRPr>
          </a:p>
          <a:p>
            <a:pPr rtl="0"/>
            <a:r>
              <a:rPr lang="zh-CN" altLang="en-US" sz="1200" kern="1200" dirty="0" smtClean="0">
                <a:solidFill>
                  <a:schemeClr val="tx1"/>
                </a:solidFill>
                <a:effectLst/>
                <a:latin typeface="+mn-lt"/>
                <a:ea typeface="+mn-ea"/>
                <a:cs typeface="+mn-cs"/>
              </a:rPr>
              <a:t>这就相当于在被封死的主干道旁边，巧妙地修了一条极其轻量级的“辅路”。</a:t>
            </a:r>
            <a:endParaRPr lang="zh-CN" altLang="en-US" sz="1200" kern="1200" dirty="0" smtClean="0">
              <a:solidFill>
                <a:schemeClr val="tx1"/>
              </a:solidFill>
              <a:effectLst/>
              <a:latin typeface="+mn-lt"/>
              <a:ea typeface="+mn-ea"/>
              <a:cs typeface="+mn-cs"/>
            </a:endParaRPr>
          </a:p>
          <a:p>
            <a:pPr rtl="0"/>
            <a:r>
              <a:rPr lang="zh-CN" altLang="en-US" sz="1200" b="1" kern="1200" dirty="0" smtClean="0">
                <a:solidFill>
                  <a:schemeClr val="tx1"/>
                </a:solidFill>
                <a:effectLst/>
                <a:latin typeface="+mn-lt"/>
                <a:ea typeface="+mn-ea"/>
                <a:cs typeface="+mn-cs"/>
              </a:rPr>
              <a:t>第三处神来之笔：零初始化（</a:t>
            </a:r>
            <a:r>
              <a:rPr lang="en-US" altLang="zh-CN" sz="1200" b="1" kern="1200" dirty="0" smtClean="0">
                <a:solidFill>
                  <a:schemeClr val="tx1"/>
                </a:solidFill>
                <a:effectLst/>
                <a:latin typeface="+mn-lt"/>
                <a:ea typeface="+mn-ea"/>
                <a:cs typeface="+mn-cs"/>
              </a:rPr>
              <a:t>Zero Initialization</a:t>
            </a:r>
            <a:r>
              <a:rPr lang="zh-CN" altLang="en-US" sz="1200" b="1"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pPr rtl="0"/>
            <a:r>
              <a:rPr lang="zh-CN" altLang="en-US" sz="1200" kern="1200" dirty="0" smtClean="0">
                <a:solidFill>
                  <a:schemeClr val="tx1"/>
                </a:solidFill>
                <a:effectLst/>
                <a:latin typeface="+mn-lt"/>
                <a:ea typeface="+mn-ea"/>
                <a:cs typeface="+mn-cs"/>
              </a:rPr>
              <a:t>这是整段代码里最精妙的一处细节，大家看这句：</a:t>
            </a:r>
            <a:r>
              <a:rPr lang="en-US" altLang="zh-CN" sz="1200" kern="1200" dirty="0" err="1" smtClean="0">
                <a:solidFill>
                  <a:schemeClr val="tx1"/>
                </a:solidFill>
                <a:effectLst/>
                <a:latin typeface="+mn-lt"/>
                <a:ea typeface="+mn-ea"/>
                <a:cs typeface="+mn-cs"/>
              </a:rPr>
              <a:t>nn.init.zeros</a:t>
            </a:r>
            <a:r>
              <a:rPr lang="en-US" altLang="zh-CN" sz="1200" kern="1200" dirty="0" smtClean="0">
                <a:solidFill>
                  <a:schemeClr val="tx1"/>
                </a:solidFill>
                <a:effectLst/>
                <a:latin typeface="+mn-lt"/>
                <a:ea typeface="+mn-ea"/>
                <a:cs typeface="+mn-cs"/>
              </a:rPr>
              <a:t>_(</a:t>
            </a:r>
            <a:r>
              <a:rPr lang="en-US" altLang="zh-CN" sz="1200" kern="1200" dirty="0" err="1" smtClean="0">
                <a:solidFill>
                  <a:schemeClr val="tx1"/>
                </a:solidFill>
                <a:effectLst/>
                <a:latin typeface="+mn-lt"/>
                <a:ea typeface="+mn-ea"/>
                <a:cs typeface="+mn-cs"/>
              </a:rPr>
              <a:t>self.lora_B.weight</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pPr rtl="0"/>
            <a:r>
              <a:rPr lang="zh-CN" altLang="en-US" sz="1200" kern="1200" dirty="0" smtClean="0">
                <a:solidFill>
                  <a:schemeClr val="tx1"/>
                </a:solidFill>
                <a:effectLst/>
                <a:latin typeface="+mn-lt"/>
                <a:ea typeface="+mn-ea"/>
                <a:cs typeface="+mn-cs"/>
              </a:rPr>
              <a:t>为什么要把 </a:t>
            </a:r>
            <a:r>
              <a:rPr lang="en-US" altLang="zh-CN" sz="1200" kern="1200" dirty="0" err="1" smtClean="0">
                <a:solidFill>
                  <a:schemeClr val="tx1"/>
                </a:solidFill>
                <a:effectLst/>
                <a:latin typeface="+mn-lt"/>
                <a:ea typeface="+mn-ea"/>
                <a:cs typeface="+mn-cs"/>
              </a:rPr>
              <a:t>lora_B</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强行初始化为全 </a:t>
            </a:r>
            <a:r>
              <a:rPr lang="en-US" altLang="zh-CN" sz="1200" kern="1200" dirty="0" smtClean="0">
                <a:solidFill>
                  <a:schemeClr val="tx1"/>
                </a:solidFill>
                <a:effectLst/>
                <a:latin typeface="+mn-lt"/>
                <a:ea typeface="+mn-ea"/>
                <a:cs typeface="+mn-cs"/>
              </a:rPr>
              <a:t>0</a:t>
            </a:r>
            <a:r>
              <a:rPr lang="zh-CN" altLang="en-US" sz="1200" kern="1200" dirty="0" smtClean="0">
                <a:solidFill>
                  <a:schemeClr val="tx1"/>
                </a:solidFill>
                <a:effectLst/>
                <a:latin typeface="+mn-lt"/>
                <a:ea typeface="+mn-ea"/>
                <a:cs typeface="+mn-cs"/>
              </a:rPr>
              <a:t>？大家顺着逻辑想：因为 </a:t>
            </a:r>
            <a:r>
              <a:rPr lang="en-US" altLang="zh-CN" sz="1200" kern="1200" dirty="0" smtClean="0">
                <a:solidFill>
                  <a:schemeClr val="tx1"/>
                </a:solidFill>
                <a:effectLst/>
                <a:latin typeface="+mn-lt"/>
                <a:ea typeface="+mn-ea"/>
                <a:cs typeface="+mn-cs"/>
              </a:rPr>
              <a:t>$B$ </a:t>
            </a:r>
            <a:r>
              <a:rPr lang="zh-CN" altLang="en-US" sz="1200" kern="1200" dirty="0" smtClean="0">
                <a:solidFill>
                  <a:schemeClr val="tx1"/>
                </a:solidFill>
                <a:effectLst/>
                <a:latin typeface="+mn-lt"/>
                <a:ea typeface="+mn-ea"/>
                <a:cs typeface="+mn-cs"/>
              </a:rPr>
              <a:t>是 </a:t>
            </a:r>
            <a:r>
              <a:rPr lang="en-US" altLang="zh-CN" sz="1200" kern="1200" dirty="0" smtClean="0">
                <a:solidFill>
                  <a:schemeClr val="tx1"/>
                </a:solidFill>
                <a:effectLst/>
                <a:latin typeface="+mn-lt"/>
                <a:ea typeface="+mn-ea"/>
                <a:cs typeface="+mn-cs"/>
              </a:rPr>
              <a:t>0</a:t>
            </a:r>
            <a:r>
              <a:rPr lang="zh-CN" altLang="en-US" sz="1200" kern="1200" dirty="0" smtClean="0">
                <a:solidFill>
                  <a:schemeClr val="tx1"/>
                </a:solidFill>
                <a:effectLst/>
                <a:latin typeface="+mn-lt"/>
                <a:ea typeface="+mn-ea"/>
                <a:cs typeface="+mn-cs"/>
              </a:rPr>
              <a:t>，所以在训练刚开始的第 </a:t>
            </a:r>
            <a:r>
              <a:rPr lang="en-US" altLang="zh-CN" sz="1200" kern="1200" dirty="0" smtClean="0">
                <a:solidFill>
                  <a:schemeClr val="tx1"/>
                </a:solidFill>
                <a:effectLst/>
                <a:latin typeface="+mn-lt"/>
                <a:ea typeface="+mn-ea"/>
                <a:cs typeface="+mn-cs"/>
              </a:rPr>
              <a:t>0 </a:t>
            </a:r>
            <a:r>
              <a:rPr lang="zh-CN" altLang="en-US" sz="1200" kern="1200" dirty="0" smtClean="0">
                <a:solidFill>
                  <a:schemeClr val="tx1"/>
                </a:solidFill>
                <a:effectLst/>
                <a:latin typeface="+mn-lt"/>
                <a:ea typeface="+mn-ea"/>
                <a:cs typeface="+mn-cs"/>
              </a:rPr>
              <a:t>步，这条辅路（</a:t>
            </a:r>
            <a:r>
              <a:rPr lang="en-US" altLang="zh-CN" sz="1200" kern="1200" dirty="0" smtClean="0">
                <a:solidFill>
                  <a:schemeClr val="tx1"/>
                </a:solidFill>
                <a:effectLst/>
                <a:latin typeface="+mn-lt"/>
                <a:ea typeface="+mn-ea"/>
                <a:cs typeface="+mn-cs"/>
              </a:rPr>
              <a:t>$A \times B$</a:t>
            </a:r>
            <a:r>
              <a:rPr lang="zh-CN" altLang="en-US" sz="1200" kern="1200" dirty="0" smtClean="0">
                <a:solidFill>
                  <a:schemeClr val="tx1"/>
                </a:solidFill>
                <a:effectLst/>
                <a:latin typeface="+mn-lt"/>
                <a:ea typeface="+mn-ea"/>
                <a:cs typeface="+mn-cs"/>
              </a:rPr>
              <a:t>）输出的增量结果必定是 </a:t>
            </a:r>
            <a:r>
              <a:rPr lang="en-US" altLang="zh-CN" sz="1200" kern="1200" dirty="0" smtClean="0">
                <a:solidFill>
                  <a:schemeClr val="tx1"/>
                </a:solidFill>
                <a:effectLst/>
                <a:latin typeface="+mn-lt"/>
                <a:ea typeface="+mn-ea"/>
                <a:cs typeface="+mn-cs"/>
              </a:rPr>
              <a:t>0</a:t>
            </a:r>
            <a:r>
              <a:rPr lang="zh-CN" altLang="en-US" sz="1200"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pPr rtl="0"/>
            <a:r>
              <a:rPr lang="zh-CN" altLang="en-US" sz="1200" kern="1200" dirty="0" smtClean="0">
                <a:solidFill>
                  <a:schemeClr val="tx1"/>
                </a:solidFill>
                <a:effectLst/>
                <a:latin typeface="+mn-lt"/>
                <a:ea typeface="+mn-ea"/>
                <a:cs typeface="+mn-cs"/>
              </a:rPr>
              <a:t>看最底下的 </a:t>
            </a:r>
            <a:r>
              <a:rPr lang="en-US" altLang="zh-CN" sz="1200" kern="1200" dirty="0" smtClean="0">
                <a:solidFill>
                  <a:schemeClr val="tx1"/>
                </a:solidFill>
                <a:effectLst/>
                <a:latin typeface="+mn-lt"/>
                <a:ea typeface="+mn-ea"/>
                <a:cs typeface="+mn-cs"/>
              </a:rPr>
              <a:t>forward </a:t>
            </a:r>
            <a:r>
              <a:rPr lang="zh-CN" altLang="en-US" sz="1200" kern="1200" dirty="0" smtClean="0">
                <a:solidFill>
                  <a:schemeClr val="tx1"/>
                </a:solidFill>
                <a:effectLst/>
                <a:latin typeface="+mn-lt"/>
                <a:ea typeface="+mn-ea"/>
                <a:cs typeface="+mn-cs"/>
              </a:rPr>
              <a:t>前向传播函数：</a:t>
            </a:r>
            <a:r>
              <a:rPr lang="en-US" altLang="zh-CN" sz="1200" kern="1200" dirty="0" smtClean="0">
                <a:solidFill>
                  <a:schemeClr val="tx1"/>
                </a:solidFill>
                <a:effectLst/>
                <a:latin typeface="+mn-lt"/>
                <a:ea typeface="+mn-ea"/>
                <a:cs typeface="+mn-cs"/>
              </a:rPr>
              <a:t>return </a:t>
            </a:r>
            <a:r>
              <a:rPr lang="en-US" altLang="zh-CN" sz="1200" kern="1200" dirty="0" err="1" smtClean="0">
                <a:solidFill>
                  <a:schemeClr val="tx1"/>
                </a:solidFill>
                <a:effectLst/>
                <a:latin typeface="+mn-lt"/>
                <a:ea typeface="+mn-ea"/>
                <a:cs typeface="+mn-cs"/>
              </a:rPr>
              <a:t>original_output</a:t>
            </a:r>
            <a:r>
              <a:rPr lang="en-US" altLang="zh-CN" sz="1200" kern="1200" dirty="0" smtClean="0">
                <a:solidFill>
                  <a:schemeClr val="tx1"/>
                </a:solidFill>
                <a:effectLst/>
                <a:latin typeface="+mn-lt"/>
                <a:ea typeface="+mn-ea"/>
                <a:cs typeface="+mn-cs"/>
              </a:rPr>
              <a:t> + </a:t>
            </a:r>
            <a:r>
              <a:rPr lang="en-US" altLang="zh-CN" sz="1200" kern="1200" dirty="0" err="1" smtClean="0">
                <a:solidFill>
                  <a:schemeClr val="tx1"/>
                </a:solidFill>
                <a:effectLst/>
                <a:latin typeface="+mn-lt"/>
                <a:ea typeface="+mn-ea"/>
                <a:cs typeface="+mn-cs"/>
              </a:rPr>
              <a:t>lora_output</a:t>
            </a:r>
            <a:r>
              <a:rPr lang="zh-CN" altLang="en-US" sz="1200" kern="1200" dirty="0" smtClean="0">
                <a:solidFill>
                  <a:schemeClr val="tx1"/>
                </a:solidFill>
                <a:effectLst/>
                <a:latin typeface="+mn-lt"/>
                <a:ea typeface="+mn-ea"/>
                <a:cs typeface="+mn-cs"/>
              </a:rPr>
              <a:t>。既然此时 </a:t>
            </a:r>
            <a:r>
              <a:rPr lang="en-US" altLang="zh-CN" sz="1200" kern="1200" dirty="0" err="1" smtClean="0">
                <a:solidFill>
                  <a:schemeClr val="tx1"/>
                </a:solidFill>
                <a:effectLst/>
                <a:latin typeface="+mn-lt"/>
                <a:ea typeface="+mn-ea"/>
                <a:cs typeface="+mn-cs"/>
              </a:rPr>
              <a:t>lora_output</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是 </a:t>
            </a:r>
            <a:r>
              <a:rPr lang="en-US" altLang="zh-CN" sz="1200" kern="1200" dirty="0" smtClean="0">
                <a:solidFill>
                  <a:schemeClr val="tx1"/>
                </a:solidFill>
                <a:effectLst/>
                <a:latin typeface="+mn-lt"/>
                <a:ea typeface="+mn-ea"/>
                <a:cs typeface="+mn-cs"/>
              </a:rPr>
              <a:t>0</a:t>
            </a:r>
            <a:r>
              <a:rPr lang="zh-CN" altLang="en-US" sz="1200" kern="1200" dirty="0" smtClean="0">
                <a:solidFill>
                  <a:schemeClr val="tx1"/>
                </a:solidFill>
                <a:effectLst/>
                <a:latin typeface="+mn-lt"/>
                <a:ea typeface="+mn-ea"/>
                <a:cs typeface="+mn-cs"/>
              </a:rPr>
              <a:t>，那么模型在接入 </a:t>
            </a:r>
            <a:r>
              <a:rPr lang="en-US" altLang="zh-CN" sz="1200" kern="1200" dirty="0" err="1" smtClean="0">
                <a:solidFill>
                  <a:schemeClr val="tx1"/>
                </a:solidFill>
                <a:effectLst/>
                <a:latin typeface="+mn-lt"/>
                <a:ea typeface="+mn-ea"/>
                <a:cs typeface="+mn-cs"/>
              </a:rPr>
              <a:t>LoRA</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的瞬间，它的表现和原版大模型</a:t>
            </a:r>
            <a:r>
              <a:rPr lang="zh-CN" altLang="en-US" sz="1200" b="1" kern="1200" dirty="0" smtClean="0">
                <a:solidFill>
                  <a:schemeClr val="tx1"/>
                </a:solidFill>
                <a:effectLst/>
                <a:latin typeface="+mn-lt"/>
                <a:ea typeface="+mn-ea"/>
                <a:cs typeface="+mn-cs"/>
              </a:rPr>
              <a:t>绝对一模一样</a:t>
            </a:r>
            <a:r>
              <a:rPr lang="zh-CN" altLang="en-US" sz="1200" kern="1200" dirty="0" smtClean="0">
                <a:solidFill>
                  <a:schemeClr val="tx1"/>
                </a:solidFill>
                <a:effectLst/>
                <a:latin typeface="+mn-lt"/>
                <a:ea typeface="+mn-ea"/>
                <a:cs typeface="+mn-cs"/>
              </a:rPr>
              <a:t>。这就保证了我们的微调是一个“平滑过渡”的过程，模型绝对不会因为接入了未经训练的随机参数而突然“变傻”。</a:t>
            </a:r>
            <a:endParaRPr lang="zh-CN" altLang="en-US" sz="1200" kern="1200" dirty="0" smtClean="0">
              <a:solidFill>
                <a:schemeClr val="tx1"/>
              </a:solidFill>
              <a:effectLst/>
              <a:latin typeface="+mn-lt"/>
              <a:ea typeface="+mn-ea"/>
              <a:cs typeface="+mn-cs"/>
            </a:endParaRPr>
          </a:p>
          <a:p>
            <a:pPr rtl="0"/>
            <a:r>
              <a:rPr lang="zh-CN" altLang="en-US" sz="1200" b="1" kern="1200" dirty="0" smtClean="0">
                <a:solidFill>
                  <a:schemeClr val="tx1"/>
                </a:solidFill>
                <a:effectLst/>
                <a:latin typeface="+mn-lt"/>
                <a:ea typeface="+mn-ea"/>
                <a:cs typeface="+mn-cs"/>
              </a:rPr>
              <a:t>一句话总结这页 </a:t>
            </a:r>
            <a:r>
              <a:rPr lang="en-US" altLang="zh-CN" sz="1200" b="1" kern="1200" dirty="0" smtClean="0">
                <a:solidFill>
                  <a:schemeClr val="tx1"/>
                </a:solidFill>
                <a:effectLst/>
                <a:latin typeface="+mn-lt"/>
                <a:ea typeface="+mn-ea"/>
                <a:cs typeface="+mn-cs"/>
              </a:rPr>
              <a:t>PPT</a:t>
            </a:r>
            <a:r>
              <a:rPr lang="zh-CN" altLang="en-US" sz="1200" b="1" kern="1200" dirty="0" smtClean="0">
                <a:solidFill>
                  <a:schemeClr val="tx1"/>
                </a:solidFill>
                <a:effectLst/>
                <a:latin typeface="+mn-lt"/>
                <a:ea typeface="+mn-ea"/>
                <a:cs typeface="+mn-cs"/>
              </a:rPr>
              <a:t>：</a:t>
            </a:r>
            <a:endParaRPr lang="zh-CN" altLang="en-US" sz="1200" kern="1200" dirty="0" smtClean="0">
              <a:solidFill>
                <a:schemeClr val="tx1"/>
              </a:solidFill>
              <a:effectLst/>
              <a:latin typeface="+mn-lt"/>
              <a:ea typeface="+mn-ea"/>
              <a:cs typeface="+mn-cs"/>
            </a:endParaRPr>
          </a:p>
          <a:p>
            <a:pPr rtl="0"/>
            <a:r>
              <a:rPr lang="zh-CN" altLang="en-US" sz="1200" kern="1200" dirty="0" smtClean="0">
                <a:solidFill>
                  <a:schemeClr val="tx1"/>
                </a:solidFill>
                <a:effectLst/>
                <a:latin typeface="+mn-lt"/>
                <a:ea typeface="+mn-ea"/>
                <a:cs typeface="+mn-cs"/>
              </a:rPr>
              <a:t>这十几行代码完美诠释了什么是“大道至简”。用 </a:t>
            </a:r>
            <a:r>
              <a:rPr lang="en-US" altLang="zh-CN" sz="1200" kern="1200" dirty="0" err="1" smtClean="0">
                <a:solidFill>
                  <a:schemeClr val="tx1"/>
                </a:solidFill>
                <a:effectLst/>
                <a:latin typeface="+mn-lt"/>
                <a:ea typeface="+mn-ea"/>
                <a:cs typeface="+mn-cs"/>
              </a:rPr>
              <a:t>requires_grad</a:t>
            </a:r>
            <a:r>
              <a:rPr lang="en-US" altLang="zh-CN" sz="1200" kern="1200" dirty="0" smtClean="0">
                <a:solidFill>
                  <a:schemeClr val="tx1"/>
                </a:solidFill>
                <a:effectLst/>
                <a:latin typeface="+mn-lt"/>
                <a:ea typeface="+mn-ea"/>
                <a:cs typeface="+mn-cs"/>
              </a:rPr>
              <a:t> = False </a:t>
            </a:r>
            <a:r>
              <a:rPr lang="zh-CN" altLang="en-US" sz="1200" kern="1200" dirty="0" smtClean="0">
                <a:solidFill>
                  <a:schemeClr val="tx1"/>
                </a:solidFill>
                <a:effectLst/>
                <a:latin typeface="+mn-lt"/>
                <a:ea typeface="+mn-ea"/>
                <a:cs typeface="+mn-cs"/>
              </a:rPr>
              <a:t>守住显存底线，用 </a:t>
            </a:r>
            <a:r>
              <a:rPr lang="en-US" altLang="zh-CN" sz="1200" kern="1200" dirty="0" smtClean="0">
                <a:solidFill>
                  <a:schemeClr val="tx1"/>
                </a:solidFill>
                <a:effectLst/>
                <a:latin typeface="+mn-lt"/>
                <a:ea typeface="+mn-ea"/>
                <a:cs typeface="+mn-cs"/>
              </a:rPr>
              <a:t>A </a:t>
            </a:r>
            <a:r>
              <a:rPr lang="zh-CN" altLang="en-US" sz="1200" kern="1200" dirty="0" smtClean="0">
                <a:solidFill>
                  <a:schemeClr val="tx1"/>
                </a:solidFill>
                <a:effectLst/>
                <a:latin typeface="+mn-lt"/>
                <a:ea typeface="+mn-ea"/>
                <a:cs typeface="+mn-cs"/>
              </a:rPr>
              <a:t>和 </a:t>
            </a:r>
            <a:r>
              <a:rPr lang="en-US" altLang="zh-CN" sz="1200" kern="1200" dirty="0" smtClean="0">
                <a:solidFill>
                  <a:schemeClr val="tx1"/>
                </a:solidFill>
                <a:effectLst/>
                <a:latin typeface="+mn-lt"/>
                <a:ea typeface="+mn-ea"/>
                <a:cs typeface="+mn-cs"/>
              </a:rPr>
              <a:t>B </a:t>
            </a:r>
            <a:r>
              <a:rPr lang="zh-CN" altLang="en-US" sz="1200" kern="1200" dirty="0" smtClean="0">
                <a:solidFill>
                  <a:schemeClr val="tx1"/>
                </a:solidFill>
                <a:effectLst/>
                <a:latin typeface="+mn-lt"/>
                <a:ea typeface="+mn-ea"/>
                <a:cs typeface="+mn-cs"/>
              </a:rPr>
              <a:t>矩阵打通学习的旁路，用“零初始化”保证初始状态的绝对安全。这就是顶级工程师将数学理论化为现实的暴力美学。</a:t>
            </a:r>
            <a:endParaRPr lang="zh-CN" altLang="en-US" sz="1200" kern="1200" dirty="0" smtClean="0">
              <a:solidFill>
                <a:schemeClr val="tx1"/>
              </a:solidFill>
              <a:effectLst/>
              <a:latin typeface="+mn-lt"/>
              <a:ea typeface="+mn-ea"/>
              <a:cs typeface="+mn-cs"/>
            </a:endParaRPr>
          </a:p>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25000"/>
              </a:lnSpc>
              <a:spcBef>
                <a:spcPts val="1200"/>
              </a:spcBef>
            </a:pPr>
            <a:r>
              <a:rPr lang="zh-CN" altLang="en-US" sz="2400" dirty="0" smtClean="0">
                <a:effectLst/>
                <a:latin typeface="微软雅黑" panose="020B0503020204020204" pitchFamily="34" charset="-122"/>
                <a:ea typeface="微软雅黑" panose="020B0503020204020204" pitchFamily="34" charset="-122"/>
              </a:rPr>
              <a:t>为了保证指令数据的多样性，</a:t>
            </a:r>
            <a:r>
              <a:rPr lang="en-US" altLang="zh-CN" sz="2400" b="1" dirty="0" smtClean="0">
                <a:solidFill>
                  <a:srgbClr val="0070C0"/>
                </a:solidFill>
                <a:effectLst/>
                <a:latin typeface="微软雅黑" panose="020B0503020204020204" pitchFamily="34" charset="-122"/>
                <a:ea typeface="微软雅黑" panose="020B0503020204020204" pitchFamily="34" charset="-122"/>
              </a:rPr>
              <a:t>LIMA </a:t>
            </a:r>
            <a:r>
              <a:rPr lang="zh-CN" altLang="en-US" sz="2400" b="1" dirty="0" smtClean="0">
                <a:solidFill>
                  <a:srgbClr val="0070C0"/>
                </a:solidFill>
                <a:effectLst/>
                <a:latin typeface="微软雅黑" panose="020B0503020204020204" pitchFamily="34" charset="-122"/>
                <a:ea typeface="微软雅黑" panose="020B0503020204020204" pitchFamily="34" charset="-122"/>
              </a:rPr>
              <a:t>从多个来源采样收集指令数据</a:t>
            </a:r>
            <a:r>
              <a:rPr lang="zh-CN" altLang="en-US" sz="2400" dirty="0" smtClean="0">
                <a:effectLst/>
                <a:latin typeface="微软雅黑" panose="020B0503020204020204" pitchFamily="34" charset="-122"/>
                <a:ea typeface="微软雅黑" panose="020B0503020204020204" pitchFamily="34" charset="-122"/>
              </a:rPr>
              <a:t>，包括</a:t>
            </a:r>
            <a:r>
              <a:rPr lang="zh-CN" altLang="en-US" sz="2400" u="sng" dirty="0" smtClean="0">
                <a:effectLst/>
                <a:latin typeface="微软雅黑" panose="020B0503020204020204" pitchFamily="34" charset="-122"/>
                <a:ea typeface="微软雅黑" panose="020B0503020204020204" pitchFamily="34" charset="-122"/>
              </a:rPr>
              <a:t>高质量网络问答社区</a:t>
            </a:r>
            <a:r>
              <a:rPr lang="zh-CN" altLang="en-US" sz="2400" dirty="0" smtClean="0">
                <a:effectLst/>
                <a:latin typeface="微软雅黑" panose="020B0503020204020204" pitchFamily="34" charset="-122"/>
                <a:ea typeface="微软雅黑" panose="020B0503020204020204" pitchFamily="34" charset="-122"/>
              </a:rPr>
              <a:t>、</a:t>
            </a:r>
            <a:r>
              <a:rPr lang="en-US" altLang="zh-CN" sz="2400" u="sng" dirty="0" smtClean="0">
                <a:effectLst/>
                <a:latin typeface="微软雅黑" panose="020B0503020204020204" pitchFamily="34" charset="-122"/>
                <a:ea typeface="微软雅黑" panose="020B0503020204020204" pitchFamily="34" charset="-122"/>
              </a:rPr>
              <a:t>Super-Natural Instructions[160] </a:t>
            </a:r>
            <a:r>
              <a:rPr lang="zh-CN" altLang="en-US" sz="2400" u="sng" dirty="0" smtClean="0">
                <a:effectLst/>
                <a:latin typeface="微软雅黑" panose="020B0503020204020204" pitchFamily="34" charset="-122"/>
                <a:ea typeface="微软雅黑" panose="020B0503020204020204" pitchFamily="34" charset="-122"/>
              </a:rPr>
              <a:t>指令集</a:t>
            </a:r>
            <a:r>
              <a:rPr lang="zh-CN" altLang="en-US" sz="2400" dirty="0" smtClean="0">
                <a:effectLst/>
                <a:latin typeface="微软雅黑" panose="020B0503020204020204" pitchFamily="34" charset="-122"/>
                <a:ea typeface="微软雅黑" panose="020B0503020204020204" pitchFamily="34" charset="-122"/>
              </a:rPr>
              <a:t>，以及</a:t>
            </a:r>
            <a:r>
              <a:rPr lang="zh-CN" altLang="en-US" sz="2400" u="sng" dirty="0" smtClean="0">
                <a:effectLst/>
                <a:latin typeface="微软雅黑" panose="020B0503020204020204" pitchFamily="34" charset="-122"/>
                <a:ea typeface="微软雅黑" panose="020B0503020204020204" pitchFamily="34" charset="-122"/>
              </a:rPr>
              <a:t>大量的标注者手动编写的提示与回</a:t>
            </a:r>
            <a:r>
              <a:rPr lang="zh-CN" altLang="en-US" sz="2400" dirty="0" smtClean="0">
                <a:effectLst/>
                <a:latin typeface="微软雅黑" panose="020B0503020204020204" pitchFamily="34" charset="-122"/>
                <a:ea typeface="微软雅黑" panose="020B0503020204020204" pitchFamily="34" charset="-122"/>
              </a:rPr>
              <a:t>答。</a:t>
            </a:r>
            <a:endParaRPr lang="en-US" altLang="zh-CN" sz="2400" dirty="0" smtClean="0">
              <a:effectLst/>
              <a:latin typeface="微软雅黑" panose="020B0503020204020204" pitchFamily="34" charset="-122"/>
              <a:ea typeface="微软雅黑"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smtClean="0">
                <a:effectLst/>
                <a:latin typeface="微软雅黑" panose="020B0503020204020204" pitchFamily="34" charset="-122"/>
                <a:ea typeface="微软雅黑" panose="020B0503020204020204" pitchFamily="34" charset="-122"/>
              </a:rPr>
              <a:t>网络问答社区包含多个子版块，涵盖了不同的主题。</a:t>
            </a:r>
            <a:endParaRPr lang="en-US" altLang="zh-CN" sz="2000" dirty="0" smtClean="0">
              <a:effectLst/>
              <a:latin typeface="微软雅黑" panose="020B0503020204020204" pitchFamily="34" charset="-122"/>
              <a:ea typeface="微软雅黑"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en-US" altLang="zh-CN" sz="2000" dirty="0" smtClean="0">
                <a:effectLst/>
                <a:latin typeface="微软雅黑" panose="020B0503020204020204" pitchFamily="34" charset="-122"/>
                <a:ea typeface="微软雅黑" panose="020B0503020204020204" pitchFamily="34" charset="-122"/>
              </a:rPr>
              <a:t>Super-Natural Instructions </a:t>
            </a:r>
            <a:r>
              <a:rPr lang="zh-CN" altLang="en-US" sz="2000" dirty="0" smtClean="0">
                <a:effectLst/>
                <a:latin typeface="微软雅黑" panose="020B0503020204020204" pitchFamily="34" charset="-122"/>
                <a:ea typeface="微软雅黑" panose="020B0503020204020204" pitchFamily="34" charset="-122"/>
              </a:rPr>
              <a:t>指令集也包含了多种多样的生成式任务。</a:t>
            </a:r>
            <a:endParaRPr lang="en-US" altLang="zh-CN" sz="2000" dirty="0" smtClean="0">
              <a:effectLst/>
              <a:latin typeface="微软雅黑" panose="020B0503020204020204" pitchFamily="34" charset="-122"/>
              <a:ea typeface="微软雅黑"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smtClean="0">
                <a:effectLst/>
                <a:latin typeface="微软雅黑" panose="020B0503020204020204" pitchFamily="34" charset="-122"/>
                <a:ea typeface="微软雅黑" panose="020B0503020204020204" pitchFamily="34" charset="-122"/>
              </a:rPr>
              <a:t>标注者各自编写的提示与回答具有天然的多样性，因此指令数据的多样性得到了很好的保障。</a:t>
            </a:r>
            <a:endParaRPr lang="zh-CN" altLang="en-US" sz="2000" dirty="0" smtClean="0">
              <a:effectLst/>
              <a:latin typeface="微软雅黑" panose="020B0503020204020204" pitchFamily="34" charset="-122"/>
              <a:ea typeface="微软雅黑" panose="020B0503020204020204" pitchFamily="34" charset="-122"/>
            </a:endParaRPr>
          </a:p>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25000"/>
              </a:lnSpc>
              <a:spcBef>
                <a:spcPts val="1200"/>
              </a:spcBef>
            </a:pPr>
            <a:r>
              <a:rPr lang="en-US" altLang="zh-CN" sz="2400" dirty="0" smtClean="0">
                <a:effectLst/>
                <a:latin typeface="微软雅黑" panose="020B0503020204020204" pitchFamily="34" charset="-122"/>
                <a:ea typeface="微软雅黑" panose="020B0503020204020204" pitchFamily="34" charset="-122"/>
              </a:rPr>
              <a:t>LIMA </a:t>
            </a:r>
            <a:r>
              <a:rPr lang="zh-CN" altLang="en-US" sz="2400" dirty="0" smtClean="0">
                <a:effectLst/>
                <a:latin typeface="微软雅黑" panose="020B0503020204020204" pitchFamily="34" charset="-122"/>
                <a:ea typeface="微软雅黑" panose="020B0503020204020204" pitchFamily="34" charset="-122"/>
              </a:rPr>
              <a:t>做了大量的工作来</a:t>
            </a:r>
            <a:r>
              <a:rPr lang="zh-CN" altLang="en-US" sz="2400" dirty="0" smtClean="0">
                <a:solidFill>
                  <a:srgbClr val="0070C0"/>
                </a:solidFill>
                <a:effectLst/>
                <a:latin typeface="微软雅黑" panose="020B0503020204020204" pitchFamily="34" charset="-122"/>
                <a:ea typeface="微软雅黑" panose="020B0503020204020204" pitchFamily="34" charset="-122"/>
              </a:rPr>
              <a:t>保证指令数据的质量</a:t>
            </a:r>
            <a:r>
              <a:rPr lang="zh-CN" altLang="en-US" sz="2400" dirty="0" smtClean="0">
                <a:effectLst/>
                <a:latin typeface="微软雅黑" panose="020B0503020204020204" pitchFamily="34" charset="-122"/>
                <a:ea typeface="微软雅黑" panose="020B0503020204020204" pitchFamily="34" charset="-122"/>
              </a:rPr>
              <a:t>。</a:t>
            </a:r>
            <a:endParaRPr lang="en-US" altLang="zh-CN" sz="2400" dirty="0" smtClean="0">
              <a:effectLst/>
              <a:latin typeface="微软雅黑" panose="020B0503020204020204" pitchFamily="34" charset="-122"/>
              <a:ea typeface="微软雅黑" panose="020B0503020204020204" pitchFamily="34" charset="-122"/>
            </a:endParaRPr>
          </a:p>
          <a:p>
            <a:pPr lvl="1" algn="just">
              <a:lnSpc>
                <a:spcPct val="125000"/>
              </a:lnSpc>
              <a:spcBef>
                <a:spcPts val="1200"/>
              </a:spcBef>
            </a:pPr>
            <a:r>
              <a:rPr lang="zh-CN" altLang="en-US" sz="2400" dirty="0" smtClean="0">
                <a:effectLst/>
                <a:latin typeface="微软雅黑" panose="020B0503020204020204" pitchFamily="34" charset="-122"/>
                <a:ea typeface="微软雅黑" panose="020B0503020204020204" pitchFamily="34" charset="-122"/>
              </a:rPr>
              <a:t>首先，指令数据来源的可靠已经在一定程度上保证了它的质量。</a:t>
            </a:r>
            <a:endParaRPr lang="en-US" altLang="zh-CN" sz="2400" dirty="0" smtClean="0">
              <a:effectLst/>
              <a:latin typeface="微软雅黑" panose="020B0503020204020204" pitchFamily="34" charset="-122"/>
              <a:ea typeface="微软雅黑" panose="020B0503020204020204" pitchFamily="34" charset="-122"/>
            </a:endParaRPr>
          </a:p>
          <a:p>
            <a:pPr lvl="1" algn="just">
              <a:lnSpc>
                <a:spcPct val="125000"/>
              </a:lnSpc>
              <a:spcBef>
                <a:spcPts val="1200"/>
              </a:spcBef>
            </a:pPr>
            <a:r>
              <a:rPr lang="zh-CN" altLang="en-US" sz="2400" dirty="0" smtClean="0">
                <a:effectLst/>
                <a:latin typeface="微软雅黑" panose="020B0503020204020204" pitchFamily="34" charset="-122"/>
                <a:ea typeface="微软雅黑" panose="020B0503020204020204" pitchFamily="34" charset="-122"/>
              </a:rPr>
              <a:t>其次，</a:t>
            </a:r>
            <a:r>
              <a:rPr lang="en-US" altLang="zh-CN" sz="2400" dirty="0" smtClean="0">
                <a:effectLst/>
                <a:latin typeface="微软雅黑" panose="020B0503020204020204" pitchFamily="34" charset="-122"/>
                <a:ea typeface="微软雅黑" panose="020B0503020204020204" pitchFamily="34" charset="-122"/>
              </a:rPr>
              <a:t>LIMA </a:t>
            </a:r>
            <a:r>
              <a:rPr lang="zh-CN" altLang="en-US" sz="2400" dirty="0" smtClean="0">
                <a:effectLst/>
                <a:latin typeface="微软雅黑" panose="020B0503020204020204" pitchFamily="34" charset="-122"/>
                <a:ea typeface="微软雅黑" panose="020B0503020204020204" pitchFamily="34" charset="-122"/>
              </a:rPr>
              <a:t>额外制定了一些规则进一步提高其质量。</a:t>
            </a:r>
            <a:endParaRPr lang="en-US" altLang="zh-CN" sz="2400" dirty="0" smtClean="0">
              <a:effectLst/>
              <a:latin typeface="微软雅黑" panose="020B0503020204020204" pitchFamily="34" charset="-122"/>
              <a:ea typeface="微软雅黑" panose="020B0503020204020204" pitchFamily="34" charset="-122"/>
            </a:endParaRPr>
          </a:p>
          <a:p>
            <a:pPr marL="800100" lvl="1" indent="-342900" algn="just">
              <a:lnSpc>
                <a:spcPct val="125000"/>
              </a:lnSpc>
              <a:spcBef>
                <a:spcPts val="1200"/>
              </a:spcBef>
              <a:buFont typeface="Arial" panose="020B0604020202020204" pitchFamily="34" charset="0"/>
              <a:buChar char="•"/>
            </a:pPr>
            <a:r>
              <a:rPr lang="zh-CN" altLang="en-US" sz="2000" dirty="0" smtClean="0">
                <a:effectLst/>
                <a:latin typeface="微软雅黑" panose="020B0503020204020204" pitchFamily="34" charset="-122"/>
                <a:ea typeface="微软雅黑" panose="020B0503020204020204" pitchFamily="34" charset="-122"/>
              </a:rPr>
              <a:t>例如，对社区指令数据采样时选择排名靠前的优质回答，将所有的回答统一成</a:t>
            </a:r>
            <a:r>
              <a:rPr lang="en-US" altLang="zh-CN" sz="2000" dirty="0" smtClean="0">
                <a:effectLst/>
                <a:latin typeface="微软雅黑" panose="020B0503020204020204" pitchFamily="34" charset="-122"/>
                <a:ea typeface="微软雅黑" panose="020B0503020204020204" pitchFamily="34" charset="-122"/>
              </a:rPr>
              <a:t>AI </a:t>
            </a:r>
            <a:r>
              <a:rPr lang="zh-CN" altLang="en-US" sz="2000" dirty="0" smtClean="0">
                <a:effectLst/>
                <a:latin typeface="微软雅黑" panose="020B0503020204020204" pitchFamily="34" charset="-122"/>
                <a:ea typeface="微软雅黑" panose="020B0503020204020204" pitchFamily="34" charset="-122"/>
              </a:rPr>
              <a:t>助手的风格，删除过长或过短的回答，删除以第一人称开头的回答，删除包含链接的回答，标注者精心手动编写回答，等等。</a:t>
            </a:r>
            <a:endParaRPr lang="en-US" altLang="zh-CN" sz="2000" dirty="0" smtClean="0">
              <a:effectLst/>
              <a:latin typeface="微软雅黑" panose="020B0503020204020204" pitchFamily="34" charset="-122"/>
              <a:ea typeface="微软雅黑" panose="020B0503020204020204" pitchFamily="34" charset="-122"/>
            </a:endParaRPr>
          </a:p>
          <a:p>
            <a:pPr algn="just">
              <a:lnSpc>
                <a:spcPct val="125000"/>
              </a:lnSpc>
              <a:spcBef>
                <a:spcPts val="1200"/>
              </a:spcBef>
            </a:pPr>
            <a:r>
              <a:rPr lang="en-US" altLang="zh-CN" sz="2400" dirty="0" smtClean="0">
                <a:effectLst/>
                <a:latin typeface="微软雅黑" panose="020B0503020204020204" pitchFamily="34" charset="-122"/>
                <a:ea typeface="微软雅黑" panose="020B0503020204020204" pitchFamily="34" charset="-122"/>
              </a:rPr>
              <a:t>LIMA </a:t>
            </a:r>
            <a:r>
              <a:rPr lang="zh-CN" altLang="en-US" sz="2400" dirty="0" smtClean="0">
                <a:effectLst/>
                <a:latin typeface="微软雅黑" panose="020B0503020204020204" pitchFamily="34" charset="-122"/>
                <a:ea typeface="微软雅黑" panose="020B0503020204020204" pitchFamily="34" charset="-122"/>
              </a:rPr>
              <a:t>的实验结果说明指令数据的质量和多样性是影响有监督微调过程的关键因素。</a:t>
            </a:r>
            <a:r>
              <a:rPr lang="en-US" altLang="zh-CN" sz="2400" dirty="0" smtClean="0">
                <a:effectLst/>
                <a:latin typeface="微软雅黑" panose="020B0503020204020204" pitchFamily="34" charset="-122"/>
                <a:ea typeface="微软雅黑" panose="020B0503020204020204" pitchFamily="34" charset="-122"/>
              </a:rPr>
              <a:t>LIMA</a:t>
            </a:r>
            <a:r>
              <a:rPr lang="zh-CN" altLang="en-US" sz="2400" dirty="0" smtClean="0">
                <a:effectLst/>
                <a:latin typeface="微软雅黑" panose="020B0503020204020204" pitchFamily="34" charset="-122"/>
                <a:ea typeface="微软雅黑" panose="020B0503020204020204" pitchFamily="34" charset="-122"/>
              </a:rPr>
              <a:t>仅使用</a:t>
            </a:r>
            <a:r>
              <a:rPr lang="en-US" altLang="zh-CN" sz="2400" dirty="0" smtClean="0">
                <a:effectLst/>
                <a:latin typeface="微软雅黑" panose="020B0503020204020204" pitchFamily="34" charset="-122"/>
                <a:ea typeface="微软雅黑" panose="020B0503020204020204" pitchFamily="34" charset="-122"/>
              </a:rPr>
              <a:t>1 000 </a:t>
            </a:r>
            <a:r>
              <a:rPr lang="zh-CN" altLang="en-US" sz="2400" dirty="0" smtClean="0">
                <a:effectLst/>
                <a:latin typeface="微软雅黑" panose="020B0503020204020204" pitchFamily="34" charset="-122"/>
                <a:ea typeface="微软雅黑" panose="020B0503020204020204" pitchFamily="34" charset="-122"/>
              </a:rPr>
              <a:t>条这样的指令数据，就可以媲美甚至超过指令数据是其几十倍的同等参数规模的其他模型。</a:t>
            </a:r>
            <a:endParaRPr lang="zh-CN" altLang="en-US" sz="2400" dirty="0" smtClean="0">
              <a:effectLst/>
              <a:latin typeface="微软雅黑" panose="020B0503020204020204" pitchFamily="34" charset="-122"/>
              <a:ea typeface="微软雅黑" panose="020B0503020204020204" pitchFamily="34" charset="-122"/>
            </a:endParaRPr>
          </a:p>
          <a:p>
            <a:pPr marL="0" marR="0" lvl="1" indent="0" algn="l" defTabSz="914400" rtl="0" eaLnBrk="1" fontAlgn="auto" latinLnBrk="0" hangingPunct="1">
              <a:lnSpc>
                <a:spcPct val="100000"/>
              </a:lnSpc>
              <a:spcBef>
                <a:spcPts val="0"/>
              </a:spcBef>
              <a:spcAft>
                <a:spcPts val="0"/>
              </a:spcAft>
              <a:buClrTx/>
              <a:buSzTx/>
              <a:buFontTx/>
              <a:buNone/>
              <a:defRPr/>
            </a:pP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0" marR="0" lvl="1" indent="0" algn="l" defTabSz="914400" rtl="0" eaLnBrk="1" fontAlgn="auto" latinLnBrk="0" hangingPunct="1">
              <a:lnSpc>
                <a:spcPct val="100000"/>
              </a:lnSpc>
              <a:spcBef>
                <a:spcPts val="0"/>
              </a:spcBef>
              <a:spcAft>
                <a:spcPts val="0"/>
              </a:spcAft>
              <a:buClrTx/>
              <a:buSzTx/>
              <a:buFontTx/>
              <a:buNone/>
              <a:defRPr/>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Experimental results indicate that quality and diversity are the primary determinants of effective Supervised Fine-Tuning (SFT). By utilizing only 1,000 high-quality samples, LIMA achieves performance comparable to, or exceeding, models of similar scale trained on datasets several orders of magnitude larger.</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步骤</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：生成任务指令 手动构建一个包含</a:t>
            </a:r>
            <a:r>
              <a:rPr lang="en-US" altLang="zh-CN" sz="1200" b="0" i="0" kern="1200" dirty="0" smtClean="0">
                <a:solidFill>
                  <a:schemeClr val="tx1"/>
                </a:solidFill>
                <a:effectLst/>
                <a:latin typeface="+mn-lt"/>
                <a:ea typeface="+mn-ea"/>
                <a:cs typeface="+mn-cs"/>
              </a:rPr>
              <a:t>175 </a:t>
            </a:r>
            <a:r>
              <a:rPr lang="zh-CN" altLang="en-US" sz="1200" b="0" i="0" kern="1200" dirty="0" smtClean="0">
                <a:solidFill>
                  <a:schemeClr val="tx1"/>
                </a:solidFill>
                <a:effectLst/>
                <a:latin typeface="+mn-lt"/>
                <a:ea typeface="+mn-ea"/>
                <a:cs typeface="+mn-cs"/>
              </a:rPr>
              <a:t>个任务的小型指令数据集，称为种子指令集，用于初始化指令池。然后让模型以自举（</a:t>
            </a:r>
            <a:r>
              <a:rPr lang="en-US" altLang="zh-CN" sz="1200" b="0" i="0" kern="1200" dirty="0" smtClean="0">
                <a:solidFill>
                  <a:schemeClr val="tx1"/>
                </a:solidFill>
                <a:effectLst/>
                <a:latin typeface="+mn-lt"/>
                <a:ea typeface="+mn-ea"/>
                <a:cs typeface="+mn-cs"/>
              </a:rPr>
              <a:t>Bootstrapping</a:t>
            </a:r>
            <a:r>
              <a:rPr lang="zh-CN" altLang="en-US" sz="1200" b="0" i="0" kern="1200" dirty="0" smtClean="0">
                <a:solidFill>
                  <a:schemeClr val="tx1"/>
                </a:solidFill>
                <a:effectLst/>
                <a:latin typeface="+mn-lt"/>
                <a:ea typeface="+mn-ea"/>
                <a:cs typeface="+mn-cs"/>
              </a:rPr>
              <a:t>）的方式，利用指令池，生成新任务的指令：每次从指令池中采样</a:t>
            </a:r>
            <a:r>
              <a:rPr lang="en-US" altLang="zh-CN" sz="1200" b="0" i="0" kern="1200" dirty="0" smtClean="0">
                <a:solidFill>
                  <a:schemeClr val="tx1"/>
                </a:solidFill>
                <a:effectLst/>
                <a:latin typeface="+mn-lt"/>
                <a:ea typeface="+mn-ea"/>
                <a:cs typeface="+mn-cs"/>
              </a:rPr>
              <a:t>8 </a:t>
            </a:r>
            <a:r>
              <a:rPr lang="zh-CN" altLang="en-US" sz="1200" b="0" i="0" kern="1200" dirty="0" smtClean="0">
                <a:solidFill>
                  <a:schemeClr val="tx1"/>
                </a:solidFill>
                <a:effectLst/>
                <a:latin typeface="+mn-lt"/>
                <a:ea typeface="+mn-ea"/>
                <a:cs typeface="+mn-cs"/>
              </a:rPr>
              <a:t>条任务指令（其中</a:t>
            </a:r>
            <a:r>
              <a:rPr lang="en-US" altLang="zh-CN" sz="1200" b="0" i="0" kern="1200" dirty="0" smtClean="0">
                <a:solidFill>
                  <a:schemeClr val="tx1"/>
                </a:solidFill>
                <a:effectLst/>
                <a:latin typeface="+mn-lt"/>
                <a:ea typeface="+mn-ea"/>
                <a:cs typeface="+mn-cs"/>
              </a:rPr>
              <a:t>6 </a:t>
            </a:r>
            <a:r>
              <a:rPr lang="zh-CN" altLang="en-US" sz="1200" b="0" i="0" kern="1200" dirty="0" smtClean="0">
                <a:solidFill>
                  <a:schemeClr val="tx1"/>
                </a:solidFill>
                <a:effectLst/>
                <a:latin typeface="+mn-lt"/>
                <a:ea typeface="+mn-ea"/>
                <a:cs typeface="+mn-cs"/>
              </a:rPr>
              <a:t>条来自人工编写的种子指令，</a:t>
            </a:r>
            <a:r>
              <a:rPr lang="en-US" altLang="zh-CN" sz="1200" b="0" i="0" kern="1200" dirty="0" smtClean="0">
                <a:solidFill>
                  <a:schemeClr val="tx1"/>
                </a:solidFill>
                <a:effectLst/>
                <a:latin typeface="+mn-lt"/>
                <a:ea typeface="+mn-ea"/>
                <a:cs typeface="+mn-cs"/>
              </a:rPr>
              <a:t>2 </a:t>
            </a:r>
            <a:r>
              <a:rPr lang="zh-CN" altLang="en-US" sz="1200" b="0" i="0" kern="1200" dirty="0" smtClean="0">
                <a:solidFill>
                  <a:schemeClr val="tx1"/>
                </a:solidFill>
                <a:effectLst/>
                <a:latin typeface="+mn-lt"/>
                <a:ea typeface="+mn-ea"/>
                <a:cs typeface="+mn-cs"/>
              </a:rPr>
              <a:t>条是模型迭代生成的），将其拼接为上下文示例，引导预训练语言模型</a:t>
            </a:r>
            <a:r>
              <a:rPr lang="en-US" altLang="zh-CN" sz="1200" b="0" i="0" kern="1200" dirty="0" smtClean="0">
                <a:solidFill>
                  <a:schemeClr val="tx1"/>
                </a:solidFill>
                <a:effectLst/>
                <a:latin typeface="+mn-lt"/>
                <a:ea typeface="+mn-ea"/>
                <a:cs typeface="+mn-cs"/>
              </a:rPr>
              <a:t>GPT-3 </a:t>
            </a:r>
            <a:r>
              <a:rPr lang="zh-CN" altLang="en-US" sz="1200" b="0" i="0" kern="1200" dirty="0" smtClean="0">
                <a:solidFill>
                  <a:schemeClr val="tx1"/>
                </a:solidFill>
                <a:effectLst/>
                <a:latin typeface="+mn-lt"/>
                <a:ea typeface="+mn-ea"/>
                <a:cs typeface="+mn-cs"/>
              </a:rPr>
              <a:t>生成更多的新任务的指令，直到模型自己停止生成，或达到模型长度限制，或是在单步中生成了过多示例（例如当出现了“</a:t>
            </a:r>
            <a:r>
              <a:rPr lang="en-US" altLang="zh-CN" sz="1200" b="0" i="0" kern="1200" dirty="0" smtClean="0">
                <a:solidFill>
                  <a:schemeClr val="tx1"/>
                </a:solidFill>
                <a:effectLst/>
                <a:latin typeface="+mn-lt"/>
                <a:ea typeface="+mn-ea"/>
                <a:cs typeface="+mn-cs"/>
              </a:rPr>
              <a:t>Task 16”</a:t>
            </a:r>
            <a:r>
              <a:rPr lang="zh-CN" altLang="en-US" sz="1200" b="0" i="0" kern="1200" dirty="0" smtClean="0">
                <a:solidFill>
                  <a:schemeClr val="tx1"/>
                </a:solidFill>
                <a:effectLst/>
                <a:latin typeface="+mn-lt"/>
                <a:ea typeface="+mn-ea"/>
                <a:cs typeface="+mn-cs"/>
              </a:rPr>
              <a:t>时）</a:t>
            </a:r>
            <a:endParaRPr lang="en-US" altLang="zh-CN" sz="1200" b="0" i="0" kern="1200" dirty="0" smtClean="0">
              <a:solidFill>
                <a:schemeClr val="tx1"/>
              </a:solidFill>
              <a:effectLst/>
              <a:latin typeface="+mn-lt"/>
              <a:ea typeface="+mn-ea"/>
              <a:cs typeface="+mn-cs"/>
            </a:endParaRPr>
          </a:p>
          <a:p>
            <a:endParaRPr lang="en-US" b="1" dirty="0" smtClean="0"/>
          </a:p>
          <a:p>
            <a:r>
              <a:rPr lang="en-US" b="1" dirty="0" smtClean="0"/>
              <a:t>1. Visualizing the "Seed" Concept</a:t>
            </a:r>
            <a:r>
              <a:rPr lang="en-US" dirty="0" smtClean="0"/>
              <a:t> Undergraduates often confuse "Pre-training" with "Instruction Tuning." Use a slide to explain that the </a:t>
            </a:r>
            <a:r>
              <a:rPr lang="en-US" b="1" dirty="0" smtClean="0"/>
              <a:t>Seed Set</a:t>
            </a:r>
            <a:r>
              <a:rPr lang="en-US" dirty="0" smtClean="0"/>
              <a:t> is the "spark" that ignites the automation process.</a:t>
            </a:r>
            <a:endParaRPr lang="en-US" dirty="0" smtClean="0"/>
          </a:p>
          <a:p>
            <a:r>
              <a:rPr lang="en-US" b="1" dirty="0" smtClean="0"/>
              <a:t>2. Explaining the 6:2 Ratio</a:t>
            </a:r>
            <a:endParaRPr lang="en-US" dirty="0" smtClean="0"/>
          </a:p>
          <a:p>
            <a:r>
              <a:rPr lang="en-US" b="1" dirty="0" smtClean="0"/>
              <a:t>Logic:</a:t>
            </a:r>
            <a:r>
              <a:rPr lang="en-US" dirty="0" smtClean="0"/>
              <a:t> Explain why the prompt uses 6 human seeds and 2 model-generated tasks.</a:t>
            </a:r>
            <a:endParaRPr lang="en-US" dirty="0" smtClean="0"/>
          </a:p>
          <a:p>
            <a:r>
              <a:rPr lang="en-US" b="1" dirty="0" smtClean="0"/>
              <a:t>Insight:</a:t>
            </a:r>
            <a:r>
              <a:rPr lang="en-US" dirty="0" smtClean="0"/>
              <a:t> This ratio maintains high quality (via human seeds) while introducing variety and "self-evolution" (via model-generated tasks). It prevents the model from drifting too far into nonsense while still expanding the task space.</a:t>
            </a:r>
            <a:endParaRPr lang="en-US" dirty="0" smtClean="0"/>
          </a:p>
          <a:p>
            <a:r>
              <a:rPr lang="en-US" b="1" dirty="0" smtClean="0"/>
              <a:t>3. Boundary Conditions (The "Task 16" Rule)</a:t>
            </a:r>
            <a:endParaRPr lang="en-US" dirty="0" smtClean="0"/>
          </a:p>
          <a:p>
            <a:r>
              <a:rPr lang="en-US" b="1" dirty="0" smtClean="0"/>
              <a:t>Logic:</a:t>
            </a:r>
            <a:r>
              <a:rPr lang="en-US" dirty="0" smtClean="0"/>
              <a:t> Explain that LLMs are prone to "repetition loops" or "hallucinations" when generating lists.</a:t>
            </a:r>
            <a:endParaRPr lang="en-US" dirty="0" smtClean="0"/>
          </a:p>
          <a:p>
            <a:r>
              <a:rPr lang="en-US" b="1" dirty="0" smtClean="0"/>
              <a:t>Insight:</a:t>
            </a:r>
            <a:r>
              <a:rPr lang="en-US" dirty="0" smtClean="0"/>
              <a:t> Setting a hard stop at a specific count (like Task 16) is a practical engineering heuristic to ensure the quality and diversity of the generated batch remains high.</a:t>
            </a:r>
            <a:endParaRPr lang="en-US" dirty="0" smtClean="0"/>
          </a:p>
          <a:p>
            <a:r>
              <a:rPr lang="en-US" b="1" dirty="0" smtClean="0"/>
              <a:t>4. Connecting to Distillation</a:t>
            </a:r>
            <a:r>
              <a:rPr lang="en-US" dirty="0" smtClean="0"/>
              <a:t> Frame this step as the </a:t>
            </a:r>
            <a:r>
              <a:rPr lang="en-US" b="1" dirty="0" smtClean="0"/>
              <a:t>Data Synthesis Phase</a:t>
            </a:r>
            <a:r>
              <a:rPr lang="en-US" dirty="0" smtClean="0"/>
              <a:t>. In the context of distillation, this is where the "Teacher" model (GPT-3 in this case) defines the curriculum that the "Student" model will eventually study.</a:t>
            </a:r>
            <a:endParaRPr lang="en-US" dirty="0" smtClean="0"/>
          </a:p>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zh-CN" altLang="en-US" sz="1200" b="0" i="0" kern="1200" dirty="0" smtClean="0">
                <a:solidFill>
                  <a:schemeClr val="tx1"/>
                </a:solidFill>
                <a:effectLst/>
                <a:latin typeface="+mn-lt"/>
                <a:ea typeface="+mn-ea"/>
                <a:cs typeface="+mn-cs"/>
              </a:rPr>
              <a:t>步骤</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确定指令是否代表分类任务由于后续对于分类任务和非分类任务有两种不同的处理方法，因此需要在本步骤对指令是否、为分类任务进行判断，同样是利用拼接几个上下文示例的方法让模型自动判断任务类型是否是分类。</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zh-CN" altLang="en-US" sz="1200" b="0" i="0" kern="1200" dirty="0" smtClean="0">
                <a:solidFill>
                  <a:schemeClr val="tx1"/>
                </a:solidFill>
                <a:effectLst/>
                <a:latin typeface="+mn-lt"/>
                <a:ea typeface="+mn-ea"/>
                <a:cs typeface="+mn-cs"/>
              </a:rPr>
              <a:t>步骤</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：生成任务输入和输出通过步骤</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语言模型已经生成了面向新任务的指令，然而指令数据中还没有相应的输入和输出。本步骤将为此前生成的指令生成输入和输出，让指令数据变得完整。与之前的步骤相同，本步骤同样使用语境学习，使用来自其他任务的“指令”“输入”“输出”上下文示例做提示，预训练模型就可以为新任务生成输入</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输出对。针对不同的任务类别，分别使用“输入优先”或“输出优先”方法：对于非分类任务，使用输入优先的方法，先根据任务产生输入，然后根据任务指令和输入，生成输出；而对于分类任务，为了避免模型过多地生成某些特定类别的输入（而忽略其他的类别），使用输出优先的方法，即先产生所有可能的输出标签，再根据任务指令和输出，补充相应的输入。</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zh-CN" altLang="en-US" sz="1200" b="0" i="0" kern="1200" dirty="0" smtClean="0">
                <a:solidFill>
                  <a:schemeClr val="tx1"/>
                </a:solidFill>
                <a:effectLst/>
                <a:latin typeface="+mn-lt"/>
                <a:ea typeface="+mn-ea"/>
                <a:cs typeface="+mn-cs"/>
              </a:rPr>
              <a:t>步骤</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：生成任务输入和输出通过步骤</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语言模型已经生成了面向新任务的指令，然而指令数据中还没有相应的输入和输出。本步骤将为此前生成的指令生成输入和输出，让指令数据变得完整。与之前的步骤相同，本步骤同样使用语境学习，使用来自其他任务的“指令”“输入”“输出”上下文示例做提示，预训练模型就可以为新任务生成输入</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输出对。针对不同的任务类别，分别使用“输入优先”或“输出优先”方法：对于非分类任务，使用输入优先的方法，先根据任务产生输入，然后根据任务指令和输入，生成输出；而对于分类任务，为了避免模型过多地生成某些特定类别的输入（而忽略其他的类别），使用输出优先的方法，即先产生所有可能的输出标签，再根据任务指令和输出，补充相应的输入。</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sz="1200" kern="1200" dirty="0" smtClean="0">
                <a:solidFill>
                  <a:schemeClr val="tx1"/>
                </a:solidFill>
                <a:effectLst/>
                <a:latin typeface="+mn-lt"/>
                <a:ea typeface="+mn-ea"/>
                <a:cs typeface="+mn-cs"/>
              </a:rPr>
              <a:t>大家请看最后一步，这也是最体现“工程直觉”的一步。我们刚才辛苦生成的这些数据，其实并不能直接喂给学生模型。为什么？因为自动化生成必然会带来“噪声”。</a:t>
            </a:r>
            <a:endParaRPr lang="zh-CN" altLang="en-US" sz="1200" kern="1200" dirty="0" smtClean="0">
              <a:solidFill>
                <a:schemeClr val="tx1"/>
              </a:solidFill>
              <a:effectLst/>
              <a:latin typeface="+mn-lt"/>
              <a:ea typeface="+mn-ea"/>
              <a:cs typeface="+mn-cs"/>
            </a:endParaRPr>
          </a:p>
          <a:p>
            <a:r>
              <a:rPr lang="en-US" b="1" dirty="0" smtClean="0"/>
              <a:t>ROUGE-L</a:t>
            </a:r>
            <a:r>
              <a:rPr lang="en-US" dirty="0" smtClean="0"/>
              <a:t> 的全称是 </a:t>
            </a:r>
            <a:r>
              <a:rPr lang="en-US" b="1" dirty="0" smtClean="0"/>
              <a:t>Recall-Oriented Understudy for </a:t>
            </a:r>
            <a:r>
              <a:rPr lang="en-US" b="1" dirty="0" err="1" smtClean="0"/>
              <a:t>Gisting</a:t>
            </a:r>
            <a:r>
              <a:rPr lang="en-US" b="1" dirty="0" smtClean="0"/>
              <a:t> Evaluation - Longest Common Subsequence</a:t>
            </a:r>
            <a:r>
              <a:rPr lang="en-US" dirty="0" smtClean="0"/>
              <a:t>。</a:t>
            </a:r>
            <a:endParaRPr lang="en-US" dirty="0" smtClean="0"/>
          </a:p>
          <a:p>
            <a:r>
              <a:rPr lang="en-US" dirty="0" smtClean="0"/>
              <a:t>它与基于 n-gram 的匹配方法（如 </a:t>
            </a:r>
            <a:r>
              <a:rPr lang="en-US" dirty="0" err="1" smtClean="0"/>
              <a:t>ROUGE-N）不同，其核心在于利用</a:t>
            </a:r>
            <a:r>
              <a:rPr lang="en-US" b="1" dirty="0" err="1" smtClean="0"/>
              <a:t>最长公共子序列</a:t>
            </a:r>
            <a:r>
              <a:rPr lang="en-US" b="1" dirty="0" smtClean="0"/>
              <a:t> (LCS)</a:t>
            </a:r>
            <a:r>
              <a:rPr lang="en-US" dirty="0" smtClean="0"/>
              <a:t>。LCS 能够捕捉文本中词序的一致性，且不要求单词必须连续出现。</a:t>
            </a:r>
            <a:endParaRPr lang="en-US" dirty="0" smtClean="0"/>
          </a:p>
          <a:p>
            <a:endParaRPr lang="en-US" altLang="zh-CN" sz="1200" b="1" kern="1200" dirty="0" smtClean="0">
              <a:solidFill>
                <a:schemeClr val="tx1"/>
              </a:solidFill>
              <a:effectLst/>
              <a:latin typeface="+mn-lt"/>
              <a:ea typeface="+mn-ea"/>
              <a:cs typeface="+mn-cs"/>
            </a:endParaRPr>
          </a:p>
          <a:p>
            <a:r>
              <a:rPr lang="en-US" altLang="zh-CN" sz="1200" b="1" kern="1200" dirty="0" smtClean="0">
                <a:solidFill>
                  <a:schemeClr val="tx1"/>
                </a:solidFill>
                <a:effectLst/>
                <a:latin typeface="+mn-lt"/>
                <a:ea typeface="+mn-ea"/>
                <a:cs typeface="+mn-cs"/>
              </a:rPr>
              <a:t>1. </a:t>
            </a:r>
            <a:r>
              <a:rPr lang="zh-CN" altLang="en-US" sz="1200" b="1" kern="1200" dirty="0" smtClean="0">
                <a:solidFill>
                  <a:schemeClr val="tx1"/>
                </a:solidFill>
                <a:effectLst/>
                <a:latin typeface="+mn-lt"/>
                <a:ea typeface="+mn-ea"/>
                <a:cs typeface="+mn-cs"/>
              </a:rPr>
              <a:t>为什么要用 </a:t>
            </a:r>
            <a:r>
              <a:rPr lang="en-US" altLang="zh-CN" sz="1200" b="1" kern="1200" dirty="0" smtClean="0">
                <a:solidFill>
                  <a:schemeClr val="tx1"/>
                </a:solidFill>
                <a:effectLst/>
                <a:latin typeface="+mn-lt"/>
                <a:ea typeface="+mn-ea"/>
                <a:cs typeface="+mn-cs"/>
              </a:rPr>
              <a:t>ROUGE-L </a:t>
            </a:r>
            <a:r>
              <a:rPr lang="zh-CN" altLang="en-US" sz="1200" b="1" kern="1200" dirty="0" smtClean="0">
                <a:solidFill>
                  <a:schemeClr val="tx1"/>
                </a:solidFill>
                <a:effectLst/>
                <a:latin typeface="+mn-lt"/>
                <a:ea typeface="+mn-ea"/>
                <a:cs typeface="+mn-cs"/>
              </a:rPr>
              <a:t>查重？</a:t>
            </a:r>
            <a:endParaRPr lang="zh-CN" altLang="en-US"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首先，我们要解决</a:t>
            </a:r>
            <a:r>
              <a:rPr lang="zh-CN" altLang="en-US" sz="1200" b="1" kern="1200" dirty="0" smtClean="0">
                <a:solidFill>
                  <a:schemeClr val="tx1"/>
                </a:solidFill>
                <a:effectLst/>
                <a:latin typeface="+mn-lt"/>
                <a:ea typeface="+mn-ea"/>
                <a:cs typeface="+mn-cs"/>
              </a:rPr>
              <a:t>多样性</a:t>
            </a:r>
            <a:r>
              <a:rPr lang="zh-CN" altLang="en-US" sz="1200" kern="1200" dirty="0" smtClean="0">
                <a:solidFill>
                  <a:schemeClr val="tx1"/>
                </a:solidFill>
                <a:effectLst/>
                <a:latin typeface="+mn-lt"/>
                <a:ea typeface="+mn-ea"/>
                <a:cs typeface="+mn-cs"/>
              </a:rPr>
              <a:t>的问题。这里引入了一个指标叫 </a:t>
            </a:r>
            <a:r>
              <a:rPr lang="en-US" altLang="zh-CN" sz="1200" b="1" kern="1200" dirty="0" smtClean="0">
                <a:solidFill>
                  <a:schemeClr val="tx1"/>
                </a:solidFill>
                <a:effectLst/>
                <a:latin typeface="+mn-lt"/>
                <a:ea typeface="+mn-ea"/>
                <a:cs typeface="+mn-cs"/>
              </a:rPr>
              <a:t>ROUGE-L</a:t>
            </a:r>
            <a:r>
              <a:rPr lang="zh-CN" altLang="en-US" sz="1200" kern="1200" dirty="0" smtClean="0">
                <a:solidFill>
                  <a:schemeClr val="tx1"/>
                </a:solidFill>
                <a:effectLst/>
                <a:latin typeface="+mn-lt"/>
                <a:ea typeface="+mn-ea"/>
                <a:cs typeface="+mn-cs"/>
              </a:rPr>
              <a:t>，它通过计算“最长公共子序列”来衡量两条指令有多像。</a:t>
            </a:r>
            <a:endParaRPr lang="zh-CN" altLang="en-US" sz="1200" kern="1200" dirty="0" smtClean="0">
              <a:solidFill>
                <a:schemeClr val="tx1"/>
              </a:solidFill>
              <a:effectLst/>
              <a:latin typeface="+mn-lt"/>
              <a:ea typeface="+mn-ea"/>
              <a:cs typeface="+mn-cs"/>
            </a:endParaRPr>
          </a:p>
          <a:p>
            <a:r>
              <a:rPr lang="zh-CN" altLang="en-US" sz="1200" b="1" kern="1200" dirty="0" smtClean="0">
                <a:solidFill>
                  <a:schemeClr val="tx1"/>
                </a:solidFill>
                <a:effectLst/>
                <a:latin typeface="+mn-lt"/>
                <a:ea typeface="+mn-ea"/>
                <a:cs typeface="+mn-cs"/>
              </a:rPr>
              <a:t>为什么要设 </a:t>
            </a:r>
            <a:r>
              <a:rPr lang="en-US" altLang="zh-CN" sz="1200" b="1" kern="1200" dirty="0" smtClean="0">
                <a:solidFill>
                  <a:schemeClr val="tx1"/>
                </a:solidFill>
                <a:effectLst/>
                <a:latin typeface="+mn-lt"/>
                <a:ea typeface="+mn-ea"/>
                <a:cs typeface="+mn-cs"/>
              </a:rPr>
              <a:t>$0.7$ </a:t>
            </a:r>
            <a:r>
              <a:rPr lang="zh-CN" altLang="en-US" sz="1200" b="1" kern="1200" dirty="0" smtClean="0">
                <a:solidFill>
                  <a:schemeClr val="tx1"/>
                </a:solidFill>
                <a:effectLst/>
                <a:latin typeface="+mn-lt"/>
                <a:ea typeface="+mn-ea"/>
                <a:cs typeface="+mn-cs"/>
              </a:rPr>
              <a:t>这个阈值？</a:t>
            </a:r>
            <a:r>
              <a:rPr lang="zh-CN" altLang="en-US" sz="1200" kern="1200" dirty="0" smtClean="0">
                <a:solidFill>
                  <a:schemeClr val="tx1"/>
                </a:solidFill>
                <a:effectLst/>
                <a:latin typeface="+mn-lt"/>
                <a:ea typeface="+mn-ea"/>
                <a:cs typeface="+mn-cs"/>
              </a:rPr>
              <a:t> 如果两条指令相似度超过 </a:t>
            </a:r>
            <a:r>
              <a:rPr lang="en-US" altLang="zh-CN" sz="1200" kern="1200" dirty="0" smtClean="0">
                <a:solidFill>
                  <a:schemeClr val="tx1"/>
                </a:solidFill>
                <a:effectLst/>
                <a:latin typeface="+mn-lt"/>
                <a:ea typeface="+mn-ea"/>
                <a:cs typeface="+mn-cs"/>
              </a:rPr>
              <a:t>$0.7$</a:t>
            </a:r>
            <a:r>
              <a:rPr lang="zh-CN" altLang="en-US" sz="1200" kern="1200" dirty="0" smtClean="0">
                <a:solidFill>
                  <a:schemeClr val="tx1"/>
                </a:solidFill>
                <a:effectLst/>
                <a:latin typeface="+mn-lt"/>
                <a:ea typeface="+mn-ea"/>
                <a:cs typeface="+mn-cs"/>
              </a:rPr>
              <a:t>，说明它们只是“换汤不换药”。</a:t>
            </a:r>
            <a:endParaRPr lang="zh-CN" altLang="en-US" sz="1200" kern="1200" dirty="0" smtClean="0">
              <a:solidFill>
                <a:schemeClr val="tx1"/>
              </a:solidFill>
              <a:effectLst/>
              <a:latin typeface="+mn-lt"/>
              <a:ea typeface="+mn-ea"/>
              <a:cs typeface="+mn-cs"/>
            </a:endParaRPr>
          </a:p>
          <a:p>
            <a:r>
              <a:rPr lang="zh-CN" altLang="en-US" sz="1200" b="1" kern="1200" dirty="0" smtClean="0">
                <a:solidFill>
                  <a:schemeClr val="tx1"/>
                </a:solidFill>
                <a:effectLst/>
                <a:latin typeface="+mn-lt"/>
                <a:ea typeface="+mn-ea"/>
                <a:cs typeface="+mn-cs"/>
              </a:rPr>
              <a:t>教学重点：</a:t>
            </a:r>
            <a:r>
              <a:rPr lang="zh-CN" altLang="en-US" sz="1200" kern="1200" dirty="0" smtClean="0">
                <a:solidFill>
                  <a:schemeClr val="tx1"/>
                </a:solidFill>
                <a:effectLst/>
                <a:latin typeface="+mn-lt"/>
                <a:ea typeface="+mn-ea"/>
                <a:cs typeface="+mn-cs"/>
              </a:rPr>
              <a:t> 我们希望学生模型学习的是</a:t>
            </a:r>
            <a:r>
              <a:rPr lang="zh-CN" altLang="en-US" sz="1200" b="1" kern="1200" dirty="0" smtClean="0">
                <a:solidFill>
                  <a:schemeClr val="tx1"/>
                </a:solidFill>
                <a:effectLst/>
                <a:latin typeface="+mn-lt"/>
                <a:ea typeface="+mn-ea"/>
                <a:cs typeface="+mn-cs"/>
              </a:rPr>
              <a:t>逻辑和概念</a:t>
            </a:r>
            <a:r>
              <a:rPr lang="zh-CN" altLang="en-US" sz="1200" kern="1200" dirty="0" smtClean="0">
                <a:solidFill>
                  <a:schemeClr val="tx1"/>
                </a:solidFill>
                <a:effectLst/>
                <a:latin typeface="+mn-lt"/>
                <a:ea typeface="+mn-ea"/>
                <a:cs typeface="+mn-cs"/>
              </a:rPr>
              <a:t>，而不是死记硬背一些大同小异的垃圾话。如果数据太重复，模型就会产生“过拟合”，不仅浪费算力，还会变笨。</a:t>
            </a:r>
            <a:endParaRPr lang="zh-CN" altLang="en-US" sz="1200" kern="1200" dirty="0" smtClean="0">
              <a:solidFill>
                <a:schemeClr val="tx1"/>
              </a:solidFill>
              <a:effectLst/>
              <a:latin typeface="+mn-lt"/>
              <a:ea typeface="+mn-ea"/>
              <a:cs typeface="+mn-cs"/>
            </a:endParaRPr>
          </a:p>
          <a:p>
            <a:r>
              <a:rPr lang="en-US" altLang="zh-CN" sz="1200" b="1" kern="1200" dirty="0" smtClean="0">
                <a:solidFill>
                  <a:schemeClr val="tx1"/>
                </a:solidFill>
                <a:effectLst/>
                <a:latin typeface="+mn-lt"/>
                <a:ea typeface="+mn-ea"/>
                <a:cs typeface="+mn-cs"/>
              </a:rPr>
              <a:t>2. </a:t>
            </a:r>
            <a:r>
              <a:rPr lang="zh-CN" altLang="en-US" sz="1200" b="1" kern="1200" dirty="0" smtClean="0">
                <a:solidFill>
                  <a:schemeClr val="tx1"/>
                </a:solidFill>
                <a:effectLst/>
                <a:latin typeface="+mn-lt"/>
                <a:ea typeface="+mn-ea"/>
                <a:cs typeface="+mn-cs"/>
              </a:rPr>
              <a:t>启发式规则：识破 </a:t>
            </a:r>
            <a:r>
              <a:rPr lang="en-US" altLang="zh-CN" sz="1200" b="1" kern="1200" dirty="0" smtClean="0">
                <a:solidFill>
                  <a:schemeClr val="tx1"/>
                </a:solidFill>
                <a:effectLst/>
                <a:latin typeface="+mn-lt"/>
                <a:ea typeface="+mn-ea"/>
                <a:cs typeface="+mn-cs"/>
              </a:rPr>
              <a:t>AI </a:t>
            </a:r>
            <a:r>
              <a:rPr lang="zh-CN" altLang="en-US" sz="1200" b="1" kern="1200" dirty="0" smtClean="0">
                <a:solidFill>
                  <a:schemeClr val="tx1"/>
                </a:solidFill>
                <a:effectLst/>
                <a:latin typeface="+mn-lt"/>
                <a:ea typeface="+mn-ea"/>
                <a:cs typeface="+mn-cs"/>
              </a:rPr>
              <a:t>的“一本正经胡说八道”</a:t>
            </a:r>
            <a:endParaRPr lang="zh-CN" altLang="en-US"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接着是</a:t>
            </a:r>
            <a:r>
              <a:rPr lang="zh-CN" altLang="en-US" sz="1200" b="1" kern="1200" dirty="0" smtClean="0">
                <a:solidFill>
                  <a:schemeClr val="tx1"/>
                </a:solidFill>
                <a:effectLst/>
                <a:latin typeface="+mn-lt"/>
                <a:ea typeface="+mn-ea"/>
                <a:cs typeface="+mn-cs"/>
              </a:rPr>
              <a:t>启发式规则（</a:t>
            </a:r>
            <a:r>
              <a:rPr lang="en-US" altLang="zh-CN" sz="1200" b="1" kern="1200" dirty="0" smtClean="0">
                <a:solidFill>
                  <a:schemeClr val="tx1"/>
                </a:solidFill>
                <a:effectLst/>
                <a:latin typeface="+mn-lt"/>
                <a:ea typeface="+mn-ea"/>
                <a:cs typeface="+mn-cs"/>
              </a:rPr>
              <a:t>Heuristic Rules</a:t>
            </a:r>
            <a:r>
              <a:rPr lang="zh-CN" altLang="en-US" sz="1200" b="1"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。大家记住，即使是 </a:t>
            </a:r>
            <a:r>
              <a:rPr lang="en-US" altLang="zh-CN" sz="1200" kern="1200" dirty="0" smtClean="0">
                <a:solidFill>
                  <a:schemeClr val="tx1"/>
                </a:solidFill>
                <a:effectLst/>
                <a:latin typeface="+mn-lt"/>
                <a:ea typeface="+mn-ea"/>
                <a:cs typeface="+mn-cs"/>
              </a:rPr>
              <a:t>GPT-3 </a:t>
            </a:r>
            <a:r>
              <a:rPr lang="zh-CN" altLang="en-US" sz="1200" kern="1200" dirty="0" smtClean="0">
                <a:solidFill>
                  <a:schemeClr val="tx1"/>
                </a:solidFill>
                <a:effectLst/>
                <a:latin typeface="+mn-lt"/>
                <a:ea typeface="+mn-ea"/>
                <a:cs typeface="+mn-cs"/>
              </a:rPr>
              <a:t>这样的顶级模型也会产生“幻觉”。</a:t>
            </a:r>
            <a:endParaRPr lang="zh-CN" altLang="en-US"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比如，一个纯文本模型可能会生成“请帮我修一下这张图”的指令。但在文本蒸馏中，这是无效的。</a:t>
            </a:r>
            <a:endParaRPr lang="zh-CN" altLang="en-US" sz="1200" kern="1200" dirty="0" smtClean="0">
              <a:solidFill>
                <a:schemeClr val="tx1"/>
              </a:solidFill>
              <a:effectLst/>
              <a:latin typeface="+mn-lt"/>
              <a:ea typeface="+mn-ea"/>
              <a:cs typeface="+mn-cs"/>
            </a:endParaRPr>
          </a:p>
          <a:p>
            <a:r>
              <a:rPr lang="zh-CN" altLang="en-US" sz="1200" b="1" kern="1200" dirty="0" smtClean="0">
                <a:solidFill>
                  <a:schemeClr val="tx1"/>
                </a:solidFill>
                <a:effectLst/>
                <a:latin typeface="+mn-lt"/>
                <a:ea typeface="+mn-ea"/>
                <a:cs typeface="+mn-cs"/>
              </a:rPr>
              <a:t>工程真相：</a:t>
            </a:r>
            <a:r>
              <a:rPr lang="zh-CN" altLang="en-US" sz="1200" kern="1200" dirty="0" smtClean="0">
                <a:solidFill>
                  <a:schemeClr val="tx1"/>
                </a:solidFill>
                <a:effectLst/>
                <a:latin typeface="+mn-lt"/>
                <a:ea typeface="+mn-ea"/>
                <a:cs typeface="+mn-cs"/>
              </a:rPr>
              <a:t> 在工业界，自动化生成的数据往往有 </a:t>
            </a:r>
            <a:r>
              <a:rPr lang="en-US" altLang="zh-CN" sz="1200" kern="1200" dirty="0" smtClean="0">
                <a:solidFill>
                  <a:schemeClr val="tx1"/>
                </a:solidFill>
                <a:effectLst/>
                <a:latin typeface="+mn-lt"/>
                <a:ea typeface="+mn-ea"/>
                <a:cs typeface="+mn-cs"/>
              </a:rPr>
              <a:t>$50\%$ </a:t>
            </a:r>
            <a:r>
              <a:rPr lang="zh-CN" altLang="en-US" sz="1200" kern="1200" dirty="0" smtClean="0">
                <a:solidFill>
                  <a:schemeClr val="tx1"/>
                </a:solidFill>
                <a:effectLst/>
                <a:latin typeface="+mn-lt"/>
                <a:ea typeface="+mn-ea"/>
                <a:cs typeface="+mn-cs"/>
              </a:rPr>
              <a:t>到 </a:t>
            </a:r>
            <a:r>
              <a:rPr lang="en-US" altLang="zh-CN" sz="1200" kern="1200" dirty="0" smtClean="0">
                <a:solidFill>
                  <a:schemeClr val="tx1"/>
                </a:solidFill>
                <a:effectLst/>
                <a:latin typeface="+mn-lt"/>
                <a:ea typeface="+mn-ea"/>
                <a:cs typeface="+mn-cs"/>
              </a:rPr>
              <a:t>$80\%$ </a:t>
            </a:r>
            <a:r>
              <a:rPr lang="zh-CN" altLang="en-US" sz="1200" kern="1200" dirty="0" smtClean="0">
                <a:solidFill>
                  <a:schemeClr val="tx1"/>
                </a:solidFill>
                <a:effectLst/>
                <a:latin typeface="+mn-lt"/>
                <a:ea typeface="+mn-ea"/>
                <a:cs typeface="+mn-cs"/>
              </a:rPr>
              <a:t>会在这一步被无情丢弃。</a:t>
            </a:r>
            <a:r>
              <a:rPr lang="zh-CN" altLang="en-US" sz="1200" b="1" kern="1200" dirty="0" smtClean="0">
                <a:solidFill>
                  <a:schemeClr val="tx1"/>
                </a:solidFill>
                <a:effectLst/>
                <a:latin typeface="+mn-lt"/>
                <a:ea typeface="+mn-ea"/>
                <a:cs typeface="+mn-cs"/>
              </a:rPr>
              <a:t>过滤，才是数据生产线的核心竞争力。</a:t>
            </a:r>
            <a:endParaRPr lang="zh-CN" altLang="en-US" sz="1200" kern="1200" dirty="0" smtClean="0">
              <a:solidFill>
                <a:schemeClr val="tx1"/>
              </a:solidFill>
              <a:effectLst/>
              <a:latin typeface="+mn-lt"/>
              <a:ea typeface="+mn-ea"/>
              <a:cs typeface="+mn-cs"/>
            </a:endParaRPr>
          </a:p>
          <a:p>
            <a:r>
              <a:rPr lang="en-US" altLang="zh-CN" sz="1200" b="1" kern="1200" dirty="0" smtClean="0">
                <a:solidFill>
                  <a:schemeClr val="tx1"/>
                </a:solidFill>
                <a:effectLst/>
                <a:latin typeface="+mn-lt"/>
                <a:ea typeface="+mn-ea"/>
                <a:cs typeface="+mn-cs"/>
              </a:rPr>
              <a:t>3. </a:t>
            </a:r>
            <a:r>
              <a:rPr lang="zh-CN" altLang="en-US" sz="1200" b="1" kern="1200" dirty="0" smtClean="0">
                <a:solidFill>
                  <a:schemeClr val="tx1"/>
                </a:solidFill>
                <a:effectLst/>
                <a:latin typeface="+mn-lt"/>
                <a:ea typeface="+mn-ea"/>
                <a:cs typeface="+mn-cs"/>
              </a:rPr>
              <a:t>回归本质：为蒸馏准备“黄金教材”</a:t>
            </a:r>
            <a:endParaRPr lang="zh-CN" altLang="en-US"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最后，我们来闭环整个逻辑。</a:t>
            </a:r>
            <a:endParaRPr lang="zh-CN" altLang="en-US" sz="1200" kern="1200" dirty="0" smtClean="0">
              <a:solidFill>
                <a:schemeClr val="tx1"/>
              </a:solidFill>
              <a:effectLst/>
              <a:latin typeface="+mn-lt"/>
              <a:ea typeface="+mn-ea"/>
              <a:cs typeface="+mn-cs"/>
            </a:endParaRPr>
          </a:p>
          <a:p>
            <a:r>
              <a:rPr lang="en-US" altLang="zh-CN" sz="1200" b="1" kern="1200" dirty="0" smtClean="0">
                <a:solidFill>
                  <a:schemeClr val="tx1"/>
                </a:solidFill>
                <a:effectLst/>
                <a:latin typeface="+mn-lt"/>
                <a:ea typeface="+mn-ea"/>
                <a:cs typeface="+mn-cs"/>
              </a:rPr>
              <a:t>Self-Instruct</a:t>
            </a:r>
            <a:r>
              <a:rPr lang="zh-CN" altLang="en-US" sz="1200" kern="1200" dirty="0" smtClean="0">
                <a:solidFill>
                  <a:schemeClr val="tx1"/>
                </a:solidFill>
                <a:effectLst/>
                <a:latin typeface="+mn-lt"/>
                <a:ea typeface="+mn-ea"/>
                <a:cs typeface="+mn-cs"/>
              </a:rPr>
              <a:t> 就像是一座全自动化的</a:t>
            </a:r>
            <a:r>
              <a:rPr lang="zh-CN" altLang="en-US" sz="1200" b="1" kern="1200" dirty="0" smtClean="0">
                <a:solidFill>
                  <a:schemeClr val="tx1"/>
                </a:solidFill>
                <a:effectLst/>
                <a:latin typeface="+mn-lt"/>
                <a:ea typeface="+mn-ea"/>
                <a:cs typeface="+mn-cs"/>
              </a:rPr>
              <a:t>印刷厂</a:t>
            </a:r>
            <a:r>
              <a:rPr lang="zh-CN" altLang="en-US" sz="1200" kern="1200" dirty="0" smtClean="0">
                <a:solidFill>
                  <a:schemeClr val="tx1"/>
                </a:solidFill>
                <a:effectLst/>
                <a:latin typeface="+mn-lt"/>
                <a:ea typeface="+mn-ea"/>
                <a:cs typeface="+mn-cs"/>
              </a:rPr>
              <a:t>，在批量生产教科书。</a:t>
            </a:r>
            <a:endParaRPr lang="zh-CN" altLang="en-US"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而</a:t>
            </a:r>
            <a:r>
              <a:rPr lang="zh-CN" altLang="en-US" sz="1200" b="1" kern="1200" dirty="0" smtClean="0">
                <a:solidFill>
                  <a:schemeClr val="tx1"/>
                </a:solidFill>
                <a:effectLst/>
                <a:latin typeface="+mn-lt"/>
                <a:ea typeface="+mn-ea"/>
                <a:cs typeface="+mn-cs"/>
              </a:rPr>
              <a:t>模型蒸馏（</a:t>
            </a:r>
            <a:r>
              <a:rPr lang="en-US" altLang="zh-CN" sz="1200" b="1" kern="1200" dirty="0" smtClean="0">
                <a:solidFill>
                  <a:schemeClr val="tx1"/>
                </a:solidFill>
                <a:effectLst/>
                <a:latin typeface="+mn-lt"/>
                <a:ea typeface="+mn-ea"/>
                <a:cs typeface="+mn-cs"/>
              </a:rPr>
              <a:t>Distillation</a:t>
            </a:r>
            <a:r>
              <a:rPr lang="zh-CN" altLang="en-US" sz="1200" b="1"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 则是让学生模型去研读这些精挑细选后的“黄金教材”。</a:t>
            </a:r>
            <a:endParaRPr lang="zh-CN" altLang="en-US"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只有教材逻辑自洽、通俗易懂，几亿参数的小模型才能发挥出几千亿模型的效果。</a:t>
            </a:r>
            <a:endParaRPr lang="zh-CN" altLang="en-US" sz="1200" kern="1200" dirty="0" smtClean="0">
              <a:solidFill>
                <a:schemeClr val="tx1"/>
              </a:solidFill>
              <a:effectLst/>
              <a:latin typeface="+mn-lt"/>
              <a:ea typeface="+mn-ea"/>
              <a:cs typeface="+mn-cs"/>
            </a:endParaRPr>
          </a:p>
          <a:p>
            <a:r>
              <a:rPr lang="zh-CN" altLang="en-US" sz="1200" b="1" kern="1200" dirty="0" smtClean="0">
                <a:solidFill>
                  <a:schemeClr val="tx1"/>
                </a:solidFill>
                <a:effectLst/>
                <a:latin typeface="+mn-lt"/>
                <a:ea typeface="+mn-ea"/>
                <a:cs typeface="+mn-cs"/>
              </a:rPr>
              <a:t>（结尾提问，引导思考）</a:t>
            </a:r>
            <a:endParaRPr lang="zh-CN" altLang="en-US"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最后留给大家一个思考题：</a:t>
            </a:r>
            <a:r>
              <a:rPr lang="zh-CN" altLang="en-US" sz="1200" b="1" kern="1200" dirty="0" smtClean="0">
                <a:solidFill>
                  <a:schemeClr val="tx1"/>
                </a:solidFill>
                <a:effectLst/>
                <a:latin typeface="+mn-lt"/>
                <a:ea typeface="+mn-ea"/>
                <a:cs typeface="+mn-cs"/>
              </a:rPr>
              <a:t>如果我们把 </a:t>
            </a:r>
            <a:r>
              <a:rPr lang="en-US" altLang="zh-CN" sz="1200" b="1" kern="1200" dirty="0" smtClean="0">
                <a:solidFill>
                  <a:schemeClr val="tx1"/>
                </a:solidFill>
                <a:effectLst/>
                <a:latin typeface="+mn-lt"/>
                <a:ea typeface="+mn-ea"/>
                <a:cs typeface="+mn-cs"/>
              </a:rPr>
              <a:t>ROUGE-L </a:t>
            </a:r>
            <a:r>
              <a:rPr lang="zh-CN" altLang="en-US" sz="1200" b="1" kern="1200" dirty="0" smtClean="0">
                <a:solidFill>
                  <a:schemeClr val="tx1"/>
                </a:solidFill>
                <a:effectLst/>
                <a:latin typeface="+mn-lt"/>
                <a:ea typeface="+mn-ea"/>
                <a:cs typeface="+mn-cs"/>
              </a:rPr>
              <a:t>的阈值从 </a:t>
            </a:r>
            <a:r>
              <a:rPr lang="en-US" altLang="zh-CN" sz="1200" b="1" kern="1200" dirty="0" smtClean="0">
                <a:solidFill>
                  <a:schemeClr val="tx1"/>
                </a:solidFill>
                <a:effectLst/>
                <a:latin typeface="+mn-lt"/>
                <a:ea typeface="+mn-ea"/>
                <a:cs typeface="+mn-cs"/>
              </a:rPr>
              <a:t>$0.7$ </a:t>
            </a:r>
            <a:r>
              <a:rPr lang="zh-CN" altLang="en-US" sz="1200" b="1" kern="1200" dirty="0" smtClean="0">
                <a:solidFill>
                  <a:schemeClr val="tx1"/>
                </a:solidFill>
                <a:effectLst/>
                <a:latin typeface="+mn-lt"/>
                <a:ea typeface="+mn-ea"/>
                <a:cs typeface="+mn-cs"/>
              </a:rPr>
              <a:t>放宽到 </a:t>
            </a:r>
            <a:r>
              <a:rPr lang="en-US" altLang="zh-CN" sz="1200" b="1" kern="1200" dirty="0" smtClean="0">
                <a:solidFill>
                  <a:schemeClr val="tx1"/>
                </a:solidFill>
                <a:effectLst/>
                <a:latin typeface="+mn-lt"/>
                <a:ea typeface="+mn-ea"/>
                <a:cs typeface="+mn-cs"/>
              </a:rPr>
              <a:t>$0.9$</a:t>
            </a:r>
            <a:r>
              <a:rPr lang="zh-CN" altLang="en-US" sz="1200" b="1" kern="1200" dirty="0" smtClean="0">
                <a:solidFill>
                  <a:schemeClr val="tx1"/>
                </a:solidFill>
                <a:effectLst/>
                <a:latin typeface="+mn-lt"/>
                <a:ea typeface="+mn-ea"/>
                <a:cs typeface="+mn-cs"/>
              </a:rPr>
              <a:t>，学生模型的效果会变好还是变差？</a:t>
            </a:r>
            <a:endParaRPr lang="zh-CN" alt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1963BE11-001D-4FCF-9809-FCC312B3AD6A}"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8FB8052A-A712-4579-AC42-D1977B3A32C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3471B6-4801-4E17-8E24-C79CE225DF9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FB8052A-A712-4579-AC42-D1977B3A32C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3471B6-4801-4E17-8E24-C79CE225DF9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8FB8052A-A712-4579-AC42-D1977B3A32C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3471B6-4801-4E17-8E24-C79CE225DF9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8FB8052A-A712-4579-AC42-D1977B3A32C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3471B6-4801-4E17-8E24-C79CE225DF9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8FB8052A-A712-4579-AC42-D1977B3A32C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33471B6-4801-4E17-8E24-C79CE225DF9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FB8052A-A712-4579-AC42-D1977B3A32C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33471B6-4801-4E17-8E24-C79CE225DF9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FB8052A-A712-4579-AC42-D1977B3A32C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33471B6-4801-4E17-8E24-C79CE225DF9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FB8052A-A712-4579-AC42-D1977B3A32C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3471B6-4801-4E17-8E24-C79CE225DF9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FB8052A-A712-4579-AC42-D1977B3A32C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33471B6-4801-4E17-8E24-C79CE225DF9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FB8052A-A712-4579-AC42-D1977B3A32C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3471B6-4801-4E17-8E24-C79CE225DF9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FB8052A-A712-4579-AC42-D1977B3A32C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33471B6-4801-4E17-8E24-C79CE225DF9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vmlDrawing" Target="../drawings/vmlDrawing1.vml"/><Relationship Id="rId14" Type="http://schemas.openxmlformats.org/officeDocument/2006/relationships/image" Target="../media/image1.emf"/><Relationship Id="rId13" Type="http://schemas.openxmlformats.org/officeDocument/2006/relationships/oleObject" Target="../embeddings/oleObject1.bin"/><Relationship Id="rId12" Type="http://schemas.openxmlformats.org/officeDocument/2006/relationships/tags" Target="../tags/tag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1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93" name="think-cell Slide" r:id="rId13" imgW="7772400" imgH="10058400" progId="TCLayout.ActiveDocument.1">
                  <p:embed/>
                </p:oleObj>
              </mc:Choice>
              <mc:Fallback>
                <p:oleObj name="think-cell Slide" r:id="rId13" imgW="7772400" imgH="10058400" progId="TCLayout.ActiveDocument.1">
                  <p:embed/>
                  <p:pic>
                    <p:nvPicPr>
                      <p:cNvPr id="0" name="Picture 1238"/>
                      <p:cNvPicPr/>
                      <p:nvPr/>
                    </p:nvPicPr>
                    <p:blipFill>
                      <a:blip r:embed="rId14"/>
                      <a:stretch>
                        <a:fillRect/>
                      </a:stretch>
                    </p:blipFill>
                    <p:spPr>
                      <a:xfrm>
                        <a:off x="1588" y="1588"/>
                        <a:ext cx="1227" cy="1588"/>
                      </a:xfrm>
                      <a:prstGeom prst="rect">
                        <a:avLst/>
                      </a:prstGeom>
                    </p:spPr>
                  </p:pic>
                </p:oleObj>
              </mc:Fallback>
            </mc:AlternateContent>
          </a:graphicData>
        </a:graphic>
      </p:graphicFrame>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B8052A-A712-4579-AC42-D1977B3A32C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3471B6-4801-4E17-8E24-C79CE225DF9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1.xml"/><Relationship Id="rId4" Type="http://schemas.openxmlformats.org/officeDocument/2006/relationships/image" Target="../media/image3.png"/><Relationship Id="rId3" Type="http://schemas.openxmlformats.org/officeDocument/2006/relationships/image" Target="../media/image2.emf"/><Relationship Id="rId2" Type="http://schemas.openxmlformats.org/officeDocument/2006/relationships/oleObject" Target="../embeddings/oleObject2.bin"/><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13.tiff"/><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14.tiff"/><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hyperlink" Target="https://huggingface.co/datasets/nvidia/Nemotron-CC-Math-v1" TargetMode="External"/><Relationship Id="rId2" Type="http://schemas.openxmlformats.org/officeDocument/2006/relationships/image" Target="../media/image15.tiff"/><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7.xml"/><Relationship Id="rId2" Type="http://schemas.openxmlformats.org/officeDocument/2006/relationships/image" Target="../media/image19.tiff"/><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7.xml"/><Relationship Id="rId2" Type="http://schemas.openxmlformats.org/officeDocument/2006/relationships/image" Target="../media/image20.tiff"/><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7.xml"/><Relationship Id="rId2" Type="http://schemas.openxmlformats.org/officeDocument/2006/relationships/image" Target="../media/image21.tiff"/><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7.xml"/><Relationship Id="rId4" Type="http://schemas.openxmlformats.org/officeDocument/2006/relationships/image" Target="../media/image24.tiff"/><Relationship Id="rId3" Type="http://schemas.openxmlformats.org/officeDocument/2006/relationships/image" Target="../media/image23.tiff"/><Relationship Id="rId2" Type="http://schemas.openxmlformats.org/officeDocument/2006/relationships/image" Target="../media/image22.tiff"/><Relationship Id="rId1" Type="http://schemas.openxmlformats.org/officeDocument/2006/relationships/image" Target="../media/image3.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7.xml"/><Relationship Id="rId4" Type="http://schemas.openxmlformats.org/officeDocument/2006/relationships/image" Target="../media/image27.tiff"/><Relationship Id="rId3" Type="http://schemas.openxmlformats.org/officeDocument/2006/relationships/image" Target="../media/image26.tiff"/><Relationship Id="rId2" Type="http://schemas.openxmlformats.org/officeDocument/2006/relationships/image" Target="../media/image25.tiff"/><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7.xml"/><Relationship Id="rId2" Type="http://schemas.openxmlformats.org/officeDocument/2006/relationships/image" Target="../media/image28.png"/><Relationship Id="rId1" Type="http://schemas.openxmlformats.org/officeDocument/2006/relationships/image" Target="../media/image3.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hyperlink" Target="https://huggingface.co/datasets/EleutherAI/pile" TargetMode="External"/><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7.xml"/><Relationship Id="rId2" Type="http://schemas.openxmlformats.org/officeDocument/2006/relationships/hyperlink" Target="https://arxiv.org/abs/2305.11206" TargetMode="Externa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7.xml"/><Relationship Id="rId2" Type="http://schemas.openxmlformats.org/officeDocument/2006/relationships/image" Target="../media/image29.tiff"/><Relationship Id="rId1" Type="http://schemas.openxmlformats.org/officeDocument/2006/relationships/image" Target="../media/image3.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7.xml"/><Relationship Id="rId2" Type="http://schemas.openxmlformats.org/officeDocument/2006/relationships/image" Target="../media/image30.tiff"/><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7.xml"/><Relationship Id="rId2" Type="http://schemas.openxmlformats.org/officeDocument/2006/relationships/image" Target="../media/image31.png"/><Relationship Id="rId1" Type="http://schemas.openxmlformats.org/officeDocument/2006/relationships/image" Target="../media/image3.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7.xml"/><Relationship Id="rId2" Type="http://schemas.openxmlformats.org/officeDocument/2006/relationships/image" Target="../media/image33.png"/><Relationship Id="rId1"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7.xml"/><Relationship Id="rId2" Type="http://schemas.openxmlformats.org/officeDocument/2006/relationships/image" Target="../media/image34.png"/><Relationship Id="rId1"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7.xml"/><Relationship Id="rId2" Type="http://schemas.openxmlformats.org/officeDocument/2006/relationships/image" Target="../media/image35.png"/><Relationship Id="rId1" Type="http://schemas.openxmlformats.org/officeDocument/2006/relationships/image" Target="../media/image3.png"/></Relationships>
</file>

<file path=ppt/slides/_rels/slide37.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7.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7.xml"/><Relationship Id="rId2" Type="http://schemas.openxmlformats.org/officeDocument/2006/relationships/image" Target="../media/image38.png"/><Relationship Id="rId1" Type="http://schemas.openxmlformats.org/officeDocument/2006/relationships/image" Target="../media/image3.png"/></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36.xml"/><Relationship Id="rId4" Type="http://schemas.openxmlformats.org/officeDocument/2006/relationships/slideLayout" Target="../slideLayouts/slideLayout7.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7.xml"/><Relationship Id="rId2" Type="http://schemas.openxmlformats.org/officeDocument/2006/relationships/image" Target="../media/image41.png"/><Relationship Id="rId1" Type="http://schemas.openxmlformats.org/officeDocument/2006/relationships/image" Target="../media/image3.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7.xml"/><Relationship Id="rId2" Type="http://schemas.openxmlformats.org/officeDocument/2006/relationships/image" Target="../media/image28.png"/><Relationship Id="rId1" Type="http://schemas.openxmlformats.org/officeDocument/2006/relationships/image" Target="../media/image3.pn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7.xml"/><Relationship Id="rId2" Type="http://schemas.openxmlformats.org/officeDocument/2006/relationships/image" Target="../media/image42.tiff"/><Relationship Id="rId1" Type="http://schemas.openxmlformats.org/officeDocument/2006/relationships/image" Target="../media/image3.pn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7.xml"/><Relationship Id="rId2" Type="http://schemas.openxmlformats.org/officeDocument/2006/relationships/image" Target="../media/image43.png"/><Relationship Id="rId1"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7.xml"/><Relationship Id="rId2" Type="http://schemas.openxmlformats.org/officeDocument/2006/relationships/image" Target="../media/image44.png"/><Relationship Id="rId1" Type="http://schemas.openxmlformats.org/officeDocument/2006/relationships/image" Target="../media/image3.png"/></Relationships>
</file>

<file path=ppt/slides/_rels/slide52.xml.rels><?xml version="1.0" encoding="UTF-8" standalone="yes"?>
<Relationships xmlns="http://schemas.openxmlformats.org/package/2006/relationships"><Relationship Id="rId5" Type="http://schemas.openxmlformats.org/officeDocument/2006/relationships/notesSlide" Target="../notesSlides/notesSlide48.xml"/><Relationship Id="rId4" Type="http://schemas.openxmlformats.org/officeDocument/2006/relationships/slideLayout" Target="../slideLayouts/slideLayout7.xml"/><Relationship Id="rId3" Type="http://schemas.openxmlformats.org/officeDocument/2006/relationships/image" Target="../media/image46.tiff"/><Relationship Id="rId2" Type="http://schemas.openxmlformats.org/officeDocument/2006/relationships/image" Target="../media/image45.png"/><Relationship Id="rId1" Type="http://schemas.openxmlformats.org/officeDocument/2006/relationships/image" Target="../media/image3.png"/></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49.xml"/><Relationship Id="rId4" Type="http://schemas.openxmlformats.org/officeDocument/2006/relationships/slideLayout" Target="../slideLayouts/slideLayout7.xml"/><Relationship Id="rId3" Type="http://schemas.openxmlformats.org/officeDocument/2006/relationships/image" Target="../media/image48.png"/><Relationship Id="rId2" Type="http://schemas.openxmlformats.org/officeDocument/2006/relationships/image" Target="../media/image47.tiff"/><Relationship Id="rId1" Type="http://schemas.openxmlformats.org/officeDocument/2006/relationships/image" Target="../media/image3.png"/></Relationships>
</file>

<file path=ppt/slides/_rels/slide54.xml.rels><?xml version="1.0" encoding="UTF-8" standalone="yes"?>
<Relationships xmlns="http://schemas.openxmlformats.org/package/2006/relationships"><Relationship Id="rId5" Type="http://schemas.openxmlformats.org/officeDocument/2006/relationships/notesSlide" Target="../notesSlides/notesSlide50.xml"/><Relationship Id="rId4" Type="http://schemas.openxmlformats.org/officeDocument/2006/relationships/slideLayout" Target="../slideLayouts/slideLayout7.xml"/><Relationship Id="rId3" Type="http://schemas.openxmlformats.org/officeDocument/2006/relationships/image" Target="../media/image50.png"/><Relationship Id="rId2" Type="http://schemas.openxmlformats.org/officeDocument/2006/relationships/image" Target="../media/image49.tiff"/><Relationship Id="rId1" Type="http://schemas.openxmlformats.org/officeDocument/2006/relationships/image" Target="../media/image3.png"/></Relationships>
</file>

<file path=ppt/slides/_rels/slide55.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1.xml"/><Relationship Id="rId4" Type="http://schemas.openxmlformats.org/officeDocument/2006/relationships/image" Target="../media/image3.png"/><Relationship Id="rId3" Type="http://schemas.openxmlformats.org/officeDocument/2006/relationships/image" Target="../media/image51.emf"/><Relationship Id="rId2" Type="http://schemas.openxmlformats.org/officeDocument/2006/relationships/oleObject" Target="../embeddings/oleObject3.bin"/><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17" name="think-cell Slide" r:id="rId2" imgW="7772400" imgH="10058400" progId="TCLayout.ActiveDocument.1">
                  <p:embed/>
                </p:oleObj>
              </mc:Choice>
              <mc:Fallback>
                <p:oleObj name="think-cell Slide" r:id="rId2" imgW="7772400" imgH="10058400" progId="TCLayout.ActiveDocument.1">
                  <p:embed/>
                  <p:pic>
                    <p:nvPicPr>
                      <p:cNvPr id="0" name="Picture 2262"/>
                      <p:cNvPicPr/>
                      <p:nvPr/>
                    </p:nvPicPr>
                    <p:blipFill>
                      <a:blip r:embed="rId3"/>
                      <a:stretch>
                        <a:fillRect/>
                      </a:stretch>
                    </p:blipFill>
                    <p:spPr>
                      <a:xfrm>
                        <a:off x="1588" y="1588"/>
                        <a:ext cx="1227" cy="1588"/>
                      </a:xfrm>
                      <a:prstGeom prst="rect">
                        <a:avLst/>
                      </a:prstGeom>
                    </p:spPr>
                  </p:pic>
                </p:oleObj>
              </mc:Fallback>
            </mc:AlternateContent>
          </a:graphicData>
        </a:graphic>
      </p:graphicFrame>
      <p:pic>
        <p:nvPicPr>
          <p:cNvPr id="8" name="Picture 2" descr="Image result for sustech"/>
          <p:cNvPicPr>
            <a:picLocks noChangeAspect="1" noChangeArrowheads="1"/>
          </p:cNvPicPr>
          <p:nvPr/>
        </p:nvPicPr>
        <p:blipFill>
          <a:blip r:embed="rId4">
            <a:clrChange>
              <a:clrFrom>
                <a:srgbClr val="EC6C00"/>
              </a:clrFrom>
              <a:clrTo>
                <a:srgbClr val="EC6C00">
                  <a:alpha val="0"/>
                </a:srgbClr>
              </a:clrTo>
            </a:clrChange>
            <a:extLst>
              <a:ext uri="{28A0092B-C50C-407E-A947-70E740481C1C}">
                <a14:useLocalDpi xmlns:a14="http://schemas.microsoft.com/office/drawing/2010/main" val="0"/>
              </a:ext>
            </a:extLst>
          </a:blip>
          <a:srcRect/>
          <a:stretch>
            <a:fillRect/>
          </a:stretch>
        </p:blipFill>
        <p:spPr bwMode="auto">
          <a:xfrm>
            <a:off x="4057656" y="1387477"/>
            <a:ext cx="4014786" cy="401478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p:txBody>
          <a:bodyPr vert="horz">
            <a:normAutofit fontScale="90000"/>
          </a:bodyPr>
          <a:lstStyle/>
          <a:p>
            <a:br>
              <a:rPr lang="en-US" altLang="zh-CN" sz="4800" dirty="0">
                <a:latin typeface="Calibri" panose="020F0502020204030204" pitchFamily="34" charset="0"/>
                <a:cs typeface="Calibri" panose="020F0502020204030204" pitchFamily="34" charset="0"/>
              </a:rPr>
            </a:br>
            <a:br>
              <a:rPr lang="en-US" altLang="zh-CN" sz="4800" dirty="0">
                <a:latin typeface="Calibri" panose="020F0502020204030204" pitchFamily="34" charset="0"/>
                <a:cs typeface="Calibri" panose="020F0502020204030204" pitchFamily="34" charset="0"/>
              </a:rPr>
            </a:br>
            <a:r>
              <a:rPr lang="sk-SK" altLang="zh-CN" sz="4800" dirty="0" smtClean="0">
                <a:latin typeface="Calibri" panose="020F0502020204030204" pitchFamily="34" charset="0"/>
                <a:cs typeface="Calibri" panose="020F0502020204030204" pitchFamily="34" charset="0"/>
              </a:rPr>
              <a:t>STA324</a:t>
            </a:r>
            <a:br>
              <a:rPr lang="sk-SK" altLang="zh-CN" sz="4800" dirty="0">
                <a:latin typeface="Calibri" panose="020F0502020204030204" pitchFamily="34" charset="0"/>
                <a:cs typeface="Calibri" panose="020F0502020204030204" pitchFamily="34" charset="0"/>
              </a:rPr>
            </a:br>
            <a:r>
              <a:rPr lang="sk-SK" altLang="zh-CN" sz="4800" dirty="0" err="1">
                <a:latin typeface="Calibri" panose="020F0502020204030204" pitchFamily="34" charset="0"/>
                <a:cs typeface="Calibri" panose="020F0502020204030204" pitchFamily="34" charset="0"/>
              </a:rPr>
              <a:t>The</a:t>
            </a:r>
            <a:r>
              <a:rPr lang="sk-SK" altLang="zh-CN" sz="4800" dirty="0">
                <a:latin typeface="Calibri" panose="020F0502020204030204" pitchFamily="34" charset="0"/>
                <a:cs typeface="Calibri" panose="020F0502020204030204" pitchFamily="34" charset="0"/>
              </a:rPr>
              <a:t> </a:t>
            </a:r>
            <a:r>
              <a:rPr lang="sk-SK" altLang="zh-CN" sz="4800" dirty="0" err="1">
                <a:latin typeface="Calibri" panose="020F0502020204030204" pitchFamily="34" charset="0"/>
                <a:cs typeface="Calibri" panose="020F0502020204030204" pitchFamily="34" charset="0"/>
              </a:rPr>
              <a:t>Foundations</a:t>
            </a:r>
            <a:r>
              <a:rPr lang="sk-SK" altLang="zh-CN" sz="4800" dirty="0">
                <a:latin typeface="Calibri" panose="020F0502020204030204" pitchFamily="34" charset="0"/>
                <a:cs typeface="Calibri" panose="020F0502020204030204" pitchFamily="34" charset="0"/>
              </a:rPr>
              <a:t> and </a:t>
            </a:r>
            <a:r>
              <a:rPr lang="sk-SK" altLang="zh-CN" sz="4800" dirty="0" err="1">
                <a:latin typeface="Calibri" panose="020F0502020204030204" pitchFamily="34" charset="0"/>
                <a:cs typeface="Calibri" panose="020F0502020204030204" pitchFamily="34" charset="0"/>
              </a:rPr>
              <a:t>Applications</a:t>
            </a:r>
            <a:r>
              <a:rPr lang="sk-SK" altLang="zh-CN" sz="4800" dirty="0">
                <a:latin typeface="Calibri" panose="020F0502020204030204" pitchFamily="34" charset="0"/>
                <a:cs typeface="Calibri" panose="020F0502020204030204" pitchFamily="34" charset="0"/>
              </a:rPr>
              <a:t> of </a:t>
            </a:r>
            <a:r>
              <a:rPr lang="sk-SK" altLang="zh-CN" sz="4800" dirty="0" err="1">
                <a:latin typeface="Calibri" panose="020F0502020204030204" pitchFamily="34" charset="0"/>
                <a:cs typeface="Calibri" panose="020F0502020204030204" pitchFamily="34" charset="0"/>
              </a:rPr>
              <a:t>Large</a:t>
            </a:r>
            <a:r>
              <a:rPr lang="sk-SK" altLang="zh-CN" sz="4800" dirty="0">
                <a:latin typeface="Calibri" panose="020F0502020204030204" pitchFamily="34" charset="0"/>
                <a:cs typeface="Calibri" panose="020F0502020204030204" pitchFamily="34" charset="0"/>
              </a:rPr>
              <a:t> </a:t>
            </a:r>
            <a:r>
              <a:rPr lang="en-GB" altLang="zh-CN" sz="4800" dirty="0">
                <a:latin typeface="Calibri" panose="020F0502020204030204" pitchFamily="34" charset="0"/>
                <a:cs typeface="Calibri" panose="020F0502020204030204" pitchFamily="34" charset="0"/>
              </a:rPr>
              <a:t>Language</a:t>
            </a:r>
            <a:r>
              <a:rPr lang="sk-SK" altLang="zh-CN" sz="4800" dirty="0">
                <a:latin typeface="Calibri" panose="020F0502020204030204" pitchFamily="34" charset="0"/>
                <a:cs typeface="Calibri" panose="020F0502020204030204" pitchFamily="34" charset="0"/>
              </a:rPr>
              <a:t> </a:t>
            </a:r>
            <a:r>
              <a:rPr lang="sk-SK" altLang="zh-CN" sz="4800" dirty="0" err="1">
                <a:latin typeface="Calibri" panose="020F0502020204030204" pitchFamily="34" charset="0"/>
                <a:cs typeface="Calibri" panose="020F0502020204030204" pitchFamily="34" charset="0"/>
              </a:rPr>
              <a:t>Models</a:t>
            </a:r>
            <a:endParaRPr lang="zh-CN" altLang="en-US" sz="4800" dirty="0">
              <a:latin typeface="Calibri" panose="020F0502020204030204" pitchFamily="34" charset="0"/>
              <a:cs typeface="Calibri" panose="020F0502020204030204" pitchFamily="34" charset="0"/>
            </a:endParaRPr>
          </a:p>
        </p:txBody>
      </p:sp>
      <p:sp>
        <p:nvSpPr>
          <p:cNvPr id="3" name="副标题 2"/>
          <p:cNvSpPr>
            <a:spLocks noGrp="1"/>
          </p:cNvSpPr>
          <p:nvPr>
            <p:ph type="subTitle" idx="1"/>
          </p:nvPr>
        </p:nvSpPr>
        <p:spPr>
          <a:xfrm>
            <a:off x="1524000" y="3894932"/>
            <a:ext cx="9144000" cy="1655762"/>
          </a:xfrm>
        </p:spPr>
        <p:txBody>
          <a:bodyPr/>
          <a:lstStyle/>
          <a:p>
            <a:r>
              <a:rPr lang="en-US" altLang="zh-CN" b="1" dirty="0" smtClean="0">
                <a:latin typeface="Calibri" panose="020F0502020204030204" pitchFamily="34" charset="0"/>
                <a:cs typeface="Calibri" panose="020F0502020204030204" pitchFamily="34" charset="0"/>
              </a:rPr>
              <a:t>2025-2026 Spring </a:t>
            </a:r>
            <a:r>
              <a:rPr lang="en-US" altLang="zh-CN" b="1" dirty="0">
                <a:latin typeface="Calibri" panose="020F0502020204030204" pitchFamily="34" charset="0"/>
                <a:cs typeface="Calibri" panose="020F0502020204030204" pitchFamily="34" charset="0"/>
              </a:rPr>
              <a:t>Semester</a:t>
            </a:r>
            <a:endParaRPr lang="en-US" altLang="zh-CN" b="1" dirty="0">
              <a:latin typeface="Calibri" panose="020F0502020204030204" pitchFamily="34" charset="0"/>
              <a:cs typeface="Calibri" panose="020F0502020204030204" pitchFamily="34" charset="0"/>
            </a:endParaRPr>
          </a:p>
          <a:p>
            <a:r>
              <a:rPr lang="en-US" altLang="zh-CN" b="1" dirty="0" smtClean="0">
                <a:latin typeface="Calibri" panose="020F0502020204030204" pitchFamily="34" charset="0"/>
                <a:cs typeface="Calibri" panose="020F0502020204030204" pitchFamily="34" charset="0"/>
              </a:rPr>
              <a:t>Linyi Yang</a:t>
            </a:r>
            <a:endParaRPr lang="zh-CN" altLang="en-US" b="1" dirty="0">
              <a:latin typeface="Calibri" panose="020F0502020204030204" pitchFamily="34" charset="0"/>
              <a:cs typeface="Calibri" panose="020F0502020204030204" pitchFamily="34" charset="0"/>
            </a:endParaRPr>
          </a:p>
        </p:txBody>
      </p:sp>
      <p:cxnSp>
        <p:nvCxnSpPr>
          <p:cNvPr id="5" name="直接连接符 4"/>
          <p:cNvCxnSpPr/>
          <p:nvPr/>
        </p:nvCxnSpPr>
        <p:spPr>
          <a:xfrm>
            <a:off x="2207419" y="3743325"/>
            <a:ext cx="785098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7" name="矩形 8"/>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2   </a:t>
            </a:r>
            <a:r>
              <a:rPr lang="en-US" altLang="zh-CN" sz="1500" dirty="0"/>
              <a:t>						  				                 </a:t>
            </a:r>
            <a:r>
              <a:rPr lang="en-US" altLang="zh-CN" sz="1500" dirty="0" smtClean="0"/>
              <a:t>2026/01/19</a:t>
            </a:r>
            <a:endParaRPr lang="zh-CN" altLang="en-US" sz="15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6820852" cy="461665"/>
          </a:xfrm>
          <a:prstGeom prst="rect">
            <a:avLst/>
          </a:prstGeom>
          <a:noFill/>
        </p:spPr>
        <p:txBody>
          <a:bodyPr wrap="square" rtlCol="0">
            <a:spAutoFit/>
          </a:bodyPr>
          <a:lstStyle/>
          <a:p>
            <a:r>
              <a:rPr lang="en-US" altLang="zh-CN" sz="2400" b="1" dirty="0" smtClean="0">
                <a:solidFill>
                  <a:srgbClr val="2F57D9"/>
                </a:solidFill>
                <a:latin typeface="Calibri" panose="020F0502020204030204" pitchFamily="34" charset="0"/>
                <a:cs typeface="Calibri" panose="020F0502020204030204" pitchFamily="34" charset="0"/>
              </a:rPr>
              <a:t>Recap: What We Learnt and What Left?</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6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5516732"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5" name="Rounded Rectangle 4"/>
          <p:cNvSpPr/>
          <p:nvPr/>
        </p:nvSpPr>
        <p:spPr>
          <a:xfrm>
            <a:off x="490856" y="1675812"/>
            <a:ext cx="2354059" cy="764771"/>
          </a:xfrm>
          <a:prstGeom prst="round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p:cNvSpPr txBox="1"/>
          <p:nvPr/>
        </p:nvSpPr>
        <p:spPr>
          <a:xfrm>
            <a:off x="501540" y="1849829"/>
            <a:ext cx="2332690" cy="400110"/>
          </a:xfrm>
          <a:prstGeom prst="rect">
            <a:avLst/>
          </a:prstGeom>
          <a:noFill/>
        </p:spPr>
        <p:txBody>
          <a:bodyPr wrap="none" rtlCol="0">
            <a:spAutoFit/>
          </a:bodyPr>
          <a:lstStyle/>
          <a:p>
            <a:r>
              <a:rPr lang="en-US" sz="2000" dirty="0" smtClean="0">
                <a:latin typeface="Times New Roman" panose="02020603050405020304" charset="0"/>
                <a:ea typeface="Times New Roman" panose="02020603050405020304" charset="0"/>
                <a:cs typeface="Times New Roman" panose="02020603050405020304" charset="0"/>
              </a:rPr>
              <a:t>Introduction of LLM</a:t>
            </a:r>
            <a:endParaRPr lang="en-GB" sz="2000" dirty="0">
              <a:latin typeface="Times New Roman" panose="02020603050405020304" charset="0"/>
              <a:ea typeface="Times New Roman" panose="02020603050405020304" charset="0"/>
              <a:cs typeface="Times New Roman" panose="02020603050405020304" charset="0"/>
            </a:endParaRPr>
          </a:p>
        </p:txBody>
      </p:sp>
      <p:sp>
        <p:nvSpPr>
          <p:cNvPr id="3" name="Right Arrow 2"/>
          <p:cNvSpPr/>
          <p:nvPr/>
        </p:nvSpPr>
        <p:spPr>
          <a:xfrm>
            <a:off x="2966589" y="1918201"/>
            <a:ext cx="565265" cy="279991"/>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p:cNvSpPr txBox="1"/>
          <p:nvPr/>
        </p:nvSpPr>
        <p:spPr>
          <a:xfrm>
            <a:off x="1073812" y="1275702"/>
            <a:ext cx="1188146" cy="400110"/>
          </a:xfrm>
          <a:prstGeom prst="rect">
            <a:avLst/>
          </a:prstGeom>
          <a:noFill/>
        </p:spPr>
        <p:txBody>
          <a:bodyPr wrap="none" rtlCol="0">
            <a:spAutoFit/>
          </a:bodyPr>
          <a:lstStyle/>
          <a:p>
            <a:r>
              <a:rPr lang="en-GB" sz="2000" u="sng" dirty="0" smtClean="0">
                <a:latin typeface="Times New Roman" panose="02020603050405020304" charset="0"/>
                <a:ea typeface="Times New Roman" panose="02020603050405020304" charset="0"/>
                <a:cs typeface="Times New Roman" panose="02020603050405020304" charset="0"/>
              </a:rPr>
              <a:t>Chapter 1</a:t>
            </a:r>
            <a:endParaRPr lang="en-GB" sz="2000" u="sng" dirty="0">
              <a:latin typeface="Times New Roman" panose="02020603050405020304" charset="0"/>
              <a:ea typeface="Times New Roman" panose="02020603050405020304" charset="0"/>
              <a:cs typeface="Times New Roman" panose="02020603050405020304" charset="0"/>
            </a:endParaRPr>
          </a:p>
        </p:txBody>
      </p:sp>
      <p:sp>
        <p:nvSpPr>
          <p:cNvPr id="12" name="Rounded Rectangle 11"/>
          <p:cNvSpPr/>
          <p:nvPr/>
        </p:nvSpPr>
        <p:spPr>
          <a:xfrm>
            <a:off x="3653528" y="1675812"/>
            <a:ext cx="2354059" cy="764771"/>
          </a:xfrm>
          <a:prstGeom prst="round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p:cNvSpPr txBox="1"/>
          <p:nvPr/>
        </p:nvSpPr>
        <p:spPr>
          <a:xfrm>
            <a:off x="3664212" y="1849829"/>
            <a:ext cx="2344168" cy="400110"/>
          </a:xfrm>
          <a:prstGeom prst="rect">
            <a:avLst/>
          </a:prstGeom>
          <a:noFill/>
        </p:spPr>
        <p:txBody>
          <a:bodyPr wrap="none" rtlCol="0">
            <a:spAutoFit/>
          </a:bodyPr>
          <a:lstStyle/>
          <a:p>
            <a:r>
              <a:rPr lang="en-US" sz="2000" dirty="0" smtClean="0">
                <a:latin typeface="Times New Roman" panose="02020603050405020304" charset="0"/>
                <a:ea typeface="Times New Roman" panose="02020603050405020304" charset="0"/>
                <a:cs typeface="Times New Roman" panose="02020603050405020304" charset="0"/>
              </a:rPr>
              <a:t>Tokenization &amp; Arch</a:t>
            </a:r>
            <a:endParaRPr lang="en-GB" sz="2000" dirty="0">
              <a:latin typeface="Times New Roman" panose="02020603050405020304" charset="0"/>
              <a:ea typeface="Times New Roman" panose="02020603050405020304" charset="0"/>
              <a:cs typeface="Times New Roman" panose="02020603050405020304" charset="0"/>
            </a:endParaRPr>
          </a:p>
        </p:txBody>
      </p:sp>
      <p:sp>
        <p:nvSpPr>
          <p:cNvPr id="14" name="TextBox 13"/>
          <p:cNvSpPr txBox="1"/>
          <p:nvPr/>
        </p:nvSpPr>
        <p:spPr>
          <a:xfrm>
            <a:off x="4236484" y="1275702"/>
            <a:ext cx="1188146" cy="400110"/>
          </a:xfrm>
          <a:prstGeom prst="rect">
            <a:avLst/>
          </a:prstGeom>
          <a:noFill/>
        </p:spPr>
        <p:txBody>
          <a:bodyPr wrap="none" rtlCol="0">
            <a:spAutoFit/>
          </a:bodyPr>
          <a:lstStyle/>
          <a:p>
            <a:r>
              <a:rPr lang="en-GB" sz="2000" u="sng" dirty="0" smtClean="0">
                <a:latin typeface="Times New Roman" panose="02020603050405020304" charset="0"/>
                <a:ea typeface="Times New Roman" panose="02020603050405020304" charset="0"/>
                <a:cs typeface="Times New Roman" panose="02020603050405020304" charset="0"/>
              </a:rPr>
              <a:t>Chapter 2</a:t>
            </a:r>
            <a:endParaRPr lang="en-GB" sz="2000" u="sng" dirty="0">
              <a:latin typeface="Times New Roman" panose="02020603050405020304" charset="0"/>
              <a:ea typeface="Times New Roman" panose="02020603050405020304" charset="0"/>
              <a:cs typeface="Times New Roman" panose="02020603050405020304" charset="0"/>
            </a:endParaRPr>
          </a:p>
        </p:txBody>
      </p:sp>
      <p:sp>
        <p:nvSpPr>
          <p:cNvPr id="18" name="Right Arrow 17"/>
          <p:cNvSpPr/>
          <p:nvPr/>
        </p:nvSpPr>
        <p:spPr>
          <a:xfrm>
            <a:off x="6129260" y="1918201"/>
            <a:ext cx="565265" cy="279991"/>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ounded Rectangle 18"/>
          <p:cNvSpPr/>
          <p:nvPr/>
        </p:nvSpPr>
        <p:spPr>
          <a:xfrm>
            <a:off x="6816199" y="1675812"/>
            <a:ext cx="1925211" cy="764771"/>
          </a:xfrm>
          <a:prstGeom prst="round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p:cNvSpPr txBox="1"/>
          <p:nvPr/>
        </p:nvSpPr>
        <p:spPr>
          <a:xfrm>
            <a:off x="6826883" y="1704254"/>
            <a:ext cx="1914527" cy="707886"/>
          </a:xfrm>
          <a:prstGeom prst="rect">
            <a:avLst/>
          </a:prstGeom>
          <a:noFill/>
        </p:spPr>
        <p:txBody>
          <a:bodyPr wrap="square" rtlCol="0">
            <a:spAutoFit/>
          </a:bodyPr>
          <a:lstStyle/>
          <a:p>
            <a:pPr algn="ctr"/>
            <a:r>
              <a:rPr lang="en-US" sz="2000" smtClean="0">
                <a:latin typeface="Times New Roman" panose="02020603050405020304" charset="0"/>
                <a:ea typeface="Times New Roman" panose="02020603050405020304" charset="0"/>
                <a:cs typeface="Times New Roman" panose="02020603050405020304" charset="0"/>
              </a:rPr>
              <a:t>In-context Learning</a:t>
            </a:r>
            <a:endParaRPr lang="en-GB" sz="2000" dirty="0">
              <a:latin typeface="Times New Roman" panose="02020603050405020304" charset="0"/>
              <a:ea typeface="Times New Roman" panose="02020603050405020304" charset="0"/>
              <a:cs typeface="Times New Roman" panose="02020603050405020304" charset="0"/>
            </a:endParaRPr>
          </a:p>
        </p:txBody>
      </p:sp>
      <p:sp>
        <p:nvSpPr>
          <p:cNvPr id="21" name="TextBox 20"/>
          <p:cNvSpPr txBox="1"/>
          <p:nvPr/>
        </p:nvSpPr>
        <p:spPr>
          <a:xfrm>
            <a:off x="7184731" y="1275702"/>
            <a:ext cx="1188146" cy="400110"/>
          </a:xfrm>
          <a:prstGeom prst="rect">
            <a:avLst/>
          </a:prstGeom>
          <a:noFill/>
        </p:spPr>
        <p:txBody>
          <a:bodyPr wrap="none" rtlCol="0">
            <a:spAutoFit/>
          </a:bodyPr>
          <a:lstStyle/>
          <a:p>
            <a:r>
              <a:rPr lang="en-GB" sz="2000" u="sng" dirty="0" smtClean="0">
                <a:latin typeface="Times New Roman" panose="02020603050405020304" charset="0"/>
                <a:ea typeface="Times New Roman" panose="02020603050405020304" charset="0"/>
                <a:cs typeface="Times New Roman" panose="02020603050405020304" charset="0"/>
              </a:rPr>
              <a:t>Chapter 3</a:t>
            </a:r>
            <a:endParaRPr lang="en-GB" sz="2000" u="sng" dirty="0">
              <a:latin typeface="Times New Roman" panose="02020603050405020304" charset="0"/>
              <a:ea typeface="Times New Roman" panose="02020603050405020304" charset="0"/>
              <a:cs typeface="Times New Roman" panose="02020603050405020304" charset="0"/>
            </a:endParaRPr>
          </a:p>
        </p:txBody>
      </p:sp>
      <p:sp>
        <p:nvSpPr>
          <p:cNvPr id="22" name="Right Arrow 21"/>
          <p:cNvSpPr/>
          <p:nvPr/>
        </p:nvSpPr>
        <p:spPr>
          <a:xfrm>
            <a:off x="8862290" y="1918201"/>
            <a:ext cx="565265" cy="279991"/>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9549229" y="1675812"/>
            <a:ext cx="1925211" cy="764771"/>
          </a:xfrm>
          <a:prstGeom prst="round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p:cNvSpPr txBox="1"/>
          <p:nvPr/>
        </p:nvSpPr>
        <p:spPr>
          <a:xfrm>
            <a:off x="9559913" y="1849829"/>
            <a:ext cx="1914527" cy="400110"/>
          </a:xfrm>
          <a:prstGeom prst="rect">
            <a:avLst/>
          </a:prstGeom>
          <a:noFill/>
        </p:spPr>
        <p:txBody>
          <a:bodyPr wrap="square" rtlCol="0">
            <a:spAutoFit/>
          </a:bodyPr>
          <a:lstStyle/>
          <a:p>
            <a:pPr algn="ctr"/>
            <a:r>
              <a:rPr lang="en-US" sz="2000" smtClean="0">
                <a:latin typeface="Times New Roman" panose="02020603050405020304" charset="0"/>
                <a:ea typeface="Times New Roman" panose="02020603050405020304" charset="0"/>
                <a:cs typeface="Times New Roman" panose="02020603050405020304" charset="0"/>
              </a:rPr>
              <a:t>GPUs</a:t>
            </a:r>
            <a:endParaRPr lang="en-GB" sz="2000" dirty="0">
              <a:latin typeface="Times New Roman" panose="02020603050405020304" charset="0"/>
              <a:ea typeface="Times New Roman" panose="02020603050405020304" charset="0"/>
              <a:cs typeface="Times New Roman" panose="02020603050405020304" charset="0"/>
            </a:endParaRPr>
          </a:p>
        </p:txBody>
      </p:sp>
      <p:sp>
        <p:nvSpPr>
          <p:cNvPr id="25" name="TextBox 24"/>
          <p:cNvSpPr txBox="1"/>
          <p:nvPr/>
        </p:nvSpPr>
        <p:spPr>
          <a:xfrm>
            <a:off x="9917761" y="1275702"/>
            <a:ext cx="1188146" cy="400110"/>
          </a:xfrm>
          <a:prstGeom prst="rect">
            <a:avLst/>
          </a:prstGeom>
          <a:noFill/>
        </p:spPr>
        <p:txBody>
          <a:bodyPr wrap="none" rtlCol="0">
            <a:spAutoFit/>
          </a:bodyPr>
          <a:lstStyle/>
          <a:p>
            <a:r>
              <a:rPr lang="en-GB" sz="2000" u="sng" dirty="0" smtClean="0">
                <a:latin typeface="Times New Roman" panose="02020603050405020304" charset="0"/>
                <a:ea typeface="Times New Roman" panose="02020603050405020304" charset="0"/>
                <a:cs typeface="Times New Roman" panose="02020603050405020304" charset="0"/>
              </a:rPr>
              <a:t>Chapter 4</a:t>
            </a:r>
            <a:endParaRPr lang="en-GB" sz="2000" u="sng" dirty="0">
              <a:latin typeface="Times New Roman" panose="02020603050405020304" charset="0"/>
              <a:ea typeface="Times New Roman" panose="02020603050405020304" charset="0"/>
              <a:cs typeface="Times New Roman" panose="02020603050405020304" charset="0"/>
            </a:endParaRPr>
          </a:p>
        </p:txBody>
      </p:sp>
      <p:cxnSp>
        <p:nvCxnSpPr>
          <p:cNvPr id="7" name="Elbow Connector 6"/>
          <p:cNvCxnSpPr>
            <a:stCxn id="23" idx="2"/>
            <a:endCxn id="28" idx="0"/>
          </p:cNvCxnSpPr>
          <p:nvPr/>
        </p:nvCxnSpPr>
        <p:spPr>
          <a:xfrm rot="5400000">
            <a:off x="5826401" y="-1717933"/>
            <a:ext cx="526918" cy="884395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Rounded Rectangle 25"/>
          <p:cNvSpPr/>
          <p:nvPr/>
        </p:nvSpPr>
        <p:spPr>
          <a:xfrm>
            <a:off x="490856" y="3367611"/>
            <a:ext cx="2354059" cy="764771"/>
          </a:xfrm>
          <a:prstGeom prst="round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p:cNvSpPr txBox="1"/>
          <p:nvPr/>
        </p:nvSpPr>
        <p:spPr>
          <a:xfrm>
            <a:off x="601727" y="3565809"/>
            <a:ext cx="2132315" cy="400110"/>
          </a:xfrm>
          <a:prstGeom prst="rect">
            <a:avLst/>
          </a:prstGeom>
          <a:noFill/>
        </p:spPr>
        <p:txBody>
          <a:bodyPr wrap="none" rtlCol="0">
            <a:spAutoFit/>
          </a:bodyPr>
          <a:lstStyle/>
          <a:p>
            <a:r>
              <a:rPr lang="en-US" sz="2000" dirty="0" smtClean="0">
                <a:latin typeface="Times New Roman" panose="02020603050405020304" charset="0"/>
                <a:ea typeface="Times New Roman" panose="02020603050405020304" charset="0"/>
                <a:cs typeface="Times New Roman" panose="02020603050405020304" charset="0"/>
              </a:rPr>
              <a:t>Mixture </a:t>
            </a:r>
            <a:r>
              <a:rPr lang="en-US" sz="2000" smtClean="0">
                <a:latin typeface="Times New Roman" panose="02020603050405020304" charset="0"/>
                <a:ea typeface="Times New Roman" panose="02020603050405020304" charset="0"/>
                <a:cs typeface="Times New Roman" panose="02020603050405020304" charset="0"/>
              </a:rPr>
              <a:t>of Experts</a:t>
            </a:r>
            <a:endParaRPr lang="en-GB" sz="2000" dirty="0">
              <a:latin typeface="Times New Roman" panose="02020603050405020304" charset="0"/>
              <a:ea typeface="Times New Roman" panose="02020603050405020304" charset="0"/>
              <a:cs typeface="Times New Roman" panose="02020603050405020304" charset="0"/>
            </a:endParaRPr>
          </a:p>
        </p:txBody>
      </p:sp>
      <p:sp>
        <p:nvSpPr>
          <p:cNvPr id="28" name="TextBox 27"/>
          <p:cNvSpPr txBox="1"/>
          <p:nvPr/>
        </p:nvSpPr>
        <p:spPr>
          <a:xfrm>
            <a:off x="1073812" y="2967501"/>
            <a:ext cx="1188146" cy="400110"/>
          </a:xfrm>
          <a:prstGeom prst="rect">
            <a:avLst/>
          </a:prstGeom>
          <a:noFill/>
        </p:spPr>
        <p:txBody>
          <a:bodyPr wrap="none" rtlCol="0">
            <a:spAutoFit/>
          </a:bodyPr>
          <a:lstStyle/>
          <a:p>
            <a:r>
              <a:rPr lang="en-GB" sz="2000" u="sng" dirty="0" smtClean="0">
                <a:latin typeface="Times New Roman" panose="02020603050405020304" charset="0"/>
                <a:ea typeface="Times New Roman" panose="02020603050405020304" charset="0"/>
                <a:cs typeface="Times New Roman" panose="02020603050405020304" charset="0"/>
              </a:rPr>
              <a:t>Chapter 5</a:t>
            </a:r>
            <a:endParaRPr lang="en-GB" sz="2000" u="sng" dirty="0">
              <a:latin typeface="Times New Roman" panose="02020603050405020304" charset="0"/>
              <a:ea typeface="Times New Roman" panose="02020603050405020304" charset="0"/>
              <a:cs typeface="Times New Roman" panose="02020603050405020304" charset="0"/>
            </a:endParaRPr>
          </a:p>
        </p:txBody>
      </p:sp>
      <p:sp>
        <p:nvSpPr>
          <p:cNvPr id="31" name="Right Arrow 30"/>
          <p:cNvSpPr/>
          <p:nvPr/>
        </p:nvSpPr>
        <p:spPr>
          <a:xfrm>
            <a:off x="2966589" y="3610000"/>
            <a:ext cx="565265" cy="279991"/>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ounded Rectangle 31"/>
          <p:cNvSpPr/>
          <p:nvPr/>
        </p:nvSpPr>
        <p:spPr>
          <a:xfrm>
            <a:off x="3653528" y="3367611"/>
            <a:ext cx="2354059" cy="764771"/>
          </a:xfrm>
          <a:prstGeom prst="round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TextBox 32"/>
          <p:cNvSpPr txBox="1"/>
          <p:nvPr/>
        </p:nvSpPr>
        <p:spPr>
          <a:xfrm>
            <a:off x="3664212" y="3541628"/>
            <a:ext cx="2280561" cy="400110"/>
          </a:xfrm>
          <a:prstGeom prst="rect">
            <a:avLst/>
          </a:prstGeom>
          <a:noFill/>
        </p:spPr>
        <p:txBody>
          <a:bodyPr wrap="none" rtlCol="0">
            <a:spAutoFit/>
          </a:bodyPr>
          <a:lstStyle/>
          <a:p>
            <a:pPr algn="ctr"/>
            <a:r>
              <a:rPr lang="en-US" sz="2000" dirty="0" smtClean="0">
                <a:latin typeface="Times New Roman" panose="02020603050405020304" charset="0"/>
                <a:ea typeface="Times New Roman" panose="02020603050405020304" charset="0"/>
                <a:cs typeface="Times New Roman" panose="02020603050405020304" charset="0"/>
              </a:rPr>
              <a:t>Training Techniques</a:t>
            </a:r>
            <a:endParaRPr lang="en-GB" sz="2000" dirty="0">
              <a:latin typeface="Times New Roman" panose="02020603050405020304" charset="0"/>
              <a:ea typeface="Times New Roman" panose="02020603050405020304" charset="0"/>
              <a:cs typeface="Times New Roman" panose="02020603050405020304" charset="0"/>
            </a:endParaRPr>
          </a:p>
        </p:txBody>
      </p:sp>
      <p:sp>
        <p:nvSpPr>
          <p:cNvPr id="34" name="TextBox 33"/>
          <p:cNvSpPr txBox="1"/>
          <p:nvPr/>
        </p:nvSpPr>
        <p:spPr>
          <a:xfrm>
            <a:off x="4236484" y="2967501"/>
            <a:ext cx="1188146" cy="400110"/>
          </a:xfrm>
          <a:prstGeom prst="rect">
            <a:avLst/>
          </a:prstGeom>
          <a:noFill/>
        </p:spPr>
        <p:txBody>
          <a:bodyPr wrap="none" rtlCol="0">
            <a:spAutoFit/>
          </a:bodyPr>
          <a:lstStyle/>
          <a:p>
            <a:r>
              <a:rPr lang="en-GB" sz="2000" u="sng" dirty="0" smtClean="0">
                <a:latin typeface="Times New Roman" panose="02020603050405020304" charset="0"/>
                <a:ea typeface="Times New Roman" panose="02020603050405020304" charset="0"/>
                <a:cs typeface="Times New Roman" panose="02020603050405020304" charset="0"/>
              </a:rPr>
              <a:t>Chapter 6</a:t>
            </a:r>
            <a:endParaRPr lang="en-GB" sz="2000" u="sng" dirty="0">
              <a:latin typeface="Times New Roman" panose="02020603050405020304" charset="0"/>
              <a:ea typeface="Times New Roman" panose="02020603050405020304" charset="0"/>
              <a:cs typeface="Times New Roman" panose="02020603050405020304" charset="0"/>
            </a:endParaRPr>
          </a:p>
        </p:txBody>
      </p:sp>
      <p:sp>
        <p:nvSpPr>
          <p:cNvPr id="35" name="Right Arrow 34"/>
          <p:cNvSpPr/>
          <p:nvPr/>
        </p:nvSpPr>
        <p:spPr>
          <a:xfrm>
            <a:off x="6129260" y="3634580"/>
            <a:ext cx="565265" cy="279991"/>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ounded Rectangle 35"/>
          <p:cNvSpPr/>
          <p:nvPr/>
        </p:nvSpPr>
        <p:spPr>
          <a:xfrm>
            <a:off x="6816199" y="3392191"/>
            <a:ext cx="2354059" cy="764771"/>
          </a:xfrm>
          <a:prstGeom prst="round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TextBox 36"/>
          <p:cNvSpPr txBox="1"/>
          <p:nvPr/>
        </p:nvSpPr>
        <p:spPr>
          <a:xfrm>
            <a:off x="6888569" y="3566208"/>
            <a:ext cx="2157194" cy="400110"/>
          </a:xfrm>
          <a:prstGeom prst="rect">
            <a:avLst/>
          </a:prstGeom>
          <a:noFill/>
        </p:spPr>
        <p:txBody>
          <a:bodyPr wrap="none" rtlCol="0">
            <a:spAutoFit/>
          </a:bodyPr>
          <a:lstStyle/>
          <a:p>
            <a:pPr algn="ctr"/>
            <a:r>
              <a:rPr lang="en-US" sz="2000" dirty="0" smtClean="0">
                <a:latin typeface="Times New Roman" panose="02020603050405020304" charset="0"/>
                <a:ea typeface="Times New Roman" panose="02020603050405020304" charset="0"/>
                <a:cs typeface="Times New Roman" panose="02020603050405020304" charset="0"/>
              </a:rPr>
              <a:t>Advanced Training</a:t>
            </a:r>
            <a:endParaRPr lang="en-GB" sz="2000" dirty="0">
              <a:latin typeface="Times New Roman" panose="02020603050405020304" charset="0"/>
              <a:ea typeface="Times New Roman" panose="02020603050405020304" charset="0"/>
              <a:cs typeface="Times New Roman" panose="02020603050405020304" charset="0"/>
            </a:endParaRPr>
          </a:p>
        </p:txBody>
      </p:sp>
      <p:sp>
        <p:nvSpPr>
          <p:cNvPr id="38" name="TextBox 37"/>
          <p:cNvSpPr txBox="1"/>
          <p:nvPr/>
        </p:nvSpPr>
        <p:spPr>
          <a:xfrm>
            <a:off x="7184731" y="2965219"/>
            <a:ext cx="1188146" cy="400110"/>
          </a:xfrm>
          <a:prstGeom prst="rect">
            <a:avLst/>
          </a:prstGeom>
          <a:solidFill>
            <a:schemeClr val="accent2">
              <a:lumMod val="40000"/>
              <a:lumOff val="60000"/>
            </a:schemeClr>
          </a:solidFill>
        </p:spPr>
        <p:txBody>
          <a:bodyPr wrap="none" rtlCol="0">
            <a:spAutoFit/>
          </a:bodyPr>
          <a:lstStyle>
            <a:defPPr>
              <a:defRPr lang="zh-CN"/>
            </a:defPPr>
            <a:lvl1pPr>
              <a:defRPr sz="2000" u="sng">
                <a:latin typeface="Times New Roman" panose="02020603050405020304" charset="0"/>
                <a:ea typeface="Times New Roman" panose="02020603050405020304" charset="0"/>
                <a:cs typeface="Times New Roman" panose="02020603050405020304" charset="0"/>
              </a:defRPr>
            </a:lvl1pPr>
          </a:lstStyle>
          <a:p>
            <a:r>
              <a:rPr lang="en-GB" dirty="0"/>
              <a:t>Chapter 7</a:t>
            </a:r>
            <a:endParaRPr lang="en-GB" dirty="0"/>
          </a:p>
        </p:txBody>
      </p:sp>
      <p:sp>
        <p:nvSpPr>
          <p:cNvPr id="39" name="Right Arrow 38"/>
          <p:cNvSpPr/>
          <p:nvPr/>
        </p:nvSpPr>
        <p:spPr>
          <a:xfrm>
            <a:off x="9189639" y="3610000"/>
            <a:ext cx="431783" cy="279991"/>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ounded Rectangle 39"/>
          <p:cNvSpPr/>
          <p:nvPr/>
        </p:nvSpPr>
        <p:spPr>
          <a:xfrm>
            <a:off x="9599220" y="3367611"/>
            <a:ext cx="1925211" cy="764771"/>
          </a:xfrm>
          <a:prstGeom prst="round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p:cNvSpPr txBox="1"/>
          <p:nvPr/>
        </p:nvSpPr>
        <p:spPr>
          <a:xfrm>
            <a:off x="9609904" y="3541628"/>
            <a:ext cx="1914527" cy="400110"/>
          </a:xfrm>
          <a:prstGeom prst="rect">
            <a:avLst/>
          </a:prstGeom>
          <a:noFill/>
        </p:spPr>
        <p:txBody>
          <a:bodyPr wrap="square" rtlCol="0">
            <a:spAutoFit/>
          </a:bodyPr>
          <a:lstStyle/>
          <a:p>
            <a:pPr algn="ctr"/>
            <a:r>
              <a:rPr lang="en-US" altLang="zh-CN" sz="2000" dirty="0" smtClean="0">
                <a:latin typeface="Times New Roman" panose="02020603050405020304" charset="0"/>
                <a:ea typeface="Times New Roman" panose="02020603050405020304" charset="0"/>
                <a:cs typeface="Times New Roman" panose="02020603050405020304" charset="0"/>
              </a:rPr>
              <a:t>Alignment</a:t>
            </a:r>
            <a:endParaRPr lang="en-GB" sz="2000" dirty="0">
              <a:latin typeface="Times New Roman" panose="02020603050405020304" charset="0"/>
              <a:ea typeface="Times New Roman" panose="02020603050405020304" charset="0"/>
              <a:cs typeface="Times New Roman" panose="02020603050405020304" charset="0"/>
            </a:endParaRPr>
          </a:p>
        </p:txBody>
      </p:sp>
      <p:sp>
        <p:nvSpPr>
          <p:cNvPr id="42" name="TextBox 41"/>
          <p:cNvSpPr txBox="1"/>
          <p:nvPr/>
        </p:nvSpPr>
        <p:spPr>
          <a:xfrm>
            <a:off x="9967752" y="2967501"/>
            <a:ext cx="1188146" cy="400110"/>
          </a:xfrm>
          <a:prstGeom prst="rect">
            <a:avLst/>
          </a:prstGeom>
          <a:noFill/>
        </p:spPr>
        <p:txBody>
          <a:bodyPr wrap="none" rtlCol="0">
            <a:spAutoFit/>
          </a:bodyPr>
          <a:lstStyle/>
          <a:p>
            <a:r>
              <a:rPr lang="en-GB" sz="2000" u="sng" dirty="0" smtClean="0">
                <a:latin typeface="Times New Roman" panose="02020603050405020304" charset="0"/>
                <a:ea typeface="Times New Roman" panose="02020603050405020304" charset="0"/>
                <a:cs typeface="Times New Roman" panose="02020603050405020304" charset="0"/>
              </a:rPr>
              <a:t>Chapter 8</a:t>
            </a:r>
            <a:endParaRPr lang="en-GB" sz="2000" u="sng" dirty="0">
              <a:latin typeface="Times New Roman" panose="02020603050405020304" charset="0"/>
              <a:ea typeface="Times New Roman" panose="02020603050405020304" charset="0"/>
              <a:cs typeface="Times New Roman" panose="02020603050405020304" charset="0"/>
            </a:endParaRPr>
          </a:p>
        </p:txBody>
      </p:sp>
      <p:sp>
        <p:nvSpPr>
          <p:cNvPr id="43" name="5-Point Star 42"/>
          <p:cNvSpPr/>
          <p:nvPr/>
        </p:nvSpPr>
        <p:spPr>
          <a:xfrm>
            <a:off x="6800818" y="2967501"/>
            <a:ext cx="383913" cy="383913"/>
          </a:xfrm>
          <a:prstGeom prst="star5">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4" name="Elbow Connector 43"/>
          <p:cNvCxnSpPr/>
          <p:nvPr/>
        </p:nvCxnSpPr>
        <p:spPr>
          <a:xfrm rot="5400000">
            <a:off x="5826400" y="-9507"/>
            <a:ext cx="526918" cy="884395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958352" y="4540797"/>
            <a:ext cx="1188146" cy="400110"/>
          </a:xfrm>
          <a:prstGeom prst="rect">
            <a:avLst/>
          </a:prstGeom>
          <a:noFill/>
        </p:spPr>
        <p:txBody>
          <a:bodyPr wrap="none" rtlCol="0">
            <a:spAutoFit/>
          </a:bodyPr>
          <a:lstStyle/>
          <a:p>
            <a:r>
              <a:rPr lang="en-GB" sz="2000" u="sng" dirty="0" smtClean="0">
                <a:latin typeface="Times New Roman" panose="02020603050405020304" charset="0"/>
                <a:ea typeface="Times New Roman" panose="02020603050405020304" charset="0"/>
                <a:cs typeface="Times New Roman" panose="02020603050405020304" charset="0"/>
              </a:rPr>
              <a:t>Chapter </a:t>
            </a:r>
            <a:r>
              <a:rPr lang="en-US" sz="2000" u="sng" dirty="0">
                <a:latin typeface="Times New Roman" panose="02020603050405020304" charset="0"/>
                <a:ea typeface="Times New Roman" panose="02020603050405020304" charset="0"/>
                <a:cs typeface="Times New Roman" panose="02020603050405020304" charset="0"/>
              </a:rPr>
              <a:t>9</a:t>
            </a:r>
            <a:endParaRPr lang="en-GB" sz="2000" u="sng" dirty="0">
              <a:latin typeface="Times New Roman" panose="02020603050405020304" charset="0"/>
              <a:ea typeface="Times New Roman" panose="02020603050405020304" charset="0"/>
              <a:cs typeface="Times New Roman" panose="02020603050405020304" charset="0"/>
            </a:endParaRPr>
          </a:p>
        </p:txBody>
      </p:sp>
      <p:sp>
        <p:nvSpPr>
          <p:cNvPr id="48" name="Rounded Rectangle 47"/>
          <p:cNvSpPr/>
          <p:nvPr/>
        </p:nvSpPr>
        <p:spPr>
          <a:xfrm>
            <a:off x="490856" y="4934946"/>
            <a:ext cx="2354059" cy="764771"/>
          </a:xfrm>
          <a:prstGeom prst="round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TextBox 48"/>
          <p:cNvSpPr txBox="1"/>
          <p:nvPr/>
        </p:nvSpPr>
        <p:spPr>
          <a:xfrm>
            <a:off x="1011685" y="5108963"/>
            <a:ext cx="1260281" cy="400110"/>
          </a:xfrm>
          <a:prstGeom prst="rect">
            <a:avLst/>
          </a:prstGeom>
          <a:noFill/>
        </p:spPr>
        <p:txBody>
          <a:bodyPr wrap="none" rtlCol="0">
            <a:spAutoFit/>
          </a:bodyPr>
          <a:lstStyle/>
          <a:p>
            <a:pPr algn="ctr"/>
            <a:r>
              <a:rPr lang="en-US" sz="2000" dirty="0" smtClean="0">
                <a:latin typeface="Times New Roman" panose="02020603050405020304" charset="0"/>
                <a:ea typeface="Times New Roman" panose="02020603050405020304" charset="0"/>
                <a:cs typeface="Times New Roman" panose="02020603050405020304" charset="0"/>
              </a:rPr>
              <a:t>LLM </a:t>
            </a:r>
            <a:r>
              <a:rPr lang="en-US" sz="2000" dirty="0" err="1" smtClean="0">
                <a:latin typeface="Times New Roman" panose="02020603050405020304" charset="0"/>
                <a:ea typeface="Times New Roman" panose="02020603050405020304" charset="0"/>
                <a:cs typeface="Times New Roman" panose="02020603050405020304" charset="0"/>
              </a:rPr>
              <a:t>Eval</a:t>
            </a:r>
            <a:endParaRPr lang="en-GB" sz="2000" dirty="0">
              <a:latin typeface="Times New Roman" panose="02020603050405020304" charset="0"/>
              <a:ea typeface="Times New Roman" panose="02020603050405020304" charset="0"/>
              <a:cs typeface="Times New Roman" panose="02020603050405020304" charset="0"/>
            </a:endParaRPr>
          </a:p>
        </p:txBody>
      </p:sp>
      <p:sp>
        <p:nvSpPr>
          <p:cNvPr id="53" name="Right Arrow 52"/>
          <p:cNvSpPr/>
          <p:nvPr/>
        </p:nvSpPr>
        <p:spPr>
          <a:xfrm>
            <a:off x="2966589" y="5177335"/>
            <a:ext cx="565265" cy="279991"/>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ounded Rectangle 53"/>
          <p:cNvSpPr/>
          <p:nvPr/>
        </p:nvSpPr>
        <p:spPr>
          <a:xfrm>
            <a:off x="3653528" y="4934946"/>
            <a:ext cx="2354059" cy="764771"/>
          </a:xfrm>
          <a:prstGeom prst="round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TextBox 54"/>
          <p:cNvSpPr txBox="1"/>
          <p:nvPr/>
        </p:nvSpPr>
        <p:spPr>
          <a:xfrm>
            <a:off x="3664212" y="5108963"/>
            <a:ext cx="2343375" cy="400110"/>
          </a:xfrm>
          <a:prstGeom prst="rect">
            <a:avLst/>
          </a:prstGeom>
          <a:noFill/>
        </p:spPr>
        <p:txBody>
          <a:bodyPr wrap="square" rtlCol="0">
            <a:spAutoFit/>
          </a:bodyPr>
          <a:lstStyle/>
          <a:p>
            <a:pPr algn="ctr"/>
            <a:r>
              <a:rPr lang="en-US" sz="2000" dirty="0" smtClean="0">
                <a:latin typeface="Times New Roman" panose="02020603050405020304" charset="0"/>
                <a:ea typeface="Times New Roman" panose="02020603050405020304" charset="0"/>
                <a:cs typeface="Times New Roman" panose="02020603050405020304" charset="0"/>
              </a:rPr>
              <a:t>Agent</a:t>
            </a:r>
            <a:endParaRPr lang="en-GB" sz="2000" dirty="0">
              <a:latin typeface="Times New Roman" panose="02020603050405020304" charset="0"/>
              <a:ea typeface="Times New Roman" panose="02020603050405020304" charset="0"/>
              <a:cs typeface="Times New Roman" panose="02020603050405020304" charset="0"/>
            </a:endParaRPr>
          </a:p>
        </p:txBody>
      </p:sp>
      <p:sp>
        <p:nvSpPr>
          <p:cNvPr id="56" name="TextBox 55"/>
          <p:cNvSpPr txBox="1"/>
          <p:nvPr/>
        </p:nvSpPr>
        <p:spPr>
          <a:xfrm>
            <a:off x="4172364" y="4534836"/>
            <a:ext cx="1316386" cy="400110"/>
          </a:xfrm>
          <a:prstGeom prst="rect">
            <a:avLst/>
          </a:prstGeom>
          <a:solidFill>
            <a:schemeClr val="accent6">
              <a:lumMod val="20000"/>
              <a:lumOff val="80000"/>
            </a:schemeClr>
          </a:solidFill>
        </p:spPr>
        <p:txBody>
          <a:bodyPr wrap="none" rtlCol="0">
            <a:spAutoFit/>
          </a:bodyPr>
          <a:lstStyle/>
          <a:p>
            <a:r>
              <a:rPr lang="en-GB" sz="2000" u="sng" dirty="0" smtClean="0">
                <a:latin typeface="Times New Roman" panose="02020603050405020304" charset="0"/>
                <a:ea typeface="Times New Roman" panose="02020603050405020304" charset="0"/>
                <a:cs typeface="Times New Roman" panose="02020603050405020304" charset="0"/>
              </a:rPr>
              <a:t>Chapter 10</a:t>
            </a:r>
            <a:endParaRPr lang="en-GB" sz="2000" u="sng" dirty="0">
              <a:latin typeface="Times New Roman" panose="02020603050405020304" charset="0"/>
              <a:ea typeface="Times New Roman" panose="02020603050405020304" charset="0"/>
              <a:cs typeface="Times New Roman" panose="02020603050405020304" charset="0"/>
            </a:endParaRPr>
          </a:p>
        </p:txBody>
      </p:sp>
      <p:sp>
        <p:nvSpPr>
          <p:cNvPr id="57" name="TextBox 56"/>
          <p:cNvSpPr txBox="1"/>
          <p:nvPr/>
        </p:nvSpPr>
        <p:spPr>
          <a:xfrm>
            <a:off x="2784684" y="4831222"/>
            <a:ext cx="973343" cy="369332"/>
          </a:xfrm>
          <a:prstGeom prst="rect">
            <a:avLst/>
          </a:prstGeom>
          <a:noFill/>
        </p:spPr>
        <p:txBody>
          <a:bodyPr wrap="none" rtlCol="0">
            <a:spAutoFit/>
          </a:bodyPr>
          <a:lstStyle/>
          <a:p>
            <a:r>
              <a:rPr lang="en-GB" dirty="0" smtClean="0"/>
              <a:t>5.1</a:t>
            </a:r>
            <a:r>
              <a:rPr lang="zh-CN" altLang="en-US" dirty="0" smtClean="0"/>
              <a:t>休息</a:t>
            </a:r>
            <a:endParaRPr lang="en-GB" dirty="0"/>
          </a:p>
        </p:txBody>
      </p:sp>
      <p:sp>
        <p:nvSpPr>
          <p:cNvPr id="58" name="Right Arrow 57"/>
          <p:cNvSpPr/>
          <p:nvPr/>
        </p:nvSpPr>
        <p:spPr>
          <a:xfrm>
            <a:off x="6129260" y="5175942"/>
            <a:ext cx="565265" cy="279991"/>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2" name="TextBox 61"/>
          <p:cNvSpPr txBox="1"/>
          <p:nvPr/>
        </p:nvSpPr>
        <p:spPr>
          <a:xfrm>
            <a:off x="3570795" y="5659663"/>
            <a:ext cx="3281668" cy="646331"/>
          </a:xfrm>
          <a:prstGeom prst="rect">
            <a:avLst/>
          </a:prstGeom>
          <a:noFill/>
        </p:spPr>
        <p:txBody>
          <a:bodyPr wrap="none" rtlCol="0">
            <a:spAutoFit/>
          </a:bodyPr>
          <a:lstStyle/>
          <a:p>
            <a:r>
              <a:rPr lang="en-US" altLang="zh-CN" i="1" u="sng" dirty="0" smtClean="0">
                <a:latin typeface="Times New Roman" panose="02020603050405020304" charset="0"/>
                <a:ea typeface="Times New Roman" panose="02020603050405020304" charset="0"/>
                <a:cs typeface="Times New Roman" panose="02020603050405020304" charset="0"/>
              </a:rPr>
              <a:t>Guest Lecturer:</a:t>
            </a:r>
            <a:endParaRPr lang="en-US" altLang="zh-CN" i="1" u="sng" dirty="0" smtClean="0">
              <a:latin typeface="Times New Roman" panose="02020603050405020304" charset="0"/>
              <a:ea typeface="Times New Roman" panose="02020603050405020304" charset="0"/>
              <a:cs typeface="Times New Roman" panose="02020603050405020304" charset="0"/>
            </a:endParaRPr>
          </a:p>
          <a:p>
            <a:r>
              <a:rPr lang="en-US" altLang="zh-CN" dirty="0" smtClean="0">
                <a:latin typeface="Times New Roman" panose="02020603050405020304" charset="0"/>
                <a:ea typeface="Times New Roman" panose="02020603050405020304" charset="0"/>
                <a:cs typeface="Times New Roman" panose="02020603050405020304" charset="0"/>
              </a:rPr>
              <a:t>Research</a:t>
            </a:r>
            <a:r>
              <a:rPr lang="zh-CN" altLang="en-US" dirty="0" smtClean="0">
                <a:latin typeface="Times New Roman" panose="02020603050405020304" charset="0"/>
                <a:ea typeface="Times New Roman" panose="02020603050405020304" charset="0"/>
                <a:cs typeface="Times New Roman" panose="02020603050405020304" charset="0"/>
              </a:rPr>
              <a:t> </a:t>
            </a:r>
            <a:r>
              <a:rPr lang="en-US" altLang="zh-CN" dirty="0" smtClean="0">
                <a:latin typeface="Times New Roman" panose="02020603050405020304" charset="0"/>
                <a:ea typeface="Times New Roman" panose="02020603050405020304" charset="0"/>
                <a:cs typeface="Times New Roman" panose="02020603050405020304" charset="0"/>
              </a:rPr>
              <a:t>Scientist</a:t>
            </a:r>
            <a:r>
              <a:rPr lang="zh-CN" altLang="en-US" dirty="0" smtClean="0">
                <a:latin typeface="Times New Roman" panose="02020603050405020304" charset="0"/>
                <a:ea typeface="Times New Roman" panose="02020603050405020304" charset="0"/>
                <a:cs typeface="Times New Roman" panose="02020603050405020304" charset="0"/>
              </a:rPr>
              <a:t> </a:t>
            </a:r>
            <a:r>
              <a:rPr lang="en-US" altLang="zh-CN" dirty="0" smtClean="0">
                <a:latin typeface="Times New Roman" panose="02020603050405020304" charset="0"/>
                <a:ea typeface="Times New Roman" panose="02020603050405020304" charset="0"/>
                <a:cs typeface="Times New Roman" panose="02020603050405020304" charset="0"/>
              </a:rPr>
              <a:t>from</a:t>
            </a:r>
            <a:r>
              <a:rPr lang="zh-CN" altLang="en-US" dirty="0" smtClean="0">
                <a:latin typeface="Times New Roman" panose="02020603050405020304" charset="0"/>
                <a:ea typeface="Times New Roman" panose="02020603050405020304" charset="0"/>
                <a:cs typeface="Times New Roman" panose="02020603050405020304" charset="0"/>
              </a:rPr>
              <a:t> </a:t>
            </a:r>
            <a:r>
              <a:rPr lang="en-US" altLang="zh-CN" dirty="0" smtClean="0">
                <a:latin typeface="Times New Roman" panose="02020603050405020304" charset="0"/>
                <a:ea typeface="Times New Roman" panose="02020603050405020304" charset="0"/>
                <a:cs typeface="Times New Roman" panose="02020603050405020304" charset="0"/>
              </a:rPr>
              <a:t>Huawei</a:t>
            </a:r>
            <a:endParaRPr lang="en-GB" dirty="0">
              <a:latin typeface="Times New Roman" panose="02020603050405020304" charset="0"/>
              <a:ea typeface="Times New Roman" panose="02020603050405020304" charset="0"/>
              <a:cs typeface="Times New Roman" panose="02020603050405020304" charset="0"/>
            </a:endParaRPr>
          </a:p>
        </p:txBody>
      </p:sp>
      <p:sp>
        <p:nvSpPr>
          <p:cNvPr id="63" name="Rounded Rectangle 62"/>
          <p:cNvSpPr/>
          <p:nvPr/>
        </p:nvSpPr>
        <p:spPr>
          <a:xfrm>
            <a:off x="6816199" y="4923335"/>
            <a:ext cx="1925211" cy="764771"/>
          </a:xfrm>
          <a:prstGeom prst="round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TextBox 63"/>
          <p:cNvSpPr txBox="1"/>
          <p:nvPr/>
        </p:nvSpPr>
        <p:spPr>
          <a:xfrm>
            <a:off x="6826883" y="5103845"/>
            <a:ext cx="1914527" cy="400110"/>
          </a:xfrm>
          <a:prstGeom prst="rect">
            <a:avLst/>
          </a:prstGeom>
          <a:noFill/>
        </p:spPr>
        <p:txBody>
          <a:bodyPr wrap="square" rtlCol="0">
            <a:spAutoFit/>
          </a:bodyPr>
          <a:lstStyle/>
          <a:p>
            <a:pPr algn="ctr"/>
            <a:r>
              <a:rPr lang="en-US" sz="2000" dirty="0" smtClean="0">
                <a:latin typeface="Times New Roman" panose="02020603050405020304" charset="0"/>
                <a:ea typeface="Times New Roman" panose="02020603050405020304" charset="0"/>
                <a:cs typeface="Times New Roman" panose="02020603050405020304" charset="0"/>
              </a:rPr>
              <a:t>Agent </a:t>
            </a:r>
            <a:r>
              <a:rPr lang="en-US" sz="2000" dirty="0" err="1" smtClean="0">
                <a:latin typeface="Times New Roman" panose="02020603050405020304" charset="0"/>
                <a:ea typeface="Times New Roman" panose="02020603050405020304" charset="0"/>
                <a:cs typeface="Times New Roman" panose="02020603050405020304" charset="0"/>
              </a:rPr>
              <a:t>Eval</a:t>
            </a:r>
            <a:endParaRPr lang="en-GB" sz="2000" dirty="0">
              <a:latin typeface="Times New Roman" panose="02020603050405020304" charset="0"/>
              <a:ea typeface="Times New Roman" panose="02020603050405020304" charset="0"/>
              <a:cs typeface="Times New Roman" panose="02020603050405020304" charset="0"/>
            </a:endParaRPr>
          </a:p>
        </p:txBody>
      </p:sp>
      <p:sp>
        <p:nvSpPr>
          <p:cNvPr id="65" name="TextBox 64"/>
          <p:cNvSpPr txBox="1"/>
          <p:nvPr/>
        </p:nvSpPr>
        <p:spPr>
          <a:xfrm>
            <a:off x="7125356" y="4553520"/>
            <a:ext cx="1306896" cy="400110"/>
          </a:xfrm>
          <a:prstGeom prst="rect">
            <a:avLst/>
          </a:prstGeom>
          <a:noFill/>
        </p:spPr>
        <p:txBody>
          <a:bodyPr wrap="none" rtlCol="0">
            <a:spAutoFit/>
          </a:bodyPr>
          <a:lstStyle/>
          <a:p>
            <a:r>
              <a:rPr lang="en-GB" sz="2000" u="sng" dirty="0" smtClean="0">
                <a:latin typeface="Times New Roman" panose="02020603050405020304" charset="0"/>
                <a:ea typeface="Times New Roman" panose="02020603050405020304" charset="0"/>
                <a:cs typeface="Times New Roman" panose="02020603050405020304" charset="0"/>
              </a:rPr>
              <a:t>Chapter 11</a:t>
            </a:r>
            <a:endParaRPr lang="en-GB" sz="2000" u="sng" dirty="0">
              <a:latin typeface="Times New Roman" panose="02020603050405020304" charset="0"/>
              <a:ea typeface="Times New Roman" panose="02020603050405020304" charset="0"/>
              <a:cs typeface="Times New Roman" panose="02020603050405020304" charset="0"/>
            </a:endParaRPr>
          </a:p>
        </p:txBody>
      </p:sp>
      <p:sp>
        <p:nvSpPr>
          <p:cNvPr id="66" name="Right Arrow 65"/>
          <p:cNvSpPr/>
          <p:nvPr/>
        </p:nvSpPr>
        <p:spPr>
          <a:xfrm>
            <a:off x="8862290" y="5165724"/>
            <a:ext cx="565265" cy="279991"/>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Rounded Rectangle 66"/>
          <p:cNvSpPr/>
          <p:nvPr/>
        </p:nvSpPr>
        <p:spPr>
          <a:xfrm>
            <a:off x="9549229" y="4923335"/>
            <a:ext cx="1925211" cy="764771"/>
          </a:xfrm>
          <a:prstGeom prst="roundRect">
            <a:avLst/>
          </a:pr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8" name="TextBox 67"/>
          <p:cNvSpPr txBox="1"/>
          <p:nvPr/>
        </p:nvSpPr>
        <p:spPr>
          <a:xfrm>
            <a:off x="9559913" y="5097352"/>
            <a:ext cx="1914527" cy="400110"/>
          </a:xfrm>
          <a:prstGeom prst="rect">
            <a:avLst/>
          </a:prstGeom>
          <a:noFill/>
        </p:spPr>
        <p:txBody>
          <a:bodyPr wrap="square" rtlCol="0">
            <a:spAutoFit/>
          </a:bodyPr>
          <a:lstStyle/>
          <a:p>
            <a:pPr algn="ctr"/>
            <a:r>
              <a:rPr lang="en-US" sz="2000" dirty="0" smtClean="0">
                <a:latin typeface="Times New Roman" panose="02020603050405020304" charset="0"/>
                <a:ea typeface="Times New Roman" panose="02020603050405020304" charset="0"/>
                <a:cs typeface="Times New Roman" panose="02020603050405020304" charset="0"/>
              </a:rPr>
              <a:t>AI for Science</a:t>
            </a:r>
            <a:endParaRPr lang="en-GB" sz="2000" dirty="0">
              <a:latin typeface="Times New Roman" panose="02020603050405020304" charset="0"/>
              <a:ea typeface="Times New Roman" panose="02020603050405020304" charset="0"/>
              <a:cs typeface="Times New Roman" panose="02020603050405020304" charset="0"/>
            </a:endParaRPr>
          </a:p>
        </p:txBody>
      </p:sp>
      <p:sp>
        <p:nvSpPr>
          <p:cNvPr id="69" name="TextBox 68"/>
          <p:cNvSpPr txBox="1"/>
          <p:nvPr/>
        </p:nvSpPr>
        <p:spPr>
          <a:xfrm>
            <a:off x="9917761" y="4523225"/>
            <a:ext cx="1316386" cy="400110"/>
          </a:xfrm>
          <a:prstGeom prst="rect">
            <a:avLst/>
          </a:prstGeom>
          <a:noFill/>
        </p:spPr>
        <p:txBody>
          <a:bodyPr wrap="none" rtlCol="0">
            <a:spAutoFit/>
          </a:bodyPr>
          <a:lstStyle/>
          <a:p>
            <a:r>
              <a:rPr lang="en-GB" sz="2000" u="sng" dirty="0" smtClean="0">
                <a:latin typeface="Times New Roman" panose="02020603050405020304" charset="0"/>
                <a:ea typeface="Times New Roman" panose="02020603050405020304" charset="0"/>
                <a:cs typeface="Times New Roman" panose="02020603050405020304" charset="0"/>
              </a:rPr>
              <a:t>Chapter 12</a:t>
            </a:r>
            <a:endParaRPr lang="en-GB" sz="2000" u="sng" dirty="0">
              <a:latin typeface="Times New Roman" panose="02020603050405020304" charset="0"/>
              <a:ea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6820852" cy="461665"/>
          </a:xfrm>
          <a:prstGeom prst="rect">
            <a:avLst/>
          </a:prstGeom>
          <a:noFill/>
        </p:spPr>
        <p:txBody>
          <a:bodyPr wrap="square" rtlCol="0">
            <a:spAutoFit/>
          </a:bodyPr>
          <a:lstStyle/>
          <a:p>
            <a:r>
              <a:rPr lang="en-US" altLang="zh-CN" sz="2400" b="1" dirty="0" smtClean="0">
                <a:solidFill>
                  <a:srgbClr val="2F57D9"/>
                </a:solidFill>
                <a:latin typeface="Calibri" panose="020F0502020204030204" pitchFamily="34" charset="0"/>
                <a:cs typeface="Calibri" panose="020F0502020204030204" pitchFamily="34" charset="0"/>
              </a:rPr>
              <a:t>Recap: </a:t>
            </a:r>
            <a:r>
              <a:rPr lang="en-US" altLang="zh-CN" sz="2400" b="1" dirty="0" err="1" smtClean="0">
                <a:solidFill>
                  <a:srgbClr val="2F57D9"/>
                </a:solidFill>
                <a:latin typeface="Calibri" panose="020F0502020204030204" pitchFamily="34" charset="0"/>
                <a:cs typeface="Calibri" panose="020F0502020204030204" pitchFamily="34" charset="0"/>
              </a:rPr>
              <a:t>LoRA</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6   </a:t>
            </a:r>
            <a:r>
              <a:rPr lang="en-US" altLang="zh-CN" sz="1500" dirty="0"/>
              <a:t>						  				            		</a:t>
            </a:r>
            <a:endParaRPr lang="zh-CN" altLang="en-US" sz="1500" dirty="0"/>
          </a:p>
        </p:txBody>
      </p:sp>
      <p:sp>
        <p:nvSpPr>
          <p:cNvPr id="6" name="Slide Number Placeholder 1"/>
          <p:cNvSpPr>
            <a:spLocks noGrp="1"/>
          </p:cNvSpPr>
          <p:nvPr>
            <p:ph type="sldNum" sz="quarter" idx="10"/>
          </p:nvPr>
        </p:nvSpPr>
        <p:spPr>
          <a:xfrm>
            <a:off x="10644188" y="5923253"/>
            <a:ext cx="2743200" cy="365125"/>
          </a:xfrm>
        </p:spPr>
        <p:txBody>
          <a:bodyPr/>
          <a:lstStyle/>
          <a:p>
            <a:fld id="{11D8FA19-E13B-4121-8BBF-5D41F5A04330}" type="slidenum">
              <a:rPr lang="zh-CN" altLang="en-US" smtClean="0"/>
            </a:fld>
            <a:endParaRPr lang="zh-CN" altLang="en-US"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直接连接符 2"/>
          <p:cNvCxnSpPr/>
          <p:nvPr/>
        </p:nvCxnSpPr>
        <p:spPr>
          <a:xfrm>
            <a:off x="771526" y="1030876"/>
            <a:ext cx="6749414"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16" name="文本框 6"/>
          <p:cNvSpPr txBox="1"/>
          <p:nvPr/>
        </p:nvSpPr>
        <p:spPr>
          <a:xfrm>
            <a:off x="777479" y="1044868"/>
            <a:ext cx="5588234"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pPr marL="0" lvl="1" algn="just">
              <a:lnSpc>
                <a:spcPct val="150000"/>
              </a:lnSpc>
              <a:buClr>
                <a:srgbClr val="2F57D9"/>
              </a:buClr>
              <a:buSzPct val="70000"/>
            </a:pPr>
            <a:r>
              <a:rPr lang="en-US" altLang="zh-CN" sz="2400" b="1" dirty="0">
                <a:solidFill>
                  <a:prstClr val="black"/>
                </a:solidFill>
                <a:latin typeface="Times New Roman" panose="02020603050405020304" charset="0"/>
                <a:ea typeface="Times New Roman" panose="02020603050405020304" charset="0"/>
                <a:cs typeface="Times New Roman" panose="02020603050405020304" charset="0"/>
              </a:rPr>
              <a:t>Why Lora?</a:t>
            </a:r>
            <a:endParaRPr lang="en-US" altLang="zh-CN" sz="2400" b="1" dirty="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Low-Rank </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Adaptation (</a:t>
            </a:r>
            <a:r>
              <a:rPr lang="en-US" altLang="zh-CN" sz="2000" dirty="0" err="1">
                <a:solidFill>
                  <a:prstClr val="black"/>
                </a:solidFill>
                <a:latin typeface="Times New Roman" panose="02020603050405020304" charset="0"/>
                <a:ea typeface="Times New Roman" panose="02020603050405020304" charset="0"/>
                <a:cs typeface="Times New Roman" panose="02020603050405020304" charset="0"/>
              </a:rPr>
              <a:t>LoRA</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a:t>
            </a:r>
            <a:r>
              <a:rPr lang="zh-CN" altLang="en-US" sz="2000" dirty="0">
                <a:solidFill>
                  <a:prstClr val="black"/>
                </a:solidFill>
                <a:latin typeface="Times New Roman" panose="02020603050405020304" charset="0"/>
                <a:ea typeface="Times New Roman" panose="02020603050405020304" charset="0"/>
                <a:cs typeface="Times New Roman" panose="02020603050405020304" charset="0"/>
              </a:rPr>
              <a:t> </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has emerged as the mainstream</a:t>
            </a:r>
            <a:r>
              <a:rPr lang="zh-CN" altLang="en-US" sz="2000" dirty="0">
                <a:solidFill>
                  <a:prstClr val="black"/>
                </a:solidFill>
                <a:latin typeface="Times New Roman" panose="02020603050405020304" charset="0"/>
                <a:ea typeface="Times New Roman" panose="02020603050405020304" charset="0"/>
                <a:cs typeface="Times New Roman" panose="02020603050405020304" charset="0"/>
              </a:rPr>
              <a:t> </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alternative to </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Full </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Fine-tuning</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sp>
        <p:nvSpPr>
          <p:cNvPr id="17" name="文本框 6"/>
          <p:cNvSpPr txBox="1"/>
          <p:nvPr/>
        </p:nvSpPr>
        <p:spPr>
          <a:xfrm>
            <a:off x="771526" y="2609886"/>
            <a:ext cx="5710153"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ltLang="zh-CN" sz="2400" b="1" dirty="0">
                <a:solidFill>
                  <a:prstClr val="black"/>
                </a:solidFill>
                <a:latin typeface="Times New Roman" panose="02020603050405020304" charset="0"/>
                <a:ea typeface="Times New Roman" panose="02020603050405020304" charset="0"/>
                <a:cs typeface="Times New Roman" panose="02020603050405020304" charset="0"/>
              </a:rPr>
              <a:t>Hypothesis: </a:t>
            </a:r>
            <a:endParaRPr lang="en-US" altLang="zh-CN" sz="2400" b="1" dirty="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The weight updates during fine-tuning exhibit a low “intrinsic rank”. </a:t>
            </a:r>
            <a:r>
              <a:rPr lang="en-US" altLang="zh-CN" sz="2000" dirty="0" err="1">
                <a:solidFill>
                  <a:prstClr val="black"/>
                </a:solidFill>
                <a:latin typeface="Times New Roman" panose="02020603050405020304" charset="0"/>
                <a:ea typeface="Times New Roman" panose="02020603050405020304" charset="0"/>
                <a:cs typeface="Times New Roman" panose="02020603050405020304" charset="0"/>
              </a:rPr>
              <a:t>LoRA</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approximates the updated parameters using the product of two smaller matrices.</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pic>
        <p:nvPicPr>
          <p:cNvPr id="18" name="图片 3"/>
          <p:cNvPicPr>
            <a:picLocks noChangeAspect="1"/>
          </p:cNvPicPr>
          <p:nvPr/>
        </p:nvPicPr>
        <p:blipFill>
          <a:blip r:embed="rId2"/>
          <a:stretch>
            <a:fillRect/>
          </a:stretch>
        </p:blipFill>
        <p:spPr>
          <a:xfrm>
            <a:off x="6797856" y="1327089"/>
            <a:ext cx="5095579" cy="3307747"/>
          </a:xfrm>
          <a:prstGeom prst="rect">
            <a:avLst/>
          </a:prstGeom>
        </p:spPr>
      </p:pic>
      <p:pic>
        <p:nvPicPr>
          <p:cNvPr id="19" name="图片 11"/>
          <p:cNvPicPr>
            <a:picLocks noChangeAspect="1"/>
          </p:cNvPicPr>
          <p:nvPr/>
        </p:nvPicPr>
        <p:blipFill>
          <a:blip r:embed="rId3"/>
          <a:stretch>
            <a:fillRect/>
          </a:stretch>
        </p:blipFill>
        <p:spPr>
          <a:xfrm>
            <a:off x="1067300" y="5501654"/>
            <a:ext cx="5118604" cy="321236"/>
          </a:xfrm>
          <a:prstGeom prst="rect">
            <a:avLst/>
          </a:prstGeom>
          <a:noFill/>
        </p:spPr>
      </p:pic>
      <p:sp>
        <p:nvSpPr>
          <p:cNvPr id="20" name="文本框 6"/>
          <p:cNvSpPr txBox="1"/>
          <p:nvPr/>
        </p:nvSpPr>
        <p:spPr>
          <a:xfrm>
            <a:off x="771526" y="4900330"/>
            <a:ext cx="571015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ltLang="zh-CN" sz="2400" b="1" dirty="0">
                <a:solidFill>
                  <a:prstClr val="black"/>
                </a:solidFill>
                <a:latin typeface="Times New Roman" panose="02020603050405020304" charset="0"/>
                <a:ea typeface="Times New Roman" panose="02020603050405020304" charset="0"/>
                <a:cs typeface="Times New Roman" panose="02020603050405020304" charset="0"/>
              </a:rPr>
              <a:t>Forward Pass Formulation:</a:t>
            </a:r>
            <a:endParaRPr lang="en-US" altLang="zh-CN" sz="2400" b="1" dirty="0">
              <a:solidFill>
                <a:prstClr val="black"/>
              </a:solidFill>
              <a:latin typeface="Times New Roman" panose="02020603050405020304" charset="0"/>
              <a:ea typeface="Times New Roman" panose="02020603050405020304" charset="0"/>
              <a:cs typeface="Times New Roman" panose="02020603050405020304" charset="0"/>
            </a:endParaRPr>
          </a:p>
        </p:txBody>
      </p:sp>
      <p:pic>
        <p:nvPicPr>
          <p:cNvPr id="21" name="图片 13"/>
          <p:cNvPicPr>
            <a:picLocks noChangeAspect="1"/>
          </p:cNvPicPr>
          <p:nvPr/>
        </p:nvPicPr>
        <p:blipFill>
          <a:blip r:embed="rId4"/>
          <a:stretch>
            <a:fillRect/>
          </a:stretch>
        </p:blipFill>
        <p:spPr>
          <a:xfrm>
            <a:off x="6898640" y="4938140"/>
            <a:ext cx="1585271" cy="255512"/>
          </a:xfrm>
          <a:prstGeom prst="rect">
            <a:avLst/>
          </a:prstGeom>
        </p:spPr>
      </p:pic>
      <p:pic>
        <p:nvPicPr>
          <p:cNvPr id="22" name="图片 14"/>
          <p:cNvPicPr>
            <a:picLocks noChangeAspect="1"/>
          </p:cNvPicPr>
          <p:nvPr/>
        </p:nvPicPr>
        <p:blipFill>
          <a:blip r:embed="rId5"/>
          <a:stretch>
            <a:fillRect/>
          </a:stretch>
        </p:blipFill>
        <p:spPr>
          <a:xfrm>
            <a:off x="8837903" y="4938139"/>
            <a:ext cx="1322649" cy="255512"/>
          </a:xfrm>
          <a:prstGeom prst="rect">
            <a:avLst/>
          </a:prstGeom>
        </p:spPr>
      </p:pic>
      <p:pic>
        <p:nvPicPr>
          <p:cNvPr id="23" name="图片 15"/>
          <p:cNvPicPr>
            <a:picLocks noChangeAspect="1"/>
          </p:cNvPicPr>
          <p:nvPr/>
        </p:nvPicPr>
        <p:blipFill>
          <a:blip r:embed="rId6"/>
          <a:stretch>
            <a:fillRect/>
          </a:stretch>
        </p:blipFill>
        <p:spPr>
          <a:xfrm>
            <a:off x="10514544" y="4934594"/>
            <a:ext cx="1378891" cy="259057"/>
          </a:xfrm>
          <a:prstGeom prst="rect">
            <a:avLst/>
          </a:prstGeom>
        </p:spPr>
      </p:pic>
      <p:sp>
        <p:nvSpPr>
          <p:cNvPr id="24" name="文本框 4"/>
          <p:cNvSpPr txBox="1"/>
          <p:nvPr/>
        </p:nvSpPr>
        <p:spPr>
          <a:xfrm>
            <a:off x="0" y="6139815"/>
            <a:ext cx="9833163" cy="369332"/>
          </a:xfrm>
          <a:prstGeom prst="rect">
            <a:avLst/>
          </a:prstGeom>
          <a:noFill/>
        </p:spPr>
        <p:txBody>
          <a:bodyPr wrap="square" rtlCol="0">
            <a:spAutoFit/>
          </a:bodyPr>
          <a:lstStyle/>
          <a:p>
            <a:r>
              <a:rPr lang="en-GB" altLang="zh-CN" dirty="0"/>
              <a:t>Hu, Edward J., et al. "Lora: Low-rank adaptation of large language models." </a:t>
            </a:r>
            <a:r>
              <a:rPr lang="en-GB" altLang="zh-CN" i="1" dirty="0"/>
              <a:t>ICLR</a:t>
            </a:r>
            <a:r>
              <a:rPr lang="en-GB" altLang="zh-CN" dirty="0"/>
              <a:t>  (2022)</a:t>
            </a:r>
            <a:endParaRPr lang="en-US" altLang="zh-CN"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6820852" cy="461665"/>
          </a:xfrm>
          <a:prstGeom prst="rect">
            <a:avLst/>
          </a:prstGeom>
          <a:noFill/>
        </p:spPr>
        <p:txBody>
          <a:bodyPr wrap="square" rtlCol="0">
            <a:spAutoFit/>
          </a:bodyPr>
          <a:lstStyle/>
          <a:p>
            <a:r>
              <a:rPr lang="en-US" altLang="zh-CN" sz="2400" b="1" dirty="0">
                <a:solidFill>
                  <a:srgbClr val="2F57D9"/>
                </a:solidFill>
                <a:latin typeface="Calibri" panose="020F0502020204030204" pitchFamily="34" charset="0"/>
                <a:cs typeface="Calibri" panose="020F0502020204030204" pitchFamily="34" charset="0"/>
              </a:rPr>
              <a:t>Recap: </a:t>
            </a:r>
            <a:r>
              <a:rPr lang="en-US" altLang="zh-CN" sz="2400" b="1" dirty="0" smtClean="0">
                <a:solidFill>
                  <a:srgbClr val="2F57D9"/>
                </a:solidFill>
                <a:latin typeface="Calibri" panose="020F0502020204030204" pitchFamily="34" charset="0"/>
                <a:cs typeface="Calibri" panose="020F0502020204030204" pitchFamily="34" charset="0"/>
              </a:rPr>
              <a:t>Examples of </a:t>
            </a:r>
            <a:r>
              <a:rPr lang="en-US" altLang="zh-CN" sz="2400" b="1" dirty="0" err="1" smtClean="0">
                <a:solidFill>
                  <a:srgbClr val="2F57D9"/>
                </a:solidFill>
                <a:latin typeface="Calibri" panose="020F0502020204030204" pitchFamily="34" charset="0"/>
                <a:cs typeface="Calibri" panose="020F0502020204030204" pitchFamily="34" charset="0"/>
              </a:rPr>
              <a:t>LoRA</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6   </a:t>
            </a:r>
            <a:r>
              <a:rPr lang="en-US" altLang="zh-CN" sz="1500" dirty="0"/>
              <a:t>						  				            		</a:t>
            </a:r>
            <a:endParaRPr lang="zh-CN" altLang="en-US" sz="1500" dirty="0"/>
          </a:p>
        </p:txBody>
      </p:sp>
      <p:sp>
        <p:nvSpPr>
          <p:cNvPr id="6" name="Slide Number Placeholder 1"/>
          <p:cNvSpPr>
            <a:spLocks noGrp="1"/>
          </p:cNvSpPr>
          <p:nvPr>
            <p:ph type="sldNum" sz="quarter" idx="10"/>
          </p:nvPr>
        </p:nvSpPr>
        <p:spPr>
          <a:xfrm>
            <a:off x="10644188" y="5923253"/>
            <a:ext cx="2743200" cy="365125"/>
          </a:xfrm>
        </p:spPr>
        <p:txBody>
          <a:bodyPr/>
          <a:lstStyle/>
          <a:p>
            <a:fld id="{11D8FA19-E13B-4121-8BBF-5D41F5A04330}" type="slidenum">
              <a:rPr lang="zh-CN" altLang="en-US" smtClean="0"/>
            </a:fld>
            <a:endParaRPr lang="zh-CN" altLang="en-US"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直接连接符 2"/>
          <p:cNvCxnSpPr/>
          <p:nvPr/>
        </p:nvCxnSpPr>
        <p:spPr>
          <a:xfrm>
            <a:off x="771526" y="1030876"/>
            <a:ext cx="6749414"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pic>
        <p:nvPicPr>
          <p:cNvPr id="7" name="图片 3"/>
          <p:cNvPicPr>
            <a:picLocks noChangeAspect="1"/>
          </p:cNvPicPr>
          <p:nvPr/>
        </p:nvPicPr>
        <p:blipFill>
          <a:blip r:embed="rId2"/>
          <a:stretch>
            <a:fillRect/>
          </a:stretch>
        </p:blipFill>
        <p:spPr>
          <a:xfrm>
            <a:off x="6584082" y="1296783"/>
            <a:ext cx="5588235" cy="4289376"/>
          </a:xfrm>
          <a:prstGeom prst="rect">
            <a:avLst/>
          </a:prstGeom>
        </p:spPr>
      </p:pic>
      <p:sp>
        <p:nvSpPr>
          <p:cNvPr id="11" name="文本框 6"/>
          <p:cNvSpPr txBox="1"/>
          <p:nvPr/>
        </p:nvSpPr>
        <p:spPr>
          <a:xfrm>
            <a:off x="700088" y="1247792"/>
            <a:ext cx="5610225"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Example</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r = 8, m = n = </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2048:</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(m, n</a:t>
            </a:r>
            <a:r>
              <a:rPr lang="zh-CN" altLang="en-US" sz="2000" dirty="0">
                <a:solidFill>
                  <a:prstClr val="black"/>
                </a:solidFill>
                <a:latin typeface="Times New Roman" panose="02020603050405020304" charset="0"/>
                <a:ea typeface="Times New Roman" panose="02020603050405020304" charset="0"/>
                <a:cs typeface="Times New Roman" panose="02020603050405020304" charset="0"/>
              </a:rPr>
              <a:t>是模型参数矩阵的维度，</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r </a:t>
            </a:r>
            <a:r>
              <a:rPr lang="zh-CN" altLang="en-US" sz="2000" dirty="0">
                <a:solidFill>
                  <a:prstClr val="black"/>
                </a:solidFill>
                <a:latin typeface="Times New Roman" panose="02020603050405020304" charset="0"/>
                <a:ea typeface="Times New Roman" panose="02020603050405020304" charset="0"/>
                <a:cs typeface="Times New Roman" panose="02020603050405020304" charset="0"/>
              </a:rPr>
              <a:t>是降维的 </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rank)</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Full </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Fine-Tuning (m * n): 2048 * 2048 ~ 4.2M trainable parameters</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err="1" smtClean="0">
                <a:solidFill>
                  <a:prstClr val="black"/>
                </a:solidFill>
                <a:latin typeface="Times New Roman" panose="02020603050405020304" charset="0"/>
                <a:ea typeface="Times New Roman" panose="02020603050405020304" charset="0"/>
                <a:cs typeface="Times New Roman" panose="02020603050405020304" charset="0"/>
              </a:rPr>
              <a:t>LoRA</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 </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(r * (m +n)): 8 * (2048 + 2048) ~ 0.032M trainable parameters</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Conclusion</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Only trains ~ 0.07% of the original parameters!</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r>
              <a:rPr lang="en-US" altLang="zh-CN" sz="2000" dirty="0" err="1">
                <a:solidFill>
                  <a:prstClr val="black"/>
                </a:solidFill>
                <a:latin typeface="Times New Roman" panose="02020603050405020304" charset="0"/>
                <a:ea typeface="Times New Roman" panose="02020603050405020304" charset="0"/>
                <a:cs typeface="Times New Roman" panose="02020603050405020304" charset="0"/>
              </a:rPr>
              <a:t>LoRA</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enables fine-tuning of 7B-class LLMs strictly within the memory limits of a single 24GB consumer GPU (e.g., RTX 3090/4090).</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6820852" cy="461665"/>
          </a:xfrm>
          <a:prstGeom prst="rect">
            <a:avLst/>
          </a:prstGeom>
          <a:noFill/>
        </p:spPr>
        <p:txBody>
          <a:bodyPr wrap="square" rtlCol="0">
            <a:spAutoFit/>
          </a:bodyPr>
          <a:lstStyle/>
          <a:p>
            <a:r>
              <a:rPr lang="en-US" altLang="zh-CN" sz="2400" b="1" dirty="0">
                <a:solidFill>
                  <a:srgbClr val="2F57D9"/>
                </a:solidFill>
                <a:latin typeface="Calibri" panose="020F0502020204030204" pitchFamily="34" charset="0"/>
                <a:cs typeface="Calibri" panose="020F0502020204030204" pitchFamily="34" charset="0"/>
              </a:rPr>
              <a:t>Recap: </a:t>
            </a:r>
            <a:r>
              <a:rPr lang="en-US" altLang="zh-CN" sz="2400" b="1" dirty="0" smtClean="0">
                <a:solidFill>
                  <a:srgbClr val="2F57D9"/>
                </a:solidFill>
                <a:latin typeface="Calibri" panose="020F0502020204030204" pitchFamily="34" charset="0"/>
                <a:cs typeface="Calibri" panose="020F0502020204030204" pitchFamily="34" charset="0"/>
              </a:rPr>
              <a:t>Performance of </a:t>
            </a:r>
            <a:r>
              <a:rPr lang="en-US" altLang="zh-CN" sz="2400" b="1" dirty="0" err="1" smtClean="0">
                <a:solidFill>
                  <a:srgbClr val="2F57D9"/>
                </a:solidFill>
                <a:latin typeface="Calibri" panose="020F0502020204030204" pitchFamily="34" charset="0"/>
                <a:cs typeface="Calibri" panose="020F0502020204030204" pitchFamily="34" charset="0"/>
              </a:rPr>
              <a:t>LoRA</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6   </a:t>
            </a:r>
            <a:r>
              <a:rPr lang="en-US" altLang="zh-CN" sz="1500" dirty="0"/>
              <a:t>						  				            		</a:t>
            </a:r>
            <a:endParaRPr lang="zh-CN" altLang="en-US" sz="1500" dirty="0"/>
          </a:p>
        </p:txBody>
      </p:sp>
      <p:sp>
        <p:nvSpPr>
          <p:cNvPr id="6" name="Slide Number Placeholder 1"/>
          <p:cNvSpPr>
            <a:spLocks noGrp="1"/>
          </p:cNvSpPr>
          <p:nvPr>
            <p:ph type="sldNum" sz="quarter" idx="10"/>
          </p:nvPr>
        </p:nvSpPr>
        <p:spPr>
          <a:xfrm>
            <a:off x="10644188" y="5923253"/>
            <a:ext cx="2743200" cy="365125"/>
          </a:xfrm>
        </p:spPr>
        <p:txBody>
          <a:bodyPr/>
          <a:lstStyle/>
          <a:p>
            <a:fld id="{11D8FA19-E13B-4121-8BBF-5D41F5A04330}" type="slidenum">
              <a:rPr lang="zh-CN" altLang="en-US" smtClean="0"/>
            </a:fld>
            <a:endParaRPr lang="zh-CN" altLang="en-US"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直接连接符 2"/>
          <p:cNvCxnSpPr/>
          <p:nvPr/>
        </p:nvCxnSpPr>
        <p:spPr>
          <a:xfrm>
            <a:off x="771526" y="1030876"/>
            <a:ext cx="3338988"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pic>
        <p:nvPicPr>
          <p:cNvPr id="12" name="图片 6"/>
          <p:cNvPicPr>
            <a:picLocks noChangeAspect="1"/>
          </p:cNvPicPr>
          <p:nvPr/>
        </p:nvPicPr>
        <p:blipFill>
          <a:blip r:embed="rId2"/>
          <a:stretch>
            <a:fillRect/>
          </a:stretch>
        </p:blipFill>
        <p:spPr>
          <a:xfrm>
            <a:off x="5690272" y="3218561"/>
            <a:ext cx="5942590" cy="2430905"/>
          </a:xfrm>
          <a:prstGeom prst="rect">
            <a:avLst/>
          </a:prstGeom>
        </p:spPr>
      </p:pic>
      <p:pic>
        <p:nvPicPr>
          <p:cNvPr id="13" name="图片 10"/>
          <p:cNvPicPr>
            <a:picLocks noChangeAspect="1"/>
          </p:cNvPicPr>
          <p:nvPr/>
        </p:nvPicPr>
        <p:blipFill>
          <a:blip r:embed="rId3"/>
          <a:srcRect b="56416"/>
          <a:stretch>
            <a:fillRect/>
          </a:stretch>
        </p:blipFill>
        <p:spPr>
          <a:xfrm>
            <a:off x="5131134" y="1167397"/>
            <a:ext cx="7060866" cy="1988401"/>
          </a:xfrm>
          <a:prstGeom prst="rect">
            <a:avLst/>
          </a:prstGeom>
        </p:spPr>
      </p:pic>
      <p:sp>
        <p:nvSpPr>
          <p:cNvPr id="14" name="文本框 6"/>
          <p:cNvSpPr txBox="1"/>
          <p:nvPr/>
        </p:nvSpPr>
        <p:spPr>
          <a:xfrm>
            <a:off x="700088" y="1622734"/>
            <a:ext cx="4431046"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ltLang="zh-CN" sz="2000" b="1" dirty="0">
                <a:solidFill>
                  <a:prstClr val="black"/>
                </a:solidFill>
                <a:latin typeface="Times New Roman" panose="02020603050405020304" charset="0"/>
                <a:ea typeface="Times New Roman" panose="02020603050405020304" charset="0"/>
                <a:cs typeface="Times New Roman" panose="02020603050405020304" charset="0"/>
              </a:rPr>
              <a:t>Massive Parameter Reduction: </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Drastically cuts trainable parameters (e.g., reducing GPT-3 from 175B to just 4.7M).</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endParaRPr lang="en-US" altLang="zh-CN" sz="2000" b="1" dirty="0">
              <a:solidFill>
                <a:prstClr val="black"/>
              </a:solidFill>
              <a:latin typeface="Times New Roman" panose="02020603050405020304" charset="0"/>
              <a:ea typeface="Times New Roman" panose="02020603050405020304" charset="0"/>
              <a:cs typeface="Times New Roman" panose="02020603050405020304" charset="0"/>
            </a:endParaRPr>
          </a:p>
          <a:p>
            <a:r>
              <a:rPr lang="en-US" altLang="zh-CN" sz="2000" b="1" dirty="0">
                <a:solidFill>
                  <a:prstClr val="black"/>
                </a:solidFill>
                <a:latin typeface="Times New Roman" panose="02020603050405020304" charset="0"/>
                <a:ea typeface="Times New Roman" panose="02020603050405020304" charset="0"/>
                <a:cs typeface="Times New Roman" panose="02020603050405020304" charset="0"/>
              </a:rPr>
              <a:t>Superior Performance: </a:t>
            </a:r>
            <a:endParaRPr lang="en-US" altLang="zh-CN" sz="2000" b="1" dirty="0">
              <a:solidFill>
                <a:prstClr val="black"/>
              </a:solidFill>
              <a:latin typeface="Times New Roman" panose="02020603050405020304" charset="0"/>
              <a:ea typeface="Times New Roman" panose="02020603050405020304" charset="0"/>
              <a:cs typeface="Times New Roman" panose="02020603050405020304" charset="0"/>
            </a:endParaRPr>
          </a:p>
          <a:p>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Matches or even outperforms Full Fine-Tuning across diverse benchmarks.</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r>
              <a:rPr lang="en-US" altLang="zh-CN" sz="2000" b="1" dirty="0">
                <a:solidFill>
                  <a:prstClr val="black"/>
                </a:solidFill>
                <a:latin typeface="Times New Roman" panose="02020603050405020304" charset="0"/>
                <a:ea typeface="Times New Roman" panose="02020603050405020304" charset="0"/>
                <a:cs typeface="Times New Roman" panose="02020603050405020304" charset="0"/>
              </a:rPr>
              <a:t>Interested in more? </a:t>
            </a:r>
            <a:endParaRPr lang="en-US" altLang="zh-CN" sz="2000" b="1" dirty="0" smtClean="0">
              <a:solidFill>
                <a:prstClr val="black"/>
              </a:solidFill>
              <a:latin typeface="Times New Roman" panose="02020603050405020304" charset="0"/>
              <a:ea typeface="Times New Roman" panose="02020603050405020304" charset="0"/>
              <a:cs typeface="Times New Roman" panose="02020603050405020304" charset="0"/>
            </a:endParaRPr>
          </a:p>
          <a:p>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Explore </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advanced variants and evolutions like </a:t>
            </a:r>
            <a:r>
              <a:rPr lang="en-US" altLang="zh-CN" sz="2000" dirty="0" err="1">
                <a:solidFill>
                  <a:prstClr val="black"/>
                </a:solidFill>
                <a:latin typeface="Times New Roman" panose="02020603050405020304" charset="0"/>
                <a:ea typeface="Times New Roman" panose="02020603050405020304" charset="0"/>
                <a:cs typeface="Times New Roman" panose="02020603050405020304" charset="0"/>
              </a:rPr>
              <a:t>QLoRA</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a:t>
            </a:r>
            <a:r>
              <a:rPr lang="en-US" altLang="zh-CN" sz="2000" dirty="0" err="1">
                <a:solidFill>
                  <a:prstClr val="black"/>
                </a:solidFill>
                <a:latin typeface="Times New Roman" panose="02020603050405020304" charset="0"/>
                <a:ea typeface="Times New Roman" panose="02020603050405020304" charset="0"/>
                <a:cs typeface="Times New Roman" panose="02020603050405020304" charset="0"/>
              </a:rPr>
              <a:t>PiSSA</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and </a:t>
            </a:r>
            <a:r>
              <a:rPr lang="en-US" altLang="zh-CN" sz="2000" dirty="0" err="1">
                <a:solidFill>
                  <a:prstClr val="black"/>
                </a:solidFill>
                <a:latin typeface="Times New Roman" panose="02020603050405020304" charset="0"/>
                <a:ea typeface="Times New Roman" panose="02020603050405020304" charset="0"/>
                <a:cs typeface="Times New Roman" panose="02020603050405020304" charset="0"/>
              </a:rPr>
              <a:t>HydraLoRA</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sp>
        <p:nvSpPr>
          <p:cNvPr id="16" name="文本框 12"/>
          <p:cNvSpPr txBox="1"/>
          <p:nvPr/>
        </p:nvSpPr>
        <p:spPr>
          <a:xfrm>
            <a:off x="590996" y="6139815"/>
            <a:ext cx="9833163" cy="369332"/>
          </a:xfrm>
          <a:prstGeom prst="rect">
            <a:avLst/>
          </a:prstGeom>
          <a:noFill/>
        </p:spPr>
        <p:txBody>
          <a:bodyPr wrap="square" rtlCol="0">
            <a:spAutoFit/>
          </a:bodyPr>
          <a:lstStyle/>
          <a:p>
            <a:r>
              <a:rPr lang="en-GB" altLang="zh-CN" dirty="0"/>
              <a:t>Hu, Edward J., et al. "Lora: Low-rank adaptation of large language models." </a:t>
            </a:r>
            <a:r>
              <a:rPr lang="en-GB" altLang="zh-CN" i="1" dirty="0"/>
              <a:t>ICLR</a:t>
            </a:r>
            <a:r>
              <a:rPr lang="en-GB" altLang="zh-CN" dirty="0"/>
              <a:t>  (2022)</a:t>
            </a:r>
            <a:endParaRPr lang="en-US" altLang="zh-CN"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6820852" cy="461665"/>
          </a:xfrm>
          <a:prstGeom prst="rect">
            <a:avLst/>
          </a:prstGeom>
          <a:noFill/>
        </p:spPr>
        <p:txBody>
          <a:bodyPr wrap="square" rtlCol="0">
            <a:spAutoFit/>
          </a:bodyPr>
          <a:lstStyle/>
          <a:p>
            <a:r>
              <a:rPr lang="en-US" altLang="zh-CN" sz="2400" b="1" dirty="0">
                <a:solidFill>
                  <a:srgbClr val="2F57D9"/>
                </a:solidFill>
                <a:latin typeface="Calibri" panose="020F0502020204030204" pitchFamily="34" charset="0"/>
                <a:cs typeface="Calibri" panose="020F0502020204030204" pitchFamily="34" charset="0"/>
              </a:rPr>
              <a:t>Recap: </a:t>
            </a:r>
            <a:r>
              <a:rPr lang="en-US" altLang="zh-CN" sz="2400" b="1" dirty="0" smtClean="0">
                <a:solidFill>
                  <a:srgbClr val="2F57D9"/>
                </a:solidFill>
                <a:latin typeface="Calibri" panose="020F0502020204030204" pitchFamily="34" charset="0"/>
                <a:cs typeface="Calibri" panose="020F0502020204030204" pitchFamily="34" charset="0"/>
              </a:rPr>
              <a:t>Code Implementation</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6   </a:t>
            </a:r>
            <a:r>
              <a:rPr lang="en-US" altLang="zh-CN" sz="1500" dirty="0"/>
              <a:t>						  				            		</a:t>
            </a:r>
            <a:endParaRPr lang="zh-CN" altLang="en-US" sz="1500" dirty="0"/>
          </a:p>
        </p:txBody>
      </p:sp>
      <p:sp>
        <p:nvSpPr>
          <p:cNvPr id="6" name="Slide Number Placeholder 1"/>
          <p:cNvSpPr>
            <a:spLocks noGrp="1"/>
          </p:cNvSpPr>
          <p:nvPr>
            <p:ph type="sldNum" sz="quarter" idx="10"/>
          </p:nvPr>
        </p:nvSpPr>
        <p:spPr>
          <a:xfrm>
            <a:off x="10644188" y="5923253"/>
            <a:ext cx="2743200" cy="365125"/>
          </a:xfrm>
        </p:spPr>
        <p:txBody>
          <a:bodyPr/>
          <a:lstStyle/>
          <a:p>
            <a:fld id="{11D8FA19-E13B-4121-8BBF-5D41F5A04330}" type="slidenum">
              <a:rPr lang="zh-CN" altLang="en-US" smtClean="0"/>
            </a:fld>
            <a:endParaRPr lang="zh-CN" altLang="en-US"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直接连接符 2"/>
          <p:cNvCxnSpPr/>
          <p:nvPr/>
        </p:nvCxnSpPr>
        <p:spPr>
          <a:xfrm>
            <a:off x="771526" y="1030876"/>
            <a:ext cx="6749414"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pic>
        <p:nvPicPr>
          <p:cNvPr id="16" name="图片 11"/>
          <p:cNvPicPr>
            <a:picLocks noChangeAspect="1"/>
          </p:cNvPicPr>
          <p:nvPr/>
        </p:nvPicPr>
        <p:blipFill>
          <a:blip r:embed="rId2"/>
          <a:stretch>
            <a:fillRect/>
          </a:stretch>
        </p:blipFill>
        <p:spPr>
          <a:xfrm>
            <a:off x="6626110" y="1114222"/>
            <a:ext cx="5389678" cy="4593344"/>
          </a:xfrm>
          <a:prstGeom prst="rect">
            <a:avLst/>
          </a:prstGeom>
        </p:spPr>
      </p:pic>
      <p:sp>
        <p:nvSpPr>
          <p:cNvPr id="17" name="文本框 6"/>
          <p:cNvSpPr txBox="1"/>
          <p:nvPr/>
        </p:nvSpPr>
        <p:spPr>
          <a:xfrm>
            <a:off x="771526" y="1614138"/>
            <a:ext cx="5516796" cy="4093428"/>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altLang="zh-CN" sz="2000" b="1" dirty="0">
                <a:solidFill>
                  <a:prstClr val="black"/>
                </a:solidFill>
                <a:latin typeface="Times New Roman" panose="02020603050405020304" charset="0"/>
                <a:ea typeface="Times New Roman" panose="02020603050405020304" charset="0"/>
                <a:cs typeface="Times New Roman" panose="02020603050405020304" charset="0"/>
              </a:rPr>
              <a:t>Core Idea</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r>
              <a:rPr lang="en-US" altLang="zh-CN" sz="2000" dirty="0" err="1">
                <a:solidFill>
                  <a:prstClr val="black"/>
                </a:solidFill>
                <a:latin typeface="Times New Roman" panose="02020603050405020304" charset="0"/>
                <a:ea typeface="Times New Roman" panose="02020603050405020304" charset="0"/>
                <a:cs typeface="Times New Roman" panose="02020603050405020304" charset="0"/>
              </a:rPr>
              <a:t>LoRA</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approximates the weight update of a full linear layer using two low-rank linear layers: a down-projection (</a:t>
            </a:r>
            <a:r>
              <a:rPr lang="en-US" altLang="zh-CN" sz="2000" dirty="0" err="1">
                <a:solidFill>
                  <a:prstClr val="black"/>
                </a:solidFill>
                <a:latin typeface="Times New Roman" panose="02020603050405020304" charset="0"/>
                <a:ea typeface="Times New Roman" panose="02020603050405020304" charset="0"/>
                <a:cs typeface="Times New Roman" panose="02020603050405020304" charset="0"/>
              </a:rPr>
              <a:t>lora_A</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followed by an up-projection (</a:t>
            </a:r>
            <a:r>
              <a:rPr lang="en-US" altLang="zh-CN" sz="2000" dirty="0" err="1">
                <a:solidFill>
                  <a:prstClr val="black"/>
                </a:solidFill>
                <a:latin typeface="Times New Roman" panose="02020603050405020304" charset="0"/>
                <a:ea typeface="Times New Roman" panose="02020603050405020304" charset="0"/>
                <a:cs typeface="Times New Roman" panose="02020603050405020304" charset="0"/>
              </a:rPr>
              <a:t>lora_B</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r>
              <a:rPr lang="en-US" altLang="zh-CN" sz="2000" b="1" dirty="0">
                <a:solidFill>
                  <a:prstClr val="black"/>
                </a:solidFill>
                <a:latin typeface="Times New Roman" panose="02020603050405020304" charset="0"/>
                <a:ea typeface="Times New Roman" panose="02020603050405020304" charset="0"/>
                <a:cs typeface="Times New Roman" panose="02020603050405020304" charset="0"/>
              </a:rPr>
              <a:t>Zero Initialization </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a:t>
            </a:r>
            <a:r>
              <a:rPr lang="en-US" altLang="zh-CN" sz="2000" dirty="0" err="1">
                <a:solidFill>
                  <a:prstClr val="black"/>
                </a:solidFill>
                <a:latin typeface="Times New Roman" panose="02020603050405020304" charset="0"/>
                <a:ea typeface="Times New Roman" panose="02020603050405020304" charset="0"/>
                <a:cs typeface="Times New Roman" panose="02020603050405020304" charset="0"/>
              </a:rPr>
              <a:t>lora_B</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Initialized with ZEROS so the model behaves exactly like the frozen base model at step zero.</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r>
              <a:rPr lang="en-US" altLang="zh-CN" sz="2000" b="1" dirty="0">
                <a:solidFill>
                  <a:prstClr val="black"/>
                </a:solidFill>
                <a:latin typeface="Times New Roman" panose="02020603050405020304" charset="0"/>
                <a:ea typeface="Times New Roman" panose="02020603050405020304" charset="0"/>
                <a:cs typeface="Times New Roman" panose="02020603050405020304" charset="0"/>
              </a:rPr>
              <a:t>Gradient Freezing</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r>
              <a:rPr lang="en-US" altLang="zh-CN" sz="2000" dirty="0" err="1">
                <a:solidFill>
                  <a:prstClr val="black"/>
                </a:solidFill>
                <a:latin typeface="Times New Roman" panose="02020603050405020304" charset="0"/>
                <a:ea typeface="Times New Roman" panose="02020603050405020304" charset="0"/>
                <a:cs typeface="Times New Roman" panose="02020603050405020304" charset="0"/>
              </a:rPr>
              <a:t>requires_grad</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 False strictly locks the base model to save massive VRAM during backward pass.</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a:t>Lecture </a:t>
            </a:r>
            <a:r>
              <a:rPr lang="en-US" altLang="zh-CN" sz="1500" smtClean="0"/>
              <a:t>1   </a:t>
            </a:r>
            <a:r>
              <a:rPr lang="en-US" altLang="zh-CN" sz="1500" dirty="0"/>
              <a:t>						  				            		</a:t>
            </a:r>
            <a:endParaRPr lang="zh-CN" altLang="en-US" sz="1500" dirty="0"/>
          </a:p>
        </p:txBody>
      </p:sp>
      <p:sp>
        <p:nvSpPr>
          <p:cNvPr id="8" name="文本框 4"/>
          <p:cNvSpPr txBox="1"/>
          <p:nvPr/>
        </p:nvSpPr>
        <p:spPr>
          <a:xfrm>
            <a:off x="2872091" y="1673270"/>
            <a:ext cx="4793456" cy="523220"/>
          </a:xfrm>
          <a:prstGeom prst="rect">
            <a:avLst/>
          </a:prstGeom>
          <a:noFill/>
        </p:spPr>
        <p:txBody>
          <a:bodyPr wrap="square" rtlCol="0">
            <a:spAutoFit/>
          </a:bodyPr>
          <a:lstStyle/>
          <a:p>
            <a:r>
              <a:rPr lang="en-US" altLang="zh-CN" sz="2800" b="1" dirty="0">
                <a:solidFill>
                  <a:srgbClr val="2F57D9"/>
                </a:solidFill>
                <a:latin typeface="Calibri" panose="020F0502020204030204" pitchFamily="34" charset="0"/>
                <a:cs typeface="Calibri" panose="020F0502020204030204" pitchFamily="34" charset="0"/>
              </a:rPr>
              <a:t>Outline</a:t>
            </a:r>
            <a:endParaRPr lang="zh-CN" altLang="en-US" sz="2800" b="1" dirty="0">
              <a:solidFill>
                <a:srgbClr val="2F57D9"/>
              </a:solidFill>
              <a:latin typeface="Calibri" panose="020F0502020204030204" pitchFamily="34" charset="0"/>
              <a:cs typeface="Calibri" panose="020F0502020204030204" pitchFamily="34" charset="0"/>
            </a:endParaRPr>
          </a:p>
        </p:txBody>
      </p:sp>
      <p:sp>
        <p:nvSpPr>
          <p:cNvPr id="9" name="文本框 6"/>
          <p:cNvSpPr txBox="1"/>
          <p:nvPr/>
        </p:nvSpPr>
        <p:spPr>
          <a:xfrm>
            <a:off x="2943526" y="2184068"/>
            <a:ext cx="6524897" cy="1985159"/>
          </a:xfrm>
          <a:prstGeom prst="rect">
            <a:avLst/>
          </a:prstGeom>
          <a:noFill/>
        </p:spPr>
        <p:txBody>
          <a:bodyPr wrap="square" rtlCol="0">
            <a:spAutoFit/>
          </a:bodyPr>
          <a:lstStyle/>
          <a:p>
            <a:pPr marL="285750" indent="-285750">
              <a:lnSpc>
                <a:spcPct val="150000"/>
              </a:lnSpc>
              <a:buClr>
                <a:srgbClr val="2F57D9"/>
              </a:buClr>
              <a:buSzPct val="70000"/>
              <a:buFont typeface="Wingdings" panose="05000000000000000000" pitchFamily="2" charset="2"/>
              <a:buChar char="n"/>
            </a:pPr>
            <a:r>
              <a:rPr lang="en-US" altLang="zh-CN" sz="2200" dirty="0" smtClean="0">
                <a:latin typeface="Calibri" panose="020F0502020204030204" pitchFamily="34" charset="0"/>
                <a:cs typeface="Calibri" panose="020F0502020204030204" pitchFamily="34" charset="0"/>
              </a:rPr>
              <a:t>5 The Life Cycle of Large Language Models</a:t>
            </a:r>
            <a:endParaRPr lang="en-US" altLang="zh-CN" sz="2200" dirty="0">
              <a:latin typeface="Calibri" panose="020F0502020204030204" pitchFamily="34" charset="0"/>
              <a:cs typeface="Calibri" panose="020F0502020204030204" pitchFamily="34" charset="0"/>
            </a:endParaRPr>
          </a:p>
          <a:p>
            <a:pPr marL="742950" lvl="1" indent="-285750">
              <a:lnSpc>
                <a:spcPct val="150000"/>
              </a:lnSpc>
              <a:buClr>
                <a:srgbClr val="2F57D9"/>
              </a:buClr>
              <a:buSzPct val="70000"/>
              <a:buFont typeface="Wingdings" panose="05000000000000000000" pitchFamily="2" charset="2"/>
              <a:buChar char="n"/>
            </a:pPr>
            <a:r>
              <a:rPr lang="en-US" altLang="zh-CN" sz="2000" dirty="0" smtClean="0">
                <a:latin typeface="Calibri" panose="020F0502020204030204" pitchFamily="34" charset="0"/>
                <a:cs typeface="Calibri" panose="020F0502020204030204" pitchFamily="34" charset="0"/>
              </a:rPr>
              <a:t>5.4 Data Construction</a:t>
            </a:r>
            <a:endParaRPr lang="en-US" altLang="zh-CN" sz="2000" dirty="0" smtClean="0">
              <a:latin typeface="Calibri" panose="020F0502020204030204" pitchFamily="34" charset="0"/>
              <a:cs typeface="Calibri" panose="020F0502020204030204" pitchFamily="34" charset="0"/>
            </a:endParaRPr>
          </a:p>
          <a:p>
            <a:pPr marL="742950" lvl="1" indent="-285750">
              <a:lnSpc>
                <a:spcPct val="150000"/>
              </a:lnSpc>
              <a:buClr>
                <a:srgbClr val="2F57D9"/>
              </a:buClr>
              <a:buSzPct val="70000"/>
              <a:buFont typeface="Wingdings" panose="05000000000000000000" pitchFamily="2" charset="2"/>
              <a:buChar char="n"/>
            </a:pPr>
            <a:r>
              <a:rPr lang="en-US" altLang="zh-CN" sz="2000" dirty="0" smtClean="0">
                <a:solidFill>
                  <a:schemeClr val="bg1">
                    <a:lumMod val="65000"/>
                  </a:schemeClr>
                </a:solidFill>
                <a:latin typeface="Calibri" panose="020F0502020204030204" pitchFamily="34" charset="0"/>
                <a:cs typeface="Calibri" panose="020F0502020204030204" pitchFamily="34" charset="0"/>
              </a:rPr>
              <a:t>5.5 </a:t>
            </a:r>
            <a:r>
              <a:rPr lang="en-US" altLang="zh-CN" sz="2000" dirty="0" err="1">
                <a:solidFill>
                  <a:schemeClr val="bg1">
                    <a:lumMod val="65000"/>
                  </a:schemeClr>
                </a:solidFill>
                <a:latin typeface="Calibri" panose="020F0502020204030204" pitchFamily="34" charset="0"/>
                <a:cs typeface="Calibri" panose="020F0502020204030204" pitchFamily="34" charset="0"/>
              </a:rPr>
              <a:t>DeepSpeed</a:t>
            </a:r>
            <a:r>
              <a:rPr lang="en-US" altLang="zh-CN" sz="2000" dirty="0">
                <a:solidFill>
                  <a:schemeClr val="bg1">
                    <a:lumMod val="65000"/>
                  </a:schemeClr>
                </a:solidFill>
                <a:latin typeface="Calibri" panose="020F0502020204030204" pitchFamily="34" charset="0"/>
                <a:cs typeface="Calibri" panose="020F0502020204030204" pitchFamily="34" charset="0"/>
              </a:rPr>
              <a:t>-Chat SFT </a:t>
            </a:r>
            <a:endParaRPr lang="en-US" altLang="zh-CN" sz="2000" dirty="0" smtClean="0">
              <a:solidFill>
                <a:schemeClr val="bg1">
                  <a:lumMod val="65000"/>
                </a:schemeClr>
              </a:solidFill>
              <a:latin typeface="Calibri" panose="020F0502020204030204" pitchFamily="34" charset="0"/>
              <a:cs typeface="Calibri" panose="020F0502020204030204" pitchFamily="34" charset="0"/>
            </a:endParaRPr>
          </a:p>
          <a:p>
            <a:pPr marL="742950" lvl="1" indent="-285750">
              <a:lnSpc>
                <a:spcPct val="150000"/>
              </a:lnSpc>
              <a:buClr>
                <a:srgbClr val="2F57D9"/>
              </a:buClr>
              <a:buSzPct val="70000"/>
              <a:buFont typeface="Wingdings" panose="05000000000000000000" pitchFamily="2" charset="2"/>
              <a:buChar char="n"/>
            </a:pPr>
            <a:r>
              <a:rPr lang="en-US" altLang="zh-CN" sz="2000" dirty="0" smtClean="0">
                <a:solidFill>
                  <a:schemeClr val="bg1">
                    <a:lumMod val="65000"/>
                  </a:schemeClr>
                </a:solidFill>
                <a:latin typeface="Calibri" panose="020F0502020204030204" pitchFamily="34" charset="0"/>
                <a:cs typeface="Calibri" panose="020F0502020204030204" pitchFamily="34" charset="0"/>
              </a:rPr>
              <a:t>5.6 Model Distillation</a:t>
            </a:r>
            <a:endParaRPr lang="en-US" altLang="zh-CN" sz="2000" dirty="0" smtClean="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a:t>
            </a:r>
            <a:r>
              <a:rPr lang="en-US" altLang="zh-CN" sz="2400" b="1" dirty="0" smtClean="0">
                <a:solidFill>
                  <a:srgbClr val="2F57D9"/>
                </a:solidFill>
                <a:latin typeface="Calibri" panose="020F0502020204030204" pitchFamily="34" charset="0"/>
                <a:cs typeface="Calibri" panose="020F0502020204030204" pitchFamily="34" charset="0"/>
              </a:rPr>
              <a:t>The Importance of Data: From Pre-training to Post Training</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a:stretch>
            <a:fillRect/>
          </a:stretch>
        </p:blipFill>
        <p:spPr>
          <a:xfrm>
            <a:off x="1650348" y="1667541"/>
            <a:ext cx="8891304" cy="4799933"/>
          </a:xfrm>
          <a:prstGeom prst="rect">
            <a:avLst/>
          </a:prstGeom>
        </p:spPr>
      </p:pic>
      <p:sp>
        <p:nvSpPr>
          <p:cNvPr id="13" name="Rectangle 12"/>
          <p:cNvSpPr/>
          <p:nvPr/>
        </p:nvSpPr>
        <p:spPr>
          <a:xfrm>
            <a:off x="771526" y="1019719"/>
            <a:ext cx="6096000" cy="498663"/>
          </a:xfrm>
          <a:prstGeom prst="rect">
            <a:avLst/>
          </a:prstGeom>
        </p:spPr>
        <p:txBody>
          <a:bodyPr>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Peer into the data of some popular models</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a:t>
            </a:r>
            <a:r>
              <a:rPr lang="en-US" altLang="zh-CN" sz="2400" b="1" dirty="0" smtClean="0">
                <a:solidFill>
                  <a:srgbClr val="2F57D9"/>
                </a:solidFill>
                <a:latin typeface="Calibri" panose="020F0502020204030204" pitchFamily="34" charset="0"/>
                <a:cs typeface="Calibri" panose="020F0502020204030204" pitchFamily="34" charset="0"/>
              </a:rPr>
              <a:t>The Important of Data: </a:t>
            </a:r>
            <a:r>
              <a:rPr lang="en-US" altLang="zh-CN" sz="2400" b="1" smtClean="0">
                <a:solidFill>
                  <a:srgbClr val="2F57D9"/>
                </a:solidFill>
                <a:latin typeface="Calibri" panose="020F0502020204030204" pitchFamily="34" charset="0"/>
                <a:cs typeface="Calibri" panose="020F0502020204030204" pitchFamily="34" charset="0"/>
              </a:rPr>
              <a:t>From Pre-training to Post Training</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08026" y="3716495"/>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708026" y="3972701"/>
            <a:ext cx="2587568" cy="369332"/>
          </a:xfrm>
          <a:prstGeom prst="rect">
            <a:avLst/>
          </a:prstGeom>
        </p:spPr>
        <p:txBody>
          <a:bodyPr wrap="none">
            <a:spAutoFit/>
          </a:bodyPr>
          <a:lstStyle/>
          <a:p>
            <a:r>
              <a:rPr lang="en-US" altLang="zh-CN" dirty="0">
                <a:solidFill>
                  <a:srgbClr val="333333"/>
                </a:solidFill>
                <a:highlight>
                  <a:srgbClr val="FFFF00"/>
                </a:highlight>
                <a:ea typeface="+mn-lt"/>
                <a:cs typeface="+mn-lt"/>
              </a:rPr>
              <a:t>Nemotron-CC-Math-v1</a:t>
            </a:r>
            <a:endParaRPr lang="en-GB" dirty="0"/>
          </a:p>
        </p:txBody>
      </p:sp>
      <p:sp>
        <p:nvSpPr>
          <p:cNvPr id="12" name="TextBox 11"/>
          <p:cNvSpPr txBox="1"/>
          <p:nvPr/>
        </p:nvSpPr>
        <p:spPr>
          <a:xfrm>
            <a:off x="3421033" y="3974474"/>
            <a:ext cx="4456669" cy="369332"/>
          </a:xfrm>
          <a:prstGeom prst="rect">
            <a:avLst/>
          </a:prstGeom>
          <a:noFill/>
        </p:spPr>
        <p:txBody>
          <a:bodyPr wrap="none" rtlCol="0">
            <a:spAutoFit/>
          </a:bodyPr>
          <a:lstStyle/>
          <a:p>
            <a:r>
              <a:rPr lang="en-GB" dirty="0" smtClean="0"/>
              <a:t># Math Dataset Used </a:t>
            </a:r>
            <a:r>
              <a:rPr lang="en-GB" smtClean="0"/>
              <a:t>for Mid-term Project </a:t>
            </a:r>
            <a:endParaRPr lang="en-GB" dirty="0"/>
          </a:p>
        </p:txBody>
      </p:sp>
      <p:sp>
        <p:nvSpPr>
          <p:cNvPr id="13" name="Rectangle 12"/>
          <p:cNvSpPr/>
          <p:nvPr/>
        </p:nvSpPr>
        <p:spPr>
          <a:xfrm>
            <a:off x="771526" y="1019719"/>
            <a:ext cx="8902826" cy="553998"/>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Mid-training </a:t>
            </a:r>
            <a:r>
              <a:rPr lang="en-US" altLang="zh-CN" sz="2000" smtClean="0">
                <a:solidFill>
                  <a:prstClr val="black"/>
                </a:solidFill>
                <a:latin typeface="Times New Roman" panose="02020603050405020304" charset="0"/>
                <a:ea typeface="Times New Roman" panose="02020603050405020304" charset="0"/>
                <a:cs typeface="Times New Roman" panose="02020603050405020304" charset="0"/>
              </a:rPr>
              <a:t>+ post-training: Focus </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on particular capabilities</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pic>
        <p:nvPicPr>
          <p:cNvPr id="3" name="Picture 2"/>
          <p:cNvPicPr>
            <a:picLocks noChangeAspect="1"/>
          </p:cNvPicPr>
          <p:nvPr/>
        </p:nvPicPr>
        <p:blipFill>
          <a:blip r:embed="rId2"/>
          <a:stretch>
            <a:fillRect/>
          </a:stretch>
        </p:blipFill>
        <p:spPr>
          <a:xfrm>
            <a:off x="700088" y="1935621"/>
            <a:ext cx="10807700" cy="2044700"/>
          </a:xfrm>
          <a:prstGeom prst="rect">
            <a:avLst/>
          </a:prstGeom>
        </p:spPr>
      </p:pic>
      <p:sp>
        <p:nvSpPr>
          <p:cNvPr id="16" name="Rectangle 15"/>
          <p:cNvSpPr/>
          <p:nvPr/>
        </p:nvSpPr>
        <p:spPr>
          <a:xfrm>
            <a:off x="708026" y="4497605"/>
            <a:ext cx="4347665" cy="369332"/>
          </a:xfrm>
          <a:prstGeom prst="rect">
            <a:avLst/>
          </a:prstGeom>
        </p:spPr>
        <p:txBody>
          <a:bodyPr wrap="none">
            <a:spAutoFit/>
          </a:bodyPr>
          <a:lstStyle/>
          <a:p>
            <a:r>
              <a:rPr lang="en-US" altLang="zh-CN" dirty="0">
                <a:solidFill>
                  <a:srgbClr val="333333"/>
                </a:solidFill>
                <a:highlight>
                  <a:srgbClr val="FFFF00"/>
                </a:highlight>
                <a:ea typeface="+mn-lt"/>
                <a:cs typeface="+mn-lt"/>
              </a:rPr>
              <a:t>Nemotron-Competitive-Programming-v1</a:t>
            </a:r>
            <a:endParaRPr lang="en-GB" dirty="0"/>
          </a:p>
        </p:txBody>
      </p:sp>
      <p:sp>
        <p:nvSpPr>
          <p:cNvPr id="17" name="TextBox 16"/>
          <p:cNvSpPr txBox="1"/>
          <p:nvPr/>
        </p:nvSpPr>
        <p:spPr>
          <a:xfrm>
            <a:off x="4929389" y="4497605"/>
            <a:ext cx="6585457" cy="646331"/>
          </a:xfrm>
          <a:prstGeom prst="rect">
            <a:avLst/>
          </a:prstGeom>
          <a:noFill/>
        </p:spPr>
        <p:txBody>
          <a:bodyPr wrap="none" rtlCol="0">
            <a:spAutoFit/>
          </a:bodyPr>
          <a:lstStyle/>
          <a:p>
            <a:r>
              <a:rPr lang="en-GB" dirty="0" smtClean="0"/>
              <a:t># </a:t>
            </a:r>
            <a:r>
              <a:rPr lang="en-GB" dirty="0"/>
              <a:t>Contains over 2M Python and 1M+ C++ samples from coding </a:t>
            </a:r>
            <a:endParaRPr lang="en-GB" dirty="0" smtClean="0"/>
          </a:p>
          <a:p>
            <a:r>
              <a:rPr lang="en-GB" dirty="0" smtClean="0"/>
              <a:t>competitions </a:t>
            </a:r>
            <a:r>
              <a:rPr lang="en-GB" dirty="0"/>
              <a:t>for supervised fine-tuning (SFT).</a:t>
            </a:r>
            <a:endParaRPr lang="en-GB" dirty="0"/>
          </a:p>
        </p:txBody>
      </p:sp>
      <p:sp>
        <p:nvSpPr>
          <p:cNvPr id="18" name="Rectangle 17"/>
          <p:cNvSpPr/>
          <p:nvPr/>
        </p:nvSpPr>
        <p:spPr>
          <a:xfrm>
            <a:off x="708026" y="5143936"/>
            <a:ext cx="2425664" cy="369332"/>
          </a:xfrm>
          <a:prstGeom prst="rect">
            <a:avLst/>
          </a:prstGeom>
        </p:spPr>
        <p:txBody>
          <a:bodyPr wrap="none">
            <a:spAutoFit/>
          </a:bodyPr>
          <a:lstStyle/>
          <a:p>
            <a:r>
              <a:rPr lang="en-US" altLang="zh-CN" dirty="0" smtClean="0">
                <a:solidFill>
                  <a:srgbClr val="333333"/>
                </a:solidFill>
                <a:highlight>
                  <a:srgbClr val="FFFF00"/>
                </a:highlight>
                <a:ea typeface="+mn-lt"/>
                <a:cs typeface="+mn-lt"/>
              </a:rPr>
              <a:t>Nemotron-Agentic-v1</a:t>
            </a:r>
            <a:endParaRPr lang="en-GB" dirty="0"/>
          </a:p>
        </p:txBody>
      </p:sp>
      <p:sp>
        <p:nvSpPr>
          <p:cNvPr id="19" name="TextBox 18"/>
          <p:cNvSpPr txBox="1"/>
          <p:nvPr/>
        </p:nvSpPr>
        <p:spPr>
          <a:xfrm>
            <a:off x="3034478" y="5143936"/>
            <a:ext cx="5187639" cy="646331"/>
          </a:xfrm>
          <a:prstGeom prst="rect">
            <a:avLst/>
          </a:prstGeom>
          <a:noFill/>
        </p:spPr>
        <p:txBody>
          <a:bodyPr wrap="none" rtlCol="0">
            <a:spAutoFit/>
          </a:bodyPr>
          <a:lstStyle/>
          <a:p>
            <a:r>
              <a:rPr lang="en-GB" dirty="0" smtClean="0"/>
              <a:t># </a:t>
            </a:r>
            <a:r>
              <a:rPr lang="en-GB" dirty="0"/>
              <a:t>Focuses on multi-turn conversations for tool </a:t>
            </a:r>
            <a:r>
              <a:rPr lang="en-GB" dirty="0" smtClean="0"/>
              <a:t>use</a:t>
            </a:r>
            <a:endParaRPr lang="en-GB" dirty="0" smtClean="0"/>
          </a:p>
          <a:p>
            <a:r>
              <a:rPr lang="en-GB" dirty="0" smtClean="0"/>
              <a:t> </a:t>
            </a:r>
            <a:r>
              <a:rPr lang="en-GB" dirty="0"/>
              <a:t>and agentic AI scenarios.</a:t>
            </a:r>
            <a:endParaRPr lang="en-GB" dirty="0"/>
          </a:p>
        </p:txBody>
      </p:sp>
      <p:cxnSp>
        <p:nvCxnSpPr>
          <p:cNvPr id="20" name="直接连接符 2"/>
          <p:cNvCxnSpPr/>
          <p:nvPr/>
        </p:nvCxnSpPr>
        <p:spPr>
          <a:xfrm>
            <a:off x="771526" y="1030876"/>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a:t>
            </a:r>
            <a:r>
              <a:rPr lang="en-US" altLang="zh-CN" sz="2400" b="1" dirty="0">
                <a:solidFill>
                  <a:srgbClr val="2F57D9"/>
                </a:solidFill>
                <a:latin typeface="Calibri" panose="020F0502020204030204" pitchFamily="34" charset="0"/>
                <a:cs typeface="Calibri" panose="020F0502020204030204" pitchFamily="34" charset="0"/>
              </a:rPr>
              <a:t>Nemotron-CC-Math-v1</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71526" y="1019719"/>
            <a:ext cx="8902826" cy="1477328"/>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Mid-term project will officially start from this week</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Keep an eye on the blackboard</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What</a:t>
            </a:r>
            <a:r>
              <a:rPr lang="ur-PK" altLang="zh-CN" sz="2000" dirty="0" smtClean="0">
                <a:solidFill>
                  <a:prstClr val="black"/>
                </a:solidFill>
                <a:latin typeface="Times New Roman" panose="02020603050405020304" charset="0"/>
                <a:ea typeface="Times New Roman" panose="02020603050405020304" charset="0"/>
                <a:cs typeface="Times New Roman" panose="02020603050405020304" charset="0"/>
              </a:rPr>
              <a:t>’</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s in inside the Dataset:</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pic>
        <p:nvPicPr>
          <p:cNvPr id="2" name="Picture 1"/>
          <p:cNvPicPr>
            <a:picLocks noChangeAspect="1"/>
          </p:cNvPicPr>
          <p:nvPr/>
        </p:nvPicPr>
        <p:blipFill>
          <a:blip r:embed="rId2"/>
          <a:stretch>
            <a:fillRect/>
          </a:stretch>
        </p:blipFill>
        <p:spPr>
          <a:xfrm>
            <a:off x="771526" y="2388274"/>
            <a:ext cx="5803900" cy="2425700"/>
          </a:xfrm>
          <a:prstGeom prst="rect">
            <a:avLst/>
          </a:prstGeom>
        </p:spPr>
      </p:pic>
      <p:sp>
        <p:nvSpPr>
          <p:cNvPr id="4" name="Rectangle 3"/>
          <p:cNvSpPr/>
          <p:nvPr/>
        </p:nvSpPr>
        <p:spPr>
          <a:xfrm>
            <a:off x="771526" y="4461297"/>
            <a:ext cx="11420474" cy="1477328"/>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How NVIDIA built it: </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sz="2000" b="1" dirty="0"/>
              <a:t>1. </a:t>
            </a:r>
            <a:r>
              <a:rPr lang="en-US" sz="2000" b="1" dirty="0"/>
              <a:t>Lynx Rendering </a:t>
            </a:r>
            <a:r>
              <a:rPr lang="en-US" sz="2000" b="1" dirty="0" smtClean="0"/>
              <a:t>2. </a:t>
            </a:r>
            <a:r>
              <a:rPr lang="en-US" sz="2000" b="1" dirty="0"/>
              <a:t>LLM </a:t>
            </a:r>
            <a:r>
              <a:rPr lang="en-US" sz="2000" b="1" dirty="0" smtClean="0"/>
              <a:t>Cleaning 3. </a:t>
            </a:r>
            <a:r>
              <a:rPr lang="en-US" sz="2000" b="1" dirty="0"/>
              <a:t>Quality </a:t>
            </a:r>
            <a:r>
              <a:rPr lang="en-US" sz="2000" b="1" dirty="0" smtClean="0"/>
              <a:t>Filtering 4. Deduplication 5. </a:t>
            </a:r>
            <a:r>
              <a:rPr lang="en-US" sz="2000" b="1" dirty="0"/>
              <a:t>Decontamination</a:t>
            </a:r>
            <a:r>
              <a:rPr lang="en-US" sz="2000" dirty="0"/>
              <a:t> </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For your project, we sampled 100K input-output pairs from the dataset as the training set</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cxnSp>
        <p:nvCxnSpPr>
          <p:cNvPr id="20" name="直接连接符 2"/>
          <p:cNvCxnSpPr/>
          <p:nvPr/>
        </p:nvCxnSpPr>
        <p:spPr>
          <a:xfrm>
            <a:off x="771526" y="1030876"/>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690299" y="6181487"/>
            <a:ext cx="8563429" cy="369332"/>
          </a:xfrm>
          <a:prstGeom prst="rect">
            <a:avLst/>
          </a:prstGeom>
        </p:spPr>
        <p:txBody>
          <a:bodyPr wrap="square">
            <a:spAutoFit/>
          </a:bodyPr>
          <a:lstStyle/>
          <a:p>
            <a:r>
              <a:rPr lang="en-GB" dirty="0">
                <a:hlinkClick r:id="rId3"/>
              </a:rPr>
              <a:t>https://</a:t>
            </a:r>
            <a:r>
              <a:rPr lang="en-GB" dirty="0" smtClean="0">
                <a:hlinkClick r:id="rId3"/>
              </a:rPr>
              <a:t>huggingface.co/datasets/nvidia/Nemotron-CC-Math-v1</a:t>
            </a:r>
            <a:r>
              <a:rPr lang="en-GB" dirty="0" smtClean="0"/>
              <a:t> </a:t>
            </a:r>
            <a:endParaRPr lang="en-GB"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a:t>
            </a:r>
            <a:r>
              <a:rPr lang="en-US" altLang="zh-CN" sz="2400" b="1" dirty="0" smtClean="0">
                <a:solidFill>
                  <a:srgbClr val="2F57D9"/>
                </a:solidFill>
                <a:latin typeface="Calibri" panose="020F0502020204030204" pitchFamily="34" charset="0"/>
                <a:cs typeface="Calibri" panose="020F0502020204030204" pitchFamily="34" charset="0"/>
              </a:rPr>
              <a:t>Performance for Math Pre-training</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71526" y="948556"/>
            <a:ext cx="10494167" cy="498663"/>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With </a:t>
            </a:r>
            <a:r>
              <a:rPr lang="en-US" altLang="zh-CN" sz="2000" dirty="0" err="1">
                <a:solidFill>
                  <a:prstClr val="black"/>
                </a:solidFill>
                <a:latin typeface="Times New Roman" panose="02020603050405020304" charset="0"/>
                <a:ea typeface="Times New Roman" panose="02020603050405020304" charset="0"/>
                <a:cs typeface="Times New Roman" panose="02020603050405020304" charset="0"/>
              </a:rPr>
              <a:t>Nemotron</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-CC-Math, we’re raising the bar for open math </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pre-training.</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p:txBody>
      </p:sp>
      <p:cxnSp>
        <p:nvCxnSpPr>
          <p:cNvPr id="20" name="直接连接符 2"/>
          <p:cNvCxnSpPr/>
          <p:nvPr/>
        </p:nvCxnSpPr>
        <p:spPr>
          <a:xfrm>
            <a:off x="771526" y="1030876"/>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2"/>
          <a:stretch>
            <a:fillRect/>
          </a:stretch>
        </p:blipFill>
        <p:spPr>
          <a:xfrm>
            <a:off x="1617359" y="1416027"/>
            <a:ext cx="8802500" cy="5134792"/>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a:t>
            </a:r>
            <a:r>
              <a:rPr lang="en-US" altLang="zh-CN" sz="2400" b="1" dirty="0" smtClean="0">
                <a:solidFill>
                  <a:srgbClr val="2F57D9"/>
                </a:solidFill>
                <a:latin typeface="Calibri" panose="020F0502020204030204" pitchFamily="34" charset="0"/>
                <a:cs typeface="Calibri" panose="020F0502020204030204" pitchFamily="34" charset="0"/>
              </a:rPr>
              <a:t>M</a:t>
            </a:r>
            <a:r>
              <a:rPr lang="en-US" altLang="zh-CN" sz="2400" b="1" dirty="0" smtClean="0">
                <a:solidFill>
                  <a:srgbClr val="2F57D9"/>
                </a:solidFill>
                <a:latin typeface="Calibri" panose="020F0502020204030204" pitchFamily="34" charset="0"/>
                <a:cs typeface="Calibri" panose="020F0502020204030204" pitchFamily="34" charset="0"/>
              </a:rPr>
              <a:t>id-training </a:t>
            </a:r>
            <a:r>
              <a:rPr lang="en-US" altLang="zh-CN" sz="2400" b="1" dirty="0">
                <a:solidFill>
                  <a:srgbClr val="2F57D9"/>
                </a:solidFill>
                <a:latin typeface="Calibri" panose="020F0502020204030204" pitchFamily="34" charset="0"/>
                <a:cs typeface="Calibri" panose="020F0502020204030204" pitchFamily="34" charset="0"/>
              </a:rPr>
              <a:t>ablations </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00088" y="1149287"/>
            <a:ext cx="11061886" cy="553998"/>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err="1" smtClean="0">
                <a:solidFill>
                  <a:prstClr val="black"/>
                </a:solidFill>
                <a:latin typeface="Times New Roman" panose="02020603050405020304" charset="0"/>
                <a:ea typeface="Times New Roman" panose="02020603050405020304" charset="0"/>
                <a:cs typeface="Times New Roman" panose="02020603050405020304" charset="0"/>
              </a:rPr>
              <a:t>Nemotron</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-CC-Math </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dataset obtains substantial improvements across math, code, and general </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reasoning.</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p:txBody>
      </p:sp>
      <p:cxnSp>
        <p:nvCxnSpPr>
          <p:cNvPr id="20" name="直接连接符 2"/>
          <p:cNvCxnSpPr/>
          <p:nvPr/>
        </p:nvCxnSpPr>
        <p:spPr>
          <a:xfrm>
            <a:off x="771526" y="1030876"/>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graphicFrame>
        <p:nvGraphicFramePr>
          <p:cNvPr id="4" name="Table 3"/>
          <p:cNvGraphicFramePr>
            <a:graphicFrameLocks noGrp="1"/>
          </p:cNvGraphicFramePr>
          <p:nvPr/>
        </p:nvGraphicFramePr>
        <p:xfrm>
          <a:off x="838198" y="2084732"/>
          <a:ext cx="10515603" cy="3251200"/>
        </p:xfrm>
        <a:graphic>
          <a:graphicData uri="http://schemas.openxmlformats.org/drawingml/2006/table">
            <a:tbl>
              <a:tblPr/>
              <a:tblGrid>
                <a:gridCol w="1502229"/>
                <a:gridCol w="1502229"/>
                <a:gridCol w="1502229"/>
                <a:gridCol w="1502229"/>
                <a:gridCol w="1502229"/>
                <a:gridCol w="1502229"/>
                <a:gridCol w="1502229"/>
              </a:tblGrid>
              <a:tr h="924560">
                <a:tc>
                  <a:txBody>
                    <a:bodyPr/>
                    <a:lstStyle/>
                    <a:p>
                      <a:pPr algn="ctr" fontAlgn="ctr"/>
                      <a:r>
                        <a:rPr lang="en-US" sz="1800" b="1">
                          <a:effectLst/>
                        </a:rPr>
                        <a:t>Dataset</a:t>
                      </a:r>
                      <a:endParaRPr lang="en-US" sz="1800" b="1">
                        <a:effectLst/>
                      </a:endParaRP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sz="1800" b="1">
                          <a:effectLst/>
                        </a:rPr>
                        <a:t>MATH (EM)</a:t>
                      </a:r>
                      <a:endParaRPr lang="en-US" sz="1800" b="1">
                        <a:effectLst/>
                      </a:endParaRP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sz="1800" b="1">
                          <a:effectLst/>
                        </a:rPr>
                        <a:t>GSM8K (EM)</a:t>
                      </a:r>
                      <a:endParaRPr lang="en-US" sz="1800" b="1">
                        <a:effectLst/>
                      </a:endParaRP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sz="1800" b="1">
                          <a:effectLst/>
                        </a:rPr>
                        <a:t>HumanEval+ (average@20)</a:t>
                      </a:r>
                      <a:endParaRPr lang="en-US" sz="1800" b="1">
                        <a:effectLst/>
                      </a:endParaRP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sz="1800" b="1">
                          <a:effectLst/>
                        </a:rPr>
                        <a:t>MBPP+ (average@20)</a:t>
                      </a:r>
                      <a:endParaRPr lang="en-US" sz="1800" b="1">
                        <a:effectLst/>
                      </a:endParaRP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sz="1800" b="1">
                          <a:effectLst/>
                        </a:rPr>
                        <a:t>MMLU (EM)</a:t>
                      </a:r>
                      <a:endParaRPr lang="en-US" sz="1800" b="1">
                        <a:effectLst/>
                      </a:endParaRP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sz="1800" b="1">
                          <a:effectLst/>
                        </a:rPr>
                        <a:t>MMLU-STEM (EM)</a:t>
                      </a:r>
                      <a:endParaRPr lang="en-US" sz="1800" b="1">
                        <a:effectLst/>
                      </a:endParaRPr>
                    </a:p>
                  </a:txBody>
                  <a:tcPr marL="50800" marR="50800" marT="50800" marB="508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650240">
                <a:tc>
                  <a:txBody>
                    <a:bodyPr/>
                    <a:lstStyle/>
                    <a:p>
                      <a:pPr fontAlgn="t"/>
                      <a:r>
                        <a:rPr lang="en-US" sz="1800">
                          <a:effectLst/>
                        </a:rPr>
                        <a:t>OpenWebMath</a:t>
                      </a:r>
                      <a:endParaRPr lang="en-US"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hr-HR" sz="1800">
                          <a:effectLst/>
                        </a:rPr>
                        <a:t>34.2</a:t>
                      </a:r>
                      <a:endParaRPr lang="hr-HR"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nb-NO" sz="1800">
                          <a:effectLst/>
                        </a:rPr>
                        <a:t>76.42</a:t>
                      </a:r>
                      <a:endParaRPr lang="nb-NO"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hr-HR" sz="1800">
                          <a:effectLst/>
                        </a:rPr>
                        <a:t>33.54</a:t>
                      </a:r>
                      <a:endParaRPr lang="hr-HR"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nb-NO" sz="1800">
                          <a:effectLst/>
                        </a:rPr>
                        <a:t>37.59</a:t>
                      </a:r>
                      <a:endParaRPr lang="nb-NO"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nb-NO" sz="1800">
                          <a:effectLst/>
                        </a:rPr>
                        <a:t>65.20</a:t>
                      </a:r>
                      <a:endParaRPr lang="nb-NO"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hr-HR" sz="1800">
                          <a:effectLst/>
                        </a:rPr>
                        <a:t>59.20</a:t>
                      </a:r>
                      <a:endParaRPr lang="hr-HR"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375920">
                <a:tc>
                  <a:txBody>
                    <a:bodyPr/>
                    <a:lstStyle/>
                    <a:p>
                      <a:pPr fontAlgn="t"/>
                      <a:r>
                        <a:rPr lang="en-US" sz="1800">
                          <a:effectLst/>
                        </a:rPr>
                        <a:t>FineMath-3+</a:t>
                      </a:r>
                      <a:endParaRPr lang="en-US"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hr-HR" sz="1800">
                          <a:effectLst/>
                        </a:rPr>
                        <a:t>34.6</a:t>
                      </a:r>
                      <a:endParaRPr lang="hr-HR"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fi-FI" sz="1800">
                          <a:effectLst/>
                        </a:rPr>
                        <a:t>79.45</a:t>
                      </a:r>
                      <a:endParaRPr lang="fi-FI"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hr-HR" sz="1800">
                          <a:effectLst/>
                        </a:rPr>
                        <a:t>34.18</a:t>
                      </a:r>
                      <a:endParaRPr lang="hr-HR"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hr-HR" sz="1800" dirty="0">
                          <a:effectLst/>
                        </a:rPr>
                        <a:t>29.19</a:t>
                      </a:r>
                      <a:endParaRPr lang="hr-HR" sz="1800" dirty="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nb-NO" sz="1800">
                          <a:effectLst/>
                        </a:rPr>
                        <a:t>67.92</a:t>
                      </a:r>
                      <a:endParaRPr lang="nb-NO"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nb-NO" sz="1800">
                          <a:effectLst/>
                        </a:rPr>
                        <a:t>62.29</a:t>
                      </a:r>
                      <a:endParaRPr lang="nb-NO"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650240">
                <a:tc>
                  <a:txBody>
                    <a:bodyPr/>
                    <a:lstStyle/>
                    <a:p>
                      <a:pPr fontAlgn="t"/>
                      <a:r>
                        <a:rPr lang="en-US" sz="1800">
                          <a:effectLst/>
                        </a:rPr>
                        <a:t>MegaMath-Web</a:t>
                      </a:r>
                      <a:endParaRPr lang="en-US"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nb-NO" sz="1800">
                          <a:effectLst/>
                        </a:rPr>
                        <a:t>31.6</a:t>
                      </a:r>
                      <a:endParaRPr lang="nb-NO"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hr-HR" sz="1800">
                          <a:effectLst/>
                        </a:rPr>
                        <a:t>78.24</a:t>
                      </a:r>
                      <a:endParaRPr lang="hr-HR"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hr-HR" sz="1800">
                          <a:effectLst/>
                        </a:rPr>
                        <a:t>32.29</a:t>
                      </a:r>
                      <a:endParaRPr lang="hr-HR"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hr-HR" sz="1800">
                          <a:effectLst/>
                        </a:rPr>
                        <a:t>38.89</a:t>
                      </a:r>
                      <a:endParaRPr lang="hr-HR"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nb-NO" sz="1800">
                          <a:effectLst/>
                        </a:rPr>
                        <a:t>65.44</a:t>
                      </a:r>
                      <a:endParaRPr lang="nb-NO"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hr-HR" sz="1800">
                          <a:effectLst/>
                        </a:rPr>
                        <a:t>59.88</a:t>
                      </a:r>
                      <a:endParaRPr lang="hr-HR"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r h="650240">
                <a:tc>
                  <a:txBody>
                    <a:bodyPr/>
                    <a:lstStyle/>
                    <a:p>
                      <a:pPr fontAlgn="t"/>
                      <a:r>
                        <a:rPr lang="en-US" sz="1800" b="1">
                          <a:effectLst/>
                        </a:rPr>
                        <a:t>Nemotron-CC-Math-3+</a:t>
                      </a:r>
                      <a:endParaRPr lang="en-US"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hr-HR" sz="1800" b="1">
                          <a:effectLst/>
                        </a:rPr>
                        <a:t>44.20</a:t>
                      </a:r>
                      <a:endParaRPr lang="hr-HR"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hr-HR" sz="1800" b="1">
                          <a:effectLst/>
                        </a:rPr>
                        <a:t>80.06</a:t>
                      </a:r>
                      <a:endParaRPr lang="hr-HR"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nb-NO" sz="1800" b="1">
                          <a:effectLst/>
                        </a:rPr>
                        <a:t>37.16</a:t>
                      </a:r>
                      <a:endParaRPr lang="nb-NO"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hr-HR" sz="1800" b="1">
                          <a:effectLst/>
                        </a:rPr>
                        <a:t>43.51</a:t>
                      </a:r>
                      <a:endParaRPr lang="hr-HR"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hr-HR" sz="1800" b="1">
                          <a:effectLst/>
                        </a:rPr>
                        <a:t>68.20</a:t>
                      </a:r>
                      <a:endParaRPr lang="hr-HR" sz="180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fontAlgn="t"/>
                      <a:r>
                        <a:rPr lang="hr-HR" sz="1800" b="1" dirty="0">
                          <a:effectLst/>
                        </a:rPr>
                        <a:t>64.26</a:t>
                      </a:r>
                      <a:endParaRPr lang="hr-HR" sz="1800" dirty="0">
                        <a:effectLst/>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a:t>
            </a:r>
            <a:r>
              <a:rPr lang="en-US" altLang="zh-CN" sz="2400" b="1" dirty="0">
                <a:solidFill>
                  <a:srgbClr val="2F57D9"/>
                </a:solidFill>
                <a:latin typeface="Calibri" panose="020F0502020204030204" pitchFamily="34" charset="0"/>
                <a:cs typeface="Calibri" panose="020F0502020204030204" pitchFamily="34" charset="0"/>
              </a:rPr>
              <a:t>Nemotron-CC-Math-v1</a:t>
            </a:r>
            <a:r>
              <a:rPr lang="en-US" altLang="zh-CN" sz="2400" b="1" dirty="0" smtClean="0">
                <a:solidFill>
                  <a:srgbClr val="2F57D9"/>
                </a:solidFill>
                <a:latin typeface="Calibri" panose="020F0502020204030204" pitchFamily="34" charset="0"/>
                <a:cs typeface="Calibri" panose="020F0502020204030204" pitchFamily="34" charset="0"/>
              </a:rPr>
              <a:t>: Qualitative Examples</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sp>
        <p:nvSpPr>
          <p:cNvPr id="13" name="Rectangle 12"/>
          <p:cNvSpPr/>
          <p:nvPr/>
        </p:nvSpPr>
        <p:spPr>
          <a:xfrm>
            <a:off x="368130" y="1044868"/>
            <a:ext cx="1684803" cy="553998"/>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smtClean="0">
                <a:solidFill>
                  <a:prstClr val="black"/>
                </a:solidFill>
                <a:latin typeface="Times New Roman" panose="02020603050405020304" charset="0"/>
                <a:ea typeface="Times New Roman" panose="02020603050405020304" charset="0"/>
                <a:cs typeface="Times New Roman" panose="02020603050405020304" charset="0"/>
              </a:rPr>
              <a:t>Original:</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cxnSp>
        <p:nvCxnSpPr>
          <p:cNvPr id="20" name="直接连接符 2"/>
          <p:cNvCxnSpPr/>
          <p:nvPr/>
        </p:nvCxnSpPr>
        <p:spPr>
          <a:xfrm>
            <a:off x="771526" y="1030876"/>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1"/>
          <a:stretch>
            <a:fillRect/>
          </a:stretch>
        </p:blipFill>
        <p:spPr>
          <a:xfrm>
            <a:off x="368130" y="1573717"/>
            <a:ext cx="5708841" cy="4907748"/>
          </a:xfrm>
          <a:prstGeom prst="rect">
            <a:avLst/>
          </a:prstGeom>
        </p:spPr>
      </p:pic>
      <p:sp>
        <p:nvSpPr>
          <p:cNvPr id="11" name="Rectangle 10"/>
          <p:cNvSpPr/>
          <p:nvPr/>
        </p:nvSpPr>
        <p:spPr>
          <a:xfrm>
            <a:off x="8411326" y="1044868"/>
            <a:ext cx="2651121" cy="553998"/>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smtClean="0">
                <a:solidFill>
                  <a:prstClr val="black"/>
                </a:solidFill>
                <a:latin typeface="Times New Roman" panose="02020603050405020304" charset="0"/>
                <a:ea typeface="Times New Roman" panose="02020603050405020304" charset="0"/>
                <a:cs typeface="Times New Roman" panose="02020603050405020304" charset="0"/>
              </a:rPr>
              <a:t>Processed Data:</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pic>
        <p:nvPicPr>
          <p:cNvPr id="5" name="Picture 4"/>
          <p:cNvPicPr>
            <a:picLocks noChangeAspect="1"/>
          </p:cNvPicPr>
          <p:nvPr/>
        </p:nvPicPr>
        <p:blipFill>
          <a:blip r:embed="rId2"/>
          <a:stretch>
            <a:fillRect/>
          </a:stretch>
        </p:blipFill>
        <p:spPr>
          <a:xfrm>
            <a:off x="6076971" y="1598866"/>
            <a:ext cx="5792300" cy="4884468"/>
          </a:xfrm>
          <a:prstGeom prst="rect">
            <a:avLst/>
          </a:prstGeom>
        </p:spPr>
      </p:pic>
      <p:pic>
        <p:nvPicPr>
          <p:cNvPr id="8" name="Picture 2" descr="Image result for suste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a:t>
            </a:r>
            <a:r>
              <a:rPr lang="en-US" altLang="zh-CN" sz="2400" b="1" dirty="0" smtClean="0">
                <a:solidFill>
                  <a:srgbClr val="2F57D9"/>
                </a:solidFill>
                <a:latin typeface="Calibri" panose="020F0502020204030204" pitchFamily="34" charset="0"/>
                <a:cs typeface="Calibri" panose="020F0502020204030204" pitchFamily="34" charset="0"/>
              </a:rPr>
              <a:t>Summary</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19591" y="1390190"/>
            <a:ext cx="10752817" cy="2400657"/>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No free lunch: You have to clean the dataset before using. </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Live service -&gt; Raw data -&gt; Processed data (conversion, filtering, deduplication)</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Data is the </a:t>
            </a:r>
            <a:r>
              <a:rPr lang="en-US" altLang="zh-CN" sz="2000" b="1" dirty="0" smtClean="0">
                <a:solidFill>
                  <a:srgbClr val="FF0000"/>
                </a:solidFill>
                <a:latin typeface="Times New Roman" panose="02020603050405020304" charset="0"/>
                <a:ea typeface="Times New Roman" panose="02020603050405020304" charset="0"/>
                <a:cs typeface="Times New Roman" panose="02020603050405020304" charset="0"/>
              </a:rPr>
              <a:t>key ingredient </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that differentiates LLMs</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Legal and ethical issues (e.g., copyright and privacy)</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Much of this pipeline is heuristic, many opportunities to improve! (</a:t>
            </a:r>
            <a:r>
              <a:rPr lang="en-US" altLang="zh-CN" sz="2000" b="1" dirty="0" smtClean="0">
                <a:solidFill>
                  <a:srgbClr val="FF0000"/>
                </a:solidFill>
                <a:latin typeface="Times New Roman" panose="02020603050405020304" charset="0"/>
                <a:ea typeface="Times New Roman" panose="02020603050405020304" charset="0"/>
                <a:cs typeface="Times New Roman" panose="02020603050405020304" charset="0"/>
              </a:rPr>
              <a:t>The key in the </a:t>
            </a:r>
            <a:r>
              <a:rPr lang="en-US" altLang="zh-CN" b="1" dirty="0" smtClean="0">
                <a:solidFill>
                  <a:srgbClr val="FF0000"/>
                </a:solidFill>
                <a:highlight>
                  <a:srgbClr val="FFFF00"/>
                </a:highlight>
                <a:ea typeface="+mn-lt"/>
                <a:cs typeface="+mn-lt"/>
              </a:rPr>
              <a:t>Mid-term </a:t>
            </a:r>
            <a:r>
              <a:rPr lang="en-US" altLang="zh-CN" b="1" dirty="0">
                <a:solidFill>
                  <a:srgbClr val="FF0000"/>
                </a:solidFill>
                <a:highlight>
                  <a:srgbClr val="FFFF00"/>
                </a:highlight>
                <a:ea typeface="+mn-lt"/>
                <a:cs typeface="+mn-lt"/>
              </a:rPr>
              <a:t>project</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cxnSp>
        <p:nvCxnSpPr>
          <p:cNvPr id="20" name="直接连接符 2"/>
          <p:cNvCxnSpPr/>
          <p:nvPr/>
        </p:nvCxnSpPr>
        <p:spPr>
          <a:xfrm>
            <a:off x="771526" y="1030876"/>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a:t>
            </a:r>
            <a:r>
              <a:rPr lang="en-US" altLang="zh-CN" sz="2400" b="1" dirty="0" smtClean="0">
                <a:solidFill>
                  <a:srgbClr val="2F57D9"/>
                </a:solidFill>
                <a:latin typeface="Calibri" panose="020F0502020204030204" pitchFamily="34" charset="0"/>
                <a:cs typeface="Calibri" panose="020F0502020204030204" pitchFamily="34" charset="0"/>
              </a:rPr>
              <a:t>The Usage of Data in Different Stages</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71526" y="1044868"/>
            <a:ext cx="10494168" cy="4708981"/>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Pre-training: train on raw text (e.g., documents from the web)</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Mid-training: train more on high quality data to enhance capabilities </a:t>
            </a:r>
            <a:r>
              <a:rPr lang="zh-CN" altLang="en-US" sz="2000" dirty="0" smtClean="0">
                <a:solidFill>
                  <a:prstClr val="black"/>
                </a:solidFill>
                <a:latin typeface="Times New Roman" panose="02020603050405020304" charset="0"/>
                <a:ea typeface="Times New Roman" panose="02020603050405020304" charset="0"/>
                <a:cs typeface="Times New Roman" panose="02020603050405020304" charset="0"/>
              </a:rPr>
              <a:t>（中文：退火训练）</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Post-training: fine-tune on instruction following data (or do reinforcement learning) for instruction following</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In practice, the lines are blurry and there could be more stages.</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Principles: Convert “Large amounts of lower quality data” to “small amounts of high quality data”</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Terminology: </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Base model: after pre-training + mid-training</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-Instruct / -chat model: after post-training </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cxnSp>
        <p:nvCxnSpPr>
          <p:cNvPr id="20" name="直接连接符 2"/>
          <p:cNvCxnSpPr/>
          <p:nvPr/>
        </p:nvCxnSpPr>
        <p:spPr>
          <a:xfrm>
            <a:off x="771526" y="1030876"/>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a:t>
            </a:r>
            <a:r>
              <a:rPr lang="en-US" altLang="zh-CN" sz="2400" b="1" dirty="0" smtClean="0">
                <a:solidFill>
                  <a:srgbClr val="2F57D9"/>
                </a:solidFill>
                <a:latin typeface="Calibri" panose="020F0502020204030204" pitchFamily="34" charset="0"/>
                <a:cs typeface="Calibri" panose="020F0502020204030204" pitchFamily="34" charset="0"/>
              </a:rPr>
              <a:t>Examples: </a:t>
            </a:r>
            <a:r>
              <a:rPr lang="en-US" altLang="zh-CN" sz="2400" b="1" dirty="0" err="1" smtClean="0">
                <a:solidFill>
                  <a:srgbClr val="2F57D9"/>
                </a:solidFill>
                <a:latin typeface="Calibri" panose="020F0502020204030204" pitchFamily="34" charset="0"/>
                <a:cs typeface="Calibri" panose="020F0502020204030204" pitchFamily="34" charset="0"/>
              </a:rPr>
              <a:t>Pretraining</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71526" y="1019719"/>
            <a:ext cx="8902826" cy="498663"/>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The results of Pre-training [</a:t>
            </a:r>
            <a:r>
              <a:rPr lang="en-US" altLang="zh-CN" sz="2000" dirty="0" err="1" smtClean="0">
                <a:solidFill>
                  <a:prstClr val="black"/>
                </a:solidFill>
                <a:latin typeface="Times New Roman" panose="02020603050405020304" charset="0"/>
                <a:ea typeface="Times New Roman" panose="02020603050405020304" charset="0"/>
                <a:cs typeface="Times New Roman" panose="02020603050405020304" charset="0"/>
              </a:rPr>
              <a:t>OLMo</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 2024]:</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cxnSp>
        <p:nvCxnSpPr>
          <p:cNvPr id="20" name="直接连接符 2"/>
          <p:cNvCxnSpPr/>
          <p:nvPr/>
        </p:nvCxnSpPr>
        <p:spPr>
          <a:xfrm>
            <a:off x="771526" y="1030876"/>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a:stretch>
            <a:fillRect/>
          </a:stretch>
        </p:blipFill>
        <p:spPr>
          <a:xfrm>
            <a:off x="1170128" y="1518382"/>
            <a:ext cx="9851743" cy="487525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a:t>
            </a:r>
            <a:r>
              <a:rPr lang="en-US" altLang="zh-CN" sz="2400" b="1" dirty="0" smtClean="0">
                <a:solidFill>
                  <a:srgbClr val="2F57D9"/>
                </a:solidFill>
                <a:latin typeface="Calibri" panose="020F0502020204030204" pitchFamily="34" charset="0"/>
                <a:cs typeface="Calibri" panose="020F0502020204030204" pitchFamily="34" charset="0"/>
              </a:rPr>
              <a:t>Examples: Mid-training</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71526" y="1019719"/>
            <a:ext cx="8902826" cy="553998"/>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The results of Mid-training:</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cxnSp>
        <p:nvCxnSpPr>
          <p:cNvPr id="20" name="直接连接符 2"/>
          <p:cNvCxnSpPr/>
          <p:nvPr/>
        </p:nvCxnSpPr>
        <p:spPr>
          <a:xfrm>
            <a:off x="771526" y="1030876"/>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2"/>
          <a:stretch>
            <a:fillRect/>
          </a:stretch>
        </p:blipFill>
        <p:spPr>
          <a:xfrm>
            <a:off x="4380299" y="1065791"/>
            <a:ext cx="5487597" cy="5450114"/>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a:t>
            </a:r>
            <a:r>
              <a:rPr lang="en-US" altLang="zh-CN" sz="2400" b="1" dirty="0" smtClean="0">
                <a:solidFill>
                  <a:srgbClr val="2F57D9"/>
                </a:solidFill>
                <a:latin typeface="Calibri" panose="020F0502020204030204" pitchFamily="34" charset="0"/>
                <a:cs typeface="Calibri" panose="020F0502020204030204" pitchFamily="34" charset="0"/>
              </a:rPr>
              <a:t>Examples: Post-Training</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71526" y="1019719"/>
            <a:ext cx="8902826" cy="553998"/>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The results of Post-training:</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cxnSp>
        <p:nvCxnSpPr>
          <p:cNvPr id="20" name="直接连接符 2"/>
          <p:cNvCxnSpPr/>
          <p:nvPr/>
        </p:nvCxnSpPr>
        <p:spPr>
          <a:xfrm>
            <a:off x="771526" y="1030876"/>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a:stretch>
            <a:fillRect/>
          </a:stretch>
        </p:blipFill>
        <p:spPr>
          <a:xfrm>
            <a:off x="4138263" y="1069715"/>
            <a:ext cx="6715437" cy="5439431"/>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a:t>
            </a:r>
            <a:r>
              <a:rPr lang="en-US" altLang="zh-CN" sz="2400" b="1" dirty="0" smtClean="0">
                <a:solidFill>
                  <a:srgbClr val="2F57D9"/>
                </a:solidFill>
                <a:latin typeface="Calibri" panose="020F0502020204030204" pitchFamily="34" charset="0"/>
                <a:cs typeface="Calibri" panose="020F0502020204030204" pitchFamily="34" charset="0"/>
              </a:rPr>
              <a:t>The First Attempt of SFT</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71526" y="1019719"/>
            <a:ext cx="8902826" cy="2862322"/>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Alpaca</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Vicuna</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p:txBody>
      </p:sp>
      <p:cxnSp>
        <p:nvCxnSpPr>
          <p:cNvPr id="20" name="直接连接符 2"/>
          <p:cNvCxnSpPr/>
          <p:nvPr/>
        </p:nvCxnSpPr>
        <p:spPr>
          <a:xfrm>
            <a:off x="771526" y="1030876"/>
            <a:ext cx="406173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2"/>
          <a:stretch>
            <a:fillRect/>
          </a:stretch>
        </p:blipFill>
        <p:spPr>
          <a:xfrm>
            <a:off x="2926093" y="1067045"/>
            <a:ext cx="5396593" cy="2015037"/>
          </a:xfrm>
          <a:prstGeom prst="rect">
            <a:avLst/>
          </a:prstGeom>
        </p:spPr>
      </p:pic>
      <p:pic>
        <p:nvPicPr>
          <p:cNvPr id="4" name="Picture 3"/>
          <p:cNvPicPr>
            <a:picLocks noChangeAspect="1"/>
          </p:cNvPicPr>
          <p:nvPr/>
        </p:nvPicPr>
        <p:blipFill>
          <a:blip r:embed="rId3"/>
          <a:stretch>
            <a:fillRect/>
          </a:stretch>
        </p:blipFill>
        <p:spPr>
          <a:xfrm>
            <a:off x="2926093" y="3253640"/>
            <a:ext cx="4739035" cy="3227825"/>
          </a:xfrm>
          <a:prstGeom prst="rect">
            <a:avLst/>
          </a:prstGeom>
        </p:spPr>
      </p:pic>
      <p:pic>
        <p:nvPicPr>
          <p:cNvPr id="6" name="Picture 5"/>
          <p:cNvPicPr>
            <a:picLocks noChangeAspect="1"/>
          </p:cNvPicPr>
          <p:nvPr/>
        </p:nvPicPr>
        <p:blipFill>
          <a:blip r:embed="rId4"/>
          <a:stretch>
            <a:fillRect/>
          </a:stretch>
        </p:blipFill>
        <p:spPr>
          <a:xfrm>
            <a:off x="6589486" y="2997586"/>
            <a:ext cx="5602514" cy="1056013"/>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a:t>
            </a:r>
            <a:r>
              <a:rPr lang="en-US" altLang="zh-CN" sz="2400" b="1" dirty="0" smtClean="0">
                <a:solidFill>
                  <a:srgbClr val="2F57D9"/>
                </a:solidFill>
                <a:latin typeface="Calibri" panose="020F0502020204030204" pitchFamily="34" charset="0"/>
                <a:cs typeface="Calibri" panose="020F0502020204030204" pitchFamily="34" charset="0"/>
              </a:rPr>
              <a:t>Alpaca vs. Vicuna</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直接连接符 2"/>
          <p:cNvCxnSpPr/>
          <p:nvPr/>
        </p:nvCxnSpPr>
        <p:spPr>
          <a:xfrm>
            <a:off x="771526" y="1030876"/>
            <a:ext cx="406173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1524724" y="1112551"/>
            <a:ext cx="9142551" cy="5354923"/>
          </a:xfrm>
          <a:prstGeom prst="rect">
            <a:avLst/>
          </a:prstGeom>
        </p:spPr>
      </p:pic>
      <p:pic>
        <p:nvPicPr>
          <p:cNvPr id="2" name="Picture 1"/>
          <p:cNvPicPr>
            <a:picLocks noChangeAspect="1"/>
          </p:cNvPicPr>
          <p:nvPr/>
        </p:nvPicPr>
        <p:blipFill>
          <a:blip r:embed="rId3"/>
          <a:stretch>
            <a:fillRect/>
          </a:stretch>
        </p:blipFill>
        <p:spPr>
          <a:xfrm>
            <a:off x="220133" y="5742326"/>
            <a:ext cx="6011333" cy="700199"/>
          </a:xfrm>
          <a:prstGeom prst="rect">
            <a:avLst/>
          </a:prstGeom>
        </p:spPr>
      </p:pic>
      <p:pic>
        <p:nvPicPr>
          <p:cNvPr id="3" name="Picture 2"/>
          <p:cNvPicPr>
            <a:picLocks noChangeAspect="1"/>
          </p:cNvPicPr>
          <p:nvPr/>
        </p:nvPicPr>
        <p:blipFill>
          <a:blip r:embed="rId4"/>
          <a:stretch>
            <a:fillRect/>
          </a:stretch>
        </p:blipFill>
        <p:spPr>
          <a:xfrm>
            <a:off x="5460820" y="4263493"/>
            <a:ext cx="6511046" cy="664108"/>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Manual Data Construction:  </a:t>
            </a:r>
            <a:r>
              <a:rPr lang="en-US" altLang="zh-CN" sz="2400" b="1" dirty="0" smtClean="0">
                <a:solidFill>
                  <a:srgbClr val="2F57D9"/>
                </a:solidFill>
                <a:latin typeface="Calibri" panose="020F0502020204030204" pitchFamily="34" charset="0"/>
                <a:cs typeface="Calibri" panose="020F0502020204030204" pitchFamily="34" charset="0"/>
              </a:rPr>
              <a:t>Less is More (?)</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71526" y="1019719"/>
            <a:ext cx="8902826" cy="960328"/>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LIMA / LIMO / LIMR (Less is more for Alignment, Reasoning, and RL)</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The </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example of instruction data is as follows:</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cxnSp>
        <p:nvCxnSpPr>
          <p:cNvPr id="20" name="直接连接符 2"/>
          <p:cNvCxnSpPr/>
          <p:nvPr/>
        </p:nvCxnSpPr>
        <p:spPr>
          <a:xfrm>
            <a:off x="771526" y="1030876"/>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7741" y="2103005"/>
            <a:ext cx="7316488" cy="4364469"/>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a:t>
            </a:r>
            <a:r>
              <a:rPr lang="en-US" altLang="zh-CN" sz="2400" b="1" dirty="0" smtClean="0">
                <a:solidFill>
                  <a:srgbClr val="2F57D9"/>
                </a:solidFill>
                <a:latin typeface="Calibri" panose="020F0502020204030204" pitchFamily="34" charset="0"/>
                <a:cs typeface="Calibri" panose="020F0502020204030204" pitchFamily="34" charset="0"/>
              </a:rPr>
              <a:t>Data Analysis</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71525" y="1019719"/>
            <a:ext cx="10839903" cy="2400657"/>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Types of data objects:</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Live Service (e.g., Reddit)</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Raw snapshot (via crawling or API or dumps)</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Processed text (via various filtering and transformations)</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Aggregated datasets (e.g., The Pile</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C4, RedPajama-V2, </a:t>
            </a:r>
            <a:r>
              <a:rPr lang="en-US" altLang="zh-CN" sz="2000" dirty="0" err="1">
                <a:solidFill>
                  <a:prstClr val="black"/>
                </a:solidFill>
                <a:latin typeface="Times New Roman" panose="02020603050405020304" charset="0"/>
                <a:ea typeface="Times New Roman" panose="02020603050405020304" charset="0"/>
                <a:cs typeface="Times New Roman" panose="02020603050405020304" charset="0"/>
              </a:rPr>
              <a:t>FineWeb</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a:t>
            </a:r>
            <a:r>
              <a:rPr lang="en-US" altLang="zh-CN" sz="2000" dirty="0" err="1">
                <a:solidFill>
                  <a:prstClr val="black"/>
                </a:solidFill>
                <a:latin typeface="Times New Roman" panose="02020603050405020304" charset="0"/>
                <a:ea typeface="Times New Roman" panose="02020603050405020304" charset="0"/>
                <a:cs typeface="Times New Roman" panose="02020603050405020304" charset="0"/>
              </a:rPr>
              <a:t>FineWeb</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-Edu, and DCLM)</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cxnSp>
        <p:nvCxnSpPr>
          <p:cNvPr id="20" name="直接连接符 2"/>
          <p:cNvCxnSpPr/>
          <p:nvPr/>
        </p:nvCxnSpPr>
        <p:spPr>
          <a:xfrm>
            <a:off x="771526" y="1030876"/>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928914" y="6212114"/>
            <a:ext cx="4945585" cy="369332"/>
          </a:xfrm>
          <a:prstGeom prst="rect">
            <a:avLst/>
          </a:prstGeom>
          <a:noFill/>
        </p:spPr>
        <p:txBody>
          <a:bodyPr wrap="none" rtlCol="0">
            <a:spAutoFit/>
          </a:bodyPr>
          <a:lstStyle/>
          <a:p>
            <a:r>
              <a:rPr lang="en-GB" dirty="0">
                <a:hlinkClick r:id="rId2"/>
              </a:rPr>
              <a:t>https://</a:t>
            </a:r>
            <a:r>
              <a:rPr lang="en-GB" dirty="0" smtClean="0">
                <a:hlinkClick r:id="rId2"/>
              </a:rPr>
              <a:t>huggingface.co/datasets/EleutherAI/pile</a:t>
            </a:r>
            <a:r>
              <a:rPr lang="en-GB" dirty="0" smtClean="0"/>
              <a:t> </a:t>
            </a:r>
            <a:endParaRPr lang="en-GB" dirty="0"/>
          </a:p>
        </p:txBody>
      </p:sp>
      <p:sp>
        <p:nvSpPr>
          <p:cNvPr id="11" name="Rectangle 10"/>
          <p:cNvSpPr/>
          <p:nvPr/>
        </p:nvSpPr>
        <p:spPr>
          <a:xfrm>
            <a:off x="700088" y="3420376"/>
            <a:ext cx="10839903" cy="2862322"/>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Sources of Data:</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Annotators (e.g., Llama 2 instruction data)</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Real users (e.g., </a:t>
            </a:r>
            <a:r>
              <a:rPr lang="en-US" altLang="zh-CN" sz="2000" dirty="0" err="1" smtClean="0">
                <a:solidFill>
                  <a:prstClr val="black"/>
                </a:solidFill>
                <a:latin typeface="Times New Roman" panose="02020603050405020304" charset="0"/>
                <a:ea typeface="Times New Roman" panose="02020603050405020304" charset="0"/>
                <a:cs typeface="Times New Roman" panose="02020603050405020304" charset="0"/>
              </a:rPr>
              <a:t>ShareGPT</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 – Share your chat history with LLMs)</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Curated (from Common Crawl)</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Distilled from stronger model (e.g., synthetic data from GPT-4)</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Self-distillation (synthetic data from model you’re training)</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LIMA: Data Resources</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71525" y="1019719"/>
            <a:ext cx="10494167" cy="4708981"/>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To ensure dataset diversity, LIMA samples instruction data from a range of sources, including high-quality online Q&amp;A communities, the Super-Natural Instructions dataset, and a substantial corpus of manually authored prompts and responses.</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The diversity of the resulting dataset is maintained through several key factors:</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b="1" dirty="0">
                <a:solidFill>
                  <a:prstClr val="black"/>
                </a:solidFill>
                <a:latin typeface="Times New Roman" panose="02020603050405020304" charset="0"/>
                <a:ea typeface="Times New Roman" panose="02020603050405020304" charset="0"/>
                <a:cs typeface="Times New Roman" panose="02020603050405020304" charset="0"/>
              </a:rPr>
              <a:t>Topical Breadth</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Online communities provide coverage across diverse sub-forums and subject matters.</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b="1" dirty="0">
                <a:solidFill>
                  <a:prstClr val="black"/>
                </a:solidFill>
                <a:latin typeface="Times New Roman" panose="02020603050405020304" charset="0"/>
                <a:ea typeface="Times New Roman" panose="02020603050405020304" charset="0"/>
                <a:cs typeface="Times New Roman" panose="02020603050405020304" charset="0"/>
              </a:rPr>
              <a:t>Task Variety</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The Super-Natural Instructions dataset contributes a wide array of generative tasks.</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b="1" dirty="0">
                <a:solidFill>
                  <a:prstClr val="black"/>
                </a:solidFill>
                <a:latin typeface="Times New Roman" panose="02020603050405020304" charset="0"/>
                <a:ea typeface="Times New Roman" panose="02020603050405020304" charset="0"/>
                <a:cs typeface="Times New Roman" panose="02020603050405020304" charset="0"/>
              </a:rPr>
              <a:t>Inherent Variation</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Manually authored entries naturally reflect the distinct perspectives and styles of individual annotators</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cxnSp>
        <p:nvCxnSpPr>
          <p:cNvPr id="20" name="直接连接符 2"/>
          <p:cNvCxnSpPr/>
          <p:nvPr/>
        </p:nvCxnSpPr>
        <p:spPr>
          <a:xfrm>
            <a:off x="771526" y="1030876"/>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440267" y="6028266"/>
            <a:ext cx="10363200" cy="369332"/>
          </a:xfrm>
          <a:prstGeom prst="rect">
            <a:avLst/>
          </a:prstGeom>
          <a:noFill/>
        </p:spPr>
        <p:txBody>
          <a:bodyPr wrap="square" rtlCol="0">
            <a:spAutoFit/>
          </a:bodyPr>
          <a:lstStyle/>
          <a:p>
            <a:r>
              <a:rPr lang="en-GB" dirty="0" smtClean="0"/>
              <a:t>[LIMA, 2024] </a:t>
            </a:r>
            <a:r>
              <a:rPr lang="en-GB" dirty="0"/>
              <a:t>LIMA: Less Is More for </a:t>
            </a:r>
            <a:r>
              <a:rPr lang="en-GB" dirty="0"/>
              <a:t>Alignment.  </a:t>
            </a:r>
            <a:r>
              <a:rPr lang="is-IS" dirty="0">
                <a:hlinkClick r:id="rId2"/>
              </a:rPr>
              <a:t>https://</a:t>
            </a:r>
            <a:r>
              <a:rPr lang="is-IS" dirty="0">
                <a:hlinkClick r:id="rId2"/>
              </a:rPr>
              <a:t>arxiv.org/abs/2305.11206</a:t>
            </a:r>
            <a:r>
              <a:rPr lang="is-IS" dirty="0"/>
              <a:t> </a:t>
            </a:r>
            <a:r>
              <a:rPr lang="en-GB" dirty="0"/>
              <a:t> </a:t>
            </a:r>
            <a:endParaRPr lang="en-GB"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LIMA: Data Resources</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71525" y="1237433"/>
            <a:ext cx="10494168" cy="4191981"/>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LIMA prioritizes the quality of instruction data through a multi-staged refinement process. Initially, the selection of reputable data sources establishes a baseline for quality. Subsequently, specific heuristic rules are applied to further enhance the dataset</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b="1" dirty="0">
                <a:solidFill>
                  <a:prstClr val="black"/>
                </a:solidFill>
                <a:latin typeface="Times New Roman" panose="02020603050405020304" charset="0"/>
                <a:ea typeface="Times New Roman" panose="02020603050405020304" charset="0"/>
                <a:cs typeface="Times New Roman" panose="02020603050405020304" charset="0"/>
              </a:rPr>
              <a:t>Community Data Filtering</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Selecting only top-ranked responses from community platforms.</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b="1" dirty="0">
                <a:solidFill>
                  <a:prstClr val="black"/>
                </a:solidFill>
                <a:latin typeface="Times New Roman" panose="02020603050405020304" charset="0"/>
                <a:ea typeface="Times New Roman" panose="02020603050405020304" charset="0"/>
                <a:cs typeface="Times New Roman" panose="02020603050405020304" charset="0"/>
              </a:rPr>
              <a:t>Style Alignment</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Standardizing all responses to reflect a consistent AI assistant persona.</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b="1" dirty="0">
                <a:solidFill>
                  <a:prstClr val="black"/>
                </a:solidFill>
                <a:latin typeface="Times New Roman" panose="02020603050405020304" charset="0"/>
                <a:ea typeface="Times New Roman" panose="02020603050405020304" charset="0"/>
                <a:cs typeface="Times New Roman" panose="02020603050405020304" charset="0"/>
              </a:rPr>
              <a:t>Structural Pruning</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Removing entries that are excessively long, excessively short, or contain external links.</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b="1" dirty="0">
                <a:solidFill>
                  <a:prstClr val="black"/>
                </a:solidFill>
                <a:latin typeface="Times New Roman" panose="02020603050405020304" charset="0"/>
                <a:ea typeface="Times New Roman" panose="02020603050405020304" charset="0"/>
                <a:cs typeface="Times New Roman" panose="02020603050405020304" charset="0"/>
              </a:rPr>
              <a:t>Narrative Control</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Eliminating responses written in the first person.</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b="1" dirty="0">
                <a:solidFill>
                  <a:prstClr val="black"/>
                </a:solidFill>
                <a:latin typeface="Times New Roman" panose="02020603050405020304" charset="0"/>
                <a:ea typeface="Times New Roman" panose="02020603050405020304" charset="0"/>
                <a:cs typeface="Times New Roman" panose="02020603050405020304" charset="0"/>
              </a:rPr>
              <a:t>Manual Refinement</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Utilizing expert annotators to craft high-quality, manual responses</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cxnSp>
        <p:nvCxnSpPr>
          <p:cNvPr id="20" name="直接连接符 2"/>
          <p:cNvCxnSpPr/>
          <p:nvPr/>
        </p:nvCxnSpPr>
        <p:spPr>
          <a:xfrm>
            <a:off x="771526" y="1030876"/>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375047" y="5639235"/>
            <a:ext cx="11265693" cy="1169551"/>
          </a:xfrm>
          <a:prstGeom prst="rect">
            <a:avLst/>
          </a:prstGeom>
          <a:noFill/>
        </p:spPr>
        <p:txBody>
          <a:bodyPr wrap="square" rtlCol="0">
            <a:spAutoFit/>
          </a:bodyPr>
          <a:lstStyle/>
          <a:p>
            <a:pPr marL="0" lvl="1">
              <a:defRPr/>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By </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utilizing only 1,000 high-quality samples, LIMA achieves performance comparable to, or exceeding, models of similar scale trained on datasets </a:t>
            </a:r>
            <a:r>
              <a:rPr lang="en-US" altLang="zh-CN" sz="2000" b="1" dirty="0">
                <a:solidFill>
                  <a:srgbClr val="FF0000"/>
                </a:solidFill>
                <a:latin typeface="Times New Roman" panose="02020603050405020304" charset="0"/>
                <a:ea typeface="Times New Roman" panose="02020603050405020304" charset="0"/>
                <a:cs typeface="Times New Roman" panose="02020603050405020304" charset="0"/>
              </a:rPr>
              <a:t>several orders of magnitude </a:t>
            </a:r>
            <a:r>
              <a:rPr lang="en-US" altLang="zh-CN" sz="2000" b="1" dirty="0" smtClean="0">
                <a:solidFill>
                  <a:srgbClr val="FF0000"/>
                </a:solidFill>
                <a:latin typeface="Times New Roman" panose="02020603050405020304" charset="0"/>
                <a:ea typeface="Times New Roman" panose="02020603050405020304" charset="0"/>
                <a:cs typeface="Times New Roman" panose="02020603050405020304" charset="0"/>
              </a:rPr>
              <a:t>larger (</a:t>
            </a:r>
            <a:r>
              <a:rPr lang="zh-CN" altLang="en-US" sz="2000" b="1" dirty="0" smtClean="0">
                <a:solidFill>
                  <a:srgbClr val="FF0000"/>
                </a:solidFill>
                <a:latin typeface="Times New Roman" panose="02020603050405020304" charset="0"/>
                <a:ea typeface="Times New Roman" panose="02020603050405020304" charset="0"/>
                <a:cs typeface="Times New Roman" panose="02020603050405020304" charset="0"/>
              </a:rPr>
              <a:t>几十倍大</a:t>
            </a:r>
            <a:r>
              <a:rPr lang="en-US" altLang="zh-CN" sz="2000" b="1" dirty="0" smtClean="0">
                <a:solidFill>
                  <a:srgbClr val="FF0000"/>
                </a:solidFill>
                <a:latin typeface="Times New Roman" panose="02020603050405020304" charset="0"/>
                <a:ea typeface="Times New Roman" panose="02020603050405020304" charset="0"/>
                <a:cs typeface="Times New Roman" panose="02020603050405020304" charset="0"/>
              </a:rPr>
              <a:t>).</a:t>
            </a:r>
            <a:endParaRPr lang="en-US" altLang="zh-CN" sz="2000" b="1" dirty="0">
              <a:solidFill>
                <a:srgbClr val="FF0000"/>
              </a:solidFill>
              <a:latin typeface="Times New Roman" panose="02020603050405020304" charset="0"/>
              <a:ea typeface="Times New Roman" panose="02020603050405020304" charset="0"/>
              <a:cs typeface="Times New Roman" panose="02020603050405020304" charset="0"/>
            </a:endParaRPr>
          </a:p>
          <a:p>
            <a:endParaRPr lang="en-US" sz="1200" dirty="0"/>
          </a:p>
          <a:p>
            <a:endParaRPr lang="en-GB"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a:t>
            </a:r>
            <a:r>
              <a:rPr lang="en-US" altLang="zh-CN" sz="2400" b="1" dirty="0" smtClean="0">
                <a:solidFill>
                  <a:srgbClr val="2F57D9"/>
                </a:solidFill>
                <a:latin typeface="Calibri" panose="020F0502020204030204" pitchFamily="34" charset="0"/>
                <a:cs typeface="Calibri" panose="020F0502020204030204" pitchFamily="34" charset="0"/>
              </a:rPr>
              <a:t>Add Capabilities of LLMs</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71526" y="1019719"/>
            <a:ext cx="8902826" cy="3785652"/>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Capabilities to add:</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Solving fundamental NLP tasks (e.g., information extraction)</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Instruction following and chat</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Long contexts</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 </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(e.g.,  4096-&gt;100,000)</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Infilling</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Domain-specific capabilities (e.g., coding, math, etc.)</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Safety (e.g., refusal)</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Reasoning (e.g., chain of thought, arising from </a:t>
            </a:r>
            <a:r>
              <a:rPr lang="en-US" altLang="zh-CN" sz="2000" dirty="0" err="1" smtClean="0">
                <a:solidFill>
                  <a:prstClr val="black"/>
                </a:solidFill>
                <a:latin typeface="Times New Roman" panose="02020603050405020304" charset="0"/>
                <a:ea typeface="Times New Roman" panose="02020603050405020304" charset="0"/>
                <a:cs typeface="Times New Roman" panose="02020603050405020304" charset="0"/>
              </a:rPr>
              <a:t>ChatGPT</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 o1)</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p:txBody>
      </p:sp>
      <p:cxnSp>
        <p:nvCxnSpPr>
          <p:cNvPr id="20" name="直接连接符 2"/>
          <p:cNvCxnSpPr/>
          <p:nvPr/>
        </p:nvCxnSpPr>
        <p:spPr>
          <a:xfrm>
            <a:off x="771526" y="1030876"/>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a:t>
            </a:r>
            <a:r>
              <a:rPr lang="en-US" altLang="zh-CN" sz="2400" b="1" dirty="0" smtClean="0">
                <a:solidFill>
                  <a:srgbClr val="2F57D9"/>
                </a:solidFill>
                <a:latin typeface="Calibri" panose="020F0502020204030204" pitchFamily="34" charset="0"/>
                <a:cs typeface="Calibri" panose="020F0502020204030204" pitchFamily="34" charset="0"/>
              </a:rPr>
              <a:t>Where to get the available dataset?</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71526" y="1019719"/>
            <a:ext cx="8902826" cy="1883657"/>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Who writes the content?</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Anyone on the Internet can edit and write the data</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Wikipedia</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The specific-interest group</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p:txBody>
      </p:sp>
      <p:cxnSp>
        <p:nvCxnSpPr>
          <p:cNvPr id="20" name="直接连接符 2"/>
          <p:cNvCxnSpPr/>
          <p:nvPr/>
        </p:nvCxnSpPr>
        <p:spPr>
          <a:xfrm>
            <a:off x="771526" y="1030876"/>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700088" y="2986721"/>
            <a:ext cx="8902826" cy="2862322"/>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Common Crawl is a non-profit </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organization.</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How to crawl the data? </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Every ~month, run a web crawl</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So far, there have been ~100 crawls from 2008-2025</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In 2016, crawl takes 10-12 days on 100 machines</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Crawls have some overlap but try to diversify</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p:txBody>
      </p:sp>
      <p:pic>
        <p:nvPicPr>
          <p:cNvPr id="2" name="Picture 1"/>
          <p:cNvPicPr>
            <a:picLocks noChangeAspect="1"/>
          </p:cNvPicPr>
          <p:nvPr/>
        </p:nvPicPr>
        <p:blipFill>
          <a:blip r:embed="rId2"/>
          <a:stretch>
            <a:fillRect/>
          </a:stretch>
        </p:blipFill>
        <p:spPr>
          <a:xfrm>
            <a:off x="7408067" y="1381435"/>
            <a:ext cx="4607721" cy="3985056"/>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a:t>
            </a:r>
            <a:r>
              <a:rPr lang="en-US" altLang="zh-CN" sz="2400" b="1" dirty="0" smtClean="0">
                <a:solidFill>
                  <a:srgbClr val="2F57D9"/>
                </a:solidFill>
                <a:latin typeface="Calibri" panose="020F0502020204030204" pitchFamily="34" charset="0"/>
                <a:cs typeface="Calibri" panose="020F0502020204030204" pitchFamily="34" charset="0"/>
              </a:rPr>
              <a:t>Policies</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71526" y="1019719"/>
            <a:ext cx="8902826" cy="2400657"/>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Crawling Policies:</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Selection policy: which pages to download?</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Politeness policy: respect </a:t>
            </a:r>
            <a:r>
              <a:rPr lang="en-US" altLang="zh-CN" sz="2000" dirty="0" err="1" smtClean="0">
                <a:solidFill>
                  <a:prstClr val="black"/>
                </a:solidFill>
                <a:latin typeface="Times New Roman" panose="02020603050405020304" charset="0"/>
                <a:ea typeface="Times New Roman" panose="02020603050405020304" charset="0"/>
                <a:cs typeface="Times New Roman" panose="02020603050405020304" charset="0"/>
              </a:rPr>
              <a:t>robots.txt</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 don’t overload server</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Re-visit policy: how often to check if pages change</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Challenge: URLs are dynamic, many URLs lead to basically same content</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p:txBody>
      </p:sp>
      <p:cxnSp>
        <p:nvCxnSpPr>
          <p:cNvPr id="20" name="直接连接符 2"/>
          <p:cNvCxnSpPr/>
          <p:nvPr/>
        </p:nvCxnSpPr>
        <p:spPr>
          <a:xfrm>
            <a:off x="771526" y="1030876"/>
            <a:ext cx="3306988"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700088" y="3230104"/>
            <a:ext cx="8902826" cy="2862322"/>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Two formats</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WARC: raw HTTP response (e.g., HTML)</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WET: converted to text (</a:t>
            </a:r>
            <a:r>
              <a:rPr lang="en-US" altLang="zh-CN" sz="2000" dirty="0" err="1" smtClean="0">
                <a:solidFill>
                  <a:prstClr val="black"/>
                </a:solidFill>
                <a:latin typeface="Times New Roman" panose="02020603050405020304" charset="0"/>
                <a:ea typeface="Times New Roman" panose="02020603050405020304" charset="0"/>
                <a:cs typeface="Times New Roman" panose="02020603050405020304" charset="0"/>
              </a:rPr>
              <a:t>lossy</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 process)</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HTML to text</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Tools to convert HTML to text</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DCLM paper shows that the conversion matters for </a:t>
            </a:r>
            <a:r>
              <a:rPr lang="en-US" altLang="zh-CN" sz="2000" dirty="0" err="1" smtClean="0">
                <a:solidFill>
                  <a:prstClr val="black"/>
                </a:solidFill>
                <a:latin typeface="Times New Roman" panose="02020603050405020304" charset="0"/>
                <a:ea typeface="Times New Roman" panose="02020603050405020304" charset="0"/>
                <a:cs typeface="Times New Roman" panose="02020603050405020304" charset="0"/>
              </a:rPr>
              <a:t>downstram</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 task accuracy</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p:txBody>
      </p:sp>
      <p:pic>
        <p:nvPicPr>
          <p:cNvPr id="4" name="Picture 3"/>
          <p:cNvPicPr>
            <a:picLocks noChangeAspect="1"/>
          </p:cNvPicPr>
          <p:nvPr/>
        </p:nvPicPr>
        <p:blipFill>
          <a:blip r:embed="rId2"/>
          <a:stretch>
            <a:fillRect/>
          </a:stretch>
        </p:blipFill>
        <p:spPr>
          <a:xfrm>
            <a:off x="6604793" y="4079722"/>
            <a:ext cx="4660900" cy="154940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8" y="499858"/>
            <a:ext cx="8553640" cy="461665"/>
          </a:xfrm>
          <a:prstGeom prst="rect">
            <a:avLst/>
          </a:prstGeom>
          <a:noFill/>
        </p:spPr>
        <p:txBody>
          <a:bodyPr wrap="square" rtlCol="0">
            <a:spAutoFit/>
          </a:bodyPr>
          <a:lstStyle/>
          <a:p>
            <a:pPr marL="0" lvl="1"/>
            <a:r>
              <a:rPr lang="en-US" altLang="zh-CN" sz="2400" b="1" dirty="0" smtClean="0">
                <a:solidFill>
                  <a:srgbClr val="2F57D9"/>
                </a:solidFill>
                <a:latin typeface="Calibri" panose="020F0502020204030204" pitchFamily="34" charset="0"/>
                <a:cs typeface="Calibri" panose="020F0502020204030204" pitchFamily="34" charset="0"/>
              </a:rPr>
              <a:t>5.4 </a:t>
            </a:r>
            <a:r>
              <a:rPr lang="en-US" altLang="zh-CN" sz="2400" b="1" dirty="0" smtClean="0">
                <a:solidFill>
                  <a:srgbClr val="2F57D9"/>
                </a:solidFill>
                <a:latin typeface="Calibri" panose="020F0502020204030204" pitchFamily="34" charset="0"/>
                <a:cs typeface="Calibri" panose="020F0502020204030204" pitchFamily="34" charset="0"/>
              </a:rPr>
              <a:t>Open-source Instruction Datasets</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   </a:t>
            </a:r>
            <a:r>
              <a:rPr lang="en-US" altLang="zh-CN" sz="1500" dirty="0"/>
              <a:t>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771526" y="1019719"/>
            <a:ext cx="8902826" cy="1477328"/>
          </a:xfrm>
          <a:prstGeom prst="rect">
            <a:avLst/>
          </a:prstGeom>
        </p:spPr>
        <p:txBody>
          <a:bodyPr wrap="square">
            <a:spAutoFit/>
          </a:bodyPr>
          <a:lstStyle/>
          <a:p>
            <a:pPr marL="285750" lvl="1" indent="-285750" algn="just">
              <a:lnSpc>
                <a:spcPct val="150000"/>
              </a:lnSpc>
              <a:buClr>
                <a:srgbClr val="2F57D9"/>
              </a:buClr>
              <a:buSzPct val="70000"/>
              <a:buFont typeface="Wingdings" panose="05000000000000000000" pitchFamily="2" charset="2"/>
              <a:buChar char="n"/>
            </a:pP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Instruction datasets are of great significance for supervised </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fine-tuning.</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Can be classified as manual </a:t>
            </a: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and </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automatic constructions.</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Can be categorized as NLP-based instructions and Chat-based instructions.</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cxnSp>
        <p:nvCxnSpPr>
          <p:cNvPr id="20" name="直接连接符 2"/>
          <p:cNvCxnSpPr/>
          <p:nvPr/>
        </p:nvCxnSpPr>
        <p:spPr>
          <a:xfrm>
            <a:off x="771526" y="1030876"/>
            <a:ext cx="8043290"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2"/>
          <a:stretch>
            <a:fillRect/>
          </a:stretch>
        </p:blipFill>
        <p:spPr>
          <a:xfrm>
            <a:off x="1955800" y="2497047"/>
            <a:ext cx="8280400" cy="3679279"/>
          </a:xfrm>
          <a:prstGeom prst="rect">
            <a:avLst/>
          </a:prstGeom>
        </p:spPr>
      </p:pic>
      <p:sp>
        <p:nvSpPr>
          <p:cNvPr id="1025" name="矩形 1024"/>
          <p:cNvSpPr>
            <a:spLocks noChangeAspect="1"/>
          </p:cNvSpPr>
          <p:nvPr/>
        </p:nvSpPr>
        <p:spPr>
          <a:xfrm>
            <a:off x="0" y="0"/>
            <a:ext cx="304800" cy="304800"/>
          </a:xfrm>
          <a:prstGeom prst="rect">
            <a:avLst/>
          </a:prstGeom>
          <a:noFill/>
          <a:ln w="9525">
            <a:noFill/>
          </a:ln>
        </p:spPr>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a:t>Lecture </a:t>
            </a:r>
            <a:r>
              <a:rPr lang="en-US" altLang="zh-CN" sz="1500" smtClean="0"/>
              <a:t>1   </a:t>
            </a:r>
            <a:r>
              <a:rPr lang="en-US" altLang="zh-CN" sz="1500" dirty="0"/>
              <a:t>						  				            		</a:t>
            </a:r>
            <a:endParaRPr lang="zh-CN" altLang="en-US" sz="1500" dirty="0"/>
          </a:p>
        </p:txBody>
      </p:sp>
      <p:sp>
        <p:nvSpPr>
          <p:cNvPr id="8" name="文本框 4"/>
          <p:cNvSpPr txBox="1"/>
          <p:nvPr/>
        </p:nvSpPr>
        <p:spPr>
          <a:xfrm>
            <a:off x="2872091" y="1673270"/>
            <a:ext cx="4793456" cy="523220"/>
          </a:xfrm>
          <a:prstGeom prst="rect">
            <a:avLst/>
          </a:prstGeom>
          <a:noFill/>
        </p:spPr>
        <p:txBody>
          <a:bodyPr wrap="square" rtlCol="0">
            <a:spAutoFit/>
          </a:bodyPr>
          <a:lstStyle/>
          <a:p>
            <a:r>
              <a:rPr lang="en-US" altLang="zh-CN" sz="2800" b="1" dirty="0">
                <a:solidFill>
                  <a:srgbClr val="2F57D9"/>
                </a:solidFill>
                <a:latin typeface="Calibri" panose="020F0502020204030204" pitchFamily="34" charset="0"/>
                <a:cs typeface="Calibri" panose="020F0502020204030204" pitchFamily="34" charset="0"/>
              </a:rPr>
              <a:t>Outline</a:t>
            </a:r>
            <a:endParaRPr lang="zh-CN" altLang="en-US" sz="2800" b="1" dirty="0">
              <a:solidFill>
                <a:srgbClr val="2F57D9"/>
              </a:solidFill>
              <a:latin typeface="Calibri" panose="020F0502020204030204" pitchFamily="34" charset="0"/>
              <a:cs typeface="Calibri" panose="020F0502020204030204" pitchFamily="34" charset="0"/>
            </a:endParaRPr>
          </a:p>
        </p:txBody>
      </p:sp>
      <p:sp>
        <p:nvSpPr>
          <p:cNvPr id="9" name="文本框 6"/>
          <p:cNvSpPr txBox="1"/>
          <p:nvPr/>
        </p:nvSpPr>
        <p:spPr>
          <a:xfrm>
            <a:off x="2943526" y="2184068"/>
            <a:ext cx="6524897" cy="1985159"/>
          </a:xfrm>
          <a:prstGeom prst="rect">
            <a:avLst/>
          </a:prstGeom>
          <a:noFill/>
        </p:spPr>
        <p:txBody>
          <a:bodyPr wrap="square" rtlCol="0">
            <a:spAutoFit/>
          </a:bodyPr>
          <a:lstStyle/>
          <a:p>
            <a:pPr marL="285750" indent="-285750">
              <a:lnSpc>
                <a:spcPct val="150000"/>
              </a:lnSpc>
              <a:buClr>
                <a:srgbClr val="2F57D9"/>
              </a:buClr>
              <a:buSzPct val="70000"/>
              <a:buFont typeface="Wingdings" panose="05000000000000000000" pitchFamily="2" charset="2"/>
              <a:buChar char="n"/>
            </a:pPr>
            <a:r>
              <a:rPr lang="en-US" altLang="zh-CN" sz="2200" dirty="0" smtClean="0">
                <a:latin typeface="Calibri" panose="020F0502020204030204" pitchFamily="34" charset="0"/>
                <a:cs typeface="Calibri" panose="020F0502020204030204" pitchFamily="34" charset="0"/>
              </a:rPr>
              <a:t>5 The Life Cycle of Large Language Models</a:t>
            </a:r>
            <a:endParaRPr lang="en-US" altLang="zh-CN" sz="2200" dirty="0">
              <a:latin typeface="Calibri" panose="020F0502020204030204" pitchFamily="34" charset="0"/>
              <a:cs typeface="Calibri" panose="020F0502020204030204" pitchFamily="34" charset="0"/>
            </a:endParaRPr>
          </a:p>
          <a:p>
            <a:pPr marL="742950" lvl="1" indent="-285750">
              <a:lnSpc>
                <a:spcPct val="150000"/>
              </a:lnSpc>
              <a:buClr>
                <a:srgbClr val="2F57D9"/>
              </a:buClr>
              <a:buSzPct val="70000"/>
              <a:buFont typeface="Wingdings" panose="05000000000000000000" pitchFamily="2" charset="2"/>
              <a:buChar char="n"/>
            </a:pPr>
            <a:r>
              <a:rPr lang="en-US" altLang="zh-CN" sz="2000" dirty="0">
                <a:solidFill>
                  <a:schemeClr val="bg1">
                    <a:lumMod val="65000"/>
                  </a:schemeClr>
                </a:solidFill>
                <a:latin typeface="Calibri" panose="020F0502020204030204" pitchFamily="34" charset="0"/>
                <a:cs typeface="Calibri" panose="020F0502020204030204" pitchFamily="34" charset="0"/>
              </a:rPr>
              <a:t>5.4 Data Construction</a:t>
            </a:r>
            <a:endParaRPr lang="en-US" altLang="zh-CN" sz="2000" dirty="0">
              <a:solidFill>
                <a:schemeClr val="bg1">
                  <a:lumMod val="65000"/>
                </a:schemeClr>
              </a:solidFill>
              <a:latin typeface="Calibri" panose="020F0502020204030204" pitchFamily="34" charset="0"/>
              <a:cs typeface="Calibri" panose="020F0502020204030204" pitchFamily="34" charset="0"/>
            </a:endParaRPr>
          </a:p>
          <a:p>
            <a:pPr marL="742950" lvl="1" indent="-285750">
              <a:lnSpc>
                <a:spcPct val="150000"/>
              </a:lnSpc>
              <a:buClr>
                <a:srgbClr val="2F57D9"/>
              </a:buClr>
              <a:buSzPct val="70000"/>
              <a:buFont typeface="Wingdings" panose="05000000000000000000" pitchFamily="2" charset="2"/>
              <a:buChar char="n"/>
            </a:pPr>
            <a:r>
              <a:rPr lang="en-US" altLang="zh-CN" sz="2000" dirty="0">
                <a:latin typeface="Calibri" panose="020F0502020204030204" pitchFamily="34" charset="0"/>
                <a:cs typeface="Calibri" panose="020F0502020204030204" pitchFamily="34" charset="0"/>
              </a:rPr>
              <a:t>5.5 </a:t>
            </a:r>
            <a:r>
              <a:rPr lang="en-US" altLang="zh-CN" sz="2000" dirty="0" err="1">
                <a:latin typeface="Calibri" panose="020F0502020204030204" pitchFamily="34" charset="0"/>
                <a:cs typeface="Calibri" panose="020F0502020204030204" pitchFamily="34" charset="0"/>
              </a:rPr>
              <a:t>DeepSpeed</a:t>
            </a:r>
            <a:r>
              <a:rPr lang="en-US" altLang="zh-CN" sz="2000" dirty="0">
                <a:latin typeface="Calibri" panose="020F0502020204030204" pitchFamily="34" charset="0"/>
                <a:cs typeface="Calibri" panose="020F0502020204030204" pitchFamily="34" charset="0"/>
              </a:rPr>
              <a:t>-Chat SFT </a:t>
            </a:r>
            <a:endParaRPr lang="en-US" altLang="zh-CN" sz="2000" dirty="0">
              <a:latin typeface="Calibri" panose="020F0502020204030204" pitchFamily="34" charset="0"/>
              <a:cs typeface="Calibri" panose="020F0502020204030204" pitchFamily="34" charset="0"/>
            </a:endParaRPr>
          </a:p>
          <a:p>
            <a:pPr marL="742950" lvl="1" indent="-285750">
              <a:lnSpc>
                <a:spcPct val="150000"/>
              </a:lnSpc>
              <a:buClr>
                <a:srgbClr val="2F57D9"/>
              </a:buClr>
              <a:buSzPct val="70000"/>
              <a:buFont typeface="Wingdings" panose="05000000000000000000" pitchFamily="2" charset="2"/>
              <a:buChar char="n"/>
            </a:pPr>
            <a:r>
              <a:rPr lang="en-US" altLang="zh-CN" sz="2000" dirty="0" smtClean="0">
                <a:solidFill>
                  <a:schemeClr val="bg1">
                    <a:lumMod val="65000"/>
                  </a:schemeClr>
                </a:solidFill>
                <a:latin typeface="Calibri" panose="020F0502020204030204" pitchFamily="34" charset="0"/>
                <a:cs typeface="Calibri" panose="020F0502020204030204" pitchFamily="34" charset="0"/>
              </a:rPr>
              <a:t>5.6 Model Distillation</a:t>
            </a:r>
            <a:endParaRPr lang="en-US" altLang="zh-CN" sz="2000" dirty="0" smtClean="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7" y="499858"/>
            <a:ext cx="9300439" cy="461665"/>
          </a:xfrm>
          <a:prstGeom prst="rect">
            <a:avLst/>
          </a:prstGeom>
          <a:noFill/>
        </p:spPr>
        <p:txBody>
          <a:bodyPr wrap="square" rtlCol="0">
            <a:spAutoFit/>
          </a:bodyPr>
          <a:lstStyle/>
          <a:p>
            <a:r>
              <a:rPr lang="en-US" altLang="zh-CN" sz="2400" b="1" dirty="0" smtClean="0">
                <a:solidFill>
                  <a:srgbClr val="2F57D9"/>
                </a:solidFill>
                <a:latin typeface="Calibri" panose="020F0502020204030204" pitchFamily="34" charset="0"/>
                <a:cs typeface="Calibri" panose="020F0502020204030204" pitchFamily="34" charset="0"/>
              </a:rPr>
              <a:t>5.5</a:t>
            </a:r>
            <a:r>
              <a:rPr lang="en-US" altLang="zh-CN" sz="2400" b="1" dirty="0" smtClean="0">
                <a:solidFill>
                  <a:srgbClr val="2F57D9"/>
                </a:solidFill>
                <a:latin typeface="Calibri" panose="020F0502020204030204" pitchFamily="34" charset="0"/>
                <a:cs typeface="Calibri" panose="020F0502020204030204" pitchFamily="34" charset="0"/>
              </a:rPr>
              <a:t> </a:t>
            </a:r>
            <a:r>
              <a:rPr lang="en-US" altLang="zh-CN" sz="2400" b="1" dirty="0" err="1">
                <a:solidFill>
                  <a:srgbClr val="2F57D9"/>
                </a:solidFill>
                <a:latin typeface="Calibri" panose="020F0502020204030204" pitchFamily="34" charset="0"/>
                <a:cs typeface="Calibri" panose="020F0502020204030204" pitchFamily="34" charset="0"/>
              </a:rPr>
              <a:t>DeepSpeed</a:t>
            </a:r>
            <a:r>
              <a:rPr lang="en-US" altLang="zh-CN" sz="2400" b="1" dirty="0">
                <a:solidFill>
                  <a:srgbClr val="2F57D9"/>
                </a:solidFill>
                <a:latin typeface="Calibri" panose="020F0502020204030204" pitchFamily="34" charset="0"/>
                <a:cs typeface="Calibri" panose="020F0502020204030204" pitchFamily="34" charset="0"/>
              </a:rPr>
              <a:t>-Chat: Standard Post-Training </a:t>
            </a:r>
            <a:r>
              <a:rPr lang="en-US" altLang="zh-CN" sz="2400" b="1" dirty="0" smtClean="0">
                <a:solidFill>
                  <a:srgbClr val="2F57D9"/>
                </a:solidFill>
                <a:latin typeface="Calibri" panose="020F0502020204030204" pitchFamily="34" charset="0"/>
                <a:cs typeface="Calibri" panose="020F0502020204030204" pitchFamily="34" charset="0"/>
              </a:rPr>
              <a:t>Framework</a:t>
            </a:r>
            <a:endParaRPr lang="zh-CN" altLang="en-US"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769514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783457" y="1465684"/>
            <a:ext cx="6509357" cy="2800767"/>
          </a:xfrm>
          <a:prstGeom prst="rect">
            <a:avLst/>
          </a:prstGeom>
          <a:noFill/>
        </p:spPr>
        <p:txBody>
          <a:bodyPr wrap="square" rtlCol="0">
            <a:spAutoFit/>
          </a:bodyPr>
          <a:lstStyle/>
          <a:p>
            <a:r>
              <a:rPr lang="en-US" b="1" dirty="0">
                <a:latin typeface="Arial Unicode MS" charset="0"/>
                <a:ea typeface="Arial Unicode MS" charset="0"/>
                <a:cs typeface="Arial Unicode MS" charset="0"/>
              </a:rPr>
              <a:t>ChatGPT-like models: </a:t>
            </a:r>
            <a:endParaRPr lang="en-US" b="1" dirty="0">
              <a:latin typeface="Arial Unicode MS" charset="0"/>
              <a:ea typeface="Arial Unicode MS" charset="0"/>
              <a:cs typeface="Arial Unicode MS" charset="0"/>
            </a:endParaRPr>
          </a:p>
          <a:p>
            <a:pPr marL="285750" indent="-285750">
              <a:spcBef>
                <a:spcPts val="600"/>
              </a:spcBef>
              <a:spcAft>
                <a:spcPts val="600"/>
              </a:spcAft>
              <a:buFont typeface="Arial" panose="020B0604020202020204" pitchFamily="34" charset="0"/>
              <a:buChar char="•"/>
            </a:pPr>
            <a:r>
              <a:rPr lang="en-GB" altLang="zh-CN" dirty="0"/>
              <a:t>Step 0</a:t>
            </a:r>
            <a:r>
              <a:rPr lang="en-US" altLang="zh-CN" dirty="0"/>
              <a:t>: </a:t>
            </a:r>
            <a:r>
              <a:rPr lang="en-GB" altLang="zh-CN" dirty="0"/>
              <a:t>Pretrained model</a:t>
            </a:r>
            <a:endParaRPr lang="en-GB" altLang="zh-CN" dirty="0"/>
          </a:p>
          <a:p>
            <a:pPr marL="285750" indent="-285750">
              <a:spcBef>
                <a:spcPts val="600"/>
              </a:spcBef>
              <a:spcAft>
                <a:spcPts val="600"/>
              </a:spcAft>
              <a:buFont typeface="Arial" panose="020B0604020202020204" pitchFamily="34" charset="0"/>
              <a:buChar char="•"/>
            </a:pPr>
            <a:r>
              <a:rPr lang="en-GB" altLang="zh-CN" b="1" dirty="0"/>
              <a:t>Step 1</a:t>
            </a:r>
            <a:r>
              <a:rPr lang="en-GB" altLang="zh-CN" dirty="0"/>
              <a:t>: Supervised Fine-Tuning (SFT)</a:t>
            </a:r>
            <a:endParaRPr lang="en-GB" altLang="zh-CN" dirty="0"/>
          </a:p>
          <a:p>
            <a:pPr marL="285750" indent="-285750">
              <a:spcBef>
                <a:spcPts val="600"/>
              </a:spcBef>
              <a:spcAft>
                <a:spcPts val="600"/>
              </a:spcAft>
              <a:buFont typeface="Arial" panose="020B0604020202020204" pitchFamily="34" charset="0"/>
              <a:buChar char="•"/>
            </a:pPr>
            <a:r>
              <a:rPr lang="en-GB" altLang="zh-CN" dirty="0"/>
              <a:t>RLHF:</a:t>
            </a:r>
            <a:endParaRPr lang="en-GB" altLang="zh-CN" dirty="0"/>
          </a:p>
          <a:p>
            <a:pPr marL="742950" lvl="1" indent="-285750">
              <a:spcBef>
                <a:spcPts val="600"/>
              </a:spcBef>
              <a:spcAft>
                <a:spcPts val="600"/>
              </a:spcAft>
              <a:buFont typeface="Arial" panose="020B0604020202020204" pitchFamily="34" charset="0"/>
              <a:buChar char="•"/>
            </a:pPr>
            <a:r>
              <a:rPr lang="en-GB" altLang="zh-CN" dirty="0"/>
              <a:t>Step 2: Reward Model (RM) Training</a:t>
            </a:r>
            <a:endParaRPr lang="en-GB" altLang="zh-CN" dirty="0"/>
          </a:p>
          <a:p>
            <a:pPr marL="742950" lvl="1" indent="-285750">
              <a:spcBef>
                <a:spcPts val="600"/>
              </a:spcBef>
              <a:spcAft>
                <a:spcPts val="600"/>
              </a:spcAft>
              <a:buFont typeface="Arial" panose="020B0604020202020204" pitchFamily="34" charset="0"/>
              <a:buChar char="•"/>
            </a:pPr>
            <a:r>
              <a:rPr lang="en-US" altLang="zh-CN" dirty="0"/>
              <a:t>Step 3: Reinforcement </a:t>
            </a:r>
            <a:r>
              <a:rPr lang="en-US" altLang="zh-CN" dirty="0"/>
              <a:t>Learning</a:t>
            </a:r>
            <a:endParaRPr lang="en-GB" altLang="zh-CN" dirty="0"/>
          </a:p>
          <a:p>
            <a:endParaRPr lang="en-GB" altLang="zh-CN" dirty="0"/>
          </a:p>
        </p:txBody>
      </p:sp>
      <p:sp>
        <p:nvSpPr>
          <p:cNvPr id="4" name="TextBox 3"/>
          <p:cNvSpPr txBox="1"/>
          <p:nvPr/>
        </p:nvSpPr>
        <p:spPr>
          <a:xfrm>
            <a:off x="666127" y="4349796"/>
            <a:ext cx="11244262" cy="1477328"/>
          </a:xfrm>
          <a:prstGeom prst="rect">
            <a:avLst/>
          </a:prstGeom>
          <a:noFill/>
        </p:spPr>
        <p:txBody>
          <a:bodyPr wrap="square" rtlCol="0">
            <a:spAutoFit/>
          </a:bodyPr>
          <a:lstStyle/>
          <a:p>
            <a:r>
              <a:rPr lang="en-GB" dirty="0"/>
              <a:t>Although we have learned the </a:t>
            </a:r>
            <a:r>
              <a:rPr lang="en-GB" altLang="zh-CN" dirty="0"/>
              <a:t>distributed training framework like Flash-attention / </a:t>
            </a:r>
            <a:r>
              <a:rPr lang="en-GB" altLang="zh-CN" dirty="0" err="1"/>
              <a:t>deepspeed</a:t>
            </a:r>
            <a:r>
              <a:rPr lang="en-GB" altLang="zh-CN" dirty="0"/>
              <a:t>, it is hard to combine them together.</a:t>
            </a:r>
            <a:endParaRPr lang="en-GB" altLang="zh-CN" dirty="0"/>
          </a:p>
          <a:p>
            <a:endParaRPr lang="en-GB" altLang="zh-CN" dirty="0"/>
          </a:p>
          <a:p>
            <a:r>
              <a:rPr lang="en-GB" altLang="zh-CN" b="1" dirty="0" err="1"/>
              <a:t>DeepSpeed</a:t>
            </a:r>
            <a:r>
              <a:rPr lang="en-GB" altLang="zh-CN" b="1" dirty="0"/>
              <a:t>-Chat</a:t>
            </a:r>
            <a:r>
              <a:rPr lang="en-GB" altLang="zh-CN" dirty="0"/>
              <a:t>:  An end-to-end system </a:t>
            </a:r>
            <a:r>
              <a:rPr lang="en-US" altLang="zh-CN" dirty="0"/>
              <a:t>built on the </a:t>
            </a:r>
            <a:r>
              <a:rPr lang="en-US" altLang="zh-CN" dirty="0" err="1"/>
              <a:t>DeepSpeed</a:t>
            </a:r>
            <a:r>
              <a:rPr lang="en-US" altLang="zh-CN" dirty="0"/>
              <a:t> framework,</a:t>
            </a:r>
            <a:r>
              <a:rPr lang="en-GB" altLang="zh-CN" dirty="0"/>
              <a:t> </a:t>
            </a:r>
            <a:r>
              <a:rPr lang="en-US" altLang="zh-CN" dirty="0"/>
              <a:t>provides a streamlined workflow for </a:t>
            </a:r>
            <a:r>
              <a:rPr lang="en-US" altLang="zh-CN" dirty="0" smtClean="0"/>
              <a:t>Step </a:t>
            </a:r>
            <a:r>
              <a:rPr lang="en-US" altLang="zh-CN" dirty="0"/>
              <a:t>1 -- Step2 -- Step3 .</a:t>
            </a:r>
            <a:endParaRPr lang="en-GB"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66127" y="4888826"/>
            <a:ext cx="11244262" cy="1661993"/>
          </a:xfrm>
          <a:prstGeom prst="rect">
            <a:avLst/>
          </a:prstGeom>
          <a:noFill/>
        </p:spPr>
        <p:txBody>
          <a:bodyPr wrap="square" rtlCol="0">
            <a:spAutoFit/>
          </a:bodyPr>
          <a:lstStyle/>
          <a:p>
            <a:pPr>
              <a:spcBef>
                <a:spcPts val="600"/>
              </a:spcBef>
              <a:spcAft>
                <a:spcPts val="600"/>
              </a:spcAft>
            </a:pPr>
            <a:r>
              <a:rPr lang="en-US" altLang="zh-CN" dirty="0"/>
              <a:t>Core Capabilities of </a:t>
            </a:r>
            <a:r>
              <a:rPr lang="en-US" altLang="zh-CN" dirty="0" err="1"/>
              <a:t>DeepSpeed</a:t>
            </a:r>
            <a:r>
              <a:rPr lang="en-US" altLang="zh-CN" dirty="0"/>
              <a:t>-Chat</a:t>
            </a:r>
            <a:endParaRPr lang="en-US" altLang="zh-CN" dirty="0"/>
          </a:p>
          <a:p>
            <a:pPr marL="285750" indent="-285750">
              <a:spcBef>
                <a:spcPts val="600"/>
              </a:spcBef>
              <a:spcAft>
                <a:spcPts val="600"/>
              </a:spcAft>
              <a:buFont typeface="Arial" panose="020B0604020202020204" pitchFamily="34" charset="0"/>
              <a:buChar char="•"/>
            </a:pPr>
            <a:r>
              <a:rPr lang="en-US" altLang="zh-CN" dirty="0"/>
              <a:t>Easy-to-Use: Enables multi-step ChatGPT-style training and enhanced inference using </a:t>
            </a:r>
            <a:r>
              <a:rPr lang="en-US" altLang="zh-CN" b="1" i="1" dirty="0"/>
              <a:t>a single script</a:t>
            </a:r>
            <a:r>
              <a:rPr lang="en-US" altLang="zh-CN" dirty="0"/>
              <a:t>.</a:t>
            </a:r>
            <a:endParaRPr lang="en-US" altLang="zh-CN" dirty="0"/>
          </a:p>
          <a:p>
            <a:pPr marL="285750" indent="-285750">
              <a:spcBef>
                <a:spcPts val="600"/>
              </a:spcBef>
              <a:spcAft>
                <a:spcPts val="600"/>
              </a:spcAft>
              <a:buFont typeface="Arial" panose="020B0604020202020204" pitchFamily="34" charset="0"/>
              <a:buChar char="•"/>
            </a:pPr>
            <a:r>
              <a:rPr lang="en-US" altLang="zh-CN" dirty="0"/>
              <a:t>Pipeline: Reproduces the </a:t>
            </a:r>
            <a:r>
              <a:rPr lang="en-US" altLang="zh-CN" b="1" i="1" dirty="0"/>
              <a:t>full training workflow </a:t>
            </a:r>
            <a:r>
              <a:rPr lang="en-US" altLang="zh-CN" dirty="0"/>
              <a:t>and methodology established in the </a:t>
            </a:r>
            <a:r>
              <a:rPr lang="en-US" altLang="zh-CN" dirty="0" err="1"/>
              <a:t>InstructGPT</a:t>
            </a:r>
            <a:r>
              <a:rPr lang="en-US" altLang="zh-CN" dirty="0"/>
              <a:t> paper.</a:t>
            </a:r>
            <a:endParaRPr lang="en-US" altLang="zh-CN" dirty="0"/>
          </a:p>
          <a:p>
            <a:pPr marL="285750" indent="-285750">
              <a:spcBef>
                <a:spcPts val="600"/>
              </a:spcBef>
              <a:spcAft>
                <a:spcPts val="600"/>
              </a:spcAft>
              <a:buFont typeface="Arial" panose="020B0604020202020204" pitchFamily="34" charset="0"/>
              <a:buChar char="•"/>
            </a:pPr>
            <a:r>
              <a:rPr lang="en-US" altLang="zh-CN" dirty="0"/>
              <a:t>System: </a:t>
            </a:r>
            <a:r>
              <a:rPr lang="en-US" altLang="zh-CN" b="1" i="1" dirty="0"/>
              <a:t>Integrates</a:t>
            </a:r>
            <a:r>
              <a:rPr lang="en-US" altLang="zh-CN" dirty="0"/>
              <a:t> </a:t>
            </a:r>
            <a:r>
              <a:rPr lang="en-US" altLang="zh-CN" dirty="0" err="1"/>
              <a:t>DeepSpeed’s</a:t>
            </a:r>
            <a:r>
              <a:rPr lang="en-US" altLang="zh-CN" dirty="0"/>
              <a:t> high-performance Training Engine with its high-throughput Inference Engine.</a:t>
            </a:r>
            <a:endParaRPr lang="en-US" altLang="zh-CN" dirty="0"/>
          </a:p>
        </p:txBody>
      </p:sp>
      <p:pic>
        <p:nvPicPr>
          <p:cNvPr id="3"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1190" y="1262353"/>
            <a:ext cx="8389620" cy="3438489"/>
          </a:xfrm>
          <a:prstGeom prst="rect">
            <a:avLst/>
          </a:prstGeom>
        </p:spPr>
      </p:pic>
      <p:sp>
        <p:nvSpPr>
          <p:cNvPr id="12" name="文本框 4"/>
          <p:cNvSpPr txBox="1"/>
          <p:nvPr/>
        </p:nvSpPr>
        <p:spPr>
          <a:xfrm>
            <a:off x="700087" y="499858"/>
            <a:ext cx="9300439" cy="461665"/>
          </a:xfrm>
          <a:prstGeom prst="rect">
            <a:avLst/>
          </a:prstGeom>
          <a:noFill/>
        </p:spPr>
        <p:txBody>
          <a:bodyPr wrap="square" rtlCol="0">
            <a:spAutoFit/>
          </a:bodyPr>
          <a:lstStyle/>
          <a:p>
            <a:r>
              <a:rPr lang="en-US" altLang="zh-CN" sz="2400" b="1" dirty="0" smtClean="0">
                <a:solidFill>
                  <a:srgbClr val="2F57D9"/>
                </a:solidFill>
                <a:latin typeface="Calibri" panose="020F0502020204030204" pitchFamily="34" charset="0"/>
                <a:cs typeface="Calibri" panose="020F0502020204030204" pitchFamily="34" charset="0"/>
              </a:rPr>
              <a:t>5.5</a:t>
            </a:r>
            <a:r>
              <a:rPr lang="en-US" altLang="zh-CN" sz="2400" b="1" dirty="0" smtClean="0">
                <a:solidFill>
                  <a:srgbClr val="2F57D9"/>
                </a:solidFill>
                <a:latin typeface="Calibri" panose="020F0502020204030204" pitchFamily="34" charset="0"/>
                <a:cs typeface="Calibri" panose="020F0502020204030204" pitchFamily="34" charset="0"/>
              </a:rPr>
              <a:t> </a:t>
            </a:r>
            <a:r>
              <a:rPr lang="en-US" altLang="zh-CN" sz="2400" b="1" dirty="0" err="1">
                <a:solidFill>
                  <a:srgbClr val="2F57D9"/>
                </a:solidFill>
                <a:latin typeface="Calibri" panose="020F0502020204030204" pitchFamily="34" charset="0"/>
                <a:cs typeface="Calibri" panose="020F0502020204030204" pitchFamily="34" charset="0"/>
              </a:rPr>
              <a:t>DeepSpeed</a:t>
            </a:r>
            <a:r>
              <a:rPr lang="en-US" altLang="zh-CN" sz="2400" b="1" dirty="0">
                <a:solidFill>
                  <a:srgbClr val="2F57D9"/>
                </a:solidFill>
                <a:latin typeface="Calibri" panose="020F0502020204030204" pitchFamily="34" charset="0"/>
                <a:cs typeface="Calibri" panose="020F0502020204030204" pitchFamily="34" charset="0"/>
              </a:rPr>
              <a:t>-Chat: Standard Post-Training </a:t>
            </a:r>
            <a:r>
              <a:rPr lang="en-US" altLang="zh-CN" sz="2400" b="1" dirty="0" smtClean="0">
                <a:solidFill>
                  <a:srgbClr val="2F57D9"/>
                </a:solidFill>
                <a:latin typeface="Calibri" panose="020F0502020204030204" pitchFamily="34" charset="0"/>
                <a:cs typeface="Calibri" panose="020F0502020204030204" pitchFamily="34" charset="0"/>
              </a:rPr>
              <a:t>Framework</a:t>
            </a:r>
            <a:endParaRPr lang="zh-CN" altLang="en-US" sz="2400" b="1" dirty="0">
              <a:solidFill>
                <a:srgbClr val="2F57D9"/>
              </a:solidFill>
              <a:latin typeface="Calibri" panose="020F0502020204030204" pitchFamily="34" charset="0"/>
              <a:cs typeface="Calibri" panose="020F0502020204030204" pitchFamily="34" charset="0"/>
            </a:endParaRPr>
          </a:p>
        </p:txBody>
      </p:sp>
      <p:cxnSp>
        <p:nvCxnSpPr>
          <p:cNvPr id="13" name="直接连接符 2"/>
          <p:cNvCxnSpPr/>
          <p:nvPr/>
        </p:nvCxnSpPr>
        <p:spPr>
          <a:xfrm>
            <a:off x="771526" y="1030876"/>
            <a:ext cx="769514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66127" y="1187628"/>
            <a:ext cx="11244262" cy="369332"/>
          </a:xfrm>
          <a:prstGeom prst="rect">
            <a:avLst/>
          </a:prstGeom>
          <a:noFill/>
        </p:spPr>
        <p:txBody>
          <a:bodyPr wrap="square" rtlCol="0">
            <a:spAutoFit/>
          </a:bodyPr>
          <a:lstStyle/>
          <a:p>
            <a:pPr>
              <a:spcBef>
                <a:spcPts val="600"/>
              </a:spcBef>
              <a:spcAft>
                <a:spcPts val="600"/>
              </a:spcAft>
            </a:pPr>
            <a:r>
              <a:rPr lang="en-US" altLang="zh-CN" dirty="0"/>
              <a:t>https://</a:t>
            </a:r>
            <a:r>
              <a:rPr lang="en-US" altLang="zh-CN" dirty="0" err="1"/>
              <a:t>github.com</a:t>
            </a:r>
            <a:r>
              <a:rPr lang="en-US" altLang="zh-CN" dirty="0"/>
              <a:t>/</a:t>
            </a:r>
            <a:r>
              <a:rPr lang="en-US" altLang="zh-CN" dirty="0" err="1"/>
              <a:t>deepspeedai</a:t>
            </a:r>
            <a:r>
              <a:rPr lang="en-US" altLang="zh-CN" dirty="0"/>
              <a:t>/</a:t>
            </a:r>
            <a:r>
              <a:rPr lang="en-US" altLang="zh-CN" dirty="0" err="1"/>
              <a:t>DeepSpeedExamples</a:t>
            </a:r>
            <a:r>
              <a:rPr lang="en-US" altLang="zh-CN" dirty="0"/>
              <a:t>/tree/master/applications/</a:t>
            </a:r>
            <a:r>
              <a:rPr lang="en-US" altLang="zh-CN" dirty="0" err="1"/>
              <a:t>DeepSpeed</a:t>
            </a:r>
            <a:r>
              <a:rPr lang="en-US" altLang="zh-CN" dirty="0"/>
              <a:t>-Chat</a:t>
            </a:r>
            <a:endParaRPr lang="en-US" altLang="zh-CN" dirty="0"/>
          </a:p>
        </p:txBody>
      </p:sp>
      <p:pic>
        <p:nvPicPr>
          <p:cNvPr id="5" name="图片 4"/>
          <p:cNvPicPr>
            <a:picLocks noChangeAspect="1"/>
          </p:cNvPicPr>
          <p:nvPr/>
        </p:nvPicPr>
        <p:blipFill>
          <a:blip r:embed="rId2"/>
          <a:stretch>
            <a:fillRect/>
          </a:stretch>
        </p:blipFill>
        <p:spPr>
          <a:xfrm>
            <a:off x="2325547" y="1755383"/>
            <a:ext cx="7250488" cy="4753763"/>
          </a:xfrm>
          <a:prstGeom prst="rect">
            <a:avLst/>
          </a:prstGeom>
        </p:spPr>
      </p:pic>
      <p:sp>
        <p:nvSpPr>
          <p:cNvPr id="12" name="文本框 4"/>
          <p:cNvSpPr txBox="1"/>
          <p:nvPr/>
        </p:nvSpPr>
        <p:spPr>
          <a:xfrm>
            <a:off x="700087" y="499858"/>
            <a:ext cx="9300439" cy="461665"/>
          </a:xfrm>
          <a:prstGeom prst="rect">
            <a:avLst/>
          </a:prstGeom>
          <a:noFill/>
        </p:spPr>
        <p:txBody>
          <a:bodyPr wrap="square" rtlCol="0">
            <a:spAutoFit/>
          </a:bodyPr>
          <a:lstStyle/>
          <a:p>
            <a:r>
              <a:rPr lang="en-US" altLang="zh-CN" sz="2400" b="1" dirty="0" smtClean="0">
                <a:solidFill>
                  <a:srgbClr val="2F57D9"/>
                </a:solidFill>
                <a:latin typeface="Calibri" panose="020F0502020204030204" pitchFamily="34" charset="0"/>
                <a:cs typeface="Calibri" panose="020F0502020204030204" pitchFamily="34" charset="0"/>
              </a:rPr>
              <a:t>5.5</a:t>
            </a:r>
            <a:r>
              <a:rPr lang="en-US" altLang="zh-CN" sz="2400" b="1" dirty="0" smtClean="0">
                <a:solidFill>
                  <a:srgbClr val="2F57D9"/>
                </a:solidFill>
                <a:latin typeface="Calibri" panose="020F0502020204030204" pitchFamily="34" charset="0"/>
                <a:cs typeface="Calibri" panose="020F0502020204030204" pitchFamily="34" charset="0"/>
              </a:rPr>
              <a:t> </a:t>
            </a:r>
            <a:r>
              <a:rPr lang="en-US" altLang="zh-CN" sz="2400" b="1" dirty="0" err="1">
                <a:solidFill>
                  <a:srgbClr val="2F57D9"/>
                </a:solidFill>
                <a:latin typeface="Calibri" panose="020F0502020204030204" pitchFamily="34" charset="0"/>
                <a:cs typeface="Calibri" panose="020F0502020204030204" pitchFamily="34" charset="0"/>
              </a:rPr>
              <a:t>DeepSpeed</a:t>
            </a:r>
            <a:r>
              <a:rPr lang="en-US" altLang="zh-CN" sz="2400" b="1" dirty="0">
                <a:solidFill>
                  <a:srgbClr val="2F57D9"/>
                </a:solidFill>
                <a:latin typeface="Calibri" panose="020F0502020204030204" pitchFamily="34" charset="0"/>
                <a:cs typeface="Calibri" panose="020F0502020204030204" pitchFamily="34" charset="0"/>
              </a:rPr>
              <a:t>-Chat: </a:t>
            </a:r>
            <a:r>
              <a:rPr lang="en-US" altLang="zh-CN" sz="2400" b="1" dirty="0" smtClean="0">
                <a:solidFill>
                  <a:srgbClr val="2F57D9"/>
                </a:solidFill>
                <a:latin typeface="Calibri" panose="020F0502020204030204" pitchFamily="34" charset="0"/>
                <a:cs typeface="Calibri" panose="020F0502020204030204" pitchFamily="34" charset="0"/>
              </a:rPr>
              <a:t>Code</a:t>
            </a:r>
            <a:endParaRPr lang="zh-CN" altLang="en-US" sz="2400" b="1" dirty="0">
              <a:solidFill>
                <a:srgbClr val="2F57D9"/>
              </a:solidFill>
              <a:latin typeface="Calibri" panose="020F0502020204030204" pitchFamily="34" charset="0"/>
              <a:cs typeface="Calibri" panose="020F0502020204030204" pitchFamily="34" charset="0"/>
            </a:endParaRPr>
          </a:p>
        </p:txBody>
      </p:sp>
      <p:cxnSp>
        <p:nvCxnSpPr>
          <p:cNvPr id="13" name="直接连接符 2"/>
          <p:cNvCxnSpPr/>
          <p:nvPr/>
        </p:nvCxnSpPr>
        <p:spPr>
          <a:xfrm>
            <a:off x="771526" y="1030876"/>
            <a:ext cx="769514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00088" y="1414200"/>
            <a:ext cx="11244262" cy="4093428"/>
          </a:xfrm>
          <a:prstGeom prst="rect">
            <a:avLst/>
          </a:prstGeom>
          <a:noFill/>
        </p:spPr>
        <p:txBody>
          <a:bodyPr wrap="square" rtlCol="0">
            <a:spAutoFit/>
          </a:bodyPr>
          <a:lstStyle/>
          <a:p>
            <a:pPr>
              <a:spcBef>
                <a:spcPts val="600"/>
              </a:spcBef>
              <a:spcAft>
                <a:spcPts val="600"/>
              </a:spcAft>
            </a:pPr>
            <a:r>
              <a:rPr lang="en-US" altLang="zh-CN" dirty="0"/>
              <a:t>Full steps fine-tuning in a script: using the e2e_rlhf.py with the following parameters</a:t>
            </a:r>
            <a:endParaRPr lang="en-US" altLang="zh-CN" dirty="0"/>
          </a:p>
          <a:p>
            <a:pPr>
              <a:spcBef>
                <a:spcPts val="600"/>
              </a:spcBef>
              <a:spcAft>
                <a:spcPts val="600"/>
              </a:spcAft>
            </a:pPr>
            <a:endParaRPr lang="en-US" altLang="zh-CN" dirty="0"/>
          </a:p>
          <a:p>
            <a:pPr marL="285750" indent="-285750">
              <a:spcBef>
                <a:spcPts val="600"/>
              </a:spcBef>
              <a:spcAft>
                <a:spcPts val="600"/>
              </a:spcAft>
              <a:buFont typeface="Arial" panose="020B0604020202020204" pitchFamily="34" charset="0"/>
              <a:buChar char="•"/>
            </a:pPr>
            <a:r>
              <a:rPr lang="en-US" altLang="zh-CN" b="1" dirty="0"/>
              <a:t>--step </a:t>
            </a:r>
            <a:r>
              <a:rPr lang="en-US" altLang="zh-CN" dirty="0"/>
              <a:t>: Which steps of the ChatGPT example to run; default to all steps; can use --step 1 2</a:t>
            </a:r>
            <a:endParaRPr lang="en-US" altLang="zh-CN" dirty="0"/>
          </a:p>
          <a:p>
            <a:pPr marL="285750" indent="-285750">
              <a:spcBef>
                <a:spcPts val="600"/>
              </a:spcBef>
              <a:spcAft>
                <a:spcPts val="600"/>
              </a:spcAft>
              <a:buFont typeface="Arial" panose="020B0604020202020204" pitchFamily="34" charset="0"/>
              <a:buChar char="•"/>
            </a:pPr>
            <a:r>
              <a:rPr lang="en-US" altLang="zh-CN" b="1" dirty="0"/>
              <a:t>--deployment-type</a:t>
            </a:r>
            <a:r>
              <a:rPr lang="en-US" altLang="zh-CN" dirty="0"/>
              <a:t> : Number of GPUs to run the actor/reward models on, e.g. "</a:t>
            </a:r>
            <a:r>
              <a:rPr lang="en-US" altLang="zh-CN" dirty="0" err="1"/>
              <a:t>single_gpu</a:t>
            </a:r>
            <a:r>
              <a:rPr lang="en-US" altLang="zh-CN" dirty="0"/>
              <a:t>” / "</a:t>
            </a:r>
            <a:r>
              <a:rPr lang="en-US" altLang="zh-CN" dirty="0" err="1"/>
              <a:t>single_node</a:t>
            </a:r>
            <a:r>
              <a:rPr lang="en-US" altLang="zh-CN" dirty="0"/>
              <a:t>” / "</a:t>
            </a:r>
            <a:r>
              <a:rPr lang="en-US" altLang="zh-CN" dirty="0" err="1"/>
              <a:t>multi_node</a:t>
            </a:r>
            <a:r>
              <a:rPr lang="en-US" altLang="zh-CN" dirty="0"/>
              <a:t>"</a:t>
            </a:r>
            <a:endParaRPr lang="zh-CN" altLang="en-US" dirty="0"/>
          </a:p>
          <a:p>
            <a:pPr marL="285750" indent="-285750">
              <a:spcBef>
                <a:spcPts val="600"/>
              </a:spcBef>
              <a:spcAft>
                <a:spcPts val="600"/>
              </a:spcAft>
              <a:buFont typeface="Arial" panose="020B0604020202020204" pitchFamily="34" charset="0"/>
              <a:buChar char="•"/>
            </a:pPr>
            <a:r>
              <a:rPr lang="en-US" altLang="zh-CN" b="1" dirty="0"/>
              <a:t>--actor-model </a:t>
            </a:r>
            <a:r>
              <a:rPr lang="en-US" altLang="zh-CN" dirty="0"/>
              <a:t>: Which model to use for training (step 1)</a:t>
            </a:r>
            <a:endParaRPr lang="zh-CN" altLang="en-US" dirty="0"/>
          </a:p>
          <a:p>
            <a:pPr marL="285750" indent="-285750">
              <a:spcBef>
                <a:spcPts val="600"/>
              </a:spcBef>
              <a:spcAft>
                <a:spcPts val="600"/>
              </a:spcAft>
              <a:buFont typeface="Arial" panose="020B0604020202020204" pitchFamily="34" charset="0"/>
              <a:buChar char="•"/>
            </a:pPr>
            <a:r>
              <a:rPr lang="en-US" altLang="zh-CN" b="1" dirty="0"/>
              <a:t>--reward-model</a:t>
            </a:r>
            <a:r>
              <a:rPr lang="en-US" altLang="zh-CN" dirty="0"/>
              <a:t> : Which model to use for reward model training (step2)</a:t>
            </a:r>
            <a:endParaRPr lang="en-US" altLang="zh-CN" dirty="0"/>
          </a:p>
          <a:p>
            <a:pPr marL="285750" indent="-285750">
              <a:spcBef>
                <a:spcPts val="600"/>
              </a:spcBef>
              <a:spcAft>
                <a:spcPts val="600"/>
              </a:spcAft>
              <a:buFont typeface="Arial" panose="020B0604020202020204" pitchFamily="34" charset="0"/>
              <a:buChar char="•"/>
            </a:pPr>
            <a:r>
              <a:rPr lang="en-US" altLang="zh-CN" b="1" dirty="0"/>
              <a:t>--actor-zero-stage </a:t>
            </a:r>
            <a:r>
              <a:rPr lang="en-US" altLang="zh-CN" dirty="0"/>
              <a:t>: </a:t>
            </a:r>
            <a:r>
              <a:rPr lang="en-US" altLang="zh-CN" dirty="0" err="1"/>
              <a:t>ZeRO</a:t>
            </a:r>
            <a:r>
              <a:rPr lang="en-US" altLang="zh-CN" dirty="0"/>
              <a:t> stage for step 1 (Actor) training</a:t>
            </a:r>
            <a:endParaRPr lang="en-US" altLang="zh-CN" dirty="0"/>
          </a:p>
          <a:p>
            <a:pPr marL="285750" indent="-285750">
              <a:spcBef>
                <a:spcPts val="600"/>
              </a:spcBef>
              <a:spcAft>
                <a:spcPts val="600"/>
              </a:spcAft>
              <a:buFont typeface="Arial" panose="020B0604020202020204" pitchFamily="34" charset="0"/>
              <a:buChar char="•"/>
            </a:pPr>
            <a:r>
              <a:rPr lang="en-US" altLang="zh-CN" b="1" dirty="0"/>
              <a:t>--reward-zero-stage </a:t>
            </a:r>
            <a:r>
              <a:rPr lang="en-US" altLang="zh-CN" dirty="0"/>
              <a:t>: </a:t>
            </a:r>
            <a:r>
              <a:rPr lang="en-US" altLang="zh-CN" dirty="0" err="1"/>
              <a:t>ZeRO</a:t>
            </a:r>
            <a:r>
              <a:rPr lang="en-US" altLang="zh-CN" dirty="0"/>
              <a:t> stage for step 2 (Critic) training</a:t>
            </a:r>
            <a:endParaRPr lang="zh-CN" altLang="en-US" dirty="0"/>
          </a:p>
          <a:p>
            <a:pPr marL="285750" indent="-285750">
              <a:spcBef>
                <a:spcPts val="600"/>
              </a:spcBef>
              <a:spcAft>
                <a:spcPts val="600"/>
              </a:spcAft>
              <a:buFont typeface="Arial" panose="020B0604020202020204" pitchFamily="34" charset="0"/>
              <a:buChar char="•"/>
            </a:pPr>
            <a:r>
              <a:rPr lang="en-US" altLang="zh-CN" b="1" dirty="0"/>
              <a:t>--output-</a:t>
            </a:r>
            <a:r>
              <a:rPr lang="en-US" altLang="zh-CN" b="1" dirty="0" err="1"/>
              <a:t>dir</a:t>
            </a:r>
            <a:r>
              <a:rPr lang="en-US" altLang="zh-CN" b="1" dirty="0"/>
              <a:t> </a:t>
            </a:r>
            <a:r>
              <a:rPr lang="en-US" altLang="zh-CN" dirty="0"/>
              <a:t>: Directory for output of each step</a:t>
            </a:r>
            <a:endParaRPr lang="en-US" altLang="zh-CN" dirty="0"/>
          </a:p>
        </p:txBody>
      </p:sp>
      <p:sp>
        <p:nvSpPr>
          <p:cNvPr id="7" name="文本框 4"/>
          <p:cNvSpPr txBox="1"/>
          <p:nvPr/>
        </p:nvSpPr>
        <p:spPr>
          <a:xfrm>
            <a:off x="700087" y="499858"/>
            <a:ext cx="9300439" cy="461665"/>
          </a:xfrm>
          <a:prstGeom prst="rect">
            <a:avLst/>
          </a:prstGeom>
          <a:noFill/>
        </p:spPr>
        <p:txBody>
          <a:bodyPr wrap="square" rtlCol="0">
            <a:spAutoFit/>
          </a:bodyPr>
          <a:lstStyle/>
          <a:p>
            <a:r>
              <a:rPr lang="en-US" altLang="zh-CN" sz="2400" b="1" dirty="0" smtClean="0">
                <a:solidFill>
                  <a:srgbClr val="2F57D9"/>
                </a:solidFill>
                <a:latin typeface="Calibri" panose="020F0502020204030204" pitchFamily="34" charset="0"/>
                <a:cs typeface="Calibri" panose="020F0502020204030204" pitchFamily="34" charset="0"/>
              </a:rPr>
              <a:t>5.5</a:t>
            </a:r>
            <a:r>
              <a:rPr lang="en-US" altLang="zh-CN" sz="2400" b="1" dirty="0" smtClean="0">
                <a:solidFill>
                  <a:srgbClr val="2F57D9"/>
                </a:solidFill>
                <a:latin typeface="Calibri" panose="020F0502020204030204" pitchFamily="34" charset="0"/>
                <a:cs typeface="Calibri" panose="020F0502020204030204" pitchFamily="34" charset="0"/>
              </a:rPr>
              <a:t> </a:t>
            </a:r>
            <a:r>
              <a:rPr lang="en-US" altLang="zh-CN" sz="2400" b="1" dirty="0" err="1">
                <a:solidFill>
                  <a:srgbClr val="2F57D9"/>
                </a:solidFill>
                <a:latin typeface="Calibri" panose="020F0502020204030204" pitchFamily="34" charset="0"/>
                <a:cs typeface="Calibri" panose="020F0502020204030204" pitchFamily="34" charset="0"/>
              </a:rPr>
              <a:t>DeepSpeed</a:t>
            </a:r>
            <a:r>
              <a:rPr lang="en-US" altLang="zh-CN" sz="2400" b="1" dirty="0">
                <a:solidFill>
                  <a:srgbClr val="2F57D9"/>
                </a:solidFill>
                <a:latin typeface="Calibri" panose="020F0502020204030204" pitchFamily="34" charset="0"/>
                <a:cs typeface="Calibri" panose="020F0502020204030204" pitchFamily="34" charset="0"/>
              </a:rPr>
              <a:t>-Chat: </a:t>
            </a:r>
            <a:r>
              <a:rPr lang="en-US" altLang="zh-CN" sz="2400" b="1" dirty="0" smtClean="0">
                <a:solidFill>
                  <a:srgbClr val="2F57D9"/>
                </a:solidFill>
                <a:latin typeface="Calibri" panose="020F0502020204030204" pitchFamily="34" charset="0"/>
                <a:cs typeface="Calibri" panose="020F0502020204030204" pitchFamily="34" charset="0"/>
              </a:rPr>
              <a:t>Configuration</a:t>
            </a:r>
            <a:endParaRPr lang="zh-CN" altLang="en-US" sz="2400" b="1" dirty="0">
              <a:solidFill>
                <a:srgbClr val="2F57D9"/>
              </a:solidFill>
              <a:latin typeface="Calibri" panose="020F0502020204030204" pitchFamily="34" charset="0"/>
              <a:cs typeface="Calibri" panose="020F0502020204030204" pitchFamily="34" charset="0"/>
            </a:endParaRPr>
          </a:p>
        </p:txBody>
      </p:sp>
      <p:cxnSp>
        <p:nvCxnSpPr>
          <p:cNvPr id="12" name="直接连接符 2"/>
          <p:cNvCxnSpPr/>
          <p:nvPr/>
        </p:nvCxnSpPr>
        <p:spPr>
          <a:xfrm>
            <a:off x="771526" y="1030876"/>
            <a:ext cx="769514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700088" y="1414200"/>
            <a:ext cx="11244262" cy="2108269"/>
          </a:xfrm>
          <a:prstGeom prst="rect">
            <a:avLst/>
          </a:prstGeom>
          <a:noFill/>
        </p:spPr>
        <p:txBody>
          <a:bodyPr wrap="square" rtlCol="0">
            <a:spAutoFit/>
          </a:bodyPr>
          <a:lstStyle/>
          <a:p>
            <a:pPr marL="285750" lvl="0" indent="-285750" eaLnBrk="0" fontAlgn="base" hangingPunct="0">
              <a:spcBef>
                <a:spcPct val="0"/>
              </a:spcBef>
              <a:spcAft>
                <a:spcPct val="0"/>
              </a:spcAft>
              <a:buFont typeface="Arial" panose="020B0604020202020204" pitchFamily="34" charset="0"/>
              <a:buChar char="•"/>
            </a:pPr>
            <a:r>
              <a:rPr lang="zh-CN" altLang="zh-CN" b="1" dirty="0">
                <a:latin typeface="Arial" panose="020B0604020202020204" pitchFamily="34" charset="0"/>
              </a:rPr>
              <a:t>The Limitation:</a:t>
            </a:r>
            <a:r>
              <a:rPr lang="zh-CN" altLang="zh-CN" dirty="0">
                <a:latin typeface="Arial" panose="020B0604020202020204" pitchFamily="34" charset="0"/>
              </a:rPr>
              <a:t> DeepSpeed-Chat defaults to LLaMA-2</a:t>
            </a:r>
            <a:r>
              <a:rPr lang="en-US" altLang="zh-CN" dirty="0">
                <a:latin typeface="Arial" panose="020B0604020202020204" pitchFamily="34" charset="0"/>
              </a:rPr>
              <a:t> 7B</a:t>
            </a:r>
            <a:r>
              <a:rPr lang="zh-CN" altLang="zh-CN" dirty="0">
                <a:latin typeface="Arial" panose="020B0604020202020204" pitchFamily="34" charset="0"/>
              </a:rPr>
              <a:t>, </a:t>
            </a:r>
            <a:r>
              <a:rPr lang="en-US" altLang="zh-CN" dirty="0">
                <a:latin typeface="Arial" panose="020B0604020202020204" pitchFamily="34" charset="0"/>
              </a:rPr>
              <a:t>but we need </a:t>
            </a:r>
            <a:r>
              <a:rPr lang="en-US" altLang="zh-CN" b="1" dirty="0">
                <a:latin typeface="Arial" panose="020B0604020202020204" pitchFamily="34" charset="0"/>
              </a:rPr>
              <a:t>qwen-0.6B-base</a:t>
            </a:r>
            <a:r>
              <a:rPr lang="en-US" altLang="zh-CN" dirty="0">
                <a:latin typeface="Arial" panose="020B0604020202020204" pitchFamily="34" charset="0"/>
              </a:rPr>
              <a:t> as the pretrained model</a:t>
            </a:r>
            <a:endParaRPr lang="en-US" altLang="zh-CN"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endParaRPr lang="en-US" altLang="zh-CN"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endParaRPr lang="zh-CN" altLang="zh-CN"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zh-CN" altLang="zh-CN" dirty="0">
                <a:latin typeface="Arial" panose="020B0604020202020204" pitchFamily="34" charset="0"/>
              </a:rPr>
              <a:t>DeepSpeed-Chat natively supports the HF format</a:t>
            </a:r>
            <a:r>
              <a:rPr lang="en-US" altLang="zh-CN" dirty="0">
                <a:latin typeface="Arial" panose="020B0604020202020204" pitchFamily="34" charset="0"/>
              </a:rPr>
              <a:t> (also the </a:t>
            </a:r>
            <a:r>
              <a:rPr lang="en-US" altLang="zh-CN" dirty="0" err="1">
                <a:latin typeface="Arial" panose="020B0604020202020204" pitchFamily="34" charset="0"/>
              </a:rPr>
              <a:t>ModelScope</a:t>
            </a:r>
            <a:r>
              <a:rPr lang="en-US" altLang="zh-CN" dirty="0">
                <a:latin typeface="Arial" panose="020B0604020202020204" pitchFamily="34" charset="0"/>
              </a:rPr>
              <a:t> format):</a:t>
            </a:r>
            <a:endParaRPr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lang="en-US" altLang="zh-CN" dirty="0">
                <a:latin typeface="Arial" panose="020B0604020202020204" pitchFamily="34" charset="0"/>
              </a:rPr>
              <a:t> </a:t>
            </a:r>
            <a:r>
              <a:rPr lang="zh-CN" altLang="zh-CN" dirty="0">
                <a:latin typeface="Arial" panose="020B0604020202020204" pitchFamily="34" charset="0"/>
              </a:rPr>
              <a:t>update the </a:t>
            </a:r>
            <a:r>
              <a:rPr lang="zh-CN" altLang="zh-CN" b="1" i="1" dirty="0">
                <a:solidFill>
                  <a:schemeClr val="bg2">
                    <a:lumMod val="50000"/>
                  </a:schemeClr>
                </a:solidFill>
                <a:latin typeface="Arial" panose="020B0604020202020204" pitchFamily="34" charset="0"/>
              </a:rPr>
              <a:t>model_name_or_path</a:t>
            </a:r>
            <a:r>
              <a:rPr lang="zh-CN" altLang="zh-CN" dirty="0">
                <a:latin typeface="Arial" panose="020B0604020202020204" pitchFamily="34" charset="0"/>
              </a:rPr>
              <a:t> parameter</a:t>
            </a:r>
            <a:r>
              <a:rPr lang="zh-CN" altLang="en-US" dirty="0">
                <a:latin typeface="Arial" panose="020B0604020202020204" pitchFamily="34" charset="0"/>
              </a:rPr>
              <a:t> </a:t>
            </a:r>
            <a:r>
              <a:rPr lang="en-US" altLang="zh-CN" dirty="0">
                <a:latin typeface="Arial" panose="020B0604020202020204" pitchFamily="34" charset="0"/>
              </a:rPr>
              <a:t>in step-1 </a:t>
            </a:r>
            <a:r>
              <a:rPr lang="en-US" altLang="zh-CN" i="1" dirty="0" err="1">
                <a:solidFill>
                  <a:schemeClr val="bg2">
                    <a:lumMod val="50000"/>
                  </a:schemeClr>
                </a:solidFill>
                <a:latin typeface="Arial" panose="020B0604020202020204" pitchFamily="34" charset="0"/>
              </a:rPr>
              <a:t>main.py</a:t>
            </a:r>
            <a:r>
              <a:rPr lang="en-US" altLang="zh-CN" dirty="0">
                <a:latin typeface="Arial" panose="020B0604020202020204" pitchFamily="34" charset="0"/>
              </a:rPr>
              <a:t> </a:t>
            </a:r>
            <a:endParaRPr lang="zh-CN" altLang="zh-CN" dirty="0">
              <a:latin typeface="Arial" panose="020B0604020202020204" pitchFamily="34" charset="0"/>
            </a:endParaRPr>
          </a:p>
          <a:p>
            <a:pPr>
              <a:spcBef>
                <a:spcPts val="600"/>
              </a:spcBef>
              <a:spcAft>
                <a:spcPts val="600"/>
              </a:spcAft>
            </a:pPr>
            <a:endParaRPr lang="en-US" altLang="zh-CN" dirty="0"/>
          </a:p>
        </p:txBody>
      </p:sp>
      <p:pic>
        <p:nvPicPr>
          <p:cNvPr id="7" name="图片 6"/>
          <p:cNvPicPr>
            <a:picLocks noChangeAspect="1"/>
          </p:cNvPicPr>
          <p:nvPr/>
        </p:nvPicPr>
        <p:blipFill>
          <a:blip r:embed="rId2"/>
          <a:stretch>
            <a:fillRect/>
          </a:stretch>
        </p:blipFill>
        <p:spPr>
          <a:xfrm>
            <a:off x="1589347" y="3429000"/>
            <a:ext cx="7068287" cy="2245075"/>
          </a:xfrm>
          <a:prstGeom prst="rect">
            <a:avLst/>
          </a:prstGeom>
        </p:spPr>
      </p:pic>
      <p:sp>
        <p:nvSpPr>
          <p:cNvPr id="12" name="文本框 4"/>
          <p:cNvSpPr txBox="1"/>
          <p:nvPr/>
        </p:nvSpPr>
        <p:spPr>
          <a:xfrm>
            <a:off x="700087" y="499858"/>
            <a:ext cx="9300439" cy="461665"/>
          </a:xfrm>
          <a:prstGeom prst="rect">
            <a:avLst/>
          </a:prstGeom>
          <a:noFill/>
        </p:spPr>
        <p:txBody>
          <a:bodyPr wrap="square" rtlCol="0">
            <a:spAutoFit/>
          </a:bodyPr>
          <a:lstStyle/>
          <a:p>
            <a:r>
              <a:rPr lang="en-US" altLang="zh-CN" sz="2400" b="1" dirty="0" smtClean="0">
                <a:solidFill>
                  <a:srgbClr val="2F57D9"/>
                </a:solidFill>
                <a:latin typeface="Calibri" panose="020F0502020204030204" pitchFamily="34" charset="0"/>
                <a:cs typeface="Calibri" panose="020F0502020204030204" pitchFamily="34" charset="0"/>
              </a:rPr>
              <a:t>5.5</a:t>
            </a:r>
            <a:r>
              <a:rPr lang="en-US" altLang="zh-CN" sz="2400" b="1" dirty="0" smtClean="0">
                <a:solidFill>
                  <a:srgbClr val="2F57D9"/>
                </a:solidFill>
                <a:latin typeface="Calibri" panose="020F0502020204030204" pitchFamily="34" charset="0"/>
                <a:cs typeface="Calibri" panose="020F0502020204030204" pitchFamily="34" charset="0"/>
              </a:rPr>
              <a:t> </a:t>
            </a:r>
            <a:r>
              <a:rPr lang="en-US" altLang="zh-CN" sz="2400" b="1" dirty="0" err="1">
                <a:solidFill>
                  <a:srgbClr val="2F57D9"/>
                </a:solidFill>
                <a:latin typeface="Calibri" panose="020F0502020204030204" pitchFamily="34" charset="0"/>
                <a:cs typeface="Calibri" panose="020F0502020204030204" pitchFamily="34" charset="0"/>
              </a:rPr>
              <a:t>DeepSpeed</a:t>
            </a:r>
            <a:r>
              <a:rPr lang="en-US" altLang="zh-CN" sz="2400" b="1" dirty="0">
                <a:solidFill>
                  <a:srgbClr val="2F57D9"/>
                </a:solidFill>
                <a:latin typeface="Calibri" panose="020F0502020204030204" pitchFamily="34" charset="0"/>
                <a:cs typeface="Calibri" panose="020F0502020204030204" pitchFamily="34" charset="0"/>
              </a:rPr>
              <a:t>-Chat: </a:t>
            </a:r>
            <a:r>
              <a:rPr lang="en-US" altLang="zh-CN" sz="2400" b="1" dirty="0" smtClean="0">
                <a:solidFill>
                  <a:srgbClr val="2F57D9"/>
                </a:solidFill>
                <a:latin typeface="Calibri" panose="020F0502020204030204" pitchFamily="34" charset="0"/>
                <a:cs typeface="Calibri" panose="020F0502020204030204" pitchFamily="34" charset="0"/>
              </a:rPr>
              <a:t>Change to Qwen-0.6B-Base</a:t>
            </a:r>
            <a:endParaRPr lang="zh-CN" altLang="en-US" sz="2400" b="1" dirty="0">
              <a:solidFill>
                <a:srgbClr val="2F57D9"/>
              </a:solidFill>
              <a:latin typeface="Calibri" panose="020F0502020204030204" pitchFamily="34" charset="0"/>
              <a:cs typeface="Calibri" panose="020F0502020204030204" pitchFamily="34" charset="0"/>
            </a:endParaRPr>
          </a:p>
        </p:txBody>
      </p:sp>
      <p:cxnSp>
        <p:nvCxnSpPr>
          <p:cNvPr id="13" name="直接连接符 2"/>
          <p:cNvCxnSpPr/>
          <p:nvPr/>
        </p:nvCxnSpPr>
        <p:spPr>
          <a:xfrm>
            <a:off x="771526" y="1030876"/>
            <a:ext cx="769514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66127" y="1690062"/>
            <a:ext cx="11244262" cy="3170099"/>
          </a:xfrm>
          <a:prstGeom prst="rect">
            <a:avLst/>
          </a:prstGeom>
          <a:noFill/>
        </p:spPr>
        <p:txBody>
          <a:bodyPr wrap="square" rtlCol="0">
            <a:spAutoFit/>
          </a:bodyPr>
          <a:lstStyle/>
          <a:p>
            <a:pPr>
              <a:spcBef>
                <a:spcPts val="600"/>
              </a:spcBef>
              <a:spcAft>
                <a:spcPts val="600"/>
              </a:spcAft>
            </a:pPr>
            <a:r>
              <a:rPr lang="en-US" altLang="zh-CN" sz="2000" b="1" dirty="0"/>
              <a:t>Integrating Custom Datasets</a:t>
            </a:r>
            <a:endParaRPr lang="en-US" altLang="zh-CN" sz="2000" b="1" dirty="0"/>
          </a:p>
          <a:p>
            <a:pPr>
              <a:spcBef>
                <a:spcPts val="600"/>
              </a:spcBef>
              <a:spcAft>
                <a:spcPts val="600"/>
              </a:spcAft>
            </a:pPr>
            <a:r>
              <a:rPr lang="en-US" altLang="zh-CN" sz="2000" dirty="0"/>
              <a:t>High-quality, task-specific data is critical for optimizing your own Large Language Models. To introduce new datasets into the </a:t>
            </a:r>
            <a:r>
              <a:rPr lang="en-US" altLang="zh-CN" sz="2000" dirty="0" err="1"/>
              <a:t>DeepSpeed</a:t>
            </a:r>
            <a:r>
              <a:rPr lang="en-US" altLang="zh-CN" sz="2000" dirty="0"/>
              <a:t>-Chat pipeline, follow these three steps:</a:t>
            </a:r>
            <a:endParaRPr lang="en-US" altLang="zh-CN" sz="2000" dirty="0"/>
          </a:p>
          <a:p>
            <a:pPr marL="285750" indent="-285750">
              <a:spcBef>
                <a:spcPts val="600"/>
              </a:spcBef>
              <a:spcAft>
                <a:spcPts val="600"/>
              </a:spcAft>
              <a:buFont typeface="Arial" panose="020B0604020202020204" pitchFamily="34" charset="0"/>
              <a:buChar char="•"/>
            </a:pPr>
            <a:r>
              <a:rPr lang="en-US" altLang="zh-CN" sz="2000" b="1" dirty="0"/>
              <a:t>Format the Data: </a:t>
            </a:r>
            <a:r>
              <a:rPr lang="en-US" altLang="zh-CN" sz="2000" dirty="0"/>
              <a:t>Prepare and convert your dataset into a framework-compatible format, such as JSON.</a:t>
            </a:r>
            <a:endParaRPr lang="en-US" altLang="zh-CN" sz="2000" dirty="0"/>
          </a:p>
          <a:p>
            <a:pPr marL="285750" indent="-285750">
              <a:spcBef>
                <a:spcPts val="600"/>
              </a:spcBef>
              <a:spcAft>
                <a:spcPts val="600"/>
              </a:spcAft>
              <a:buFont typeface="Arial" panose="020B0604020202020204" pitchFamily="34" charset="0"/>
              <a:buChar char="•"/>
            </a:pPr>
            <a:r>
              <a:rPr lang="en-US" altLang="zh-CN" sz="2000" b="1" dirty="0"/>
              <a:t>Update Data Processing Logic:</a:t>
            </a:r>
            <a:r>
              <a:rPr lang="en-US" altLang="zh-CN" sz="2000" dirty="0"/>
              <a:t> Modify the core data utilities (</a:t>
            </a:r>
            <a:r>
              <a:rPr lang="en-US" altLang="zh-CN" sz="2000" dirty="0" err="1"/>
              <a:t>dachat</a:t>
            </a:r>
            <a:r>
              <a:rPr lang="en-US" altLang="zh-CN" sz="2000" dirty="0"/>
              <a:t>/utils/data/</a:t>
            </a:r>
            <a:r>
              <a:rPr lang="en-US" altLang="zh-CN" sz="2000" dirty="0" err="1"/>
              <a:t>raw_datasets.py</a:t>
            </a:r>
            <a:r>
              <a:rPr lang="en-US" altLang="zh-CN" sz="2000" dirty="0"/>
              <a:t> and </a:t>
            </a:r>
            <a:r>
              <a:rPr lang="en-US" altLang="zh-CN" sz="2000" dirty="0" err="1"/>
              <a:t>dachat</a:t>
            </a:r>
            <a:r>
              <a:rPr lang="en-US" altLang="zh-CN" sz="2000" dirty="0"/>
              <a:t>/utils/data/</a:t>
            </a:r>
            <a:r>
              <a:rPr lang="en-US" altLang="zh-CN" sz="2000" dirty="0" err="1"/>
              <a:t>data_utils.py</a:t>
            </a:r>
            <a:r>
              <a:rPr lang="en-US" altLang="zh-CN" sz="2000" dirty="0"/>
              <a:t>) to parse and handle your specific dataset structure.</a:t>
            </a:r>
            <a:endParaRPr lang="en-US" altLang="zh-CN" sz="2000" dirty="0"/>
          </a:p>
          <a:p>
            <a:pPr marL="285750" indent="-285750">
              <a:spcBef>
                <a:spcPts val="600"/>
              </a:spcBef>
              <a:spcAft>
                <a:spcPts val="600"/>
              </a:spcAft>
              <a:buFont typeface="Arial" panose="020B0604020202020204" pitchFamily="34" charset="0"/>
              <a:buChar char="•"/>
            </a:pPr>
            <a:r>
              <a:rPr lang="en-US" altLang="zh-CN" sz="2000" b="1" dirty="0"/>
              <a:t>Modify Training Scripts:</a:t>
            </a:r>
            <a:r>
              <a:rPr lang="en-US" altLang="zh-CN" sz="2000" dirty="0"/>
              <a:t> Update your training scripts to register and load the new dataset, then launch the model training.</a:t>
            </a:r>
            <a:endParaRPr lang="en-US" altLang="zh-CN" sz="2000" dirty="0"/>
          </a:p>
        </p:txBody>
      </p:sp>
      <p:sp>
        <p:nvSpPr>
          <p:cNvPr id="7" name="文本框 4"/>
          <p:cNvSpPr txBox="1"/>
          <p:nvPr/>
        </p:nvSpPr>
        <p:spPr>
          <a:xfrm>
            <a:off x="700087" y="499858"/>
            <a:ext cx="9300439" cy="461665"/>
          </a:xfrm>
          <a:prstGeom prst="rect">
            <a:avLst/>
          </a:prstGeom>
          <a:noFill/>
        </p:spPr>
        <p:txBody>
          <a:bodyPr wrap="square" rtlCol="0">
            <a:spAutoFit/>
          </a:bodyPr>
          <a:lstStyle/>
          <a:p>
            <a:r>
              <a:rPr lang="en-US" altLang="zh-CN" sz="2400" b="1" dirty="0" smtClean="0">
                <a:solidFill>
                  <a:srgbClr val="2F57D9"/>
                </a:solidFill>
                <a:latin typeface="Calibri" panose="020F0502020204030204" pitchFamily="34" charset="0"/>
                <a:cs typeface="Calibri" panose="020F0502020204030204" pitchFamily="34" charset="0"/>
              </a:rPr>
              <a:t>5.5</a:t>
            </a:r>
            <a:r>
              <a:rPr lang="en-US" altLang="zh-CN" sz="2400" b="1" dirty="0" smtClean="0">
                <a:solidFill>
                  <a:srgbClr val="2F57D9"/>
                </a:solidFill>
                <a:latin typeface="Calibri" panose="020F0502020204030204" pitchFamily="34" charset="0"/>
                <a:cs typeface="Calibri" panose="020F0502020204030204" pitchFamily="34" charset="0"/>
              </a:rPr>
              <a:t> </a:t>
            </a:r>
            <a:r>
              <a:rPr lang="en-US" altLang="zh-CN" sz="2400" b="1" dirty="0" err="1">
                <a:solidFill>
                  <a:srgbClr val="2F57D9"/>
                </a:solidFill>
                <a:latin typeface="Calibri" panose="020F0502020204030204" pitchFamily="34" charset="0"/>
                <a:cs typeface="Calibri" panose="020F0502020204030204" pitchFamily="34" charset="0"/>
              </a:rPr>
              <a:t>DeepSpeed</a:t>
            </a:r>
            <a:r>
              <a:rPr lang="en-US" altLang="zh-CN" sz="2400" b="1" dirty="0">
                <a:solidFill>
                  <a:srgbClr val="2F57D9"/>
                </a:solidFill>
                <a:latin typeface="Calibri" panose="020F0502020204030204" pitchFamily="34" charset="0"/>
                <a:cs typeface="Calibri" panose="020F0502020204030204" pitchFamily="34" charset="0"/>
              </a:rPr>
              <a:t>-Chat: </a:t>
            </a:r>
            <a:r>
              <a:rPr lang="en-US" altLang="zh-CN" sz="2400" b="1" dirty="0" smtClean="0">
                <a:solidFill>
                  <a:srgbClr val="2F57D9"/>
                </a:solidFill>
                <a:latin typeface="Calibri" panose="020F0502020204030204" pitchFamily="34" charset="0"/>
                <a:cs typeface="Calibri" panose="020F0502020204030204" pitchFamily="34" charset="0"/>
              </a:rPr>
              <a:t>Custom Data Processing</a:t>
            </a:r>
            <a:endParaRPr lang="zh-CN" altLang="en-US" sz="2400" b="1" dirty="0">
              <a:solidFill>
                <a:srgbClr val="2F57D9"/>
              </a:solidFill>
              <a:latin typeface="Calibri" panose="020F0502020204030204" pitchFamily="34" charset="0"/>
              <a:cs typeface="Calibri" panose="020F0502020204030204" pitchFamily="34" charset="0"/>
            </a:endParaRPr>
          </a:p>
        </p:txBody>
      </p:sp>
      <p:cxnSp>
        <p:nvCxnSpPr>
          <p:cNvPr id="12" name="直接连接符 2"/>
          <p:cNvCxnSpPr/>
          <p:nvPr/>
        </p:nvCxnSpPr>
        <p:spPr>
          <a:xfrm>
            <a:off x="771526" y="1030876"/>
            <a:ext cx="769514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66126" y="1353071"/>
            <a:ext cx="11349661" cy="1323439"/>
          </a:xfrm>
          <a:prstGeom prst="rect">
            <a:avLst/>
          </a:prstGeom>
          <a:noFill/>
        </p:spPr>
        <p:txBody>
          <a:bodyPr wrap="square" rtlCol="0">
            <a:spAutoFit/>
          </a:bodyPr>
          <a:lstStyle/>
          <a:p>
            <a:pPr>
              <a:spcBef>
                <a:spcPts val="600"/>
              </a:spcBef>
              <a:spcAft>
                <a:spcPts val="600"/>
              </a:spcAft>
            </a:pPr>
            <a:r>
              <a:rPr lang="en-US" altLang="zh-CN" sz="2000" b="1" dirty="0"/>
              <a:t>Example</a:t>
            </a:r>
            <a:r>
              <a:rPr lang="zh-CN" altLang="en-US" sz="2000" b="1" dirty="0"/>
              <a:t>：</a:t>
            </a:r>
            <a:endParaRPr lang="en-US" altLang="zh-CN" sz="2000" b="1" dirty="0"/>
          </a:p>
          <a:p>
            <a:pPr marL="342900" indent="-342900">
              <a:spcBef>
                <a:spcPts val="600"/>
              </a:spcBef>
              <a:spcAft>
                <a:spcPts val="600"/>
              </a:spcAft>
              <a:buFont typeface="Arial" panose="020B0604020202020204" pitchFamily="34" charset="0"/>
              <a:buChar char="•"/>
            </a:pPr>
            <a:r>
              <a:rPr lang="en-US" altLang="zh-CN" sz="2000" dirty="0"/>
              <a:t>Step</a:t>
            </a:r>
            <a:r>
              <a:rPr lang="zh-CN" altLang="en-US" sz="2000" dirty="0"/>
              <a:t> </a:t>
            </a:r>
            <a:r>
              <a:rPr lang="en-US" altLang="zh-CN" sz="2000" dirty="0"/>
              <a:t>1: using the prompt + chosen, where chosen is the label. The </a:t>
            </a:r>
            <a:r>
              <a:rPr lang="zh-CN" altLang="en-US" sz="2000" dirty="0"/>
              <a:t>“</a:t>
            </a:r>
            <a:r>
              <a:rPr lang="en-US" altLang="zh-CN" sz="2000" dirty="0"/>
              <a:t>rejected</a:t>
            </a:r>
            <a:r>
              <a:rPr lang="zh-CN" altLang="en-US" sz="2000" dirty="0"/>
              <a:t>”</a:t>
            </a:r>
            <a:r>
              <a:rPr lang="en-US" altLang="zh-CN" sz="2000" dirty="0"/>
              <a:t> item can be “”.</a:t>
            </a:r>
            <a:endParaRPr lang="en-US" altLang="zh-CN" sz="2000" dirty="0">
              <a:latin typeface="Times New Roman" panose="02020603050405020304" charset="0"/>
              <a:cs typeface="Times New Roman" panose="02020603050405020304" charset="0"/>
            </a:endParaRPr>
          </a:p>
          <a:p>
            <a:pPr marL="342900" indent="-342900">
              <a:spcBef>
                <a:spcPts val="600"/>
              </a:spcBef>
              <a:spcAft>
                <a:spcPts val="600"/>
              </a:spcAft>
              <a:buFont typeface="Arial" panose="020B0604020202020204" pitchFamily="34" charset="0"/>
              <a:buChar char="•"/>
            </a:pPr>
            <a:r>
              <a:rPr lang="en-US" altLang="zh-CN" sz="2000" dirty="0"/>
              <a:t>Step 2: using the prompt + chosen + rejected, where chosen &amp; rejected is the pair data for reward model</a:t>
            </a:r>
            <a:endParaRPr lang="en-US" altLang="zh-CN" sz="2000" dirty="0"/>
          </a:p>
        </p:txBody>
      </p:sp>
      <p:pic>
        <p:nvPicPr>
          <p:cNvPr id="2" name="图片 1"/>
          <p:cNvPicPr>
            <a:picLocks noChangeAspect="1"/>
          </p:cNvPicPr>
          <p:nvPr/>
        </p:nvPicPr>
        <p:blipFill>
          <a:blip r:embed="rId2"/>
          <a:stretch>
            <a:fillRect/>
          </a:stretch>
        </p:blipFill>
        <p:spPr>
          <a:xfrm>
            <a:off x="1618412" y="3030065"/>
            <a:ext cx="8955175" cy="2602253"/>
          </a:xfrm>
          <a:prstGeom prst="rect">
            <a:avLst/>
          </a:prstGeom>
        </p:spPr>
      </p:pic>
      <p:sp>
        <p:nvSpPr>
          <p:cNvPr id="12" name="文本框 4"/>
          <p:cNvSpPr txBox="1"/>
          <p:nvPr/>
        </p:nvSpPr>
        <p:spPr>
          <a:xfrm>
            <a:off x="700087" y="499858"/>
            <a:ext cx="9300439" cy="461665"/>
          </a:xfrm>
          <a:prstGeom prst="rect">
            <a:avLst/>
          </a:prstGeom>
          <a:noFill/>
        </p:spPr>
        <p:txBody>
          <a:bodyPr wrap="square" rtlCol="0">
            <a:spAutoFit/>
          </a:bodyPr>
          <a:lstStyle/>
          <a:p>
            <a:r>
              <a:rPr lang="en-US" altLang="zh-CN" sz="2400" b="1" dirty="0" smtClean="0">
                <a:solidFill>
                  <a:srgbClr val="2F57D9"/>
                </a:solidFill>
                <a:latin typeface="Calibri" panose="020F0502020204030204" pitchFamily="34" charset="0"/>
                <a:cs typeface="Calibri" panose="020F0502020204030204" pitchFamily="34" charset="0"/>
              </a:rPr>
              <a:t>5.5</a:t>
            </a:r>
            <a:r>
              <a:rPr lang="en-US" altLang="zh-CN" sz="2400" b="1" dirty="0" smtClean="0">
                <a:solidFill>
                  <a:srgbClr val="2F57D9"/>
                </a:solidFill>
                <a:latin typeface="Calibri" panose="020F0502020204030204" pitchFamily="34" charset="0"/>
                <a:cs typeface="Calibri" panose="020F0502020204030204" pitchFamily="34" charset="0"/>
              </a:rPr>
              <a:t> </a:t>
            </a:r>
            <a:r>
              <a:rPr lang="en-US" altLang="zh-CN" sz="2400" b="1" dirty="0" err="1">
                <a:solidFill>
                  <a:srgbClr val="2F57D9"/>
                </a:solidFill>
                <a:latin typeface="Calibri" panose="020F0502020204030204" pitchFamily="34" charset="0"/>
                <a:cs typeface="Calibri" panose="020F0502020204030204" pitchFamily="34" charset="0"/>
              </a:rPr>
              <a:t>DeepSpeed</a:t>
            </a:r>
            <a:r>
              <a:rPr lang="en-US" altLang="zh-CN" sz="2400" b="1" dirty="0">
                <a:solidFill>
                  <a:srgbClr val="2F57D9"/>
                </a:solidFill>
                <a:latin typeface="Calibri" panose="020F0502020204030204" pitchFamily="34" charset="0"/>
                <a:cs typeface="Calibri" panose="020F0502020204030204" pitchFamily="34" charset="0"/>
              </a:rPr>
              <a:t>-Chat: </a:t>
            </a:r>
            <a:r>
              <a:rPr lang="en-US" altLang="zh-CN" sz="2400" b="1" dirty="0" smtClean="0">
                <a:solidFill>
                  <a:srgbClr val="2F57D9"/>
                </a:solidFill>
                <a:latin typeface="Calibri" panose="020F0502020204030204" pitchFamily="34" charset="0"/>
                <a:cs typeface="Calibri" panose="020F0502020204030204" pitchFamily="34" charset="0"/>
              </a:rPr>
              <a:t>Examples</a:t>
            </a:r>
            <a:endParaRPr lang="zh-CN" altLang="en-US" sz="2400" b="1" dirty="0">
              <a:solidFill>
                <a:srgbClr val="2F57D9"/>
              </a:solidFill>
              <a:latin typeface="Calibri" panose="020F0502020204030204" pitchFamily="34" charset="0"/>
              <a:cs typeface="Calibri" panose="020F0502020204030204" pitchFamily="34" charset="0"/>
            </a:endParaRPr>
          </a:p>
        </p:txBody>
      </p:sp>
      <p:cxnSp>
        <p:nvCxnSpPr>
          <p:cNvPr id="13" name="直接连接符 2"/>
          <p:cNvCxnSpPr/>
          <p:nvPr/>
        </p:nvCxnSpPr>
        <p:spPr>
          <a:xfrm>
            <a:off x="771526" y="1030876"/>
            <a:ext cx="769514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13427" y="1141568"/>
            <a:ext cx="11349661" cy="400110"/>
          </a:xfrm>
          <a:prstGeom prst="rect">
            <a:avLst/>
          </a:prstGeom>
          <a:noFill/>
        </p:spPr>
        <p:txBody>
          <a:bodyPr wrap="square" rtlCol="0">
            <a:spAutoFit/>
          </a:bodyPr>
          <a:lstStyle/>
          <a:p>
            <a:pPr>
              <a:spcBef>
                <a:spcPts val="600"/>
              </a:spcBef>
              <a:spcAft>
                <a:spcPts val="600"/>
              </a:spcAft>
            </a:pPr>
            <a:r>
              <a:rPr lang="en-US" altLang="zh-CN" sz="2000" dirty="0"/>
              <a:t>Insert the following code into </a:t>
            </a:r>
            <a:r>
              <a:rPr lang="en-US" altLang="zh-CN" i="1" dirty="0" err="1">
                <a:solidFill>
                  <a:schemeClr val="bg2">
                    <a:lumMod val="50000"/>
                  </a:schemeClr>
                </a:solidFill>
              </a:rPr>
              <a:t>raw_datasets.py</a:t>
            </a:r>
            <a:r>
              <a:rPr lang="en-US" altLang="zh-CN" sz="2000" dirty="0"/>
              <a:t>, where </a:t>
            </a:r>
            <a:r>
              <a:rPr lang="en-US" altLang="zh-CN" i="1" dirty="0">
                <a:solidFill>
                  <a:schemeClr val="bg2">
                    <a:lumMod val="50000"/>
                  </a:schemeClr>
                </a:solidFill>
              </a:rPr>
              <a:t>load(</a:t>
            </a:r>
            <a:r>
              <a:rPr lang="en-US" altLang="zh-CN" i="1" dirty="0" err="1">
                <a:solidFill>
                  <a:schemeClr val="bg2">
                    <a:lumMod val="50000"/>
                  </a:schemeClr>
                </a:solidFill>
              </a:rPr>
              <a:t>dataset_name</a:t>
            </a:r>
            <a:r>
              <a:rPr lang="en-US" altLang="zh-CN" i="1" dirty="0">
                <a:solidFill>
                  <a:schemeClr val="bg2">
                    <a:lumMod val="50000"/>
                  </a:schemeClr>
                </a:solidFill>
              </a:rPr>
              <a:t>)</a:t>
            </a:r>
            <a:r>
              <a:rPr lang="en-US" altLang="zh-CN" sz="2000" i="1" dirty="0">
                <a:solidFill>
                  <a:schemeClr val="bg2">
                    <a:lumMod val="50000"/>
                  </a:schemeClr>
                </a:solidFill>
              </a:rPr>
              <a:t> </a:t>
            </a:r>
            <a:r>
              <a:rPr lang="en-US" altLang="zh-CN" sz="2000" dirty="0"/>
              <a:t>handles data loading.</a:t>
            </a:r>
            <a:endParaRPr lang="en-US" altLang="zh-CN" sz="2000" dirty="0"/>
          </a:p>
        </p:txBody>
      </p:sp>
      <p:pic>
        <p:nvPicPr>
          <p:cNvPr id="3" name="图片 2"/>
          <p:cNvPicPr>
            <a:picLocks noChangeAspect="1"/>
          </p:cNvPicPr>
          <p:nvPr/>
        </p:nvPicPr>
        <p:blipFill>
          <a:blip r:embed="rId2"/>
          <a:stretch>
            <a:fillRect/>
          </a:stretch>
        </p:blipFill>
        <p:spPr>
          <a:xfrm>
            <a:off x="613427" y="1703685"/>
            <a:ext cx="5545304" cy="4388741"/>
          </a:xfrm>
          <a:prstGeom prst="rect">
            <a:avLst/>
          </a:prstGeom>
        </p:spPr>
      </p:pic>
      <p:pic>
        <p:nvPicPr>
          <p:cNvPr id="5" name="图片 4"/>
          <p:cNvPicPr>
            <a:picLocks noChangeAspect="1"/>
          </p:cNvPicPr>
          <p:nvPr/>
        </p:nvPicPr>
        <p:blipFill>
          <a:blip r:embed="rId3"/>
          <a:stretch>
            <a:fillRect/>
          </a:stretch>
        </p:blipFill>
        <p:spPr>
          <a:xfrm>
            <a:off x="6288257" y="2194545"/>
            <a:ext cx="5622965" cy="3312011"/>
          </a:xfrm>
          <a:prstGeom prst="rect">
            <a:avLst/>
          </a:prstGeom>
        </p:spPr>
      </p:pic>
      <p:sp>
        <p:nvSpPr>
          <p:cNvPr id="16" name="文本框 4"/>
          <p:cNvSpPr txBox="1"/>
          <p:nvPr/>
        </p:nvSpPr>
        <p:spPr>
          <a:xfrm>
            <a:off x="700087" y="499858"/>
            <a:ext cx="9300439" cy="461665"/>
          </a:xfrm>
          <a:prstGeom prst="rect">
            <a:avLst/>
          </a:prstGeom>
          <a:noFill/>
        </p:spPr>
        <p:txBody>
          <a:bodyPr wrap="square" rtlCol="0">
            <a:spAutoFit/>
          </a:bodyPr>
          <a:lstStyle/>
          <a:p>
            <a:r>
              <a:rPr lang="en-US" altLang="zh-CN" sz="2400" b="1" dirty="0" smtClean="0">
                <a:solidFill>
                  <a:srgbClr val="2F57D9"/>
                </a:solidFill>
                <a:latin typeface="Calibri" panose="020F0502020204030204" pitchFamily="34" charset="0"/>
                <a:cs typeface="Calibri" panose="020F0502020204030204" pitchFamily="34" charset="0"/>
              </a:rPr>
              <a:t>5.5</a:t>
            </a:r>
            <a:r>
              <a:rPr lang="en-US" altLang="zh-CN" sz="2400" b="1" dirty="0" smtClean="0">
                <a:solidFill>
                  <a:srgbClr val="2F57D9"/>
                </a:solidFill>
                <a:latin typeface="Calibri" panose="020F0502020204030204" pitchFamily="34" charset="0"/>
                <a:cs typeface="Calibri" panose="020F0502020204030204" pitchFamily="34" charset="0"/>
              </a:rPr>
              <a:t> </a:t>
            </a:r>
            <a:r>
              <a:rPr lang="en-US" altLang="zh-CN" sz="2400" b="1" dirty="0" err="1">
                <a:solidFill>
                  <a:srgbClr val="2F57D9"/>
                </a:solidFill>
                <a:latin typeface="Calibri" panose="020F0502020204030204" pitchFamily="34" charset="0"/>
                <a:cs typeface="Calibri" panose="020F0502020204030204" pitchFamily="34" charset="0"/>
              </a:rPr>
              <a:t>DeepSpeed</a:t>
            </a:r>
            <a:r>
              <a:rPr lang="en-US" altLang="zh-CN" sz="2400" b="1" dirty="0">
                <a:solidFill>
                  <a:srgbClr val="2F57D9"/>
                </a:solidFill>
                <a:latin typeface="Calibri" panose="020F0502020204030204" pitchFamily="34" charset="0"/>
                <a:cs typeface="Calibri" panose="020F0502020204030204" pitchFamily="34" charset="0"/>
              </a:rPr>
              <a:t>-Chat: </a:t>
            </a:r>
            <a:r>
              <a:rPr lang="en-US" altLang="zh-CN" sz="2400" b="1" dirty="0" smtClean="0">
                <a:solidFill>
                  <a:srgbClr val="2F57D9"/>
                </a:solidFill>
                <a:latin typeface="Calibri" panose="020F0502020204030204" pitchFamily="34" charset="0"/>
                <a:cs typeface="Calibri" panose="020F0502020204030204" pitchFamily="34" charset="0"/>
              </a:rPr>
              <a:t>Data Preparation</a:t>
            </a:r>
            <a:endParaRPr lang="zh-CN" altLang="en-US" sz="2400" b="1" dirty="0">
              <a:solidFill>
                <a:srgbClr val="2F57D9"/>
              </a:solidFill>
              <a:latin typeface="Calibri" panose="020F0502020204030204" pitchFamily="34" charset="0"/>
              <a:cs typeface="Calibri" panose="020F0502020204030204" pitchFamily="34" charset="0"/>
            </a:endParaRPr>
          </a:p>
        </p:txBody>
      </p:sp>
      <p:cxnSp>
        <p:nvCxnSpPr>
          <p:cNvPr id="17" name="直接连接符 2"/>
          <p:cNvCxnSpPr/>
          <p:nvPr/>
        </p:nvCxnSpPr>
        <p:spPr>
          <a:xfrm>
            <a:off x="771526" y="1030876"/>
            <a:ext cx="769514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7" y="499858"/>
            <a:ext cx="8536509" cy="830997"/>
          </a:xfrm>
          <a:prstGeom prst="rect">
            <a:avLst/>
          </a:prstGeom>
          <a:noFill/>
        </p:spPr>
        <p:txBody>
          <a:bodyPr wrap="square" rtlCol="0">
            <a:spAutoFit/>
          </a:bodyPr>
          <a:lstStyle/>
          <a:p>
            <a:r>
              <a:rPr lang="en-US" altLang="zh-CN" sz="2400" b="1" dirty="0" smtClean="0">
                <a:solidFill>
                  <a:srgbClr val="2F57D9"/>
                </a:solidFill>
                <a:latin typeface="Calibri" panose="020F0502020204030204" pitchFamily="34" charset="0"/>
                <a:cs typeface="Calibri" panose="020F0502020204030204" pitchFamily="34" charset="0"/>
              </a:rPr>
              <a:t>5.5 </a:t>
            </a:r>
            <a:r>
              <a:rPr lang="en-US" altLang="zh-CN" sz="2400" b="1" dirty="0" err="1">
                <a:solidFill>
                  <a:srgbClr val="2F57D9"/>
                </a:solidFill>
                <a:latin typeface="Calibri" panose="020F0502020204030204" pitchFamily="34" charset="0"/>
                <a:cs typeface="Calibri" panose="020F0502020204030204" pitchFamily="34" charset="0"/>
              </a:rPr>
              <a:t>DeepSpeed</a:t>
            </a:r>
            <a:r>
              <a:rPr lang="en-US" altLang="zh-CN" sz="2400" b="1" dirty="0">
                <a:solidFill>
                  <a:srgbClr val="2F57D9"/>
                </a:solidFill>
                <a:latin typeface="Calibri" panose="020F0502020204030204" pitchFamily="34" charset="0"/>
                <a:cs typeface="Calibri" panose="020F0502020204030204" pitchFamily="34" charset="0"/>
              </a:rPr>
              <a:t>-Chat: Data</a:t>
            </a:r>
            <a:r>
              <a:rPr lang="zh-CN" altLang="en-US" sz="2400" b="1" dirty="0">
                <a:solidFill>
                  <a:srgbClr val="2F57D9"/>
                </a:solidFill>
                <a:latin typeface="Calibri" panose="020F0502020204030204" pitchFamily="34" charset="0"/>
                <a:cs typeface="Calibri" panose="020F0502020204030204" pitchFamily="34" charset="0"/>
              </a:rPr>
              <a:t> </a:t>
            </a:r>
            <a:r>
              <a:rPr lang="en-US" altLang="zh-CN" sz="2400" b="1" dirty="0">
                <a:solidFill>
                  <a:srgbClr val="2F57D9"/>
                </a:solidFill>
                <a:latin typeface="Calibri" panose="020F0502020204030204" pitchFamily="34" charset="0"/>
                <a:cs typeface="Calibri" panose="020F0502020204030204" pitchFamily="34" charset="0"/>
              </a:rPr>
              <a:t>Preparation </a:t>
            </a:r>
            <a:endParaRPr lang="zh-CN" altLang="en-US" sz="2400" b="1" dirty="0">
              <a:solidFill>
                <a:srgbClr val="2F57D9"/>
              </a:solidFill>
              <a:latin typeface="Calibri" panose="020F0502020204030204" pitchFamily="34" charset="0"/>
              <a:cs typeface="Calibri" panose="020F0502020204030204" pitchFamily="34" charset="0"/>
            </a:endParaRPr>
          </a:p>
          <a:p>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5516732"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13427" y="1330855"/>
            <a:ext cx="11349661" cy="400110"/>
          </a:xfrm>
          <a:prstGeom prst="rect">
            <a:avLst/>
          </a:prstGeom>
          <a:noFill/>
        </p:spPr>
        <p:txBody>
          <a:bodyPr wrap="square" rtlCol="0">
            <a:spAutoFit/>
          </a:bodyPr>
          <a:lstStyle/>
          <a:p>
            <a:pPr>
              <a:spcBef>
                <a:spcPts val="600"/>
              </a:spcBef>
              <a:spcAft>
                <a:spcPts val="600"/>
              </a:spcAft>
            </a:pPr>
            <a:r>
              <a:rPr lang="en-US" altLang="zh-CN" sz="2000" dirty="0"/>
              <a:t>Insert the following code into </a:t>
            </a:r>
            <a:r>
              <a:rPr lang="en-US" altLang="zh-CN" i="1" dirty="0" err="1">
                <a:solidFill>
                  <a:schemeClr val="bg2">
                    <a:lumMod val="50000"/>
                  </a:schemeClr>
                </a:solidFill>
              </a:rPr>
              <a:t>data_utils.py</a:t>
            </a:r>
            <a:r>
              <a:rPr lang="en-US" altLang="zh-CN" sz="2000" dirty="0"/>
              <a:t>, where </a:t>
            </a:r>
            <a:r>
              <a:rPr lang="en-US" altLang="zh-CN" i="1" dirty="0" err="1">
                <a:solidFill>
                  <a:schemeClr val="bg2">
                    <a:lumMod val="50000"/>
                  </a:schemeClr>
                </a:solidFill>
              </a:rPr>
              <a:t>get_raw_dataset</a:t>
            </a:r>
            <a:r>
              <a:rPr lang="en-US" altLang="zh-CN" sz="2000" i="1" dirty="0">
                <a:solidFill>
                  <a:schemeClr val="bg2">
                    <a:lumMod val="50000"/>
                  </a:schemeClr>
                </a:solidFill>
              </a:rPr>
              <a:t> </a:t>
            </a:r>
            <a:r>
              <a:rPr lang="en-US" altLang="zh-CN" sz="2000" dirty="0"/>
              <a:t>register our dataset class.</a:t>
            </a:r>
            <a:endParaRPr lang="en-US" altLang="zh-CN" sz="2000" dirty="0"/>
          </a:p>
        </p:txBody>
      </p:sp>
      <p:pic>
        <p:nvPicPr>
          <p:cNvPr id="2" name="图片 1"/>
          <p:cNvPicPr>
            <a:picLocks noChangeAspect="1"/>
          </p:cNvPicPr>
          <p:nvPr/>
        </p:nvPicPr>
        <p:blipFill>
          <a:blip r:embed="rId2"/>
          <a:stretch>
            <a:fillRect/>
          </a:stretch>
        </p:blipFill>
        <p:spPr>
          <a:xfrm>
            <a:off x="2470150" y="2273325"/>
            <a:ext cx="7251700" cy="31242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7" y="499858"/>
            <a:ext cx="8536509" cy="830997"/>
          </a:xfrm>
          <a:prstGeom prst="rect">
            <a:avLst/>
          </a:prstGeom>
          <a:noFill/>
        </p:spPr>
        <p:txBody>
          <a:bodyPr wrap="square" rtlCol="0">
            <a:spAutoFit/>
          </a:bodyPr>
          <a:lstStyle/>
          <a:p>
            <a:r>
              <a:rPr lang="en-US" altLang="zh-CN" sz="2400" b="1" dirty="0" smtClean="0">
                <a:solidFill>
                  <a:srgbClr val="2F57D9"/>
                </a:solidFill>
                <a:latin typeface="Calibri" panose="020F0502020204030204" pitchFamily="34" charset="0"/>
                <a:cs typeface="Calibri" panose="020F0502020204030204" pitchFamily="34" charset="0"/>
              </a:rPr>
              <a:t>5.5</a:t>
            </a:r>
            <a:r>
              <a:rPr lang="en-US" altLang="zh-CN" sz="2400" b="1" dirty="0" smtClean="0">
                <a:solidFill>
                  <a:srgbClr val="2F57D9"/>
                </a:solidFill>
                <a:latin typeface="Calibri" panose="020F0502020204030204" pitchFamily="34" charset="0"/>
                <a:cs typeface="Calibri" panose="020F0502020204030204" pitchFamily="34" charset="0"/>
              </a:rPr>
              <a:t> </a:t>
            </a:r>
            <a:r>
              <a:rPr lang="en-US" altLang="zh-CN" sz="2400" b="1" dirty="0" err="1">
                <a:solidFill>
                  <a:srgbClr val="2F57D9"/>
                </a:solidFill>
                <a:latin typeface="Calibri" panose="020F0502020204030204" pitchFamily="34" charset="0"/>
                <a:cs typeface="Calibri" panose="020F0502020204030204" pitchFamily="34" charset="0"/>
              </a:rPr>
              <a:t>DeepSpeed</a:t>
            </a:r>
            <a:r>
              <a:rPr lang="en-US" altLang="zh-CN" sz="2400" b="1" dirty="0">
                <a:solidFill>
                  <a:srgbClr val="2F57D9"/>
                </a:solidFill>
                <a:latin typeface="Calibri" panose="020F0502020204030204" pitchFamily="34" charset="0"/>
                <a:cs typeface="Calibri" panose="020F0502020204030204" pitchFamily="34" charset="0"/>
              </a:rPr>
              <a:t>-Chat: Modify the Script of Step 1</a:t>
            </a:r>
            <a:endParaRPr lang="zh-CN" altLang="en-US" sz="2400" b="1" dirty="0">
              <a:solidFill>
                <a:srgbClr val="2F57D9"/>
              </a:solidFill>
              <a:latin typeface="Calibri" panose="020F0502020204030204" pitchFamily="34" charset="0"/>
              <a:cs typeface="Calibri" panose="020F0502020204030204" pitchFamily="34" charset="0"/>
            </a:endParaRPr>
          </a:p>
          <a:p>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6529819"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13427" y="1114222"/>
            <a:ext cx="11349661" cy="707886"/>
          </a:xfrm>
          <a:prstGeom prst="rect">
            <a:avLst/>
          </a:prstGeom>
          <a:noFill/>
        </p:spPr>
        <p:txBody>
          <a:bodyPr wrap="square" rtlCol="0">
            <a:spAutoFit/>
          </a:bodyPr>
          <a:lstStyle/>
          <a:p>
            <a:pPr>
              <a:spcBef>
                <a:spcPts val="600"/>
              </a:spcBef>
              <a:spcAft>
                <a:spcPts val="600"/>
              </a:spcAft>
            </a:pPr>
            <a:r>
              <a:rPr lang="en-US" altLang="zh-CN" sz="2000" dirty="0"/>
              <a:t>For step 1 SFT, modify the </a:t>
            </a:r>
            <a:r>
              <a:rPr lang="en-US" altLang="zh-CN" sz="2000" i="1" dirty="0"/>
              <a:t>training</a:t>
            </a:r>
            <a:r>
              <a:rPr lang="en-US" altLang="zh-CN" sz="2000" dirty="0"/>
              <a:t>/</a:t>
            </a:r>
            <a:r>
              <a:rPr lang="en-US" altLang="zh-CN" sz="2000" i="1" dirty="0"/>
              <a:t>step1_supervised_finetuning/</a:t>
            </a:r>
            <a:r>
              <a:rPr lang="en-US" altLang="zh-CN" sz="2000" i="1" dirty="0" err="1"/>
              <a:t>training_scripts</a:t>
            </a:r>
            <a:r>
              <a:rPr lang="en-US" altLang="zh-CN" sz="2000" i="1" dirty="0"/>
              <a:t>/llama2/run_llama2_7b.sh to run_qwen3_0.6b.sh</a:t>
            </a:r>
            <a:endParaRPr lang="en-US" altLang="zh-CN" sz="2000" i="1" dirty="0"/>
          </a:p>
        </p:txBody>
      </p:sp>
      <p:pic>
        <p:nvPicPr>
          <p:cNvPr id="6" name="图片 5"/>
          <p:cNvPicPr>
            <a:picLocks noChangeAspect="1"/>
          </p:cNvPicPr>
          <p:nvPr/>
        </p:nvPicPr>
        <p:blipFill>
          <a:blip r:embed="rId2"/>
          <a:stretch>
            <a:fillRect/>
          </a:stretch>
        </p:blipFill>
        <p:spPr>
          <a:xfrm>
            <a:off x="771526" y="1905453"/>
            <a:ext cx="5616121" cy="4197793"/>
          </a:xfrm>
          <a:prstGeom prst="rect">
            <a:avLst/>
          </a:prstGeom>
        </p:spPr>
      </p:pic>
      <p:pic>
        <p:nvPicPr>
          <p:cNvPr id="7" name="图片 6"/>
          <p:cNvPicPr>
            <a:picLocks noChangeAspect="1"/>
          </p:cNvPicPr>
          <p:nvPr/>
        </p:nvPicPr>
        <p:blipFill>
          <a:blip r:embed="rId3"/>
          <a:stretch>
            <a:fillRect/>
          </a:stretch>
        </p:blipFill>
        <p:spPr>
          <a:xfrm>
            <a:off x="5284406" y="3677546"/>
            <a:ext cx="4864100" cy="24257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7" y="499858"/>
            <a:ext cx="8536509" cy="830997"/>
          </a:xfrm>
          <a:prstGeom prst="rect">
            <a:avLst/>
          </a:prstGeom>
          <a:noFill/>
        </p:spPr>
        <p:txBody>
          <a:bodyPr wrap="square" rtlCol="0">
            <a:spAutoFit/>
          </a:bodyPr>
          <a:lstStyle/>
          <a:p>
            <a:r>
              <a:rPr lang="en-US" altLang="zh-CN" sz="2400" b="1" dirty="0" smtClean="0">
                <a:solidFill>
                  <a:srgbClr val="2F57D9"/>
                </a:solidFill>
                <a:latin typeface="Calibri" panose="020F0502020204030204" pitchFamily="34" charset="0"/>
                <a:cs typeface="Calibri" panose="020F0502020204030204" pitchFamily="34" charset="0"/>
              </a:rPr>
              <a:t>5.5</a:t>
            </a:r>
            <a:r>
              <a:rPr lang="en-US" altLang="zh-CN" sz="2400" b="1" dirty="0" smtClean="0">
                <a:solidFill>
                  <a:srgbClr val="2F57D9"/>
                </a:solidFill>
                <a:latin typeface="Calibri" panose="020F0502020204030204" pitchFamily="34" charset="0"/>
                <a:cs typeface="Calibri" panose="020F0502020204030204" pitchFamily="34" charset="0"/>
              </a:rPr>
              <a:t>. </a:t>
            </a:r>
            <a:r>
              <a:rPr lang="en-US" altLang="zh-CN" sz="2400" b="1" dirty="0" err="1">
                <a:solidFill>
                  <a:srgbClr val="2F57D9"/>
                </a:solidFill>
                <a:latin typeface="Calibri" panose="020F0502020204030204" pitchFamily="34" charset="0"/>
                <a:cs typeface="Calibri" panose="020F0502020204030204" pitchFamily="34" charset="0"/>
              </a:rPr>
              <a:t>DeepSpeed</a:t>
            </a:r>
            <a:r>
              <a:rPr lang="en-US" altLang="zh-CN" sz="2400" b="1" dirty="0">
                <a:solidFill>
                  <a:srgbClr val="2F57D9"/>
                </a:solidFill>
                <a:latin typeface="Calibri" panose="020F0502020204030204" pitchFamily="34" charset="0"/>
                <a:cs typeface="Calibri" panose="020F0502020204030204" pitchFamily="34" charset="0"/>
              </a:rPr>
              <a:t>-Chat: Training Step 1</a:t>
            </a:r>
            <a:endParaRPr lang="zh-CN" altLang="en-US" sz="2400" b="1" dirty="0">
              <a:solidFill>
                <a:srgbClr val="2F57D9"/>
              </a:solidFill>
              <a:latin typeface="Calibri" panose="020F0502020204030204" pitchFamily="34" charset="0"/>
              <a:cs typeface="Calibri" panose="020F0502020204030204" pitchFamily="34" charset="0"/>
            </a:endParaRPr>
          </a:p>
          <a:p>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5516732"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13427" y="1114222"/>
            <a:ext cx="11349661" cy="1138773"/>
          </a:xfrm>
          <a:prstGeom prst="rect">
            <a:avLst/>
          </a:prstGeom>
          <a:noFill/>
        </p:spPr>
        <p:txBody>
          <a:bodyPr wrap="square" rtlCol="0">
            <a:spAutoFit/>
          </a:bodyPr>
          <a:lstStyle/>
          <a:p>
            <a:pPr>
              <a:spcBef>
                <a:spcPts val="600"/>
              </a:spcBef>
              <a:spcAft>
                <a:spcPts val="600"/>
              </a:spcAft>
            </a:pPr>
            <a:r>
              <a:rPr lang="en-US" altLang="zh-CN" sz="2000" dirty="0"/>
              <a:t># Run this from the 'training/step1_supervised_finetuning' directory. </a:t>
            </a:r>
            <a:br>
              <a:rPr lang="en-US" altLang="zh-CN" sz="2000" dirty="0"/>
            </a:br>
            <a:r>
              <a:rPr lang="en-US" altLang="zh-CN" sz="2000" dirty="0"/>
              <a:t># This example demonstrates training on a node with 8 NVIDIA GPUs.</a:t>
            </a:r>
            <a:endParaRPr lang="en-US" altLang="zh-CN" sz="2000" dirty="0"/>
          </a:p>
          <a:p>
            <a:pPr>
              <a:spcBef>
                <a:spcPts val="600"/>
              </a:spcBef>
              <a:spcAft>
                <a:spcPts val="600"/>
              </a:spcAft>
            </a:pPr>
            <a:r>
              <a:rPr lang="en-US" altLang="zh-CN" dirty="0">
                <a:solidFill>
                  <a:schemeClr val="bg2">
                    <a:lumMod val="50000"/>
                  </a:schemeClr>
                </a:solidFill>
                <a:latin typeface="Courier New" panose="02070309020205020404" pitchFamily="49" charset="0"/>
                <a:cs typeface="Courier New" panose="02070309020205020404" pitchFamily="49" charset="0"/>
              </a:rPr>
              <a:t>CUDA_VISIBLE_DEVICES=0,1,2,3,4,5,6,7 bash </a:t>
            </a:r>
            <a:r>
              <a:rPr lang="en-US" altLang="zh-CN" dirty="0" err="1">
                <a:solidFill>
                  <a:schemeClr val="bg2">
                    <a:lumMod val="50000"/>
                  </a:schemeClr>
                </a:solidFill>
                <a:latin typeface="Courier New" panose="02070309020205020404" pitchFamily="49" charset="0"/>
                <a:cs typeface="Courier New" panose="02070309020205020404" pitchFamily="49" charset="0"/>
              </a:rPr>
              <a:t>training_scripts</a:t>
            </a:r>
            <a:r>
              <a:rPr lang="en-US" altLang="zh-CN" dirty="0">
                <a:solidFill>
                  <a:schemeClr val="bg2">
                    <a:lumMod val="50000"/>
                  </a:schemeClr>
                </a:solidFill>
                <a:latin typeface="Courier New" panose="02070309020205020404" pitchFamily="49" charset="0"/>
                <a:cs typeface="Courier New" panose="02070309020205020404" pitchFamily="49" charset="0"/>
              </a:rPr>
              <a:t>/</a:t>
            </a:r>
            <a:r>
              <a:rPr lang="en-US" altLang="zh-CN" dirty="0" err="1">
                <a:solidFill>
                  <a:schemeClr val="bg2">
                    <a:lumMod val="50000"/>
                  </a:schemeClr>
                </a:solidFill>
                <a:latin typeface="Courier New" panose="02070309020205020404" pitchFamily="49" charset="0"/>
                <a:cs typeface="Courier New" panose="02070309020205020404" pitchFamily="49" charset="0"/>
              </a:rPr>
              <a:t>qwen</a:t>
            </a:r>
            <a:r>
              <a:rPr lang="en-US" altLang="zh-CN" dirty="0">
                <a:solidFill>
                  <a:schemeClr val="bg2">
                    <a:lumMod val="50000"/>
                  </a:schemeClr>
                </a:solidFill>
                <a:latin typeface="Courier New" panose="02070309020205020404" pitchFamily="49" charset="0"/>
                <a:cs typeface="Courier New" panose="02070309020205020404" pitchFamily="49" charset="0"/>
              </a:rPr>
              <a:t>/run_qwen3_0.6b.sh</a:t>
            </a:r>
            <a:endParaRPr lang="en-US" altLang="zh-CN" dirty="0">
              <a:solidFill>
                <a:schemeClr val="bg2">
                  <a:lumMod val="50000"/>
                </a:schemeClr>
              </a:solidFill>
              <a:latin typeface="Courier New" panose="02070309020205020404" pitchFamily="49" charset="0"/>
              <a:cs typeface="Courier New" panose="02070309020205020404" pitchFamily="49" charset="0"/>
            </a:endParaRPr>
          </a:p>
        </p:txBody>
      </p:sp>
      <p:sp>
        <p:nvSpPr>
          <p:cNvPr id="3" name="文本框 2"/>
          <p:cNvSpPr txBox="1"/>
          <p:nvPr/>
        </p:nvSpPr>
        <p:spPr>
          <a:xfrm>
            <a:off x="700087" y="2248492"/>
            <a:ext cx="11065429" cy="2246769"/>
          </a:xfrm>
          <a:prstGeom prst="rect">
            <a:avLst/>
          </a:prstGeom>
          <a:noFill/>
        </p:spPr>
        <p:txBody>
          <a:bodyPr wrap="square">
            <a:spAutoFit/>
          </a:bodyPr>
          <a:lstStyle/>
          <a:p>
            <a:pPr>
              <a:buNone/>
            </a:pPr>
            <a:r>
              <a:rPr lang="en-US" altLang="zh-CN" sz="2000" b="1" dirty="0">
                <a:latin typeface="Calibri" panose="020F0502020204030204" pitchFamily="34" charset="0"/>
                <a:cs typeface="Calibri" panose="020F0502020204030204" pitchFamily="34" charset="0"/>
              </a:rPr>
              <a:t>1. Evaluation During Training</a:t>
            </a:r>
            <a:endParaRPr lang="en-US" altLang="zh-CN" sz="2000" b="1" dirty="0">
              <a:latin typeface="Calibri" panose="020F0502020204030204" pitchFamily="34" charset="0"/>
              <a:cs typeface="Calibri" panose="020F0502020204030204" pitchFamily="34" charset="0"/>
            </a:endParaRPr>
          </a:p>
          <a:p>
            <a:pPr>
              <a:buNone/>
            </a:pPr>
            <a:r>
              <a:rPr lang="en-US" altLang="zh-CN" sz="2000" dirty="0">
                <a:latin typeface="Calibri" panose="020F0502020204030204" pitchFamily="34" charset="0"/>
                <a:cs typeface="Calibri" panose="020F0502020204030204" pitchFamily="34" charset="0"/>
              </a:rPr>
              <a:t>During training, periodic evaluations are performed to calculate </a:t>
            </a:r>
            <a:r>
              <a:rPr lang="en-US" altLang="zh-CN" sz="2000" b="1" dirty="0">
                <a:latin typeface="Calibri" panose="020F0502020204030204" pitchFamily="34" charset="0"/>
                <a:cs typeface="Calibri" panose="020F0502020204030204" pitchFamily="34" charset="0"/>
              </a:rPr>
              <a:t>Perplexity (PPL)</a:t>
            </a:r>
            <a:r>
              <a:rPr lang="en-US" altLang="zh-CN" sz="2000" dirty="0">
                <a:latin typeface="Calibri" panose="020F0502020204030204" pitchFamily="34" charset="0"/>
                <a:cs typeface="Calibri" panose="020F0502020204030204" pitchFamily="34" charset="0"/>
              </a:rPr>
              <a:t>. An evaluation is triggered at the end of every epoch, and the PPL should</a:t>
            </a:r>
            <a:r>
              <a:rPr lang="zh-CN" altLang="en-US" sz="2000" dirty="0">
                <a:latin typeface="Calibri" panose="020F0502020204030204" pitchFamily="34" charset="0"/>
                <a:cs typeface="Calibri" panose="020F0502020204030204" pitchFamily="34" charset="0"/>
              </a:rPr>
              <a:t> </a:t>
            </a:r>
            <a:r>
              <a:rPr lang="en-US" altLang="zh-CN" sz="2000" dirty="0">
                <a:latin typeface="Calibri" panose="020F0502020204030204" pitchFamily="34" charset="0"/>
                <a:cs typeface="Calibri" panose="020F0502020204030204" pitchFamily="34" charset="0"/>
              </a:rPr>
              <a:t>gradually decrease as the model learns.</a:t>
            </a:r>
            <a:endParaRPr lang="en-US" altLang="zh-CN" sz="2000" dirty="0">
              <a:latin typeface="Calibri" panose="020F0502020204030204" pitchFamily="34" charset="0"/>
              <a:cs typeface="Calibri" panose="020F0502020204030204" pitchFamily="34" charset="0"/>
            </a:endParaRPr>
          </a:p>
          <a:p>
            <a:pPr>
              <a:buNone/>
            </a:pPr>
            <a:endParaRPr lang="en-US" altLang="zh-CN" sz="2000" dirty="0">
              <a:latin typeface="Calibri" panose="020F0502020204030204" pitchFamily="34" charset="0"/>
              <a:cs typeface="Calibri" panose="020F0502020204030204" pitchFamily="34" charset="0"/>
            </a:endParaRPr>
          </a:p>
          <a:p>
            <a:pPr>
              <a:buNone/>
            </a:pPr>
            <a:r>
              <a:rPr lang="en-US" altLang="zh-CN" sz="2000" b="1" dirty="0">
                <a:latin typeface="Calibri" panose="020F0502020204030204" pitchFamily="34" charset="0"/>
                <a:cs typeface="Calibri" panose="020F0502020204030204" pitchFamily="34" charset="0"/>
              </a:rPr>
              <a:t>2. Model Inference &amp; Chat Testing</a:t>
            </a:r>
            <a:endParaRPr lang="en-US" altLang="zh-CN" sz="2000" b="1" dirty="0">
              <a:latin typeface="Calibri" panose="020F0502020204030204" pitchFamily="34" charset="0"/>
              <a:cs typeface="Calibri" panose="020F0502020204030204" pitchFamily="34" charset="0"/>
            </a:endParaRPr>
          </a:p>
          <a:p>
            <a:pPr>
              <a:buNone/>
            </a:pPr>
            <a:r>
              <a:rPr lang="en-US" altLang="zh-CN" sz="2000" dirty="0">
                <a:latin typeface="Calibri" panose="020F0502020204030204" pitchFamily="34" charset="0"/>
                <a:cs typeface="Calibri" panose="020F0502020204030204" pitchFamily="34" charset="0"/>
              </a:rPr>
              <a:t>Once training is complete, the </a:t>
            </a:r>
            <a:r>
              <a:rPr lang="en-US" altLang="zh-CN" sz="2000" i="1" dirty="0" err="1">
                <a:solidFill>
                  <a:schemeClr val="bg2">
                    <a:lumMod val="50000"/>
                  </a:schemeClr>
                </a:solidFill>
                <a:latin typeface="Calibri" panose="020F0502020204030204" pitchFamily="34" charset="0"/>
                <a:cs typeface="Calibri" panose="020F0502020204030204" pitchFamily="34" charset="0"/>
              </a:rPr>
              <a:t>chat.py</a:t>
            </a:r>
            <a:r>
              <a:rPr lang="en-US" altLang="zh-CN" sz="2000" dirty="0">
                <a:latin typeface="Calibri" panose="020F0502020204030204" pitchFamily="34" charset="0"/>
                <a:cs typeface="Calibri" panose="020F0502020204030204" pitchFamily="34" charset="0"/>
              </a:rPr>
              <a:t> script located in the </a:t>
            </a:r>
            <a:r>
              <a:rPr lang="en-US" altLang="zh-CN" sz="2000" dirty="0" err="1">
                <a:latin typeface="Calibri" panose="020F0502020204030204" pitchFamily="34" charset="0"/>
                <a:cs typeface="Calibri" panose="020F0502020204030204" pitchFamily="34" charset="0"/>
              </a:rPr>
              <a:t>DeepSpeed</a:t>
            </a:r>
            <a:r>
              <a:rPr lang="en-US" altLang="zh-CN" sz="2000" dirty="0">
                <a:latin typeface="Calibri" panose="020F0502020204030204" pitchFamily="34" charset="0"/>
                <a:cs typeface="Calibri" panose="020F0502020204030204" pitchFamily="34" charset="0"/>
              </a:rPr>
              <a:t>-Chat root directory can be used for interactive inference. Simply point the path parameter to the newly trained model's directory.</a:t>
            </a:r>
            <a:endParaRPr lang="en-US" altLang="zh-CN" sz="2000" dirty="0">
              <a:latin typeface="Calibri" panose="020F0502020204030204" pitchFamily="34" charset="0"/>
              <a:cs typeface="Calibri" panose="020F0502020204030204" pitchFamily="34" charset="0"/>
            </a:endParaRPr>
          </a:p>
        </p:txBody>
      </p:sp>
      <p:sp>
        <p:nvSpPr>
          <p:cNvPr id="13" name="TextBox 3"/>
          <p:cNvSpPr txBox="1"/>
          <p:nvPr/>
        </p:nvSpPr>
        <p:spPr>
          <a:xfrm>
            <a:off x="613426" y="4688351"/>
            <a:ext cx="11349661" cy="1138773"/>
          </a:xfrm>
          <a:prstGeom prst="rect">
            <a:avLst/>
          </a:prstGeom>
          <a:noFill/>
        </p:spPr>
        <p:txBody>
          <a:bodyPr wrap="square" rtlCol="0">
            <a:spAutoFit/>
          </a:bodyPr>
          <a:lstStyle/>
          <a:p>
            <a:pPr>
              <a:spcBef>
                <a:spcPts val="600"/>
              </a:spcBef>
              <a:spcAft>
                <a:spcPts val="600"/>
              </a:spcAft>
            </a:pPr>
            <a:r>
              <a:rPr lang="en-US" altLang="zh-CN" sz="2000" dirty="0"/>
              <a:t># Run this from the 'training/step1_supervised_finetuning' directory. </a:t>
            </a:r>
            <a:br>
              <a:rPr lang="en-US" altLang="zh-CN" sz="2000" dirty="0"/>
            </a:br>
            <a:r>
              <a:rPr lang="en-US" altLang="zh-CN" sz="2000" dirty="0"/>
              <a:t># This example demonstrates training on a node with 8 NVIDIA </a:t>
            </a:r>
            <a:r>
              <a:rPr lang="en-US" altLang="zh-CN" sz="2000" dirty="0" smtClean="0"/>
              <a:t>5090 </a:t>
            </a:r>
            <a:r>
              <a:rPr lang="en-US" altLang="zh-CN" sz="2000" dirty="0"/>
              <a:t>GPUs.</a:t>
            </a:r>
            <a:endParaRPr lang="en-US" altLang="zh-CN" sz="2000" dirty="0"/>
          </a:p>
          <a:p>
            <a:pPr>
              <a:spcBef>
                <a:spcPts val="600"/>
              </a:spcBef>
              <a:spcAft>
                <a:spcPts val="600"/>
              </a:spcAft>
            </a:pPr>
            <a:r>
              <a:rPr lang="en-US" altLang="zh-CN" dirty="0">
                <a:solidFill>
                  <a:schemeClr val="bg2">
                    <a:lumMod val="50000"/>
                  </a:schemeClr>
                </a:solidFill>
                <a:latin typeface="Courier New" panose="02070309020205020404" pitchFamily="49" charset="0"/>
                <a:cs typeface="Courier New" panose="02070309020205020404" pitchFamily="49" charset="0"/>
              </a:rPr>
              <a:t>CUDA_VISIBLE_DEVICES=0,1,2,3,4,5,6,7 bash </a:t>
            </a:r>
            <a:r>
              <a:rPr lang="en-US" altLang="zh-CN" dirty="0" err="1">
                <a:solidFill>
                  <a:schemeClr val="bg2">
                    <a:lumMod val="50000"/>
                  </a:schemeClr>
                </a:solidFill>
                <a:latin typeface="Courier New" panose="02070309020205020404" pitchFamily="49" charset="0"/>
                <a:cs typeface="Courier New" panose="02070309020205020404" pitchFamily="49" charset="0"/>
              </a:rPr>
              <a:t>training_scripts</a:t>
            </a:r>
            <a:r>
              <a:rPr lang="en-US" altLang="zh-CN" dirty="0">
                <a:solidFill>
                  <a:schemeClr val="bg2">
                    <a:lumMod val="50000"/>
                  </a:schemeClr>
                </a:solidFill>
                <a:latin typeface="Courier New" panose="02070309020205020404" pitchFamily="49" charset="0"/>
                <a:cs typeface="Courier New" panose="02070309020205020404" pitchFamily="49" charset="0"/>
              </a:rPr>
              <a:t>/</a:t>
            </a:r>
            <a:r>
              <a:rPr lang="en-US" altLang="zh-CN" dirty="0" err="1">
                <a:solidFill>
                  <a:schemeClr val="bg2">
                    <a:lumMod val="50000"/>
                  </a:schemeClr>
                </a:solidFill>
                <a:latin typeface="Courier New" panose="02070309020205020404" pitchFamily="49" charset="0"/>
                <a:cs typeface="Courier New" panose="02070309020205020404" pitchFamily="49" charset="0"/>
              </a:rPr>
              <a:t>qwen</a:t>
            </a:r>
            <a:r>
              <a:rPr lang="en-US" altLang="zh-CN" dirty="0">
                <a:solidFill>
                  <a:schemeClr val="bg2">
                    <a:lumMod val="50000"/>
                  </a:schemeClr>
                </a:solidFill>
                <a:latin typeface="Courier New" panose="02070309020205020404" pitchFamily="49" charset="0"/>
                <a:cs typeface="Courier New" panose="02070309020205020404" pitchFamily="49" charset="0"/>
              </a:rPr>
              <a:t>/run_qwen3_0.6b.sh</a:t>
            </a:r>
            <a:endParaRPr lang="en-US" altLang="zh-CN" dirty="0">
              <a:solidFill>
                <a:schemeClr val="bg2">
                  <a:lumMod val="50000"/>
                </a:schemeClr>
              </a:solidFill>
              <a:latin typeface="Courier New" panose="02070309020205020404" pitchFamily="49" charset="0"/>
              <a:cs typeface="Courier New" panose="02070309020205020404" pitchFamily="49"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a:t>Lecture </a:t>
            </a:r>
            <a:r>
              <a:rPr lang="en-US" altLang="zh-CN" sz="1500" smtClean="0"/>
              <a:t>1   </a:t>
            </a:r>
            <a:r>
              <a:rPr lang="en-US" altLang="zh-CN" sz="1500" dirty="0"/>
              <a:t>						  				            		</a:t>
            </a:r>
            <a:endParaRPr lang="zh-CN" altLang="en-US" sz="1500" dirty="0"/>
          </a:p>
        </p:txBody>
      </p:sp>
      <p:sp>
        <p:nvSpPr>
          <p:cNvPr id="8" name="文本框 4"/>
          <p:cNvSpPr txBox="1"/>
          <p:nvPr/>
        </p:nvSpPr>
        <p:spPr>
          <a:xfrm>
            <a:off x="2872091" y="1673270"/>
            <a:ext cx="4793456" cy="523220"/>
          </a:xfrm>
          <a:prstGeom prst="rect">
            <a:avLst/>
          </a:prstGeom>
          <a:noFill/>
        </p:spPr>
        <p:txBody>
          <a:bodyPr wrap="square" rtlCol="0">
            <a:spAutoFit/>
          </a:bodyPr>
          <a:lstStyle/>
          <a:p>
            <a:r>
              <a:rPr lang="en-US" altLang="zh-CN" sz="2800" b="1" dirty="0">
                <a:solidFill>
                  <a:srgbClr val="2F57D9"/>
                </a:solidFill>
                <a:latin typeface="Calibri" panose="020F0502020204030204" pitchFamily="34" charset="0"/>
                <a:cs typeface="Calibri" panose="020F0502020204030204" pitchFamily="34" charset="0"/>
              </a:rPr>
              <a:t>Outline</a:t>
            </a:r>
            <a:endParaRPr lang="zh-CN" altLang="en-US" sz="2800" b="1" dirty="0">
              <a:solidFill>
                <a:srgbClr val="2F57D9"/>
              </a:solidFill>
              <a:latin typeface="Calibri" panose="020F0502020204030204" pitchFamily="34" charset="0"/>
              <a:cs typeface="Calibri" panose="020F0502020204030204" pitchFamily="34" charset="0"/>
            </a:endParaRPr>
          </a:p>
        </p:txBody>
      </p:sp>
      <p:sp>
        <p:nvSpPr>
          <p:cNvPr id="9" name="文本框 6"/>
          <p:cNvSpPr txBox="1"/>
          <p:nvPr/>
        </p:nvSpPr>
        <p:spPr>
          <a:xfrm>
            <a:off x="2943526" y="2184068"/>
            <a:ext cx="6524897" cy="1985159"/>
          </a:xfrm>
          <a:prstGeom prst="rect">
            <a:avLst/>
          </a:prstGeom>
          <a:noFill/>
        </p:spPr>
        <p:txBody>
          <a:bodyPr wrap="square" rtlCol="0">
            <a:spAutoFit/>
          </a:bodyPr>
          <a:lstStyle/>
          <a:p>
            <a:pPr marL="285750" indent="-285750">
              <a:lnSpc>
                <a:spcPct val="150000"/>
              </a:lnSpc>
              <a:buClr>
                <a:srgbClr val="2F57D9"/>
              </a:buClr>
              <a:buSzPct val="70000"/>
              <a:buFont typeface="Wingdings" panose="05000000000000000000" pitchFamily="2" charset="2"/>
              <a:buChar char="n"/>
            </a:pPr>
            <a:r>
              <a:rPr lang="en-US" altLang="zh-CN" sz="2200" dirty="0" smtClean="0">
                <a:latin typeface="Calibri" panose="020F0502020204030204" pitchFamily="34" charset="0"/>
                <a:cs typeface="Calibri" panose="020F0502020204030204" pitchFamily="34" charset="0"/>
              </a:rPr>
              <a:t>5 The Life Cycle of Large Language Models</a:t>
            </a:r>
            <a:endParaRPr lang="en-US" altLang="zh-CN" sz="2200" dirty="0">
              <a:latin typeface="Calibri" panose="020F0502020204030204" pitchFamily="34" charset="0"/>
              <a:cs typeface="Calibri" panose="020F0502020204030204" pitchFamily="34" charset="0"/>
            </a:endParaRPr>
          </a:p>
          <a:p>
            <a:pPr marL="742950" lvl="1" indent="-285750">
              <a:lnSpc>
                <a:spcPct val="150000"/>
              </a:lnSpc>
              <a:buClr>
                <a:srgbClr val="2F57D9"/>
              </a:buClr>
              <a:buSzPct val="70000"/>
              <a:buFont typeface="Wingdings" panose="05000000000000000000" pitchFamily="2" charset="2"/>
              <a:buChar char="n"/>
            </a:pPr>
            <a:r>
              <a:rPr lang="en-US" altLang="zh-CN" sz="2000" dirty="0">
                <a:solidFill>
                  <a:schemeClr val="bg1">
                    <a:lumMod val="65000"/>
                  </a:schemeClr>
                </a:solidFill>
                <a:latin typeface="Calibri" panose="020F0502020204030204" pitchFamily="34" charset="0"/>
                <a:cs typeface="Calibri" panose="020F0502020204030204" pitchFamily="34" charset="0"/>
              </a:rPr>
              <a:t>5.4 Data Construction</a:t>
            </a:r>
            <a:endParaRPr lang="en-US" altLang="zh-CN" sz="2000" dirty="0">
              <a:solidFill>
                <a:schemeClr val="bg1">
                  <a:lumMod val="65000"/>
                </a:schemeClr>
              </a:solidFill>
              <a:latin typeface="Calibri" panose="020F0502020204030204" pitchFamily="34" charset="0"/>
              <a:cs typeface="Calibri" panose="020F0502020204030204" pitchFamily="34" charset="0"/>
            </a:endParaRPr>
          </a:p>
          <a:p>
            <a:pPr marL="742950" lvl="1" indent="-285750">
              <a:lnSpc>
                <a:spcPct val="150000"/>
              </a:lnSpc>
              <a:buClr>
                <a:srgbClr val="2F57D9"/>
              </a:buClr>
              <a:buSzPct val="70000"/>
              <a:buFont typeface="Wingdings" panose="05000000000000000000" pitchFamily="2" charset="2"/>
              <a:buChar char="n"/>
            </a:pPr>
            <a:r>
              <a:rPr lang="en-US" altLang="zh-CN" sz="2000" dirty="0">
                <a:solidFill>
                  <a:schemeClr val="bg1">
                    <a:lumMod val="65000"/>
                  </a:schemeClr>
                </a:solidFill>
                <a:latin typeface="Calibri" panose="020F0502020204030204" pitchFamily="34" charset="0"/>
                <a:cs typeface="Calibri" panose="020F0502020204030204" pitchFamily="34" charset="0"/>
              </a:rPr>
              <a:t>5.5 </a:t>
            </a:r>
            <a:r>
              <a:rPr lang="en-US" altLang="zh-CN" sz="2000" dirty="0" err="1">
                <a:solidFill>
                  <a:schemeClr val="bg1">
                    <a:lumMod val="65000"/>
                  </a:schemeClr>
                </a:solidFill>
                <a:latin typeface="Calibri" panose="020F0502020204030204" pitchFamily="34" charset="0"/>
                <a:cs typeface="Calibri" panose="020F0502020204030204" pitchFamily="34" charset="0"/>
              </a:rPr>
              <a:t>DeepSpeed</a:t>
            </a:r>
            <a:r>
              <a:rPr lang="en-US" altLang="zh-CN" sz="2000" dirty="0">
                <a:solidFill>
                  <a:schemeClr val="bg1">
                    <a:lumMod val="65000"/>
                  </a:schemeClr>
                </a:solidFill>
                <a:latin typeface="Calibri" panose="020F0502020204030204" pitchFamily="34" charset="0"/>
                <a:cs typeface="Calibri" panose="020F0502020204030204" pitchFamily="34" charset="0"/>
              </a:rPr>
              <a:t>-Chat SFT </a:t>
            </a:r>
            <a:endParaRPr lang="en-US" altLang="zh-CN" sz="2000" dirty="0">
              <a:solidFill>
                <a:schemeClr val="bg1">
                  <a:lumMod val="65000"/>
                </a:schemeClr>
              </a:solidFill>
              <a:latin typeface="Calibri" panose="020F0502020204030204" pitchFamily="34" charset="0"/>
              <a:cs typeface="Calibri" panose="020F0502020204030204" pitchFamily="34" charset="0"/>
            </a:endParaRPr>
          </a:p>
          <a:p>
            <a:pPr marL="742950" lvl="1" indent="-285750">
              <a:lnSpc>
                <a:spcPct val="150000"/>
              </a:lnSpc>
              <a:buClr>
                <a:srgbClr val="2F57D9"/>
              </a:buClr>
              <a:buSzPct val="70000"/>
              <a:buFont typeface="Wingdings" panose="05000000000000000000" pitchFamily="2" charset="2"/>
              <a:buChar char="n"/>
            </a:pPr>
            <a:r>
              <a:rPr lang="en-US" altLang="zh-CN" sz="2000" dirty="0">
                <a:latin typeface="Calibri" panose="020F0502020204030204" pitchFamily="34" charset="0"/>
                <a:cs typeface="Calibri" panose="020F0502020204030204" pitchFamily="34" charset="0"/>
              </a:rPr>
              <a:t>5.6 Model Distillation</a:t>
            </a:r>
            <a:endParaRPr lang="en-US" altLang="zh-CN" sz="2000" dirty="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7" y="499858"/>
            <a:ext cx="8536509" cy="830997"/>
          </a:xfrm>
          <a:prstGeom prst="rect">
            <a:avLst/>
          </a:prstGeom>
          <a:noFill/>
        </p:spPr>
        <p:txBody>
          <a:bodyPr wrap="square" rtlCol="0">
            <a:spAutoFit/>
          </a:bodyPr>
          <a:lstStyle/>
          <a:p>
            <a:r>
              <a:rPr lang="en-US" altLang="zh-CN" sz="2400" b="1" dirty="0" smtClean="0">
                <a:solidFill>
                  <a:srgbClr val="2F57D9"/>
                </a:solidFill>
                <a:latin typeface="Calibri" panose="020F0502020204030204" pitchFamily="34" charset="0"/>
                <a:cs typeface="Calibri" panose="020F0502020204030204" pitchFamily="34" charset="0"/>
              </a:rPr>
              <a:t>5.6 </a:t>
            </a:r>
            <a:r>
              <a:rPr lang="en-US" altLang="zh-CN" sz="2400" b="1" dirty="0">
                <a:solidFill>
                  <a:srgbClr val="2F57D9"/>
                </a:solidFill>
                <a:latin typeface="Calibri" panose="020F0502020204030204" pitchFamily="34" charset="0"/>
                <a:cs typeface="Calibri" panose="020F0502020204030204" pitchFamily="34" charset="0"/>
              </a:rPr>
              <a:t>Model Distillation: Scaling Down Large Language Models</a:t>
            </a:r>
            <a:endParaRPr lang="zh-CN" altLang="en-US" sz="2400" b="1" dirty="0">
              <a:solidFill>
                <a:srgbClr val="2F57D9"/>
              </a:solidFill>
              <a:latin typeface="Calibri" panose="020F0502020204030204" pitchFamily="34" charset="0"/>
              <a:cs typeface="Calibri" panose="020F0502020204030204" pitchFamily="34" charset="0"/>
            </a:endParaRPr>
          </a:p>
          <a:p>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8053819"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544154" y="1030876"/>
            <a:ext cx="11349661" cy="505267"/>
          </a:xfrm>
          <a:prstGeom prst="rect">
            <a:avLst/>
          </a:prstGeom>
          <a:noFill/>
        </p:spPr>
        <p:txBody>
          <a:bodyPr wrap="square" rtlCol="0">
            <a:spAutoFit/>
          </a:bodyPr>
          <a:lstStyle/>
          <a:p>
            <a:pPr marL="285750" lvl="1" indent="-285750" algn="just">
              <a:lnSpc>
                <a:spcPct val="150000"/>
              </a:lnSpc>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How AI teaches AI to be efficient.</a:t>
            </a:r>
            <a:endParaRPr lang="en-US" sz="2000" dirty="0"/>
          </a:p>
        </p:txBody>
      </p:sp>
      <p:pic>
        <p:nvPicPr>
          <p:cNvPr id="3" name="Picture 2"/>
          <p:cNvPicPr>
            <a:picLocks noChangeAspect="1"/>
          </p:cNvPicPr>
          <p:nvPr/>
        </p:nvPicPr>
        <p:blipFill>
          <a:blip r:embed="rId2"/>
          <a:stretch>
            <a:fillRect/>
          </a:stretch>
        </p:blipFill>
        <p:spPr>
          <a:xfrm>
            <a:off x="1502952" y="1536143"/>
            <a:ext cx="9186096" cy="501467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7" y="499858"/>
            <a:ext cx="9787804" cy="461665"/>
          </a:xfrm>
          <a:prstGeom prst="rect">
            <a:avLst/>
          </a:prstGeom>
          <a:noFill/>
        </p:spPr>
        <p:txBody>
          <a:bodyPr wrap="square" rtlCol="0">
            <a:spAutoFit/>
          </a:bodyPr>
          <a:lstStyle/>
          <a:p>
            <a:r>
              <a:rPr lang="en-US" altLang="zh-CN" sz="2400" b="1" dirty="0">
                <a:solidFill>
                  <a:srgbClr val="2F57D9"/>
                </a:solidFill>
                <a:latin typeface="Calibri" panose="020F0502020204030204" pitchFamily="34" charset="0"/>
                <a:cs typeface="Calibri" panose="020F0502020204030204" pitchFamily="34" charset="0"/>
              </a:rPr>
              <a:t>5.6 Model Distillation: The Problem with Supervised Fine-Tuning (SFT</a:t>
            </a:r>
            <a:r>
              <a:rPr lang="en-US" altLang="zh-CN" sz="2400" b="1" dirty="0" smtClean="0">
                <a:solidFill>
                  <a:srgbClr val="2F57D9"/>
                </a:solidFill>
                <a:latin typeface="Calibri" panose="020F0502020204030204" pitchFamily="34" charset="0"/>
                <a:cs typeface="Calibri" panose="020F0502020204030204" pitchFamily="34" charset="0"/>
              </a:rPr>
              <a:t>)</a:t>
            </a:r>
            <a:endParaRPr lang="zh-CN" altLang="en-US"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9065201"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66127" y="1180866"/>
            <a:ext cx="11349661" cy="1430456"/>
          </a:xfrm>
          <a:prstGeom prst="rect">
            <a:avLst/>
          </a:prstGeom>
          <a:noFill/>
        </p:spPr>
        <p:txBody>
          <a:bodyPr wrap="square" rtlCol="0">
            <a:spAutoFit/>
          </a:bodyPr>
          <a:lstStyle/>
          <a:p>
            <a:pPr marL="285750" lvl="1" indent="-285750" algn="just">
              <a:lnSpc>
                <a:spcPct val="150000"/>
              </a:lnSpc>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Base models need instruction data to become helpful assistants (SFT).</a:t>
            </a:r>
            <a:endParaRPr lang="en-US" sz="2000" dirty="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Manual data creation requires human experts writing prompts and answers.</a:t>
            </a:r>
            <a:endParaRPr lang="en-US" sz="2000" dirty="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sz="2000" b="1" dirty="0">
                <a:solidFill>
                  <a:prstClr val="black"/>
                </a:solidFill>
                <a:latin typeface="Times New Roman" panose="02020603050405020304" charset="0"/>
                <a:ea typeface="Times New Roman" panose="02020603050405020304" charset="0"/>
                <a:cs typeface="Times New Roman" panose="02020603050405020304" charset="0"/>
              </a:rPr>
              <a:t>The Bottleneck: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This is incredibly slow, expensive, and difficult to scale.</a:t>
            </a:r>
            <a:endParaRPr lang="en-US" sz="2000" dirty="0">
              <a:solidFill>
                <a:prstClr val="black"/>
              </a:solidFill>
              <a:latin typeface="Times New Roman" panose="02020603050405020304" charset="0"/>
              <a:ea typeface="Times New Roman" panose="02020603050405020304" charset="0"/>
              <a:cs typeface="Times New Roman" panose="02020603050405020304" charset="0"/>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5669" y="2761311"/>
            <a:ext cx="6296914" cy="3756268"/>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7" y="499858"/>
            <a:ext cx="8536509" cy="830997"/>
          </a:xfrm>
          <a:prstGeom prst="rect">
            <a:avLst/>
          </a:prstGeom>
          <a:noFill/>
        </p:spPr>
        <p:txBody>
          <a:bodyPr wrap="square" rtlCol="0">
            <a:spAutoFit/>
          </a:bodyPr>
          <a:lstStyle/>
          <a:p>
            <a:r>
              <a:rPr lang="en-US" altLang="zh-CN" sz="2400" b="1" dirty="0">
                <a:solidFill>
                  <a:srgbClr val="2F57D9"/>
                </a:solidFill>
                <a:latin typeface="Calibri" panose="020F0502020204030204" pitchFamily="34" charset="0"/>
                <a:cs typeface="Calibri" panose="020F0502020204030204" pitchFamily="34" charset="0"/>
              </a:rPr>
              <a:t>5.6 Model Distillation: Self-Instruct</a:t>
            </a:r>
            <a:endParaRPr lang="zh-CN" altLang="en-US" sz="2400" b="1" dirty="0">
              <a:solidFill>
                <a:srgbClr val="2F57D9"/>
              </a:solidFill>
              <a:latin typeface="Calibri" panose="020F0502020204030204" pitchFamily="34" charset="0"/>
              <a:cs typeface="Calibri" panose="020F0502020204030204" pitchFamily="34" charset="0"/>
            </a:endParaRPr>
          </a:p>
          <a:p>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5516732"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66127" y="1030876"/>
            <a:ext cx="11349661" cy="4708981"/>
          </a:xfrm>
          <a:prstGeom prst="rect">
            <a:avLst/>
          </a:prstGeom>
          <a:noFill/>
        </p:spPr>
        <p:txBody>
          <a:bodyPr wrap="square" rtlCol="0">
            <a:spAutoFit/>
          </a:bodyPr>
          <a:lstStyle/>
          <a:p>
            <a:pPr marL="285750" lvl="1" indent="-285750" algn="just">
              <a:lnSpc>
                <a:spcPct val="150000"/>
              </a:lnSpc>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What is </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Self-Instruction?</a:t>
            </a: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Instead of humans writing data, we use an advanced LLM to generate its own training data </a:t>
            </a: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sz="2000" b="1" dirty="0" smtClean="0">
                <a:solidFill>
                  <a:prstClr val="black"/>
                </a:solidFill>
                <a:latin typeface="Times New Roman" panose="02020603050405020304" charset="0"/>
                <a:ea typeface="Times New Roman" panose="02020603050405020304" charset="0"/>
                <a:cs typeface="Times New Roman" panose="02020603050405020304" charset="0"/>
              </a:rPr>
              <a:t>The </a:t>
            </a:r>
            <a:r>
              <a:rPr lang="en-US" sz="2000" b="1" dirty="0">
                <a:solidFill>
                  <a:prstClr val="black"/>
                </a:solidFill>
                <a:latin typeface="Times New Roman" panose="02020603050405020304" charset="0"/>
                <a:ea typeface="Times New Roman" panose="02020603050405020304" charset="0"/>
                <a:cs typeface="Times New Roman" panose="02020603050405020304" charset="0"/>
              </a:rPr>
              <a:t>Goal</a:t>
            </a:r>
            <a:r>
              <a:rPr lang="en-US" sz="2000" dirty="0">
                <a:solidFill>
                  <a:prstClr val="black"/>
                </a:solidFill>
                <a:latin typeface="Times New Roman" panose="02020603050405020304" charset="0"/>
                <a:ea typeface="Times New Roman" panose="02020603050405020304" charset="0"/>
                <a:cs typeface="Times New Roman" panose="02020603050405020304" charset="0"/>
              </a:rPr>
              <a:t>: Automate the creation of diverse, high-quality instruction-following </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pairs</a:t>
            </a:r>
            <a:endParaRPr lang="en-US" sz="2000" dirty="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sz="2000" b="1" dirty="0">
                <a:solidFill>
                  <a:prstClr val="black"/>
                </a:solidFill>
                <a:latin typeface="Times New Roman" panose="02020603050405020304" charset="0"/>
                <a:ea typeface="Times New Roman" panose="02020603050405020304" charset="0"/>
                <a:cs typeface="Times New Roman" panose="02020603050405020304" charset="0"/>
              </a:rPr>
              <a:t>Change</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 from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the human-curated paradigm to the AI-generated paradigm</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a:t>
            </a: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buClr>
                <a:srgbClr val="2F57D9"/>
              </a:buClr>
              <a:buSzPct val="70000"/>
              <a:buFont typeface="Wingdings" panose="05000000000000000000" pitchFamily="2" charset="2"/>
              <a:buChar char="n"/>
            </a:pPr>
            <a:r>
              <a:rPr lang="en-US" sz="2000" b="1" dirty="0" smtClean="0">
                <a:solidFill>
                  <a:prstClr val="black"/>
                </a:solidFill>
                <a:latin typeface="Times New Roman" panose="02020603050405020304" charset="0"/>
                <a:ea typeface="Times New Roman" panose="02020603050405020304" charset="0"/>
                <a:cs typeface="Times New Roman" panose="02020603050405020304" charset="0"/>
              </a:rPr>
              <a:t>Representative </a:t>
            </a:r>
            <a:r>
              <a:rPr lang="en-US" sz="2000" b="1" dirty="0">
                <a:solidFill>
                  <a:prstClr val="black"/>
                </a:solidFill>
                <a:latin typeface="Times New Roman" panose="02020603050405020304" charset="0"/>
                <a:ea typeface="Times New Roman" panose="02020603050405020304" charset="0"/>
                <a:cs typeface="Times New Roman" panose="02020603050405020304" charset="0"/>
              </a:rPr>
              <a:t>work</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 Self-Instruct [1]</a:t>
            </a:r>
            <a:endParaRPr lang="en-US" sz="2000" dirty="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buClr>
                <a:srgbClr val="2F57D9"/>
              </a:buClr>
              <a:buSzPct val="70000"/>
              <a:buFont typeface="Wingdings" panose="05000000000000000000" pitchFamily="2" charset="2"/>
              <a:buChar char="n"/>
            </a:pP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p:txBody>
      </p:sp>
      <p:pic>
        <p:nvPicPr>
          <p:cNvPr id="2" name="Picture 1"/>
          <p:cNvPicPr>
            <a:picLocks noChangeAspect="1"/>
          </p:cNvPicPr>
          <p:nvPr/>
        </p:nvPicPr>
        <p:blipFill>
          <a:blip r:embed="rId2"/>
          <a:stretch>
            <a:fillRect/>
          </a:stretch>
        </p:blipFill>
        <p:spPr>
          <a:xfrm>
            <a:off x="2762979" y="3295569"/>
            <a:ext cx="7155956" cy="2474768"/>
          </a:xfrm>
          <a:prstGeom prst="rect">
            <a:avLst/>
          </a:prstGeom>
        </p:spPr>
      </p:pic>
      <p:sp>
        <p:nvSpPr>
          <p:cNvPr id="3" name="TextBox 2"/>
          <p:cNvSpPr txBox="1"/>
          <p:nvPr/>
        </p:nvSpPr>
        <p:spPr>
          <a:xfrm>
            <a:off x="666127" y="5904190"/>
            <a:ext cx="8825106" cy="800219"/>
          </a:xfrm>
          <a:prstGeom prst="rect">
            <a:avLst/>
          </a:prstGeom>
          <a:noFill/>
        </p:spPr>
        <p:txBody>
          <a:bodyPr wrap="square" rtlCol="0">
            <a:spAutoFit/>
          </a:bodyPr>
          <a:lstStyle/>
          <a:p>
            <a:pPr marL="0" lvl="1"/>
            <a:r>
              <a:rPr lang="en-US" sz="1400" dirty="0">
                <a:solidFill>
                  <a:prstClr val="black"/>
                </a:solidFill>
                <a:latin typeface="Times New Roman" panose="02020603050405020304" charset="0"/>
                <a:ea typeface="Times New Roman" panose="02020603050405020304" charset="0"/>
                <a:cs typeface="Times New Roman" panose="02020603050405020304" charset="0"/>
              </a:rPr>
              <a:t>[1] Wang, </a:t>
            </a:r>
            <a:r>
              <a:rPr lang="en-US" sz="1400" dirty="0" err="1">
                <a:solidFill>
                  <a:prstClr val="black"/>
                </a:solidFill>
                <a:latin typeface="Times New Roman" panose="02020603050405020304" charset="0"/>
                <a:ea typeface="Times New Roman" panose="02020603050405020304" charset="0"/>
                <a:cs typeface="Times New Roman" panose="02020603050405020304" charset="0"/>
              </a:rPr>
              <a:t>Yizhong</a:t>
            </a:r>
            <a:r>
              <a:rPr lang="en-US" sz="1400" dirty="0">
                <a:solidFill>
                  <a:prstClr val="black"/>
                </a:solidFill>
                <a:latin typeface="Times New Roman" panose="02020603050405020304" charset="0"/>
                <a:ea typeface="Times New Roman" panose="02020603050405020304" charset="0"/>
                <a:cs typeface="Times New Roman" panose="02020603050405020304" charset="0"/>
              </a:rPr>
              <a:t>, et al. "Self-instruct: Aligning language models with self-generated instructions." Proceedings of the 61st annual meeting of the association for computational linguistics (volume 1: long papers). 2023.</a:t>
            </a:r>
            <a:endParaRPr lang="en-US" sz="1400" dirty="0">
              <a:solidFill>
                <a:prstClr val="black"/>
              </a:solidFill>
              <a:latin typeface="Times New Roman" panose="02020603050405020304" charset="0"/>
              <a:ea typeface="Times New Roman" panose="02020603050405020304" charset="0"/>
              <a:cs typeface="Times New Roman" panose="02020603050405020304" charset="0"/>
            </a:endParaRPr>
          </a:p>
          <a:p>
            <a:endParaRPr lang="en-GB"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7" y="499858"/>
            <a:ext cx="8536509" cy="461665"/>
          </a:xfrm>
          <a:prstGeom prst="rect">
            <a:avLst/>
          </a:prstGeom>
          <a:noFill/>
        </p:spPr>
        <p:txBody>
          <a:bodyPr wrap="square" rtlCol="0">
            <a:spAutoFit/>
          </a:bodyPr>
          <a:lstStyle/>
          <a:p>
            <a:r>
              <a:rPr lang="en-US" altLang="zh-CN" sz="2400" b="1" dirty="0" smtClean="0">
                <a:solidFill>
                  <a:srgbClr val="2F57D9"/>
                </a:solidFill>
                <a:latin typeface="Calibri" panose="020F0502020204030204" pitchFamily="34" charset="0"/>
                <a:cs typeface="Calibri" panose="020F0502020204030204" pitchFamily="34" charset="0"/>
              </a:rPr>
              <a:t>5.6 </a:t>
            </a:r>
            <a:r>
              <a:rPr lang="en-US" altLang="zh-CN" sz="2400" b="1" dirty="0" smtClean="0">
                <a:solidFill>
                  <a:srgbClr val="2F57D9"/>
                </a:solidFill>
                <a:latin typeface="Calibri" panose="020F0502020204030204" pitchFamily="34" charset="0"/>
                <a:cs typeface="Calibri" panose="020F0502020204030204" pitchFamily="34" charset="0"/>
              </a:rPr>
              <a:t>Self-Instruction</a:t>
            </a:r>
            <a:endParaRPr lang="zh-CN" altLang="en-US"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5516732"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13427" y="1044868"/>
            <a:ext cx="11349661" cy="2400657"/>
          </a:xfrm>
          <a:prstGeom prst="rect">
            <a:avLst/>
          </a:prstGeom>
          <a:noFill/>
        </p:spPr>
        <p:txBody>
          <a:bodyPr wrap="square" rtlCol="0">
            <a:spAutoFit/>
          </a:bodyPr>
          <a:lstStyle/>
          <a:p>
            <a:pPr marL="285750" lvl="1" indent="-285750" algn="just">
              <a:lnSpc>
                <a:spcPct val="150000"/>
              </a:lnSpc>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Manual construction of instruction data is costly and requires significant human effort.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Consequently, some researchers have explored more efficient alternatives</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a:t>
            </a:r>
            <a:endParaRPr lang="en-US" sz="2000" dirty="0" smtClean="0"/>
          </a:p>
          <a:p>
            <a:pPr marL="285750" lvl="1" indent="-285750" algn="just">
              <a:lnSpc>
                <a:spcPct val="150000"/>
              </a:lnSpc>
              <a:buClr>
                <a:srgbClr val="2F57D9"/>
              </a:buClr>
              <a:buSzPct val="70000"/>
              <a:buFont typeface="Wingdings" panose="05000000000000000000" pitchFamily="2" charset="2"/>
              <a:buChar char="n"/>
            </a:pP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Self-Instruct leverages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the generative capabilities of large language models to automatically construct instructions. The Self-Instruct data generation process is an iterative bootstrapping algorithm. </a:t>
            </a:r>
            <a:endParaRPr lang="en-US" sz="2000" dirty="0"/>
          </a:p>
          <a:p>
            <a:pPr marL="0" lvl="1" algn="just">
              <a:lnSpc>
                <a:spcPct val="150000"/>
              </a:lnSpc>
              <a:buClr>
                <a:srgbClr val="2F57D9"/>
              </a:buClr>
              <a:buSzPct val="70000"/>
            </a:pPr>
            <a:r>
              <a:rPr lang="en-US" sz="2000" dirty="0">
                <a:solidFill>
                  <a:prstClr val="black"/>
                </a:solidFill>
                <a:latin typeface="Times New Roman" panose="02020603050405020304" charset="0"/>
                <a:ea typeface="Times New Roman" panose="02020603050405020304" charset="0"/>
                <a:cs typeface="Times New Roman" panose="02020603050405020304" charset="0"/>
              </a:rPr>
              <a:t>It consists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of the following </a:t>
            </a:r>
            <a:r>
              <a:rPr lang="en-US" sz="2000" b="1" dirty="0">
                <a:solidFill>
                  <a:prstClr val="black"/>
                </a:solidFill>
                <a:latin typeface="Times New Roman" panose="02020603050405020304" charset="0"/>
                <a:ea typeface="Times New Roman" panose="02020603050405020304" charset="0"/>
                <a:cs typeface="Times New Roman" panose="02020603050405020304" charset="0"/>
              </a:rPr>
              <a:t>four steps:</a:t>
            </a:r>
            <a:endParaRPr lang="en-US" sz="2000" b="1" dirty="0">
              <a:solidFill>
                <a:prstClr val="black"/>
              </a:solidFill>
              <a:latin typeface="Times New Roman" panose="02020603050405020304" charset="0"/>
              <a:ea typeface="Times New Roman" panose="02020603050405020304" charset="0"/>
              <a:cs typeface="Times New Roman" panose="02020603050405020304" charset="0"/>
            </a:endParaRPr>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9542" y="3390190"/>
            <a:ext cx="7092915" cy="3134731"/>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7" y="499858"/>
            <a:ext cx="8536509" cy="461665"/>
          </a:xfrm>
          <a:prstGeom prst="rect">
            <a:avLst/>
          </a:prstGeom>
          <a:noFill/>
        </p:spPr>
        <p:txBody>
          <a:bodyPr wrap="square" rtlCol="0">
            <a:spAutoFit/>
          </a:bodyPr>
          <a:lstStyle/>
          <a:p>
            <a:r>
              <a:rPr lang="en-US" altLang="zh-CN" sz="2400" b="1" dirty="0">
                <a:solidFill>
                  <a:srgbClr val="2F57D9"/>
                </a:solidFill>
                <a:latin typeface="Calibri" panose="020F0502020204030204" pitchFamily="34" charset="0"/>
                <a:cs typeface="Calibri" panose="020F0502020204030204" pitchFamily="34" charset="0"/>
              </a:rPr>
              <a:t>5.6 How Self-Instruct Works</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5516732"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13427" y="1330855"/>
            <a:ext cx="11349661" cy="4708981"/>
          </a:xfrm>
          <a:prstGeom prst="rect">
            <a:avLst/>
          </a:prstGeom>
          <a:noFill/>
        </p:spPr>
        <p:txBody>
          <a:bodyPr wrap="square" rtlCol="0">
            <a:spAutoFit/>
          </a:bodyPr>
          <a:lstStyle/>
          <a:p>
            <a:pPr marL="2857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b="1" dirty="0">
                <a:solidFill>
                  <a:prstClr val="black"/>
                </a:solidFill>
                <a:latin typeface="Times New Roman" panose="02020603050405020304" charset="0"/>
                <a:ea typeface="Times New Roman" panose="02020603050405020304" charset="0"/>
                <a:cs typeface="Times New Roman" panose="02020603050405020304" charset="0"/>
              </a:rPr>
              <a:t>Step 1: Task Instruction Generation </a:t>
            </a:r>
            <a:endParaRPr lang="en-US" sz="2000" b="1" dirty="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A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small instruction dataset consisting of 175 </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tasks (pre-defined),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referred to as the seed instruction set, is manually constructed to initialize the instruction pool. </a:t>
            </a: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The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model then generates instructions for new tasks through a bootstrapping process: in each iteration, 8 task instructions are sampled from the instruction </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pool (comprising 6 human-written seed instructions and 2 instructions previously generated by the model). </a:t>
            </a: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742950" lvl="2"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These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are concatenated as in-context examples to prompt the pre-trained language model, GPT-3, to generate additional task instructions. This process continues until the model ceases generation, reaches the maximum sequence </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length.</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7" y="499858"/>
            <a:ext cx="8536509" cy="830997"/>
          </a:xfrm>
          <a:prstGeom prst="rect">
            <a:avLst/>
          </a:prstGeom>
          <a:noFill/>
        </p:spPr>
        <p:txBody>
          <a:bodyPr wrap="square" rtlCol="0">
            <a:spAutoFit/>
          </a:bodyPr>
          <a:lstStyle/>
          <a:p>
            <a:r>
              <a:rPr lang="en-US" altLang="zh-CN" sz="2400" b="1" dirty="0">
                <a:solidFill>
                  <a:srgbClr val="2F57D9"/>
                </a:solidFill>
                <a:latin typeface="Calibri" panose="020F0502020204030204" pitchFamily="34" charset="0"/>
                <a:cs typeface="Calibri" panose="020F0502020204030204" pitchFamily="34" charset="0"/>
              </a:rPr>
              <a:t>5.6 Self-Instruction</a:t>
            </a:r>
            <a:endParaRPr lang="zh-CN" altLang="en-US" sz="2400" b="1" dirty="0">
              <a:solidFill>
                <a:srgbClr val="2F57D9"/>
              </a:solidFill>
              <a:latin typeface="Calibri" panose="020F0502020204030204" pitchFamily="34" charset="0"/>
              <a:cs typeface="Calibri" panose="020F0502020204030204" pitchFamily="34" charset="0"/>
            </a:endParaRPr>
          </a:p>
          <a:p>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5516732"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13427" y="1330855"/>
            <a:ext cx="11349661" cy="2653099"/>
          </a:xfrm>
          <a:prstGeom prst="rect">
            <a:avLst/>
          </a:prstGeom>
          <a:noFill/>
        </p:spPr>
        <p:txBody>
          <a:bodyPr wrap="square" rtlCol="0">
            <a:spAutoFit/>
          </a:bodyPr>
          <a:lstStyle/>
          <a:p>
            <a:pPr marL="57150"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b="1" dirty="0">
                <a:solidFill>
                  <a:prstClr val="black"/>
                </a:solidFill>
                <a:latin typeface="Times New Roman" panose="02020603050405020304" charset="0"/>
                <a:ea typeface="Times New Roman" panose="02020603050405020304" charset="0"/>
                <a:cs typeface="Times New Roman" panose="02020603050405020304" charset="0"/>
              </a:rPr>
              <a:t>Step 2: Identifying Classification Tasks </a:t>
            </a:r>
            <a:endParaRPr lang="en-US" sz="2000" b="1" dirty="0">
              <a:solidFill>
                <a:prstClr val="black"/>
              </a:solidFill>
              <a:latin typeface="Times New Roman" panose="02020603050405020304" charset="0"/>
              <a:ea typeface="Times New Roman" panose="02020603050405020304" charset="0"/>
              <a:cs typeface="Times New Roman" panose="02020603050405020304" charset="0"/>
            </a:endParaRPr>
          </a:p>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Since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the subsequent processing methods differ for classification and non-classification tasks, this step requires determining whether an instruction represents a classification task. </a:t>
            </a: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This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is achieved by using the same method of concatenating several in-context examples, allowing the model to automatically identify whether the task type is classification.</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7" y="499858"/>
            <a:ext cx="8536509" cy="830997"/>
          </a:xfrm>
          <a:prstGeom prst="rect">
            <a:avLst/>
          </a:prstGeom>
          <a:noFill/>
        </p:spPr>
        <p:txBody>
          <a:bodyPr wrap="square" rtlCol="0">
            <a:spAutoFit/>
          </a:bodyPr>
          <a:lstStyle/>
          <a:p>
            <a:r>
              <a:rPr lang="en-US" altLang="zh-CN" sz="2400" b="1" dirty="0">
                <a:solidFill>
                  <a:srgbClr val="2F57D9"/>
                </a:solidFill>
                <a:latin typeface="Calibri" panose="020F0502020204030204" pitchFamily="34" charset="0"/>
                <a:cs typeface="Calibri" panose="020F0502020204030204" pitchFamily="34" charset="0"/>
              </a:rPr>
              <a:t>5.6 Self-Instruction</a:t>
            </a:r>
            <a:endParaRPr lang="zh-CN" altLang="en-US" sz="2400" b="1" dirty="0">
              <a:solidFill>
                <a:srgbClr val="2F57D9"/>
              </a:solidFill>
              <a:latin typeface="Calibri" panose="020F0502020204030204" pitchFamily="34" charset="0"/>
              <a:cs typeface="Calibri" panose="020F0502020204030204" pitchFamily="34" charset="0"/>
            </a:endParaRPr>
          </a:p>
          <a:p>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5516732"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13427" y="1330855"/>
            <a:ext cx="11349661" cy="4401205"/>
          </a:xfrm>
          <a:prstGeom prst="rect">
            <a:avLst/>
          </a:prstGeom>
          <a:noFill/>
        </p:spPr>
        <p:txBody>
          <a:bodyPr wrap="square" rtlCol="0">
            <a:spAutoFit/>
          </a:bodyPr>
          <a:lstStyle/>
          <a:p>
            <a:pPr marL="57150"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b="1" dirty="0">
                <a:solidFill>
                  <a:prstClr val="black"/>
                </a:solidFill>
                <a:latin typeface="Times New Roman" panose="02020603050405020304" charset="0"/>
                <a:ea typeface="Times New Roman" panose="02020603050405020304" charset="0"/>
                <a:cs typeface="Times New Roman" panose="02020603050405020304" charset="0"/>
              </a:rPr>
              <a:t>Step 3: Generating Task Inputs and Outputs </a:t>
            </a:r>
            <a:endParaRPr lang="en-US" sz="2000" b="1"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While the language model has generated instructions for new tasks in Step 1, these instructions lack corresponding input-output pairs. </a:t>
            </a: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This step completes the instruction data by generating these components</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a:t>
            </a: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Following the previous methodology, this stage utilizes in-context learning: by providing the pre-trained model with prompts containing "Instruction," "Input," and "Output" examples from other tasks, the model can generate input-output pairs for the new task</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Depending on the task category, either an "Input-First" or "Output-First" approach is applied.</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7" y="499858"/>
            <a:ext cx="8536509" cy="461665"/>
          </a:xfrm>
          <a:prstGeom prst="rect">
            <a:avLst/>
          </a:prstGeom>
          <a:noFill/>
        </p:spPr>
        <p:txBody>
          <a:bodyPr wrap="square" rtlCol="0">
            <a:spAutoFit/>
          </a:bodyPr>
          <a:lstStyle/>
          <a:p>
            <a:r>
              <a:rPr lang="en-US" altLang="zh-CN" sz="2400" b="1" dirty="0">
                <a:solidFill>
                  <a:srgbClr val="2F57D9"/>
                </a:solidFill>
                <a:latin typeface="Calibri" panose="020F0502020204030204" pitchFamily="34" charset="0"/>
                <a:cs typeface="Calibri" panose="020F0502020204030204" pitchFamily="34" charset="0"/>
              </a:rPr>
              <a:t>5.6 </a:t>
            </a:r>
            <a:r>
              <a:rPr lang="en-US" altLang="zh-CN" sz="2400" b="1" dirty="0" smtClean="0">
                <a:solidFill>
                  <a:srgbClr val="2F57D9"/>
                </a:solidFill>
                <a:latin typeface="Calibri" panose="020F0502020204030204" pitchFamily="34" charset="0"/>
                <a:cs typeface="Calibri" panose="020F0502020204030204" pitchFamily="34" charset="0"/>
              </a:rPr>
              <a:t>Self-Instruction</a:t>
            </a:r>
            <a:endParaRPr lang="zh-CN" altLang="en-US"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5516732"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13427" y="1330855"/>
            <a:ext cx="11349661" cy="4401205"/>
          </a:xfrm>
          <a:prstGeom prst="rect">
            <a:avLst/>
          </a:prstGeom>
          <a:noFill/>
        </p:spPr>
        <p:txBody>
          <a:bodyPr wrap="square" rtlCol="0">
            <a:spAutoFit/>
          </a:bodyPr>
          <a:lstStyle/>
          <a:p>
            <a:pPr marL="57150"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b="1" dirty="0">
                <a:solidFill>
                  <a:prstClr val="black"/>
                </a:solidFill>
                <a:latin typeface="Times New Roman" panose="02020603050405020304" charset="0"/>
                <a:ea typeface="Times New Roman" panose="02020603050405020304" charset="0"/>
                <a:cs typeface="Times New Roman" panose="02020603050405020304" charset="0"/>
              </a:rPr>
              <a:t>Step 3: Generating Task Inputs and Outputs </a:t>
            </a:r>
            <a:endParaRPr lang="en-US" sz="2000" b="1"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While the language model has generated instructions for new tasks in Step 1, these instructions lack corresponding input-output pairs. </a:t>
            </a: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This step completes the instruction data by generating these components</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a:t>
            </a: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Following the previous methodology, this stage utilizes in-context learning: by providing the pre-trained model with prompts containing "Instruction," "Input," and "Output" examples from other tasks, the model can generate input-output pairs for the new task</a:t>
            </a:r>
            <a:r>
              <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rPr>
              <a:t>.</a:t>
            </a:r>
            <a:endParaRPr lang="en-US" altLang="zh-CN"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Depending on the task category, either an "Input-First" or "Output-First" approach is applied.</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7" y="499858"/>
            <a:ext cx="8536509" cy="461665"/>
          </a:xfrm>
          <a:prstGeom prst="rect">
            <a:avLst/>
          </a:prstGeom>
          <a:noFill/>
        </p:spPr>
        <p:txBody>
          <a:bodyPr wrap="square" rtlCol="0">
            <a:spAutoFit/>
          </a:bodyPr>
          <a:lstStyle/>
          <a:p>
            <a:r>
              <a:rPr lang="en-US" altLang="zh-CN" sz="2400" b="1">
                <a:solidFill>
                  <a:srgbClr val="2F57D9"/>
                </a:solidFill>
                <a:latin typeface="Calibri" panose="020F0502020204030204" pitchFamily="34" charset="0"/>
                <a:cs typeface="Calibri" panose="020F0502020204030204" pitchFamily="34" charset="0"/>
              </a:rPr>
              <a:t>5.6 </a:t>
            </a:r>
            <a:r>
              <a:rPr lang="en-US" altLang="zh-CN" sz="2400" b="1" smtClean="0">
                <a:solidFill>
                  <a:srgbClr val="2F57D9"/>
                </a:solidFill>
                <a:latin typeface="Calibri" panose="020F0502020204030204" pitchFamily="34" charset="0"/>
                <a:cs typeface="Calibri" panose="020F0502020204030204" pitchFamily="34" charset="0"/>
              </a:rPr>
              <a:t>Self-Instruction</a:t>
            </a:r>
            <a:endParaRPr lang="zh-CN" altLang="en-US" sz="2400" b="1">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5516732"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13427" y="1330855"/>
            <a:ext cx="11349661" cy="4247317"/>
          </a:xfrm>
          <a:prstGeom prst="rect">
            <a:avLst/>
          </a:prstGeom>
          <a:noFill/>
        </p:spPr>
        <p:txBody>
          <a:bodyPr wrap="square" rtlCol="0">
            <a:spAutoFit/>
          </a:bodyPr>
          <a:lstStyle/>
          <a:p>
            <a:pPr marL="57150"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b="1" dirty="0">
                <a:solidFill>
                  <a:prstClr val="black"/>
                </a:solidFill>
                <a:latin typeface="Times New Roman" panose="02020603050405020304" charset="0"/>
                <a:ea typeface="Times New Roman" panose="02020603050405020304" charset="0"/>
                <a:cs typeface="Times New Roman" panose="02020603050405020304" charset="0"/>
              </a:rPr>
              <a:t>Step 4: Filtering Low-Quality </a:t>
            </a:r>
            <a:r>
              <a:rPr lang="en-US" sz="2000" b="1" dirty="0" smtClean="0">
                <a:solidFill>
                  <a:prstClr val="black"/>
                </a:solidFill>
                <a:latin typeface="Times New Roman" panose="02020603050405020304" charset="0"/>
                <a:ea typeface="Times New Roman" panose="02020603050405020304" charset="0"/>
                <a:cs typeface="Times New Roman" panose="02020603050405020304" charset="0"/>
              </a:rPr>
              <a:t>Data</a:t>
            </a:r>
            <a:endParaRPr lang="en-US" sz="2000" b="1"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To ensure data diversity, newly generated instruction data must be compared against the existing instruction pool before being added</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a:t>
            </a: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An instruction is only eligible for inclusion if its ROUGE-L similarity score with every instruction already in the pool is below 0.7</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a:t>
            </a: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altLang="zh-CN" sz="2000" dirty="0">
                <a:solidFill>
                  <a:prstClr val="black"/>
                </a:solidFill>
                <a:latin typeface="Times New Roman" panose="02020603050405020304" charset="0"/>
                <a:ea typeface="Times New Roman" panose="02020603050405020304" charset="0"/>
                <a:cs typeface="Times New Roman" panose="02020603050405020304" charset="0"/>
              </a:rPr>
              <a:t>Furthermore, to maintain high data quality, several heuristic rules are applied for filtering: instructions that are duplicates, excessively long or short, or contain specific invalid keywords (such as "image") are removed.</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7" y="499858"/>
            <a:ext cx="8536509" cy="461665"/>
          </a:xfrm>
          <a:prstGeom prst="rect">
            <a:avLst/>
          </a:prstGeom>
          <a:noFill/>
        </p:spPr>
        <p:txBody>
          <a:bodyPr wrap="square" rtlCol="0">
            <a:spAutoFit/>
          </a:bodyPr>
          <a:lstStyle/>
          <a:p>
            <a:r>
              <a:rPr lang="en-US" altLang="zh-CN" sz="2400" b="1" dirty="0" smtClean="0">
                <a:solidFill>
                  <a:srgbClr val="2F57D9"/>
                </a:solidFill>
                <a:latin typeface="Calibri" panose="020F0502020204030204" pitchFamily="34" charset="0"/>
                <a:cs typeface="Calibri" panose="020F0502020204030204" pitchFamily="34" charset="0"/>
              </a:rPr>
              <a:t>5.6 Knowledge Distillation</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5516732"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2"/>
          <a:stretch>
            <a:fillRect/>
          </a:stretch>
        </p:blipFill>
        <p:spPr>
          <a:xfrm>
            <a:off x="2263140" y="2858821"/>
            <a:ext cx="7665720" cy="3233605"/>
          </a:xfrm>
          <a:prstGeom prst="rect">
            <a:avLst/>
          </a:prstGeom>
        </p:spPr>
      </p:pic>
      <p:sp>
        <p:nvSpPr>
          <p:cNvPr id="5" name="TextBox 4"/>
          <p:cNvSpPr txBox="1"/>
          <p:nvPr/>
        </p:nvSpPr>
        <p:spPr>
          <a:xfrm>
            <a:off x="2674377" y="6092426"/>
            <a:ext cx="5860900" cy="369332"/>
          </a:xfrm>
          <a:prstGeom prst="rect">
            <a:avLst/>
          </a:prstGeom>
          <a:noFill/>
        </p:spPr>
        <p:txBody>
          <a:bodyPr wrap="none" rtlCol="0">
            <a:spAutoFit/>
          </a:bodyPr>
          <a:lstStyle/>
          <a:p>
            <a:r>
              <a:rPr lang="en-US" i="1"/>
              <a:t>Image Credit: “Knowledge Distillation: A Survey” paper</a:t>
            </a:r>
            <a:endParaRPr lang="en-GB" dirty="0"/>
          </a:p>
        </p:txBody>
      </p:sp>
      <p:sp>
        <p:nvSpPr>
          <p:cNvPr id="6" name="TextBox 5"/>
          <p:cNvSpPr txBox="1"/>
          <p:nvPr/>
        </p:nvSpPr>
        <p:spPr>
          <a:xfrm>
            <a:off x="700087" y="1059698"/>
            <a:ext cx="9809480" cy="1729769"/>
          </a:xfrm>
          <a:prstGeom prst="rect">
            <a:avLst/>
          </a:prstGeom>
          <a:noFill/>
        </p:spPr>
        <p:txBody>
          <a:bodyPr wrap="none" rtlCol="0">
            <a:spAutoFit/>
          </a:bodyPr>
          <a:lstStyle/>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Definition: Transferring knowledge from a large, complex model to a smaller, faster one.</a:t>
            </a:r>
            <a:endParaRPr lang="en-US" sz="2000" dirty="0">
              <a:solidFill>
                <a:prstClr val="black"/>
              </a:solidFill>
              <a:latin typeface="Times New Roman" panose="02020603050405020304" charset="0"/>
              <a:ea typeface="Times New Roman" panose="02020603050405020304" charset="0"/>
              <a:cs typeface="Times New Roman" panose="02020603050405020304" charset="0"/>
            </a:endParaRPr>
          </a:p>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The Teacher: The massive, self-instructed model (High capability, slow, expensive).</a:t>
            </a:r>
            <a:endParaRPr lang="en-US" sz="2000" dirty="0">
              <a:solidFill>
                <a:prstClr val="black"/>
              </a:solidFill>
              <a:latin typeface="Times New Roman" panose="02020603050405020304" charset="0"/>
              <a:ea typeface="Times New Roman" panose="02020603050405020304" charset="0"/>
              <a:cs typeface="Times New Roman" panose="02020603050405020304" charset="0"/>
            </a:endParaRPr>
          </a:p>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The Student: A smaller base model (Lower capability initially, fast, cheap).</a:t>
            </a:r>
            <a:endParaRPr lang="en-US" sz="2000" dirty="0">
              <a:solidFill>
                <a:prstClr val="black"/>
              </a:solidFill>
              <a:latin typeface="Times New Roman" panose="02020603050405020304" charset="0"/>
              <a:ea typeface="Times New Roman" panose="02020603050405020304" charset="0"/>
              <a:cs typeface="Times New Roman" panose="0202060305040502030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7" y="499858"/>
            <a:ext cx="8536509" cy="461665"/>
          </a:xfrm>
          <a:prstGeom prst="rect">
            <a:avLst/>
          </a:prstGeom>
          <a:noFill/>
        </p:spPr>
        <p:txBody>
          <a:bodyPr wrap="square" rtlCol="0">
            <a:spAutoFit/>
          </a:bodyPr>
          <a:lstStyle/>
          <a:p>
            <a:r>
              <a:rPr lang="en-US" altLang="zh-CN" sz="2400" b="1" dirty="0">
                <a:solidFill>
                  <a:srgbClr val="2F57D9"/>
                </a:solidFill>
                <a:latin typeface="Calibri" panose="020F0502020204030204" pitchFamily="34" charset="0"/>
                <a:cs typeface="Calibri" panose="020F0502020204030204" pitchFamily="34" charset="0"/>
              </a:rPr>
              <a:t>5.6 </a:t>
            </a:r>
            <a:r>
              <a:rPr lang="en-US" altLang="zh-CN" sz="2400" b="1" dirty="0" smtClean="0">
                <a:solidFill>
                  <a:srgbClr val="2F57D9"/>
                </a:solidFill>
                <a:latin typeface="Calibri" panose="020F0502020204030204" pitchFamily="34" charset="0"/>
                <a:cs typeface="Calibri" panose="020F0502020204030204" pitchFamily="34" charset="0"/>
              </a:rPr>
              <a:t>SFT vs. Distillation</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6284594"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 name="TextBox 3"/>
              <p:cNvSpPr txBox="1"/>
              <p:nvPr/>
            </p:nvSpPr>
            <p:spPr>
              <a:xfrm>
                <a:off x="421169" y="1030876"/>
                <a:ext cx="11349661" cy="5401479"/>
              </a:xfrm>
              <a:prstGeom prst="rect">
                <a:avLst/>
              </a:prstGeom>
              <a:noFill/>
            </p:spPr>
            <p:txBody>
              <a:bodyPr wrap="square" rtlCol="0">
                <a:spAutoFit/>
              </a:bodyPr>
              <a:lstStyle/>
              <a:p>
                <a:pPr marL="57150"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1.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Standard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Training: Supervised Fine-Tuning (</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SFT)</a:t>
                </a: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In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normal Supervised Fine-Tuning (SFT), we use Cross-Entropy Loss.</a:t>
                </a:r>
                <a:endParaRPr lang="en-US" sz="2000" dirty="0">
                  <a:solidFill>
                    <a:prstClr val="black"/>
                  </a:solidFill>
                  <a:latin typeface="Times New Roman" panose="02020603050405020304" charset="0"/>
                  <a:ea typeface="Times New Roman" panose="02020603050405020304" charset="0"/>
                  <a:cs typeface="Times New Roman" panose="02020603050405020304" charset="0"/>
                </a:endParaRPr>
              </a:p>
              <a:p>
                <a:pPr marL="342900" indent="-342900">
                  <a:buFont typeface="Arial" panose="020B0604020202020204" pitchFamily="34" charset="0"/>
                  <a:buChar char="•"/>
                </a:pPr>
                <a:r>
                  <a:rPr lang="en-US" sz="2000" b="1" dirty="0">
                    <a:latin typeface="Times New Roman" panose="02020603050405020304" charset="0"/>
                    <a:ea typeface="Times New Roman" panose="02020603050405020304" charset="0"/>
                    <a:cs typeface="Times New Roman" panose="02020603050405020304" charset="0"/>
                  </a:rPr>
                  <a:t>The Signal:</a:t>
                </a:r>
                <a:r>
                  <a:rPr lang="en-US" sz="2000" dirty="0">
                    <a:latin typeface="Times New Roman" panose="02020603050405020304" charset="0"/>
                    <a:ea typeface="Times New Roman" panose="02020603050405020304" charset="0"/>
                    <a:cs typeface="Times New Roman" panose="02020603050405020304" charset="0"/>
                  </a:rPr>
                  <a:t>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The model is told there is only one correct answer (the ground truth).</a:t>
                </a:r>
                <a:endParaRPr lang="en-US" sz="2000" dirty="0">
                  <a:solidFill>
                    <a:prstClr val="black"/>
                  </a:solidFill>
                  <a:latin typeface="Times New Roman" panose="02020603050405020304" charset="0"/>
                  <a:ea typeface="Times New Roman" panose="02020603050405020304" charset="0"/>
                  <a:cs typeface="Times New Roman" panose="02020603050405020304" charset="0"/>
                </a:endParaRPr>
              </a:p>
              <a:p>
                <a:pPr marL="342900" indent="-342900">
                  <a:buFont typeface="Arial" panose="020B0604020202020204" pitchFamily="34" charset="0"/>
                  <a:buChar char="•"/>
                </a:pPr>
                <a:r>
                  <a:rPr lang="en-US" sz="2000" b="1" dirty="0">
                    <a:latin typeface="Times New Roman" panose="02020603050405020304" charset="0"/>
                    <a:ea typeface="Times New Roman" panose="02020603050405020304" charset="0"/>
                    <a:cs typeface="Times New Roman" panose="02020603050405020304" charset="0"/>
                  </a:rPr>
                  <a:t>The Loss:</a:t>
                </a:r>
                <a:r>
                  <a:rPr lang="en-US" sz="2000" dirty="0">
                    <a:latin typeface="Times New Roman" panose="02020603050405020304" charset="0"/>
                    <a:ea typeface="Times New Roman" panose="02020603050405020304" charset="0"/>
                    <a:cs typeface="Times New Roman" panose="02020603050405020304" charset="0"/>
                  </a:rPr>
                  <a:t> </a:t>
                </a:r>
                <a:r>
                  <a:rPr lang="en-US" sz="2000" dirty="0">
                    <a:latin typeface="Times New Roman" panose="02020603050405020304" charset="0"/>
                    <a:ea typeface="Times New Roman" panose="02020603050405020304" charset="0"/>
                    <a:cs typeface="Times New Roman" panose="02020603050405020304" charset="0"/>
                  </a:rPr>
                  <a:t> </a:t>
                </a:r>
                <a:r>
                  <a:rPr lang="en-US" sz="2000" dirty="0" smtClean="0">
                    <a:latin typeface="Times New Roman" panose="02020603050405020304" charset="0"/>
                    <a:ea typeface="Times New Roman" panose="02020603050405020304" charset="0"/>
                    <a:cs typeface="Times New Roman" panose="02020603050405020304" charset="0"/>
                  </a:rPr>
                  <a:t>                                      </a:t>
                </a:r>
                <a:r>
                  <a:rPr lang="en-US" sz="2000" dirty="0" smtClean="0"/>
                  <a:t>,</a:t>
                </a:r>
                <a:r>
                  <a:rPr lang="en-US" sz="2000" dirty="0">
                    <a:solidFill>
                      <a:prstClr val="black"/>
                    </a:solidFill>
                    <a:latin typeface="Times New Roman" panose="02020603050405020304" charset="0"/>
                    <a:ea typeface="Times New Roman" panose="02020603050405020304" charset="0"/>
                    <a:cs typeface="Times New Roman" panose="02020603050405020304" charset="0"/>
                  </a:rPr>
                  <a:t>where </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y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is a "one-hot" vector (e.g., </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a:t>
                </a:r>
                <a:r>
                  <a:rPr lang="en-US" sz="2000" dirty="0">
                    <a:solidFill>
                      <a:prstClr val="black"/>
                    </a:solidFill>
                    <a:latin typeface="Times New Roman" panose="02020603050405020304" charset="0"/>
                    <a:ea typeface="Times New Roman" panose="02020603050405020304" charset="0"/>
                    <a:cs typeface="Times New Roman" panose="02020603050405020304" charset="0"/>
                  </a:rPr>
                  <a:t>0, 0, 1, 0</a:t>
                </a:r>
                <a:r>
                  <a:rPr lang="en-US" sz="2000" dirty="0">
                    <a:solidFill>
                      <a:prstClr val="black"/>
                    </a:solidFill>
                    <a:latin typeface="Times New Roman" panose="02020603050405020304" charset="0"/>
                    <a:ea typeface="Times New Roman" panose="02020603050405020304" charset="0"/>
                    <a:cs typeface="Times New Roman" panose="02020603050405020304" charset="0"/>
                  </a:rPr>
                  <a:t>]), </a:t>
                </a:r>
                <a14:m>
                  <m:oMath xmlns:m="http://schemas.openxmlformats.org/officeDocument/2006/math">
                    <m:sSub>
                      <m:sSubPr>
                        <m:ctrlPr>
                          <a:rPr lang="en-US" sz="2000" i="1" smtClean="0">
                            <a:solidFill>
                              <a:prstClr val="black"/>
                            </a:solidFill>
                            <a:latin typeface="Cambria Math" panose="02040503050406030204" charset="0"/>
                            <a:ea typeface="Times New Roman" panose="02020603050405020304" charset="0"/>
                            <a:cs typeface="Times New Roman" panose="02020603050405020304" charset="0"/>
                          </a:rPr>
                        </m:ctrlPr>
                      </m:sSubPr>
                      <m:e>
                        <m:r>
                          <a:rPr lang="en-US" sz="2000" b="0" i="1" smtClean="0">
                            <a:solidFill>
                              <a:prstClr val="black"/>
                            </a:solidFill>
                            <a:latin typeface="Cambria Math" panose="02040503050406030204" charset="0"/>
                            <a:ea typeface="Times New Roman" panose="02020603050405020304" charset="0"/>
                            <a:cs typeface="Times New Roman" panose="02020603050405020304" charset="0"/>
                          </a:rPr>
                          <m:t>𝑄</m:t>
                        </m:r>
                      </m:e>
                      <m:sub>
                        <m:r>
                          <a:rPr lang="en-US" sz="2000" b="0" i="1" smtClean="0">
                            <a:solidFill>
                              <a:prstClr val="black"/>
                            </a:solidFill>
                            <a:latin typeface="Cambria Math" panose="02040503050406030204" charset="0"/>
                            <a:ea typeface="Times New Roman" panose="02020603050405020304" charset="0"/>
                            <a:cs typeface="Times New Roman" panose="02020603050405020304" charset="0"/>
                          </a:rPr>
                          <m:t>𝑖</m:t>
                        </m:r>
                      </m:sub>
                    </m:sSub>
                  </m:oMath>
                </a14:m>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is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the Student model's predicted probability for a specific </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token</a:t>
                </a:r>
                <a:r>
                  <a:rPr lang="en-US" sz="2000" dirty="0">
                    <a:solidFill>
                      <a:prstClr val="black"/>
                    </a:solidFill>
                    <a:latin typeface="Times New Roman" panose="02020603050405020304" charset="0"/>
                    <a:ea typeface="Times New Roman" panose="02020603050405020304" charset="0"/>
                    <a:cs typeface="Times New Roman" panose="02020603050405020304" charset="0"/>
                  </a:rPr>
                  <a:t>.. </a:t>
                </a:r>
                <a:endParaRPr lang="en-US" sz="2000" dirty="0">
                  <a:solidFill>
                    <a:prstClr val="black"/>
                  </a:solidFill>
                  <a:latin typeface="Times New Roman" panose="02020603050405020304" charset="0"/>
                  <a:ea typeface="Times New Roman" panose="02020603050405020304" charset="0"/>
                  <a:cs typeface="Times New Roman" panose="02020603050405020304" charset="0"/>
                </a:endParaRPr>
              </a:p>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The Limitation: It treats all "wrong" answers as equally wrong. It doesn't tell the model that a "Golden Retriever" is more like a "Labrador" than a "Toaster."</a:t>
                </a:r>
                <a:endParaRPr lang="en-US" sz="2000" dirty="0">
                  <a:solidFill>
                    <a:prstClr val="black"/>
                  </a:solidFill>
                  <a:latin typeface="Times New Roman" panose="02020603050405020304" charset="0"/>
                  <a:ea typeface="Times New Roman" panose="02020603050405020304" charset="0"/>
                  <a:cs typeface="Times New Roman" panose="02020603050405020304" charset="0"/>
                </a:endParaRPr>
              </a:p>
              <a:p>
                <a:pPr marL="57150"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2. Distillation: The "Soft Target" (Dark Knowledge)</a:t>
                </a:r>
                <a:endParaRPr lang="en-US" sz="2000" dirty="0">
                  <a:solidFill>
                    <a:prstClr val="black"/>
                  </a:solidFill>
                  <a:latin typeface="Times New Roman" panose="02020603050405020304" charset="0"/>
                  <a:ea typeface="Times New Roman" panose="02020603050405020304" charset="0"/>
                  <a:cs typeface="Times New Roman" panose="02020603050405020304" charset="0"/>
                </a:endParaRPr>
              </a:p>
              <a:p>
                <a:pPr marL="5143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The Teacher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provides a probability distribution (Soft Labels) instead of just one correct answer.</a:t>
                </a:r>
                <a:endParaRPr lang="en-US" sz="2000" dirty="0">
                  <a:solidFill>
                    <a:prstClr val="black"/>
                  </a:solidFill>
                  <a:latin typeface="Times New Roman" panose="02020603050405020304" charset="0"/>
                  <a:ea typeface="Times New Roman" panose="02020603050405020304" charset="0"/>
                  <a:cs typeface="Times New Roman" panose="02020603050405020304" charset="0"/>
                </a:endParaRPr>
              </a:p>
              <a:p>
                <a:pPr marL="342900" indent="-342900">
                  <a:buFont typeface="Arial" panose="020B0604020202020204" pitchFamily="34" charset="0"/>
                  <a:buChar char="•"/>
                </a:pPr>
                <a:r>
                  <a:rPr lang="en-US" sz="2000" b="1" dirty="0">
                    <a:latin typeface="Times New Roman" panose="02020603050405020304" charset="0"/>
                    <a:ea typeface="Times New Roman" panose="02020603050405020304" charset="0"/>
                    <a:cs typeface="Times New Roman" panose="02020603050405020304" charset="0"/>
                  </a:rPr>
                  <a:t>The Signal: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The teacher model reveals the relative probabilities across the entire output space. </a:t>
                </a: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342900" indent="-342900">
                  <a:buFont typeface="Arial" panose="020B0604020202020204" pitchFamily="34" charset="0"/>
                  <a:buChar char="•"/>
                </a:pPr>
                <a:r>
                  <a:rPr lang="en-US" sz="2000" b="1" dirty="0">
                    <a:latin typeface="Times New Roman" panose="02020603050405020304" charset="0"/>
                    <a:ea typeface="Times New Roman" panose="02020603050405020304" charset="0"/>
                    <a:cs typeface="Times New Roman" panose="02020603050405020304" charset="0"/>
                  </a:rPr>
                  <a:t>The </a:t>
                </a:r>
                <a:r>
                  <a:rPr lang="en-US" sz="2000" b="1" dirty="0">
                    <a:latin typeface="Times New Roman" panose="02020603050405020304" charset="0"/>
                    <a:ea typeface="Times New Roman" panose="02020603050405020304" charset="0"/>
                    <a:cs typeface="Times New Roman" panose="02020603050405020304" charset="0"/>
                  </a:rPr>
                  <a:t>Value: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This "Dark Knowledge" reveals the hidden relationships between concepts that the Teacher has learned</a:t>
                </a:r>
                <a:r>
                  <a:rPr lang="en-US" sz="2000" dirty="0">
                    <a:solidFill>
                      <a:prstClr val="black"/>
                    </a:solidFill>
                    <a:latin typeface="Times New Roman" panose="02020603050405020304" charset="0"/>
                    <a:ea typeface="Times New Roman" panose="02020603050405020304" charset="0"/>
                    <a:cs typeface="Times New Roman" panose="02020603050405020304" charset="0"/>
                  </a:rPr>
                  <a:t>. This refers to the latent inter-class correlations learned by the teacher model.</a:t>
                </a:r>
                <a:endParaRPr lang="en-US" sz="2000" dirty="0">
                  <a:solidFill>
                    <a:prstClr val="black"/>
                  </a:solidFill>
                  <a:latin typeface="Times New Roman" panose="02020603050405020304" charset="0"/>
                  <a:ea typeface="Times New Roman" panose="02020603050405020304" charset="0"/>
                  <a:cs typeface="Times New Roman" panose="02020603050405020304" charset="0"/>
                </a:endParaRPr>
              </a:p>
            </p:txBody>
          </p:sp>
        </mc:Choice>
        <mc:Fallback>
          <p:sp>
            <p:nvSpPr>
              <p:cNvPr id="4" name="TextBox 3"/>
              <p:cNvSpPr txBox="1">
                <a:spLocks noRot="1" noChangeAspect="1" noMove="1" noResize="1" noEditPoints="1" noAdjustHandles="1" noChangeArrowheads="1" noChangeShapeType="1" noTextEdit="1"/>
              </p:cNvSpPr>
              <p:nvPr/>
            </p:nvSpPr>
            <p:spPr>
              <a:xfrm>
                <a:off x="421169" y="1030876"/>
                <a:ext cx="11349661" cy="5401479"/>
              </a:xfrm>
              <a:prstGeom prst="rect">
                <a:avLst/>
              </a:prstGeom>
              <a:blipFill rotWithShape="1">
                <a:blip r:embed="rId2"/>
                <a:stretch>
                  <a:fillRect l="-1" t="-5" r="4" b="8"/>
                </a:stretch>
              </a:blipFill>
            </p:spPr>
            <p:txBody>
              <a:bodyPr/>
              <a:lstStyle/>
              <a:p>
                <a:r>
                  <a:rPr lang="zh-CN" altLang="en-US">
                    <a:noFill/>
                  </a:rPr>
                  <a:t> </a:t>
                </a:r>
              </a:p>
            </p:txBody>
          </p:sp>
        </mc:Fallback>
      </mc:AlternateContent>
      <p:pic>
        <p:nvPicPr>
          <p:cNvPr id="3" name="Picture 2"/>
          <p:cNvPicPr>
            <a:picLocks noChangeAspect="1"/>
          </p:cNvPicPr>
          <p:nvPr/>
        </p:nvPicPr>
        <p:blipFill>
          <a:blip r:embed="rId3"/>
          <a:stretch>
            <a:fillRect/>
          </a:stretch>
        </p:blipFill>
        <p:spPr>
          <a:xfrm>
            <a:off x="2041494" y="2514599"/>
            <a:ext cx="2386125" cy="386702"/>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7" y="499858"/>
            <a:ext cx="8536509" cy="461665"/>
          </a:xfrm>
          <a:prstGeom prst="rect">
            <a:avLst/>
          </a:prstGeom>
          <a:noFill/>
        </p:spPr>
        <p:txBody>
          <a:bodyPr wrap="square" rtlCol="0">
            <a:spAutoFit/>
          </a:bodyPr>
          <a:lstStyle/>
          <a:p>
            <a:r>
              <a:rPr lang="en-US" altLang="zh-CN" sz="2400" b="1" dirty="0">
                <a:solidFill>
                  <a:srgbClr val="2F57D9"/>
                </a:solidFill>
                <a:latin typeface="Calibri" panose="020F0502020204030204" pitchFamily="34" charset="0"/>
                <a:cs typeface="Calibri" panose="020F0502020204030204" pitchFamily="34" charset="0"/>
              </a:rPr>
              <a:t>5.6 </a:t>
            </a:r>
            <a:r>
              <a:rPr lang="en-US" altLang="zh-CN" sz="2400" b="1" dirty="0" smtClean="0">
                <a:solidFill>
                  <a:srgbClr val="2F57D9"/>
                </a:solidFill>
                <a:latin typeface="Calibri" panose="020F0502020204030204" pitchFamily="34" charset="0"/>
                <a:cs typeface="Calibri" panose="020F0502020204030204" pitchFamily="34" charset="0"/>
              </a:rPr>
              <a:t>The Math of Distillation</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5516732"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13427" y="1330855"/>
            <a:ext cx="11349661" cy="498663"/>
          </a:xfrm>
          <a:prstGeom prst="rect">
            <a:avLst/>
          </a:prstGeom>
          <a:noFill/>
        </p:spPr>
        <p:txBody>
          <a:bodyPr wrap="square" rtlCol="0">
            <a:spAutoFit/>
          </a:bodyPr>
          <a:lstStyle/>
          <a:p>
            <a:pPr marL="2857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To make the Student's "brain" look like the Teacher's, we minimize the </a:t>
            </a:r>
            <a:r>
              <a:rPr lang="en-US" sz="2000" dirty="0" err="1">
                <a:solidFill>
                  <a:prstClr val="black"/>
                </a:solidFill>
                <a:latin typeface="Times New Roman" panose="02020603050405020304" charset="0"/>
                <a:ea typeface="Times New Roman" panose="02020603050405020304" charset="0"/>
                <a:cs typeface="Times New Roman" panose="02020603050405020304" charset="0"/>
              </a:rPr>
              <a:t>Kullback-Leibler</a:t>
            </a:r>
            <a:r>
              <a:rPr lang="en-US" sz="2000" dirty="0">
                <a:solidFill>
                  <a:prstClr val="black"/>
                </a:solidFill>
                <a:latin typeface="Times New Roman" panose="02020603050405020304" charset="0"/>
                <a:ea typeface="Times New Roman" panose="02020603050405020304" charset="0"/>
                <a:cs typeface="Times New Roman" panose="02020603050405020304" charset="0"/>
              </a:rPr>
              <a:t> (KL) Divergence:</a:t>
            </a: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pic>
        <p:nvPicPr>
          <p:cNvPr id="3" name="Picture 2"/>
          <p:cNvPicPr>
            <a:picLocks noChangeAspect="1"/>
          </p:cNvPicPr>
          <p:nvPr/>
        </p:nvPicPr>
        <p:blipFill>
          <a:blip r:embed="rId2"/>
          <a:stretch>
            <a:fillRect/>
          </a:stretch>
        </p:blipFill>
        <p:spPr>
          <a:xfrm>
            <a:off x="2574758" y="1829518"/>
            <a:ext cx="7042484" cy="2098438"/>
          </a:xfrm>
          <a:prstGeom prst="rect">
            <a:avLst/>
          </a:prstGeom>
        </p:spPr>
      </p:pic>
      <mc:AlternateContent xmlns:mc="http://schemas.openxmlformats.org/markup-compatibility/2006">
        <mc:Choice xmlns:a14="http://schemas.microsoft.com/office/drawing/2010/main" Requires="a14">
          <p:sp>
            <p:nvSpPr>
              <p:cNvPr id="5" name="TextBox 4"/>
              <p:cNvSpPr txBox="1"/>
              <p:nvPr/>
            </p:nvSpPr>
            <p:spPr>
              <a:xfrm>
                <a:off x="575447" y="3847679"/>
                <a:ext cx="11387641" cy="960328"/>
              </a:xfrm>
              <a:prstGeom prst="rect">
                <a:avLst/>
              </a:prstGeom>
              <a:noFill/>
            </p:spPr>
            <p:txBody>
              <a:bodyPr wrap="square" rtlCol="0">
                <a:spAutoFit/>
              </a:bodyPr>
              <a:lstStyle/>
              <a:p>
                <a:pPr marL="2857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Interpretation: This measures how much information is lost when we use the Student’s distribution to approximate the Teacher’s. When </a:t>
                </a:r>
                <a14:m>
                  <m:oMath xmlns:m="http://schemas.openxmlformats.org/officeDocument/2006/math">
                    <m:sSub>
                      <m:sSubPr>
                        <m:ctrlPr>
                          <a:rPr lang="en-US" sz="2000" i="1">
                            <a:solidFill>
                              <a:prstClr val="black"/>
                            </a:solidFill>
                            <a:latin typeface="Cambria Math" panose="02040503050406030204" charset="0"/>
                            <a:ea typeface="Times New Roman" panose="02020603050405020304" charset="0"/>
                            <a:cs typeface="Times New Roman" panose="02020603050405020304" charset="0"/>
                          </a:rPr>
                        </m:ctrlPr>
                      </m:sSubPr>
                      <m:e>
                        <m:r>
                          <a:rPr lang="en-US" sz="2000" b="0" i="1" smtClean="0">
                            <a:solidFill>
                              <a:prstClr val="black"/>
                            </a:solidFill>
                            <a:latin typeface="Cambria Math" panose="02040503050406030204" charset="0"/>
                            <a:ea typeface="Times New Roman" panose="02020603050405020304" charset="0"/>
                            <a:cs typeface="Times New Roman" panose="02020603050405020304" charset="0"/>
                          </a:rPr>
                          <m:t>𝐷</m:t>
                        </m:r>
                      </m:e>
                      <m:sub>
                        <m:r>
                          <a:rPr lang="en-US" sz="2000" b="0" i="1" smtClean="0">
                            <a:solidFill>
                              <a:prstClr val="black"/>
                            </a:solidFill>
                            <a:latin typeface="Cambria Math" panose="02040503050406030204" charset="0"/>
                            <a:ea typeface="Times New Roman" panose="02020603050405020304" charset="0"/>
                            <a:cs typeface="Times New Roman" panose="02020603050405020304" charset="0"/>
                          </a:rPr>
                          <m:t>𝐾𝐿</m:t>
                        </m:r>
                      </m:sub>
                    </m:sSub>
                  </m:oMath>
                </a14:m>
                <a:r>
                  <a:rPr lang="en-US" sz="2000" dirty="0">
                    <a:solidFill>
                      <a:prstClr val="black"/>
                    </a:solidFill>
                    <a:latin typeface="Times New Roman" panose="02020603050405020304" charset="0"/>
                    <a:ea typeface="Times New Roman" panose="02020603050405020304" charset="0"/>
                    <a:cs typeface="Times New Roman" panose="02020603050405020304" charset="0"/>
                  </a:rPr>
                  <a:t> = </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0,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the Student perfectly mimics the Teacher's logic.</a:t>
                </a:r>
                <a:endParaRPr lang="en-GB" sz="2000" dirty="0">
                  <a:solidFill>
                    <a:prstClr val="black"/>
                  </a:solidFill>
                  <a:latin typeface="Times New Roman" panose="02020603050405020304" charset="0"/>
                  <a:ea typeface="Times New Roman" panose="02020603050405020304" charset="0"/>
                  <a:cs typeface="Times New Roman" panose="02020603050405020304" charset="0"/>
                </a:endParaRPr>
              </a:p>
            </p:txBody>
          </p:sp>
        </mc:Choice>
        <mc:Fallback>
          <p:sp>
            <p:nvSpPr>
              <p:cNvPr id="5" name="TextBox 4"/>
              <p:cNvSpPr txBox="1">
                <a:spLocks noRot="1" noChangeAspect="1" noMove="1" noResize="1" noEditPoints="1" noAdjustHandles="1" noChangeArrowheads="1" noChangeShapeType="1" noTextEdit="1"/>
              </p:cNvSpPr>
              <p:nvPr/>
            </p:nvSpPr>
            <p:spPr>
              <a:xfrm>
                <a:off x="575447" y="3847679"/>
                <a:ext cx="11387641" cy="960328"/>
              </a:xfrm>
              <a:prstGeom prst="rect">
                <a:avLst/>
              </a:prstGeom>
              <a:blipFill rotWithShape="1">
                <a:blip r:embed="rId3"/>
                <a:stretch>
                  <a:fillRect l="-1" t="-22" r="3" b="44"/>
                </a:stretch>
              </a:blipFill>
            </p:spPr>
            <p:txBody>
              <a:bodyPr/>
              <a:lstStyle/>
              <a:p>
                <a:r>
                  <a:rPr lang="zh-CN" altLang="en-US">
                    <a:noFill/>
                  </a:rPr>
                  <a:t> </a:t>
                </a:r>
              </a:p>
            </p:txBody>
          </p:sp>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4"/>
          <p:cNvSpPr txBox="1"/>
          <p:nvPr/>
        </p:nvSpPr>
        <p:spPr>
          <a:xfrm>
            <a:off x="700087" y="499858"/>
            <a:ext cx="8536509" cy="461665"/>
          </a:xfrm>
          <a:prstGeom prst="rect">
            <a:avLst/>
          </a:prstGeom>
          <a:noFill/>
        </p:spPr>
        <p:txBody>
          <a:bodyPr wrap="square" rtlCol="0">
            <a:spAutoFit/>
          </a:bodyPr>
          <a:lstStyle/>
          <a:p>
            <a:r>
              <a:rPr lang="en-US" altLang="zh-CN" sz="2400" b="1" dirty="0">
                <a:solidFill>
                  <a:srgbClr val="2F57D9"/>
                </a:solidFill>
                <a:latin typeface="Calibri" panose="020F0502020204030204" pitchFamily="34" charset="0"/>
                <a:cs typeface="Calibri" panose="020F0502020204030204" pitchFamily="34" charset="0"/>
              </a:rPr>
              <a:t>5.6 </a:t>
            </a:r>
            <a:r>
              <a:rPr lang="en-US" altLang="zh-CN" sz="2400" b="1" dirty="0" smtClean="0">
                <a:solidFill>
                  <a:srgbClr val="2F57D9"/>
                </a:solidFill>
                <a:latin typeface="Calibri" panose="020F0502020204030204" pitchFamily="34" charset="0"/>
                <a:cs typeface="Calibri" panose="020F0502020204030204" pitchFamily="34" charset="0"/>
              </a:rPr>
              <a:t>The Trick of Distillation</a:t>
            </a:r>
            <a:endParaRPr lang="en-US" altLang="zh-CN" sz="2400" b="1" dirty="0">
              <a:solidFill>
                <a:srgbClr val="2F57D9"/>
              </a:solidFill>
              <a:latin typeface="Calibri" panose="020F0502020204030204" pitchFamily="34" charset="0"/>
              <a:cs typeface="Calibri" panose="020F0502020204030204" pitchFamily="34" charset="0"/>
            </a:endParaRPr>
          </a:p>
        </p:txBody>
      </p:sp>
      <p:sp>
        <p:nvSpPr>
          <p:cNvPr id="10" name="矩形 1"/>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7   						  				            		</a:t>
            </a:r>
            <a:endParaRPr lang="zh-CN" altLang="en-US" sz="1500" dirty="0"/>
          </a:p>
        </p:txBody>
      </p:sp>
      <p:pic>
        <p:nvPicPr>
          <p:cNvPr id="8" name="Picture 2" descr="Image result for sustech"/>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265693" y="5717379"/>
            <a:ext cx="750095" cy="7500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2"/>
          <p:cNvCxnSpPr/>
          <p:nvPr/>
        </p:nvCxnSpPr>
        <p:spPr>
          <a:xfrm>
            <a:off x="771526" y="1030876"/>
            <a:ext cx="5516732" cy="0"/>
          </a:xfrm>
          <a:prstGeom prst="line">
            <a:avLst/>
          </a:prstGeom>
          <a:ln w="19050">
            <a:solidFill>
              <a:srgbClr val="2F57D9"/>
            </a:solidFill>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613427" y="1330855"/>
            <a:ext cx="11349661" cy="2862322"/>
          </a:xfrm>
          <a:prstGeom prst="rect">
            <a:avLst/>
          </a:prstGeom>
          <a:noFill/>
        </p:spPr>
        <p:txBody>
          <a:bodyPr wrap="square" rtlCol="0">
            <a:spAutoFit/>
          </a:bodyPr>
          <a:lstStyle/>
          <a:p>
            <a:pPr marL="2857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The "Temperature" </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(T)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Trick</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a:t>
            </a: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dirty="0">
                <a:solidFill>
                  <a:prstClr val="black"/>
                </a:solidFill>
                <a:latin typeface="Times New Roman" panose="02020603050405020304" charset="0"/>
                <a:ea typeface="Times New Roman" panose="02020603050405020304" charset="0"/>
                <a:cs typeface="Times New Roman" panose="02020603050405020304" charset="0"/>
              </a:rPr>
              <a:t>Standard </a:t>
            </a:r>
            <a:r>
              <a:rPr lang="en-US" sz="2000" b="1" dirty="0" err="1">
                <a:solidFill>
                  <a:prstClr val="black"/>
                </a:solidFill>
                <a:latin typeface="Times New Roman" panose="02020603050405020304" charset="0"/>
                <a:ea typeface="Times New Roman" panose="02020603050405020304" charset="0"/>
                <a:cs typeface="Times New Roman" panose="02020603050405020304" charset="0"/>
              </a:rPr>
              <a:t>Softmax</a:t>
            </a:r>
            <a:r>
              <a:rPr lang="en-US" sz="2000" dirty="0">
                <a:solidFill>
                  <a:prstClr val="black"/>
                </a:solidFill>
                <a:latin typeface="Times New Roman" panose="02020603050405020304" charset="0"/>
                <a:ea typeface="Times New Roman" panose="02020603050405020304" charset="0"/>
                <a:cs typeface="Times New Roman" panose="02020603050405020304" charset="0"/>
              </a:rPr>
              <a:t> often makes the highest probability near 1.0 and others near 0.0, hiding the "Dark Knowledge." We use </a:t>
            </a:r>
            <a:r>
              <a:rPr lang="en-US" sz="2000" b="1" dirty="0">
                <a:solidFill>
                  <a:prstClr val="black"/>
                </a:solidFill>
                <a:latin typeface="Times New Roman" panose="02020603050405020304" charset="0"/>
                <a:ea typeface="Times New Roman" panose="02020603050405020304" charset="0"/>
                <a:cs typeface="Times New Roman" panose="02020603050405020304" charset="0"/>
              </a:rPr>
              <a:t>Temperature Scaling</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a:t>
            </a:r>
            <a:endParaRPr lang="en-US" sz="2000" dirty="0" smtClean="0">
              <a:solidFill>
                <a:prstClr val="black"/>
              </a:solidFill>
              <a:latin typeface="Times New Roman" panose="02020603050405020304" charset="0"/>
              <a:ea typeface="Times New Roman" panose="02020603050405020304" charset="0"/>
              <a:cs typeface="Times New Roman" panose="02020603050405020304" charset="0"/>
            </a:endParaRPr>
          </a:p>
          <a:p>
            <a:pPr marL="0" lvl="1" algn="just">
              <a:lnSpc>
                <a:spcPct val="150000"/>
              </a:lnSpc>
              <a:spcBef>
                <a:spcPts val="600"/>
              </a:spcBef>
              <a:spcAft>
                <a:spcPts val="600"/>
              </a:spcAft>
              <a:buClr>
                <a:srgbClr val="2F57D9"/>
              </a:buClr>
              <a:buSzPct val="70000"/>
            </a:pP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a:p>
            <a:pPr marL="285750" lvl="1" indent="-285750" algn="just">
              <a:lnSpc>
                <a:spcPct val="150000"/>
              </a:lnSpc>
              <a:spcBef>
                <a:spcPts val="600"/>
              </a:spcBef>
              <a:spcAft>
                <a:spcPts val="600"/>
              </a:spcAft>
              <a:buClr>
                <a:srgbClr val="2F57D9"/>
              </a:buClr>
              <a:buSzPct val="70000"/>
              <a:buFont typeface="Wingdings" panose="05000000000000000000" pitchFamily="2" charset="2"/>
              <a:buChar char="n"/>
            </a:pPr>
            <a:endParaRPr lang="en-US" altLang="zh-CN" sz="2000" dirty="0">
              <a:solidFill>
                <a:prstClr val="black"/>
              </a:solidFill>
              <a:latin typeface="Times New Roman" panose="02020603050405020304" charset="0"/>
              <a:ea typeface="Times New Roman" panose="02020603050405020304" charset="0"/>
              <a:cs typeface="Times New Roman" panose="02020603050405020304" charset="0"/>
            </a:endParaRPr>
          </a:p>
        </p:txBody>
      </p:sp>
      <p:sp>
        <p:nvSpPr>
          <p:cNvPr id="5" name="TextBox 4"/>
          <p:cNvSpPr txBox="1"/>
          <p:nvPr/>
        </p:nvSpPr>
        <p:spPr>
          <a:xfrm>
            <a:off x="613427" y="4675606"/>
            <a:ext cx="11387641" cy="966931"/>
          </a:xfrm>
          <a:prstGeom prst="rect">
            <a:avLst/>
          </a:prstGeom>
          <a:noFill/>
        </p:spPr>
        <p:txBody>
          <a:bodyPr wrap="square" rtlCol="0">
            <a:spAutoFit/>
          </a:bodyPr>
          <a:lstStyle/>
          <a:p>
            <a:pPr marL="285750" lvl="1" indent="-285750" algn="just">
              <a:lnSpc>
                <a:spcPct val="150000"/>
              </a:lnSpc>
              <a:spcBef>
                <a:spcPts val="600"/>
              </a:spcBef>
              <a:spcAft>
                <a:spcPts val="600"/>
              </a:spcAft>
              <a:buClr>
                <a:srgbClr val="2F57D9"/>
              </a:buClr>
              <a:buSzPct val="70000"/>
              <a:buFont typeface="Wingdings" panose="05000000000000000000" pitchFamily="2" charset="2"/>
              <a:buChar char="n"/>
            </a:pPr>
            <a:r>
              <a:rPr lang="en-US" sz="2000" b="1" dirty="0"/>
              <a:t>Higher </a:t>
            </a:r>
            <a:r>
              <a:rPr lang="en-US" sz="2000" b="1" dirty="0" smtClean="0"/>
              <a:t>T:</a:t>
            </a:r>
            <a:r>
              <a:rPr lang="en-US" sz="2000" dirty="0" smtClean="0"/>
              <a:t>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"Softens" the distribution, revealing the nuances between the "wrong" answers so the Student can learn from them more easily.</a:t>
            </a:r>
            <a:endParaRPr lang="en-GB" sz="2000" dirty="0">
              <a:solidFill>
                <a:prstClr val="black"/>
              </a:solidFill>
              <a:latin typeface="Times New Roman" panose="02020603050405020304" charset="0"/>
              <a:ea typeface="Times New Roman" panose="02020603050405020304" charset="0"/>
              <a:cs typeface="Times New Roman" panose="02020603050405020304" charset="0"/>
            </a:endParaRPr>
          </a:p>
        </p:txBody>
      </p:sp>
      <p:pic>
        <p:nvPicPr>
          <p:cNvPr id="2" name="Picture 1"/>
          <p:cNvPicPr>
            <a:picLocks noChangeAspect="1"/>
          </p:cNvPicPr>
          <p:nvPr/>
        </p:nvPicPr>
        <p:blipFill>
          <a:blip r:embed="rId2"/>
          <a:stretch>
            <a:fillRect/>
          </a:stretch>
        </p:blipFill>
        <p:spPr>
          <a:xfrm>
            <a:off x="4740194" y="2967627"/>
            <a:ext cx="3120189" cy="1150708"/>
          </a:xfrm>
          <a:prstGeom prst="rect">
            <a:avLst/>
          </a:prstGeom>
        </p:spPr>
      </p:pic>
      <mc:AlternateContent xmlns:mc="http://schemas.openxmlformats.org/markup-compatibility/2006">
        <mc:Choice xmlns:a14="http://schemas.microsoft.com/office/drawing/2010/main" Requires="a14">
          <p:sp>
            <p:nvSpPr>
              <p:cNvPr id="6" name="TextBox 5"/>
              <p:cNvSpPr txBox="1"/>
              <p:nvPr/>
            </p:nvSpPr>
            <p:spPr>
              <a:xfrm>
                <a:off x="700087" y="3999023"/>
                <a:ext cx="10902105" cy="400110"/>
              </a:xfrm>
              <a:prstGeom prst="rect">
                <a:avLst/>
              </a:prstGeom>
              <a:noFill/>
            </p:spPr>
            <p:txBody>
              <a:bodyPr wrap="square" rtlCol="0">
                <a:spAutoFit/>
              </a:bodyPr>
              <a:lstStyle/>
              <a:p>
                <a14:m>
                  <m:oMath xmlns:m="http://schemas.openxmlformats.org/officeDocument/2006/math">
                    <m:sSub>
                      <m:sSubPr>
                        <m:ctrlPr>
                          <a:rPr lang="en-US" sz="2000" smtClean="0">
                            <a:solidFill>
                              <a:prstClr val="black"/>
                            </a:solidFill>
                            <a:latin typeface="Times New Roman" panose="02020603050405020304" charset="0"/>
                            <a:ea typeface="Times New Roman" panose="02020603050405020304" charset="0"/>
                            <a:cs typeface="Times New Roman" panose="02020603050405020304" charset="0"/>
                          </a:rPr>
                        </m:ctrlPr>
                      </m:sSubPr>
                      <m:e>
                        <m:r>
                          <a:rPr lang="en-US" sz="2000" b="0" i="0" smtClean="0">
                            <a:solidFill>
                              <a:prstClr val="black"/>
                            </a:solidFill>
                            <a:latin typeface="Cambria Math" panose="02040503050406030204" charset="0"/>
                            <a:ea typeface="Times New Roman" panose="02020603050405020304" charset="0"/>
                            <a:cs typeface="Times New Roman" panose="02020603050405020304" charset="0"/>
                          </a:rPr>
                          <m:t>, </m:t>
                        </m:r>
                        <m:r>
                          <m:rPr>
                            <m:sty m:val="p"/>
                          </m:rPr>
                          <a:rPr lang="en-US" sz="2000" b="0" i="0" smtClean="0">
                            <a:solidFill>
                              <a:prstClr val="black"/>
                            </a:solidFill>
                            <a:latin typeface="Cambria Math" panose="02040503050406030204" charset="0"/>
                            <a:ea typeface="Times New Roman" panose="02020603050405020304" charset="0"/>
                            <a:cs typeface="Times New Roman" panose="02020603050405020304" charset="0"/>
                          </a:rPr>
                          <m:t>where</m:t>
                        </m:r>
                        <m:r>
                          <a:rPr lang="en-US" sz="2000" b="0" i="0" smtClean="0">
                            <a:solidFill>
                              <a:prstClr val="black"/>
                            </a:solidFill>
                            <a:latin typeface="Cambria Math" panose="02040503050406030204" charset="0"/>
                            <a:ea typeface="Times New Roman" panose="02020603050405020304" charset="0"/>
                            <a:cs typeface="Times New Roman" panose="02020603050405020304" charset="0"/>
                          </a:rPr>
                          <m:t> </m:t>
                        </m:r>
                        <m:r>
                          <a:rPr lang="en-US" sz="2000">
                            <a:solidFill>
                              <a:prstClr val="black"/>
                            </a:solidFill>
                            <a:latin typeface="Times New Roman" panose="02020603050405020304" charset="0"/>
                            <a:ea typeface="Times New Roman" panose="02020603050405020304" charset="0"/>
                            <a:cs typeface="Times New Roman" panose="02020603050405020304" charset="0"/>
                          </a:rPr>
                          <m:t>𝑞</m:t>
                        </m:r>
                      </m:e>
                      <m:sub>
                        <m:r>
                          <a:rPr lang="en-US" sz="2000">
                            <a:solidFill>
                              <a:prstClr val="black"/>
                            </a:solidFill>
                            <a:latin typeface="Times New Roman" panose="02020603050405020304" charset="0"/>
                            <a:ea typeface="Times New Roman" panose="02020603050405020304" charset="0"/>
                            <a:cs typeface="Times New Roman" panose="02020603050405020304" charset="0"/>
                          </a:rPr>
                          <m:t>𝑖</m:t>
                        </m:r>
                      </m:sub>
                    </m:sSub>
                  </m:oMath>
                </a14:m>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 is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t</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he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resulting predicted probability for the </a:t>
                </a:r>
                <a:r>
                  <a:rPr lang="en-US" sz="2000" dirty="0" err="1">
                    <a:solidFill>
                      <a:prstClr val="black"/>
                    </a:solidFill>
                    <a:latin typeface="Times New Roman" panose="02020603050405020304" charset="0"/>
                    <a:ea typeface="Times New Roman" panose="02020603050405020304" charset="0"/>
                    <a:cs typeface="Times New Roman" panose="02020603050405020304" charset="0"/>
                  </a:rPr>
                  <a:t>i-th</a:t>
                </a:r>
                <a:r>
                  <a:rPr lang="en-US" sz="2000" dirty="0">
                    <a:solidFill>
                      <a:prstClr val="black"/>
                    </a:solidFill>
                    <a:latin typeface="Times New Roman" panose="02020603050405020304" charset="0"/>
                    <a:ea typeface="Times New Roman" panose="02020603050405020304" charset="0"/>
                    <a:cs typeface="Times New Roman" panose="02020603050405020304" charset="0"/>
                  </a:rPr>
                  <a:t> </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class between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0 and 1</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 and </a:t>
                </a:r>
                <a14:m>
                  <m:oMath xmlns:m="http://schemas.openxmlformats.org/officeDocument/2006/math">
                    <m:sSub>
                      <m:sSubPr>
                        <m:ctrlPr>
                          <a:rPr lang="en-US" sz="2000">
                            <a:solidFill>
                              <a:prstClr val="black"/>
                            </a:solidFill>
                            <a:latin typeface="Times New Roman" panose="02020603050405020304" charset="0"/>
                            <a:ea typeface="Times New Roman" panose="02020603050405020304" charset="0"/>
                            <a:cs typeface="Times New Roman" panose="02020603050405020304" charset="0"/>
                          </a:rPr>
                        </m:ctrlPr>
                      </m:sSubPr>
                      <m:e>
                        <m:r>
                          <a:rPr lang="en-US" sz="2000">
                            <a:solidFill>
                              <a:prstClr val="black"/>
                            </a:solidFill>
                            <a:latin typeface="Times New Roman" panose="02020603050405020304" charset="0"/>
                            <a:ea typeface="Times New Roman" panose="02020603050405020304" charset="0"/>
                            <a:cs typeface="Times New Roman" panose="02020603050405020304" charset="0"/>
                          </a:rPr>
                          <m:t>𝑧</m:t>
                        </m:r>
                      </m:e>
                      <m:sub>
                        <m:r>
                          <a:rPr lang="en-US" sz="2000">
                            <a:solidFill>
                              <a:prstClr val="black"/>
                            </a:solidFill>
                            <a:latin typeface="Times New Roman" panose="02020603050405020304" charset="0"/>
                            <a:ea typeface="Times New Roman" panose="02020603050405020304" charset="0"/>
                            <a:cs typeface="Times New Roman" panose="02020603050405020304" charset="0"/>
                          </a:rPr>
                          <m:t>𝑖</m:t>
                        </m:r>
                      </m:sub>
                    </m:sSub>
                    <m:r>
                      <a:rPr lang="en-US" sz="2000" b="0" i="0" smtClean="0">
                        <a:solidFill>
                          <a:prstClr val="black"/>
                        </a:solidFill>
                        <a:latin typeface="Cambria Math" panose="02040503050406030204" charset="0"/>
                        <a:ea typeface="Times New Roman" panose="02020603050405020304" charset="0"/>
                        <a:cs typeface="Times New Roman" panose="02020603050405020304" charset="0"/>
                      </a:rPr>
                      <m:t> </m:t>
                    </m:r>
                  </m:oMath>
                </a14:m>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is the </a:t>
                </a:r>
                <a:r>
                  <a:rPr lang="en-US" sz="2000" dirty="0">
                    <a:solidFill>
                      <a:prstClr val="black"/>
                    </a:solidFill>
                    <a:latin typeface="Times New Roman" panose="02020603050405020304" charset="0"/>
                    <a:ea typeface="Times New Roman" panose="02020603050405020304" charset="0"/>
                    <a:cs typeface="Times New Roman" panose="02020603050405020304" charset="0"/>
                  </a:rPr>
                  <a:t>raw </a:t>
                </a:r>
                <a:r>
                  <a:rPr lang="en-US" sz="2000" dirty="0" smtClean="0">
                    <a:solidFill>
                      <a:prstClr val="black"/>
                    </a:solidFill>
                    <a:latin typeface="Times New Roman" panose="02020603050405020304" charset="0"/>
                    <a:ea typeface="Times New Roman" panose="02020603050405020304" charset="0"/>
                    <a:cs typeface="Times New Roman" panose="02020603050405020304" charset="0"/>
                  </a:rPr>
                  <a:t>logit.</a:t>
                </a:r>
                <a:endParaRPr lang="en-US" sz="2000" dirty="0">
                  <a:solidFill>
                    <a:prstClr val="black"/>
                  </a:solidFill>
                  <a:latin typeface="Times New Roman" panose="02020603050405020304" charset="0"/>
                  <a:ea typeface="Times New Roman" panose="02020603050405020304" charset="0"/>
                  <a:cs typeface="Times New Roman" panose="02020603050405020304" charset="0"/>
                </a:endParaRPr>
              </a:p>
            </p:txBody>
          </p:sp>
        </mc:Choice>
        <mc:Fallback>
          <p:sp>
            <p:nvSpPr>
              <p:cNvPr id="6" name="TextBox 5"/>
              <p:cNvSpPr txBox="1">
                <a:spLocks noRot="1" noChangeAspect="1" noMove="1" noResize="1" noEditPoints="1" noAdjustHandles="1" noChangeArrowheads="1" noChangeShapeType="1" noTextEdit="1"/>
              </p:cNvSpPr>
              <p:nvPr/>
            </p:nvSpPr>
            <p:spPr>
              <a:xfrm>
                <a:off x="700087" y="3999023"/>
                <a:ext cx="10902105" cy="400110"/>
              </a:xfrm>
              <a:prstGeom prst="rect">
                <a:avLst/>
              </a:prstGeom>
              <a:blipFill rotWithShape="1">
                <a:blip r:embed="rId3"/>
                <a:stretch>
                  <a:fillRect l="-3" t="-107" r="1" b="122"/>
                </a:stretch>
              </a:blipFill>
            </p:spPr>
            <p:txBody>
              <a:bodyPr/>
              <a:lstStyle/>
              <a:p>
                <a:r>
                  <a:rPr lang="zh-CN" altLang="en-US">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334" name="think-cell Slide" r:id="rId2" imgW="7772400" imgH="10058400" progId="TCLayout.ActiveDocument.1">
                  <p:embed/>
                </p:oleObj>
              </mc:Choice>
              <mc:Fallback>
                <p:oleObj name="think-cell Slide" r:id="rId2" imgW="7772400" imgH="10058400" progId="TCLayout.ActiveDocument.1">
                  <p:embed/>
                  <p:pic>
                    <p:nvPicPr>
                      <p:cNvPr id="0" name="Picture 3279"/>
                      <p:cNvPicPr/>
                      <p:nvPr/>
                    </p:nvPicPr>
                    <p:blipFill>
                      <a:blip r:embed="rId3"/>
                      <a:stretch>
                        <a:fillRect/>
                      </a:stretch>
                    </p:blipFill>
                    <p:spPr>
                      <a:xfrm>
                        <a:off x="1588" y="1588"/>
                        <a:ext cx="1227" cy="1588"/>
                      </a:xfrm>
                      <a:prstGeom prst="rect">
                        <a:avLst/>
                      </a:prstGeom>
                    </p:spPr>
                  </p:pic>
                </p:oleObj>
              </mc:Fallback>
            </mc:AlternateContent>
          </a:graphicData>
        </a:graphic>
      </p:graphicFrame>
      <p:pic>
        <p:nvPicPr>
          <p:cNvPr id="8" name="Picture 2" descr="Image result for sustech"/>
          <p:cNvPicPr>
            <a:picLocks noChangeAspect="1" noChangeArrowheads="1"/>
          </p:cNvPicPr>
          <p:nvPr/>
        </p:nvPicPr>
        <p:blipFill>
          <a:blip r:embed="rId4">
            <a:clrChange>
              <a:clrFrom>
                <a:srgbClr val="EC6C00"/>
              </a:clrFrom>
              <a:clrTo>
                <a:srgbClr val="EC6C00">
                  <a:alpha val="0"/>
                </a:srgbClr>
              </a:clrTo>
            </a:clrChange>
            <a:extLst>
              <a:ext uri="{28A0092B-C50C-407E-A947-70E740481C1C}">
                <a14:useLocalDpi xmlns:a14="http://schemas.microsoft.com/office/drawing/2010/main" val="0"/>
              </a:ext>
            </a:extLst>
          </a:blip>
          <a:srcRect/>
          <a:stretch>
            <a:fillRect/>
          </a:stretch>
        </p:blipFill>
        <p:spPr bwMode="auto">
          <a:xfrm>
            <a:off x="4057656" y="1387477"/>
            <a:ext cx="4014786" cy="4014786"/>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1524000" y="2714844"/>
            <a:ext cx="9144000" cy="1071563"/>
          </a:xfrm>
        </p:spPr>
        <p:txBody>
          <a:bodyPr vert="horz">
            <a:normAutofit fontScale="90000"/>
          </a:bodyPr>
          <a:lstStyle/>
          <a:p>
            <a:br>
              <a:rPr lang="en-US" altLang="zh-CN" sz="4800" dirty="0">
                <a:latin typeface="Calibri" panose="020F0502020204030204" pitchFamily="34" charset="0"/>
                <a:cs typeface="Calibri" panose="020F0502020204030204" pitchFamily="34" charset="0"/>
              </a:rPr>
            </a:br>
            <a:br>
              <a:rPr lang="en-US" altLang="zh-CN" sz="4800" dirty="0">
                <a:latin typeface="Calibri" panose="020F0502020204030204" pitchFamily="34" charset="0"/>
                <a:cs typeface="Calibri" panose="020F0502020204030204" pitchFamily="34" charset="0"/>
              </a:rPr>
            </a:br>
            <a:r>
              <a:rPr lang="en-US" altLang="zh-CN" sz="4800" dirty="0">
                <a:latin typeface="Calibri" panose="020F0502020204030204" pitchFamily="34" charset="0"/>
                <a:cs typeface="Calibri" panose="020F0502020204030204" pitchFamily="34" charset="0"/>
              </a:rPr>
              <a:t>End of Lecture </a:t>
            </a:r>
            <a:r>
              <a:rPr lang="en-US" altLang="zh-CN" sz="4800" dirty="0" smtClean="0">
                <a:latin typeface="Calibri" panose="020F0502020204030204" pitchFamily="34" charset="0"/>
                <a:cs typeface="Calibri" panose="020F0502020204030204" pitchFamily="34" charset="0"/>
              </a:rPr>
              <a:t>7</a:t>
            </a:r>
            <a:endParaRPr lang="zh-CN" altLang="en-US" sz="4800" dirty="0">
              <a:latin typeface="Calibri" panose="020F0502020204030204" pitchFamily="34" charset="0"/>
              <a:cs typeface="Calibri" panose="020F0502020204030204" pitchFamily="34" charset="0"/>
            </a:endParaRPr>
          </a:p>
        </p:txBody>
      </p:sp>
      <p:sp>
        <p:nvSpPr>
          <p:cNvPr id="5" name="矩形 8"/>
          <p:cNvSpPr/>
          <p:nvPr/>
        </p:nvSpPr>
        <p:spPr>
          <a:xfrm>
            <a:off x="0" y="6550819"/>
            <a:ext cx="12192000" cy="307181"/>
          </a:xfrm>
          <a:prstGeom prst="rect">
            <a:avLst/>
          </a:prstGeom>
          <a:solidFill>
            <a:srgbClr val="2F57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t>Lecture </a:t>
            </a:r>
            <a:r>
              <a:rPr lang="en-US" altLang="zh-CN" sz="1500" dirty="0" smtClean="0"/>
              <a:t>7</a:t>
            </a:r>
            <a:r>
              <a:rPr lang="en-US" altLang="zh-CN" sz="1500" dirty="0"/>
              <a:t>						  				                 </a:t>
            </a:r>
            <a:r>
              <a:rPr lang="en-US" altLang="zh-CN" sz="1500" dirty="0" smtClean="0"/>
              <a:t>2026/04/10</a:t>
            </a:r>
            <a:endParaRPr lang="zh-CN" altLang="en-US" sz="1500" dirty="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THINKCELLSHAPEDONOTDELETE" val="thinkcellActiveDocDoNotDelete"/>
</p:tagLst>
</file>

<file path=ppt/tags/tag3.xml><?xml version="1.0" encoding="utf-8"?>
<p:tagLst xmlns:p="http://schemas.openxmlformats.org/presentationml/2006/main">
  <p:tag name="THINKCELLSHAPEDONOTDELETE" val="thinkcellActiveDocDoNotDelete"/>
</p:tagLst>
</file>

<file path=ppt/tags/tag4.xml><?xml version="1.0" encoding="utf-8"?>
<p:tagLst xmlns:p="http://schemas.openxmlformats.org/presentationml/2006/main">
  <p:tag name="THINKCELLUNDODONOTDELETE" val="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21514</Words>
  <Application>WPS 演示</Application>
  <PresentationFormat>Widescreen</PresentationFormat>
  <Paragraphs>697</Paragraphs>
  <Slides>55</Slides>
  <Notes>50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55</vt:i4>
      </vt:variant>
    </vt:vector>
  </HeadingPairs>
  <TitlesOfParts>
    <vt:vector size="71" baseType="lpstr">
      <vt:lpstr>Arial</vt:lpstr>
      <vt:lpstr>宋体</vt:lpstr>
      <vt:lpstr>Wingdings</vt:lpstr>
      <vt:lpstr>Calibri</vt:lpstr>
      <vt:lpstr>Times New Roman</vt:lpstr>
      <vt:lpstr>微软雅黑</vt:lpstr>
      <vt:lpstr>等线</vt:lpstr>
      <vt:lpstr>Arial Unicode MS</vt:lpstr>
      <vt:lpstr>等线 Light</vt:lpstr>
      <vt:lpstr>Courier New</vt:lpstr>
      <vt:lpstr>Cambria Math</vt:lpstr>
      <vt:lpstr>Wingdings</vt:lpstr>
      <vt:lpstr>Office 主题​​</vt:lpstr>
      <vt:lpstr>TCLayout.ActiveDocument.1</vt:lpstr>
      <vt:lpstr>TCLayout.ActiveDocument.1</vt:lpstr>
      <vt:lpstr>TCLayout.ActiveDocument.1</vt:lpstr>
      <vt:lpstr>  STA324 The Foundations and Applications of Large Language Models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End of Lecture 7</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MA409 Statistical Data Analysis (SAS) </dc:title>
  <dc:creator>宋 安琪</dc:creator>
  <cp:lastModifiedBy>HaruYuu</cp:lastModifiedBy>
  <cp:revision>906</cp:revision>
  <cp:lastPrinted>2026-02-05T05:23:00Z</cp:lastPrinted>
  <dcterms:created xsi:type="dcterms:W3CDTF">2026-02-05T05:23:00Z</dcterms:created>
  <dcterms:modified xsi:type="dcterms:W3CDTF">2026-04-17T09:37:35Z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45B6C2F6FA1FC30E5F298469FDE27BA1_42</vt:lpwstr>
  </property>
  <property fmtid="{D5CDD505-2E9C-101B-9397-08002B2CF9AE}" pid="3" name="KSOProductBuildVer">
    <vt:lpwstr>2052-12.1.0.25865</vt:lpwstr>
  </property>
</Properties>
</file>