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377" r:id="rId6"/>
    <p:sldId id="426" r:id="rId7"/>
    <p:sldId id="427" r:id="rId8"/>
    <p:sldId id="428" r:id="rId9"/>
    <p:sldId id="429" r:id="rId10"/>
    <p:sldId id="430" r:id="rId11"/>
    <p:sldId id="431" r:id="rId12"/>
    <p:sldId id="432" r:id="rId13"/>
    <p:sldId id="433" r:id="rId14"/>
    <p:sldId id="434" r:id="rId15"/>
    <p:sldId id="435" r:id="rId16"/>
    <p:sldId id="436" r:id="rId17"/>
    <p:sldId id="437" r:id="rId18"/>
    <p:sldId id="438" r:id="rId19"/>
    <p:sldId id="439" r:id="rId20"/>
    <p:sldId id="440" r:id="rId21"/>
    <p:sldId id="283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7D9"/>
    <a:srgbClr val="0064E5"/>
    <a:srgbClr val="DEEBF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58" autoAdjust="0"/>
    <p:restoredTop sz="78169"/>
  </p:normalViewPr>
  <p:slideViewPr>
    <p:cSldViewPr snapToGrid="0">
      <p:cViewPr>
        <p:scale>
          <a:sx n="89" d="100"/>
          <a:sy n="89" d="100"/>
        </p:scale>
        <p:origin x="464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20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2BE604-7FA3-4B3A-BABD-E5F4FC67844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3BE11-001D-4FCF-9809-FCC312B3AD6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vmlDrawing" Target="../drawings/vmlDrawing1.vml"/><Relationship Id="rId14" Type="http://schemas.openxmlformats.org/officeDocument/2006/relationships/image" Target="../media/image1.emf"/><Relationship Id="rId13" Type="http://schemas.openxmlformats.org/officeDocument/2006/relationships/oleObject" Target="../embeddings/oleObject1.bin"/><Relationship Id="rId12" Type="http://schemas.openxmlformats.org/officeDocument/2006/relationships/tags" Target="../tags/tag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5" Type="http://schemas.openxmlformats.org/officeDocument/2006/relationships/vmlDrawing" Target="../drawings/vmlDrawing2.vml"/><Relationship Id="rId14" Type="http://schemas.openxmlformats.org/officeDocument/2006/relationships/image" Target="../media/image1.emf"/><Relationship Id="rId13" Type="http://schemas.openxmlformats.org/officeDocument/2006/relationships/oleObject" Target="../embeddings/oleObject2.bin"/><Relationship Id="rId12" Type="http://schemas.openxmlformats.org/officeDocument/2006/relationships/tags" Target="../tags/tag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" name="think-cell Slide" r:id="rId13" imgW="7763510" imgH="10049510" progId="TCLayout.ActiveDocument.1">
                  <p:embed/>
                </p:oleObj>
              </mc:Choice>
              <mc:Fallback>
                <p:oleObj name="think-cell Slide" r:id="rId13" imgW="7763510" imgH="10049510" progId="TCLayout.ActiveDocument.1">
                  <p:embed/>
                  <p:pic>
                    <p:nvPicPr>
                      <p:cNvPr id="0" name="图片 124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6" name="think-cell Slide" r:id="rId13" imgW="7763510" imgH="10049510" progId="TCLayout.ActiveDocument.1">
                  <p:embed/>
                </p:oleObj>
              </mc:Choice>
              <mc:Fallback>
                <p:oleObj name="think-cell Slide" r:id="rId13" imgW="7763510" imgH="10049510" progId="TCLayout.ActiveDocument.1">
                  <p:embed/>
                  <p:pic>
                    <p:nvPicPr>
                      <p:cNvPr id="0" name="图片 124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B8052A-A712-4579-AC42-D1977B3A32C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471B6-4801-4E17-8E24-C79CE225DF9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" Type="http://schemas.openxmlformats.org/officeDocument/2006/relationships/oleObject" Target="../embeddings/oleObject3.bin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tags" Target="../tags/tag10.xml"/><Relationship Id="rId7" Type="http://schemas.openxmlformats.org/officeDocument/2006/relationships/tags" Target="../tags/tag9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18.xml"/><Relationship Id="rId15" Type="http://schemas.openxmlformats.org/officeDocument/2006/relationships/tags" Target="../tags/tag17.xml"/><Relationship Id="rId14" Type="http://schemas.openxmlformats.org/officeDocument/2006/relationships/tags" Target="../tags/tag16.xml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" name="think-cell Slide" r:id="rId2" imgW="7763510" imgH="10049510" progId="TCLayout.ActiveDocument.1">
                  <p:embed/>
                </p:oleObj>
              </mc:Choice>
              <mc:Fallback>
                <p:oleObj name="think-cell Slide" r:id="rId2" imgW="7763510" imgH="10049510" progId="TCLayout.ActiveDocument.1">
                  <p:embed/>
                  <p:pic>
                    <p:nvPicPr>
                      <p:cNvPr id="0" name="图片 226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C6C00"/>
              </a:clrFrom>
              <a:clrTo>
                <a:srgbClr val="EC6C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6" y="1387477"/>
            <a:ext cx="4014786" cy="401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 vert="horz">
            <a:normAutofit fontScale="90000"/>
          </a:bodyPr>
          <a:lstStyle/>
          <a:p>
            <a:b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sk-SK" altLang="zh-CN" sz="4800" dirty="0" smtClean="0">
                <a:latin typeface="Calibri" panose="020F0502020204030204" pitchFamily="34" charset="0"/>
                <a:cs typeface="Calibri" panose="020F0502020204030204" pitchFamily="34" charset="0"/>
              </a:rPr>
              <a:t>STA324</a:t>
            </a:r>
            <a:br>
              <a:rPr lang="sk-SK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sk-SK" altLang="zh-CN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sk-SK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altLang="zh-CN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Foundations</a:t>
            </a:r>
            <a:r>
              <a:rPr lang="sk-SK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sk-SK" altLang="zh-CN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Applications</a:t>
            </a:r>
            <a:r>
              <a:rPr lang="sk-SK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sk-SK" altLang="zh-CN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Large</a:t>
            </a:r>
            <a:r>
              <a:rPr lang="sk-SK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Language</a:t>
            </a:r>
            <a:r>
              <a:rPr lang="sk-SK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k-SK" altLang="zh-CN" sz="4800" dirty="0" err="1">
                <a:latin typeface="Calibri" panose="020F0502020204030204" pitchFamily="34" charset="0"/>
                <a:cs typeface="Calibri" panose="020F0502020204030204" pitchFamily="34" charset="0"/>
              </a:rPr>
              <a:t>Models</a:t>
            </a:r>
            <a:endParaRPr lang="zh-CN" altLang="en-US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894932"/>
            <a:ext cx="9144000" cy="1655762"/>
          </a:xfrm>
        </p:spPr>
        <p:txBody>
          <a:bodyPr/>
          <a:lstStyle/>
          <a:p>
            <a:r>
              <a:rPr lang="en-US" altLang="zh-C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2025-2026 Spring </a:t>
            </a:r>
            <a:r>
              <a:rPr lang="en-US" altLang="zh-CN" b="1" dirty="0">
                <a:latin typeface="Calibri" panose="020F0502020204030204" pitchFamily="34" charset="0"/>
                <a:cs typeface="Calibri" panose="020F0502020204030204" pitchFamily="34" charset="0"/>
              </a:rPr>
              <a:t>Semester</a:t>
            </a:r>
            <a:endParaRPr lang="en-US" altLang="zh-CN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zh-C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Linyi Yang</a:t>
            </a:r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207419" y="3743325"/>
            <a:ext cx="7850981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8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256301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0"/>
          <p:cNvSpPr/>
          <p:nvPr/>
        </p:nvSpPr>
        <p:spPr>
          <a:xfrm>
            <a:off x="567182" y="525272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55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先从一个简单的 SFT 例子开始</a:t>
            </a:r>
            <a:endParaRPr lang="en-US" sz="2100" dirty="0"/>
          </a:p>
        </p:txBody>
      </p:sp>
      <p:sp>
        <p:nvSpPr>
          <p:cNvPr id="5" name="Shape 7"/>
          <p:cNvSpPr/>
          <p:nvPr/>
        </p:nvSpPr>
        <p:spPr>
          <a:xfrm>
            <a:off x="566928" y="1737868"/>
            <a:ext cx="3977640" cy="434340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8"/>
          <p:cNvSpPr/>
          <p:nvPr/>
        </p:nvSpPr>
        <p:spPr>
          <a:xfrm>
            <a:off x="768096" y="1929892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条样本，长这样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68096" y="2222500"/>
            <a:ext cx="3566160" cy="2971800"/>
          </a:xfrm>
          <a:prstGeom prst="roundRect">
            <a:avLst>
              <a:gd name="adj" fmla="val 2462"/>
            </a:avLst>
          </a:prstGeom>
          <a:solidFill>
            <a:srgbClr val="FBFCFE"/>
          </a:solidFill>
          <a:ln w="12700">
            <a:solidFill>
              <a:srgbClr val="D8DD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332228"/>
            <a:ext cx="3310128" cy="27523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"instruction": "用一句话解释 Transformer",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"input": "",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"output": "Transformer 用自注意力机制建模序列关系。"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"instruction": "把 2+3 算出来",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"input": "",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"output": "2+3=5。"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86384" y="5377180"/>
            <a:ext cx="3511296" cy="475488"/>
          </a:xfrm>
          <a:prstGeom prst="roundRect">
            <a:avLst>
              <a:gd name="adj" fmla="val 15385"/>
            </a:avLst>
          </a:prstGeom>
          <a:solidFill>
            <a:srgbClr val="FFF8DB"/>
          </a:solidFill>
          <a:ln w="12700">
            <a:solidFill>
              <a:srgbClr val="F1D6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112" y="5450332"/>
            <a:ext cx="32918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只要先把“问题 → 标准答案”组织好，</a:t>
            </a:r>
            <a:endParaRPr lang="en-US" sz="1150" b="1" dirty="0">
              <a:solidFill>
                <a:srgbClr val="0D3E4B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  <a:p>
            <a:pPr marL="0" indent="0" algn="ctr">
              <a:buNone/>
            </a:pPr>
            <a:r>
              <a:rPr lang="en-US" sz="115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SFT 就能跑起来</a:t>
            </a:r>
            <a:endParaRPr lang="en-US" sz="1150" dirty="0"/>
          </a:p>
        </p:txBody>
      </p:sp>
      <p:sp>
        <p:nvSpPr>
          <p:cNvPr id="16" name="Shape 13"/>
          <p:cNvSpPr/>
          <p:nvPr>
            <p:custDataLst>
              <p:tags r:id="rId2"/>
            </p:custDataLst>
          </p:nvPr>
        </p:nvSpPr>
        <p:spPr>
          <a:xfrm>
            <a:off x="4983480" y="2039620"/>
            <a:ext cx="1490472" cy="2148840"/>
          </a:xfrm>
          <a:prstGeom prst="roundRect">
            <a:avLst>
              <a:gd name="adj" fmla="val 4908"/>
            </a:avLst>
          </a:prstGeom>
          <a:solidFill>
            <a:srgbClr val="EAF0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>
            <p:custDataLst>
              <p:tags r:id="rId3"/>
            </p:custDataLst>
          </p:nvPr>
        </p:nvSpPr>
        <p:spPr>
          <a:xfrm>
            <a:off x="5056632" y="2112772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817"/>
                </a:solidFill>
              </a:rPr>
              <a:t>1</a:t>
            </a:r>
            <a:endParaRPr lang="en-US" sz="1100" dirty="0"/>
          </a:p>
        </p:txBody>
      </p:sp>
      <p:sp>
        <p:nvSpPr>
          <p:cNvPr id="18" name="Text 15"/>
          <p:cNvSpPr/>
          <p:nvPr>
            <p:custDataLst>
              <p:tags r:id="rId4"/>
            </p:custDataLst>
          </p:nvPr>
        </p:nvSpPr>
        <p:spPr>
          <a:xfrm>
            <a:off x="5120640" y="2350516"/>
            <a:ext cx="12161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准备数据</a:t>
            </a:r>
            <a:endParaRPr lang="en-US" sz="1400" dirty="0"/>
          </a:p>
        </p:txBody>
      </p:sp>
      <p:sp>
        <p:nvSpPr>
          <p:cNvPr id="20" name="Shape 17"/>
          <p:cNvSpPr/>
          <p:nvPr>
            <p:custDataLst>
              <p:tags r:id="rId5"/>
            </p:custDataLst>
          </p:nvPr>
        </p:nvSpPr>
        <p:spPr>
          <a:xfrm>
            <a:off x="6473952" y="3100324"/>
            <a:ext cx="265176" cy="0"/>
          </a:xfrm>
          <a:prstGeom prst="line">
            <a:avLst/>
          </a:prstGeom>
          <a:noFill/>
          <a:ln w="12700">
            <a:solidFill>
              <a:srgbClr val="3556D8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>
            <p:custDataLst>
              <p:tags r:id="rId6"/>
            </p:custDataLst>
          </p:nvPr>
        </p:nvSpPr>
        <p:spPr>
          <a:xfrm>
            <a:off x="6784848" y="2039620"/>
            <a:ext cx="1490472" cy="2148840"/>
          </a:xfrm>
          <a:prstGeom prst="roundRect">
            <a:avLst>
              <a:gd name="adj" fmla="val 4908"/>
            </a:avLst>
          </a:prstGeom>
          <a:solidFill>
            <a:srgbClr val="EAF8F2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>
            <p:custDataLst>
              <p:tags r:id="rId7"/>
            </p:custDataLst>
          </p:nvPr>
        </p:nvSpPr>
        <p:spPr>
          <a:xfrm>
            <a:off x="6858000" y="2112772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817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Text 20"/>
          <p:cNvSpPr/>
          <p:nvPr>
            <p:custDataLst>
              <p:tags r:id="rId8"/>
            </p:custDataLst>
          </p:nvPr>
        </p:nvSpPr>
        <p:spPr>
          <a:xfrm>
            <a:off x="6922008" y="2350516"/>
            <a:ext cx="12161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 </a:t>
            </a:r>
            <a:r>
              <a:rPr lang="zh-CN" altLang="en-US" sz="14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</a:t>
            </a:r>
            <a:endParaRPr lang="zh-CN" altLang="en-US" sz="1400" b="1" dirty="0">
              <a:solidFill>
                <a:srgbClr val="111111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5" name="Shape 22"/>
          <p:cNvSpPr/>
          <p:nvPr>
            <p:custDataLst>
              <p:tags r:id="rId9"/>
            </p:custDataLst>
          </p:nvPr>
        </p:nvSpPr>
        <p:spPr>
          <a:xfrm>
            <a:off x="8275320" y="3100324"/>
            <a:ext cx="265176" cy="0"/>
          </a:xfrm>
          <a:prstGeom prst="line">
            <a:avLst/>
          </a:prstGeom>
          <a:noFill/>
          <a:ln w="12700">
            <a:solidFill>
              <a:srgbClr val="3556D8"/>
            </a:solidFill>
            <a:prstDash val="solid"/>
            <a:headEnd type="none"/>
            <a:tailEnd type="triangle"/>
          </a:ln>
        </p:spPr>
      </p:sp>
      <p:sp>
        <p:nvSpPr>
          <p:cNvPr id="26" name="Shape 23"/>
          <p:cNvSpPr/>
          <p:nvPr>
            <p:custDataLst>
              <p:tags r:id="rId10"/>
            </p:custDataLst>
          </p:nvPr>
        </p:nvSpPr>
        <p:spPr>
          <a:xfrm>
            <a:off x="8586216" y="2039620"/>
            <a:ext cx="1490472" cy="214884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>
            <p:custDataLst>
              <p:tags r:id="rId11"/>
            </p:custDataLst>
          </p:nvPr>
        </p:nvSpPr>
        <p:spPr>
          <a:xfrm>
            <a:off x="8659368" y="2112772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817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Text 25"/>
          <p:cNvSpPr/>
          <p:nvPr>
            <p:custDataLst>
              <p:tags r:id="rId12"/>
            </p:custDataLst>
          </p:nvPr>
        </p:nvSpPr>
        <p:spPr>
          <a:xfrm>
            <a:off x="8723376" y="2350516"/>
            <a:ext cx="12161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保存权重</a:t>
            </a:r>
            <a:endParaRPr lang="zh-CN" altLang="en-US" sz="1400" b="1" dirty="0">
              <a:solidFill>
                <a:srgbClr val="111111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0" name="Shape 27"/>
          <p:cNvSpPr/>
          <p:nvPr>
            <p:custDataLst>
              <p:tags r:id="rId13"/>
            </p:custDataLst>
          </p:nvPr>
        </p:nvSpPr>
        <p:spPr>
          <a:xfrm>
            <a:off x="10076688" y="3100324"/>
            <a:ext cx="265176" cy="0"/>
          </a:xfrm>
          <a:prstGeom prst="line">
            <a:avLst/>
          </a:prstGeom>
          <a:noFill/>
          <a:ln w="12700">
            <a:solidFill>
              <a:srgbClr val="3556D8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>
            <p:custDataLst>
              <p:tags r:id="rId14"/>
            </p:custDataLst>
          </p:nvPr>
        </p:nvSpPr>
        <p:spPr>
          <a:xfrm>
            <a:off x="10387584" y="2039620"/>
            <a:ext cx="1490472" cy="2148840"/>
          </a:xfrm>
          <a:prstGeom prst="roundRect">
            <a:avLst>
              <a:gd name="adj" fmla="val 4908"/>
            </a:avLst>
          </a:prstGeom>
          <a:solidFill>
            <a:srgbClr val="FFFF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>
            <p:custDataLst>
              <p:tags r:id="rId15"/>
            </p:custDataLst>
          </p:nvPr>
        </p:nvSpPr>
        <p:spPr>
          <a:xfrm>
            <a:off x="10460736" y="2112772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817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0"/>
          <p:cNvSpPr/>
          <p:nvPr>
            <p:custDataLst>
              <p:tags r:id="rId16"/>
            </p:custDataLst>
          </p:nvPr>
        </p:nvSpPr>
        <p:spPr>
          <a:xfrm>
            <a:off x="10524744" y="2350516"/>
            <a:ext cx="12161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5047488" y="4599940"/>
            <a:ext cx="6309360" cy="530352"/>
          </a:xfrm>
          <a:prstGeom prst="roundRect">
            <a:avLst>
              <a:gd name="adj" fmla="val 13793"/>
            </a:avLst>
          </a:prstGeom>
          <a:solidFill>
            <a:srgbClr val="EAF0FF"/>
          </a:solidFill>
          <a:ln w="12700">
            <a:solidFill>
              <a:srgbClr val="B0C0F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157216" y="4673092"/>
            <a:ext cx="60899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OpenRLHF 的 SFT，本质上也是这条路：数据 → 模板 → loss mask → 训练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0"/>
          <p:cNvSpPr/>
          <p:nvPr/>
        </p:nvSpPr>
        <p:spPr>
          <a:xfrm>
            <a:off x="692912" y="543687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55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数据结构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66928" y="1078992"/>
            <a:ext cx="3794760" cy="5138928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6"/>
          <p:cNvSpPr/>
          <p:nvPr/>
        </p:nvSpPr>
        <p:spPr>
          <a:xfrm>
            <a:off x="768096" y="126187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原始数据字段</a:t>
            </a:r>
            <a:endParaRPr lang="en-US" sz="1450" dirty="0"/>
          </a:p>
        </p:txBody>
      </p:sp>
      <p:sp>
        <p:nvSpPr>
          <p:cNvPr id="5" name="Shape 7"/>
          <p:cNvSpPr/>
          <p:nvPr/>
        </p:nvSpPr>
        <p:spPr>
          <a:xfrm>
            <a:off x="822960" y="1664208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EAF0FF"/>
          </a:solidFill>
          <a:ln w="12700">
            <a:solidFill>
              <a:srgbClr val="C8D2F2"/>
            </a:solidFill>
            <a:prstDash val="solid"/>
          </a:ln>
        </p:spPr>
      </p:sp>
      <p:sp>
        <p:nvSpPr>
          <p:cNvPr id="6" name="Text 8"/>
          <p:cNvSpPr/>
          <p:nvPr/>
        </p:nvSpPr>
        <p:spPr>
          <a:xfrm>
            <a:off x="987552" y="181051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3E4B"/>
                </a:solidFill>
              </a:rPr>
              <a:t>instruction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87552" y="2066544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任务本身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例：用一句话解释 Transformer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822960" y="3017520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F6F7F9"/>
          </a:solidFill>
          <a:ln w="12700">
            <a:solidFill>
              <a:srgbClr val="C8D2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7552" y="316382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3E4B"/>
                </a:solidFill>
              </a:rPr>
              <a:t>input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87552" y="3419856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可选补充上下文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例：给定一段额外材料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822960" y="4370832"/>
            <a:ext cx="3246120" cy="1005840"/>
          </a:xfrm>
          <a:prstGeom prst="roundRect">
            <a:avLst>
              <a:gd name="adj" fmla="val 7273"/>
            </a:avLst>
          </a:prstGeom>
          <a:solidFill>
            <a:srgbClr val="EAF8F2"/>
          </a:solidFill>
          <a:ln w="12700">
            <a:solidFill>
              <a:srgbClr val="C8D2F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4517136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3E4B"/>
                </a:solidFill>
              </a:rPr>
              <a:t>output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987552" y="4773168"/>
            <a:ext cx="26517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标准答案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例：Transformer 用自注意力…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4663440" y="1078992"/>
            <a:ext cx="6903720" cy="5138928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901184" y="1261872"/>
            <a:ext cx="31089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代码里怎么把它拼成一条训练样本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4407408" y="3529584"/>
            <a:ext cx="210312" cy="0"/>
          </a:xfrm>
          <a:prstGeom prst="line">
            <a:avLst/>
          </a:prstGeom>
          <a:noFill/>
          <a:ln w="12700">
            <a:solidFill>
              <a:srgbClr val="E67817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919472" y="1664208"/>
            <a:ext cx="3090672" cy="1920240"/>
          </a:xfrm>
          <a:prstGeom prst="roundRect">
            <a:avLst>
              <a:gd name="adj" fmla="val 3810"/>
            </a:avLst>
          </a:prstGeom>
          <a:solidFill>
            <a:srgbClr val="FBFCFE"/>
          </a:solidFill>
          <a:ln w="12700">
            <a:solidFill>
              <a:srgbClr val="D8DDE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47488" y="1773936"/>
            <a:ext cx="2834640" cy="17007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 input_text and input_text.strip():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raw_prompt = f"{instruction}\n\n{input_text}"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else: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raw_prompt = instruction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prompt = get_templated_prompt(raw_prompt, tokenizer)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target = output + tokenizer.eos_token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8211312" y="1664208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EAF0FF"/>
          </a:solidFill>
          <a:ln w="12700">
            <a:solidFill>
              <a:srgbClr val="C8D2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94192" y="1856232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3E4B"/>
                </a:solidFill>
              </a:rPr>
              <a:t>chat template 后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394192" y="2176272"/>
            <a:ext cx="2514600" cy="9875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&lt;user&gt; 用一句话解释 Transformer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&lt;assistant&gt; Transformer 用自注意力机制建模序列关系。</a:t>
            </a:r>
            <a:endParaRPr lang="en-US" sz="970" dirty="0"/>
          </a:p>
        </p:txBody>
      </p:sp>
      <p:sp>
        <p:nvSpPr>
          <p:cNvPr id="27" name="Shape 24"/>
          <p:cNvSpPr/>
          <p:nvPr/>
        </p:nvSpPr>
        <p:spPr>
          <a:xfrm>
            <a:off x="4956048" y="3977640"/>
            <a:ext cx="5989320" cy="530352"/>
          </a:xfrm>
          <a:prstGeom prst="roundRect">
            <a:avLst>
              <a:gd name="adj" fmla="val 13793"/>
            </a:avLst>
          </a:prstGeom>
          <a:solidFill>
            <a:srgbClr val="FFF8DB"/>
          </a:solidFill>
          <a:ln w="12700">
            <a:solidFill>
              <a:srgbClr val="F1D67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065776" y="4050792"/>
            <a:ext cx="576986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SFT 的数据，不是“只有 prompt</a:t>
            </a:r>
            <a:r>
              <a:rPr lang="zh-CN" altLang="en-US" sz="118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r>
              <a:rPr lang="en-US" sz="118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”，而是“prompt + 标准答案”</a:t>
            </a:r>
            <a:endParaRPr lang="en-US" sz="1180" dirty="0"/>
          </a:p>
        </p:txBody>
      </p:sp>
      <p:sp>
        <p:nvSpPr>
          <p:cNvPr id="29" name="Shape 26"/>
          <p:cNvSpPr/>
          <p:nvPr/>
        </p:nvSpPr>
        <p:spPr>
          <a:xfrm>
            <a:off x="4956048" y="4732020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74920" y="4681728"/>
            <a:ext cx="58247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instruction 与 input 会先合并成 raw_prompt</a:t>
            </a:r>
            <a:endParaRPr lang="en-US" sz="1140" dirty="0"/>
          </a:p>
        </p:txBody>
      </p:sp>
      <p:sp>
        <p:nvSpPr>
          <p:cNvPr id="31" name="Shape 28"/>
          <p:cNvSpPr/>
          <p:nvPr/>
        </p:nvSpPr>
        <p:spPr>
          <a:xfrm>
            <a:off x="4956048" y="5097780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74920" y="5047488"/>
            <a:ext cx="58247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再交给 tokenizer.apply_chat_template 变成聊天格式</a:t>
            </a:r>
            <a:endParaRPr lang="en-US" sz="1140" dirty="0"/>
          </a:p>
        </p:txBody>
      </p:sp>
      <p:sp>
        <p:nvSpPr>
          <p:cNvPr id="33" name="Shape 30"/>
          <p:cNvSpPr/>
          <p:nvPr/>
        </p:nvSpPr>
        <p:spPr>
          <a:xfrm>
            <a:off x="4956048" y="5463540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074920" y="5413248"/>
            <a:ext cx="58247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最后把 output 接在后面，形成真正的训练序列</a:t>
            </a:r>
            <a:endParaRPr lang="en-US" sz="11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/>
          <p:nvPr/>
        </p:nvSpPr>
        <p:spPr>
          <a:xfrm>
            <a:off x="700088" y="499858"/>
            <a:ext cx="68208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355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loss 只学答案，不学提示词</a:t>
            </a:r>
            <a:endParaRPr lang="en-US" altLang="zh-CN" sz="2400" b="1" dirty="0">
              <a:solidFill>
                <a:srgbClr val="2F57D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5"/>
          <p:cNvSpPr/>
          <p:nvPr/>
        </p:nvSpPr>
        <p:spPr>
          <a:xfrm>
            <a:off x="694944" y="1280160"/>
            <a:ext cx="48920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Text 6"/>
          <p:cNvSpPr/>
          <p:nvPr/>
        </p:nvSpPr>
        <p:spPr>
          <a:xfrm>
            <a:off x="914400" y="1508760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把整条序列切成两段就够了</a:t>
            </a:r>
            <a:endParaRPr lang="en-US" sz="1450" dirty="0"/>
          </a:p>
        </p:txBody>
      </p:sp>
      <p:sp>
        <p:nvSpPr>
          <p:cNvPr id="3" name="Text 7"/>
          <p:cNvSpPr/>
          <p:nvPr/>
        </p:nvSpPr>
        <p:spPr>
          <a:xfrm>
            <a:off x="932688" y="2084832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input_ids</a:t>
            </a:r>
            <a:endParaRPr lang="en-US" sz="1100" dirty="0"/>
          </a:p>
        </p:txBody>
      </p:sp>
      <p:sp>
        <p:nvSpPr>
          <p:cNvPr id="4" name="Shape 8"/>
          <p:cNvSpPr/>
          <p:nvPr/>
        </p:nvSpPr>
        <p:spPr>
          <a:xfrm>
            <a:off x="1783080" y="1993392"/>
            <a:ext cx="2148840" cy="530352"/>
          </a:xfrm>
          <a:prstGeom prst="roundRect">
            <a:avLst>
              <a:gd name="adj" fmla="val 13793"/>
            </a:avLst>
          </a:prstGeom>
          <a:solidFill>
            <a:srgbClr val="E9ECF2"/>
          </a:solidFill>
          <a:ln w="12700">
            <a:solidFill>
              <a:srgbClr val="E9ECF2"/>
            </a:solidFill>
            <a:prstDash val="solid"/>
          </a:ln>
        </p:spPr>
      </p:sp>
      <p:sp>
        <p:nvSpPr>
          <p:cNvPr id="5" name="Shape 9"/>
          <p:cNvSpPr/>
          <p:nvPr/>
        </p:nvSpPr>
        <p:spPr>
          <a:xfrm>
            <a:off x="4069080" y="1993392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2167128"/>
            <a:ext cx="1645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B5563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prompt tokens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87952" y="2167128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3E4B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answer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2889504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labels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783080" y="2798064"/>
            <a:ext cx="2148840" cy="530352"/>
          </a:xfrm>
          <a:prstGeom prst="roundRect">
            <a:avLst>
              <a:gd name="adj" fmla="val 13793"/>
            </a:avLst>
          </a:prstGeom>
          <a:solidFill>
            <a:srgbClr val="FCECEF"/>
          </a:solidFill>
          <a:ln w="12700">
            <a:solidFill>
              <a:srgbClr val="FCEC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69080" y="2798064"/>
            <a:ext cx="1051560" cy="530352"/>
          </a:xfrm>
          <a:prstGeom prst="roundRect">
            <a:avLst>
              <a:gd name="adj" fmla="val 13793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2971800"/>
            <a:ext cx="1874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9A4B59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-100 / -100 / -100 ...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4187952" y="2971800"/>
            <a:ext cx="786384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dirty="0">
                <a:solidFill>
                  <a:srgbClr val="2E9C6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target ids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914400" y="3730752"/>
            <a:ext cx="4224528" cy="475488"/>
          </a:xfrm>
          <a:prstGeom prst="roundRect">
            <a:avLst>
              <a:gd name="adj" fmla="val 15385"/>
            </a:avLst>
          </a:prstGeom>
          <a:solidFill>
            <a:srgbClr val="FFF8DB"/>
          </a:solidFill>
          <a:ln w="12700">
            <a:solidFill>
              <a:srgbClr val="F1D6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" y="3803904"/>
            <a:ext cx="400507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一句话：模型看到 prompt，但 loss 只监督答案部分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932688" y="4434840"/>
            <a:ext cx="4206240" cy="932688"/>
          </a:xfrm>
          <a:prstGeom prst="roundRect">
            <a:avLst>
              <a:gd name="adj" fmla="val 7843"/>
            </a:avLst>
          </a:prstGeom>
          <a:solidFill>
            <a:srgbClr val="FBFCFE"/>
          </a:solidFill>
          <a:ln w="12700">
            <a:solidFill>
              <a:srgbClr val="D8DD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4544568"/>
            <a:ext cx="3950208" cy="7132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labels = copy.deepcopy(input_ids)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 label, source_len in zip(labels, sources_tokenized["input_ids_lens"]):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label[:source_len] = IGNORE_INDEX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016752" y="1280160"/>
            <a:ext cx="4800600" cy="4434840"/>
          </a:xfrm>
          <a:prstGeom prst="roundRect">
            <a:avLst>
              <a:gd name="adj" fmla="val 1649"/>
            </a:avLst>
          </a:prstGeom>
          <a:solidFill>
            <a:srgbClr val="EAF0FF"/>
          </a:solidFill>
          <a:ln w="12700">
            <a:solidFill>
              <a:srgbClr val="C8D2F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91072" y="150876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最该真正理解的 4 点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327648" y="2066544"/>
            <a:ext cx="3794760" cy="1645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① prompt 不计监督损失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② answer 才是被“模仿”的目标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③ 所以 SFT 更像在学“标准答案分布”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④ 这一步懂了，DPO / PPO / GRPO 都更好讲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455664" y="4370832"/>
            <a:ext cx="2286000" cy="438912"/>
          </a:xfrm>
          <a:prstGeom prst="roundRect">
            <a:avLst>
              <a:gd name="adj" fmla="val 16667"/>
            </a:avLst>
          </a:prstGeom>
          <a:solidFill>
            <a:srgbClr val="FFECEE"/>
          </a:solidFill>
          <a:ln w="12700">
            <a:solidFill>
              <a:srgbClr val="F5B7C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5392" y="4443984"/>
            <a:ext cx="206654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9A4B5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IGNORE_INDEX = -100</a:t>
            </a:r>
            <a:endParaRPr lang="en-US" sz="11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/>
          <p:nvPr/>
        </p:nvSpPr>
        <p:spPr>
          <a:xfrm>
            <a:off x="700088" y="499858"/>
            <a:ext cx="68208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2F57D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zh-CN" altLang="en-US" sz="2400" b="1" dirty="0" smtClean="0">
                <a:solidFill>
                  <a:srgbClr val="2F57D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的</a:t>
            </a:r>
            <a:r>
              <a:rPr lang="zh-CN" altLang="en-US" sz="2400" b="1" dirty="0" smtClean="0">
                <a:solidFill>
                  <a:srgbClr val="2F57D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特点</a:t>
            </a:r>
            <a:endParaRPr lang="zh-CN" altLang="en-US" sz="2400" b="1" dirty="0" smtClean="0">
              <a:solidFill>
                <a:srgbClr val="2F57D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0" descr="/mnt/data/lab13_media/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66" y="1097280"/>
            <a:ext cx="6261165" cy="5166360"/>
          </a:xfrm>
          <a:prstGeom prst="rect">
            <a:avLst/>
          </a:prstGeom>
        </p:spPr>
      </p:pic>
      <p:sp>
        <p:nvSpPr>
          <p:cNvPr id="39" name="Shape 5"/>
          <p:cNvSpPr/>
          <p:nvPr/>
        </p:nvSpPr>
        <p:spPr>
          <a:xfrm>
            <a:off x="7452360" y="1234440"/>
            <a:ext cx="4069080" cy="480060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6"/>
          <p:cNvSpPr/>
          <p:nvPr/>
        </p:nvSpPr>
        <p:spPr>
          <a:xfrm>
            <a:off x="7699248" y="144475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直觉上看 LoRA</a:t>
            </a:r>
            <a:endParaRPr lang="en-US" sz="1450" dirty="0"/>
          </a:p>
        </p:txBody>
      </p:sp>
      <p:sp>
        <p:nvSpPr>
          <p:cNvPr id="41" name="Shape 7"/>
          <p:cNvSpPr/>
          <p:nvPr/>
        </p:nvSpPr>
        <p:spPr>
          <a:xfrm>
            <a:off x="7699248" y="1897380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42" name="Text 8"/>
          <p:cNvSpPr/>
          <p:nvPr/>
        </p:nvSpPr>
        <p:spPr>
          <a:xfrm>
            <a:off x="7818120" y="1847088"/>
            <a:ext cx="32826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冻结原模型大部分参数</a:t>
            </a:r>
            <a:endParaRPr lang="en-US" sz="1180" dirty="0"/>
          </a:p>
        </p:txBody>
      </p:sp>
      <p:sp>
        <p:nvSpPr>
          <p:cNvPr id="43" name="Shape 9"/>
          <p:cNvSpPr/>
          <p:nvPr/>
        </p:nvSpPr>
        <p:spPr>
          <a:xfrm>
            <a:off x="7699248" y="2354580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44" name="Text 10"/>
          <p:cNvSpPr/>
          <p:nvPr/>
        </p:nvSpPr>
        <p:spPr>
          <a:xfrm>
            <a:off x="7818120" y="2304288"/>
            <a:ext cx="32826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只在关键投影层上挂一个很小的可训练增量</a:t>
            </a:r>
            <a:endParaRPr lang="en-US" sz="1180" dirty="0"/>
          </a:p>
        </p:txBody>
      </p:sp>
      <p:sp>
        <p:nvSpPr>
          <p:cNvPr id="45" name="Shape 11"/>
          <p:cNvSpPr/>
          <p:nvPr/>
        </p:nvSpPr>
        <p:spPr>
          <a:xfrm>
            <a:off x="7699248" y="2811780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46" name="Text 12"/>
          <p:cNvSpPr/>
          <p:nvPr/>
        </p:nvSpPr>
        <p:spPr>
          <a:xfrm>
            <a:off x="7818120" y="2761488"/>
            <a:ext cx="3282696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因此显存更省，课堂实验更容易起步</a:t>
            </a:r>
            <a:endParaRPr lang="en-US" sz="1180" dirty="0"/>
          </a:p>
        </p:txBody>
      </p:sp>
      <p:sp>
        <p:nvSpPr>
          <p:cNvPr id="47" name="Shape 13"/>
          <p:cNvSpPr/>
          <p:nvPr/>
        </p:nvSpPr>
        <p:spPr>
          <a:xfrm>
            <a:off x="7717536" y="3429000"/>
            <a:ext cx="3401568" cy="786384"/>
          </a:xfrm>
          <a:prstGeom prst="roundRect">
            <a:avLst>
              <a:gd name="adj" fmla="val 9302"/>
            </a:avLst>
          </a:prstGeom>
          <a:solidFill>
            <a:srgbClr val="EAF0FF"/>
          </a:solidFill>
          <a:ln w="12700">
            <a:solidFill>
              <a:srgbClr val="B0C0FA"/>
            </a:solidFill>
            <a:prstDash val="solid"/>
          </a:ln>
        </p:spPr>
      </p:sp>
      <p:sp>
        <p:nvSpPr>
          <p:cNvPr id="48" name="Text 14"/>
          <p:cNvSpPr/>
          <p:nvPr/>
        </p:nvSpPr>
        <p:spPr>
          <a:xfrm>
            <a:off x="7827264" y="3502152"/>
            <a:ext cx="318211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 LoRA 挂在</a:t>
            </a:r>
            <a:endParaRPr lang="en-US" sz="1210" dirty="0"/>
          </a:p>
          <a:p>
            <a:pPr marL="0" indent="0" algn="ctr">
              <a:buNone/>
            </a:pPr>
            <a:r>
              <a:rPr lang="en-US" sz="121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q_proj / k_proj / v_proj / up_proj / down_proj</a:t>
            </a:r>
            <a:endParaRPr lang="en-US" sz="1210" dirty="0"/>
          </a:p>
        </p:txBody>
      </p:sp>
      <p:sp>
        <p:nvSpPr>
          <p:cNvPr id="49" name="Text 15"/>
          <p:cNvSpPr/>
          <p:nvPr/>
        </p:nvSpPr>
        <p:spPr>
          <a:xfrm>
            <a:off x="7735824" y="4498848"/>
            <a:ext cx="3246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训练后别忘了：</a:t>
            </a:r>
            <a:endParaRPr lang="en-US" sz="1170" dirty="0"/>
          </a:p>
          <a:p>
            <a:pPr marL="0" indent="0">
              <a:buNone/>
            </a:pPr>
            <a:r>
              <a:rPr lang="en-US" sz="117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merge.py 把 adapter 合并回 base model</a:t>
            </a:r>
            <a:endParaRPr lang="en-US" sz="117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0"/>
          <p:cNvSpPr/>
          <p:nvPr/>
        </p:nvSpPr>
        <p:spPr>
          <a:xfrm>
            <a:off x="548767" y="605282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55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OpenRLHF</a:t>
            </a:r>
            <a:endParaRPr lang="en-US" sz="2100" dirty="0"/>
          </a:p>
        </p:txBody>
      </p:sp>
      <p:sp>
        <p:nvSpPr>
          <p:cNvPr id="43" name="Shape 5"/>
          <p:cNvSpPr/>
          <p:nvPr/>
        </p:nvSpPr>
        <p:spPr>
          <a:xfrm>
            <a:off x="695071" y="1227074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44" name="Text 6"/>
          <p:cNvSpPr/>
          <p:nvPr/>
        </p:nvSpPr>
        <p:spPr>
          <a:xfrm>
            <a:off x="768223" y="1281938"/>
            <a:ext cx="2734056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本质没变，只是工程化程度上去了</a:t>
            </a:r>
            <a:endParaRPr lang="en-US" sz="1050" dirty="0"/>
          </a:p>
        </p:txBody>
      </p:sp>
      <p:sp>
        <p:nvSpPr>
          <p:cNvPr id="45" name="Shape 7"/>
          <p:cNvSpPr/>
          <p:nvPr/>
        </p:nvSpPr>
        <p:spPr>
          <a:xfrm>
            <a:off x="695071" y="1684274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8"/>
          <p:cNvSpPr/>
          <p:nvPr/>
        </p:nvSpPr>
        <p:spPr>
          <a:xfrm>
            <a:off x="6400927" y="1684274"/>
            <a:ext cx="5138928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9"/>
          <p:cNvSpPr/>
          <p:nvPr/>
        </p:nvSpPr>
        <p:spPr>
          <a:xfrm>
            <a:off x="914527" y="188544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E4B"/>
                </a:solidFill>
              </a:rPr>
              <a:t>手写 HF Trainer 版</a:t>
            </a:r>
            <a:endParaRPr lang="en-US" sz="1450" dirty="0"/>
          </a:p>
        </p:txBody>
      </p:sp>
      <p:sp>
        <p:nvSpPr>
          <p:cNvPr id="48" name="Text 10"/>
          <p:cNvSpPr/>
          <p:nvPr/>
        </p:nvSpPr>
        <p:spPr>
          <a:xfrm>
            <a:off x="6620383" y="1885442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E4B"/>
                </a:solidFill>
              </a:rPr>
              <a:t>OpenRLHF 版</a:t>
            </a:r>
            <a:endParaRPr lang="en-US" sz="1450" dirty="0"/>
          </a:p>
        </p:txBody>
      </p:sp>
      <p:sp>
        <p:nvSpPr>
          <p:cNvPr id="49" name="Shape 11"/>
          <p:cNvSpPr/>
          <p:nvPr/>
        </p:nvSpPr>
        <p:spPr>
          <a:xfrm>
            <a:off x="932815" y="2287778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EAF0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50" name="Text 12"/>
          <p:cNvSpPr/>
          <p:nvPr/>
        </p:nvSpPr>
        <p:spPr>
          <a:xfrm>
            <a:off x="1060831" y="242493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3E4B"/>
                </a:solidFill>
              </a:rPr>
              <a:t>数据字段</a:t>
            </a:r>
            <a:endParaRPr lang="en-US" sz="1180" dirty="0"/>
          </a:p>
        </p:txBody>
      </p:sp>
      <p:sp>
        <p:nvSpPr>
          <p:cNvPr id="51" name="Text 13"/>
          <p:cNvSpPr/>
          <p:nvPr/>
        </p:nvSpPr>
        <p:spPr>
          <a:xfrm>
            <a:off x="2139823" y="2415794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instruction / input / output</a:t>
            </a:r>
            <a:endParaRPr lang="en-US" sz="880" dirty="0"/>
          </a:p>
        </p:txBody>
      </p:sp>
      <p:sp>
        <p:nvSpPr>
          <p:cNvPr id="52" name="Shape 14"/>
          <p:cNvSpPr/>
          <p:nvPr/>
        </p:nvSpPr>
        <p:spPr>
          <a:xfrm>
            <a:off x="932815" y="3202178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53" name="Text 15"/>
          <p:cNvSpPr/>
          <p:nvPr/>
        </p:nvSpPr>
        <p:spPr>
          <a:xfrm>
            <a:off x="1060831" y="333933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3E4B"/>
                </a:solidFill>
              </a:rPr>
              <a:t>模板化</a:t>
            </a:r>
            <a:endParaRPr lang="en-US" sz="1180" dirty="0"/>
          </a:p>
        </p:txBody>
      </p:sp>
      <p:sp>
        <p:nvSpPr>
          <p:cNvPr id="54" name="Text 16"/>
          <p:cNvSpPr/>
          <p:nvPr/>
        </p:nvSpPr>
        <p:spPr>
          <a:xfrm>
            <a:off x="2139823" y="3330194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apply_chat_template</a:t>
            </a:r>
            <a:endParaRPr lang="en-US" sz="880" dirty="0"/>
          </a:p>
        </p:txBody>
      </p:sp>
      <p:sp>
        <p:nvSpPr>
          <p:cNvPr id="55" name="Shape 17"/>
          <p:cNvSpPr/>
          <p:nvPr/>
        </p:nvSpPr>
        <p:spPr>
          <a:xfrm>
            <a:off x="932815" y="4116578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EAF0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56" name="Text 18"/>
          <p:cNvSpPr/>
          <p:nvPr/>
        </p:nvSpPr>
        <p:spPr>
          <a:xfrm>
            <a:off x="1060831" y="425373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3E4B"/>
                </a:solidFill>
              </a:rPr>
              <a:t>LoRA + Trainer</a:t>
            </a:r>
            <a:endParaRPr lang="en-US" sz="1180" dirty="0"/>
          </a:p>
        </p:txBody>
      </p:sp>
      <p:sp>
        <p:nvSpPr>
          <p:cNvPr id="57" name="Text 19"/>
          <p:cNvSpPr/>
          <p:nvPr/>
        </p:nvSpPr>
        <p:spPr>
          <a:xfrm>
            <a:off x="2139823" y="4244594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get_peft_model + Trainer.train</a:t>
            </a:r>
            <a:endParaRPr lang="en-US" sz="880" dirty="0"/>
          </a:p>
        </p:txBody>
      </p:sp>
      <p:sp>
        <p:nvSpPr>
          <p:cNvPr id="58" name="Shape 20"/>
          <p:cNvSpPr/>
          <p:nvPr/>
        </p:nvSpPr>
        <p:spPr>
          <a:xfrm>
            <a:off x="932815" y="5030978"/>
            <a:ext cx="45262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59" name="Text 21"/>
          <p:cNvSpPr/>
          <p:nvPr/>
        </p:nvSpPr>
        <p:spPr>
          <a:xfrm>
            <a:off x="1060831" y="516813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3E4B"/>
                </a:solidFill>
              </a:rPr>
              <a:t>merge + test</a:t>
            </a:r>
            <a:endParaRPr lang="en-US" sz="1180" dirty="0"/>
          </a:p>
        </p:txBody>
      </p:sp>
      <p:sp>
        <p:nvSpPr>
          <p:cNvPr id="60" name="Text 22"/>
          <p:cNvSpPr/>
          <p:nvPr/>
        </p:nvSpPr>
        <p:spPr>
          <a:xfrm>
            <a:off x="2139823" y="5158994"/>
            <a:ext cx="3017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merge.py / generate.py</a:t>
            </a:r>
            <a:endParaRPr lang="en-US" sz="880" dirty="0"/>
          </a:p>
        </p:txBody>
      </p:sp>
      <p:sp>
        <p:nvSpPr>
          <p:cNvPr id="61" name="Shape 23"/>
          <p:cNvSpPr/>
          <p:nvPr/>
        </p:nvSpPr>
        <p:spPr>
          <a:xfrm>
            <a:off x="6638671" y="2287778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EAF0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62" name="Text 24"/>
          <p:cNvSpPr/>
          <p:nvPr/>
        </p:nvSpPr>
        <p:spPr>
          <a:xfrm>
            <a:off x="6748399" y="242493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3E4B"/>
                </a:solidFill>
              </a:rPr>
              <a:t>数据入口</a:t>
            </a:r>
            <a:endParaRPr lang="en-US" sz="1180" dirty="0"/>
          </a:p>
        </p:txBody>
      </p:sp>
      <p:sp>
        <p:nvSpPr>
          <p:cNvPr id="63" name="Text 25"/>
          <p:cNvSpPr/>
          <p:nvPr/>
        </p:nvSpPr>
        <p:spPr>
          <a:xfrm>
            <a:off x="7790815" y="2415794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--dataset / --input_key / --output_key</a:t>
            </a:r>
            <a:endParaRPr lang="en-US" sz="860" dirty="0"/>
          </a:p>
        </p:txBody>
      </p:sp>
      <p:sp>
        <p:nvSpPr>
          <p:cNvPr id="64" name="Shape 26"/>
          <p:cNvSpPr/>
          <p:nvPr/>
        </p:nvSpPr>
        <p:spPr>
          <a:xfrm>
            <a:off x="6638671" y="3202178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65" name="Text 27"/>
          <p:cNvSpPr/>
          <p:nvPr/>
        </p:nvSpPr>
        <p:spPr>
          <a:xfrm>
            <a:off x="6748399" y="333933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3E4B"/>
                </a:solidFill>
              </a:rPr>
              <a:t>模板开关</a:t>
            </a:r>
            <a:endParaRPr lang="en-US" sz="1180" dirty="0"/>
          </a:p>
        </p:txBody>
      </p:sp>
      <p:sp>
        <p:nvSpPr>
          <p:cNvPr id="66" name="Text 28"/>
          <p:cNvSpPr/>
          <p:nvPr/>
        </p:nvSpPr>
        <p:spPr>
          <a:xfrm>
            <a:off x="7790815" y="3330194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--apply_chat_template 或 --input_template</a:t>
            </a:r>
            <a:endParaRPr lang="en-US" sz="860" dirty="0"/>
          </a:p>
        </p:txBody>
      </p:sp>
      <p:sp>
        <p:nvSpPr>
          <p:cNvPr id="67" name="Shape 29"/>
          <p:cNvSpPr/>
          <p:nvPr/>
        </p:nvSpPr>
        <p:spPr>
          <a:xfrm>
            <a:off x="6638671" y="4116578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EAF0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68" name="Text 30"/>
          <p:cNvSpPr/>
          <p:nvPr/>
        </p:nvSpPr>
        <p:spPr>
          <a:xfrm>
            <a:off x="6748399" y="425373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3E4B"/>
                </a:solidFill>
              </a:rPr>
              <a:t>直接训练</a:t>
            </a:r>
            <a:endParaRPr lang="en-US" sz="1180" dirty="0"/>
          </a:p>
        </p:txBody>
      </p:sp>
      <p:sp>
        <p:nvSpPr>
          <p:cNvPr id="69" name="Text 31"/>
          <p:cNvSpPr/>
          <p:nvPr/>
        </p:nvSpPr>
        <p:spPr>
          <a:xfrm>
            <a:off x="7790815" y="4244594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openrlhf.cli.train_sft</a:t>
            </a:r>
            <a:endParaRPr lang="en-US" sz="860" dirty="0"/>
          </a:p>
        </p:txBody>
      </p:sp>
      <p:sp>
        <p:nvSpPr>
          <p:cNvPr id="70" name="Shape 32"/>
          <p:cNvSpPr/>
          <p:nvPr/>
        </p:nvSpPr>
        <p:spPr>
          <a:xfrm>
            <a:off x="6638671" y="5030978"/>
            <a:ext cx="4572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71" name="Text 33"/>
          <p:cNvSpPr/>
          <p:nvPr/>
        </p:nvSpPr>
        <p:spPr>
          <a:xfrm>
            <a:off x="6748399" y="516813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3E4B"/>
                </a:solidFill>
              </a:rPr>
              <a:t>LoRA 合并</a:t>
            </a:r>
            <a:endParaRPr lang="en-US" sz="1180" dirty="0"/>
          </a:p>
        </p:txBody>
      </p:sp>
      <p:sp>
        <p:nvSpPr>
          <p:cNvPr id="72" name="Text 34"/>
          <p:cNvSpPr/>
          <p:nvPr/>
        </p:nvSpPr>
        <p:spPr>
          <a:xfrm>
            <a:off x="7790815" y="5158994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openrlhf.cli.lora_combiner</a:t>
            </a:r>
            <a:endParaRPr lang="en-US" sz="860" dirty="0"/>
          </a:p>
        </p:txBody>
      </p:sp>
      <p:sp>
        <p:nvSpPr>
          <p:cNvPr id="73" name="Shape 35"/>
          <p:cNvSpPr/>
          <p:nvPr/>
        </p:nvSpPr>
        <p:spPr>
          <a:xfrm>
            <a:off x="5550535" y="3970274"/>
            <a:ext cx="704088" cy="0"/>
          </a:xfrm>
          <a:prstGeom prst="line">
            <a:avLst/>
          </a:prstGeom>
          <a:noFill/>
          <a:ln w="12700">
            <a:solidFill>
              <a:srgbClr val="E67817"/>
            </a:solidFill>
            <a:prstDash val="solid"/>
            <a:headEnd type="none"/>
            <a:tailEnd type="triangle"/>
          </a:ln>
        </p:spPr>
      </p:sp>
      <p:sp>
        <p:nvSpPr>
          <p:cNvPr id="74" name="Shape 36"/>
          <p:cNvSpPr/>
          <p:nvPr/>
        </p:nvSpPr>
        <p:spPr>
          <a:xfrm>
            <a:off x="2441575" y="6036818"/>
            <a:ext cx="7406640" cy="457200"/>
          </a:xfrm>
          <a:prstGeom prst="roundRect">
            <a:avLst>
              <a:gd name="adj" fmla="val 16000"/>
            </a:avLst>
          </a:prstGeom>
          <a:solidFill>
            <a:srgbClr val="FFF8DB"/>
          </a:solidFill>
          <a:ln w="12700">
            <a:solidFill>
              <a:srgbClr val="F1D67A"/>
            </a:solidFill>
            <a:prstDash val="solid"/>
          </a:ln>
        </p:spPr>
      </p:sp>
      <p:sp>
        <p:nvSpPr>
          <p:cNvPr id="75" name="Text 37"/>
          <p:cNvSpPr/>
          <p:nvPr/>
        </p:nvSpPr>
        <p:spPr>
          <a:xfrm>
            <a:off x="2551303" y="6109970"/>
            <a:ext cx="718718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OpenRLHF 不是换掉了 SFT 原理，而是把常见步骤做成统一 CLI + 分布式训练接口</a:t>
            </a:r>
            <a:endParaRPr lang="en-US" sz="11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/>
          <p:nvPr/>
        </p:nvSpPr>
        <p:spPr>
          <a:xfrm>
            <a:off x="700088" y="499858"/>
            <a:ext cx="68208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2F57D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OpenRLHF</a:t>
            </a:r>
            <a:r>
              <a:rPr lang="zh-CN" altLang="en-US" sz="2400" b="1" dirty="0" smtClean="0">
                <a:solidFill>
                  <a:srgbClr val="2F57D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的指令监督</a:t>
            </a:r>
            <a:r>
              <a:rPr lang="zh-CN" altLang="en-US" sz="2400" b="1" dirty="0" smtClean="0">
                <a:solidFill>
                  <a:srgbClr val="2F57D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微调训练</a:t>
            </a:r>
            <a:endParaRPr lang="zh-CN" altLang="en-US" sz="2400" b="1" dirty="0" smtClean="0">
              <a:solidFill>
                <a:srgbClr val="2F57D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5"/>
          <p:cNvSpPr/>
          <p:nvPr/>
        </p:nvSpPr>
        <p:spPr>
          <a:xfrm>
            <a:off x="676656" y="1280160"/>
            <a:ext cx="6537960" cy="3200400"/>
          </a:xfrm>
          <a:prstGeom prst="roundRect">
            <a:avLst>
              <a:gd name="adj" fmla="val 2286"/>
            </a:avLst>
          </a:prstGeom>
          <a:solidFill>
            <a:srgbClr val="FBFCFE"/>
          </a:solidFill>
          <a:ln w="12700">
            <a:solidFill>
              <a:srgbClr val="D8DDE7"/>
            </a:solidFill>
            <a:prstDash val="solid"/>
          </a:ln>
        </p:spPr>
      </p:sp>
      <p:sp>
        <p:nvSpPr>
          <p:cNvPr id="2" name="Text 6"/>
          <p:cNvSpPr/>
          <p:nvPr/>
        </p:nvSpPr>
        <p:spPr>
          <a:xfrm>
            <a:off x="804672" y="1389888"/>
            <a:ext cx="6281928" cy="29809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deepspeed --module openrlhf.cli.train_sft \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--dataset my_data.jsonl \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--input_key prompt \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--output_key response \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--apply_chat_template \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--pretrain Qwen/Qwen2.5-1.5B \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--max_len 2048 --bf16 \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--train_batch_size 128 --micro_train_batch_size 4 \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--packing_samples --gradient_checkpointing \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--save_path ./ckpt/sft</a:t>
            </a:r>
            <a:endParaRPr lang="en-US" dirty="0">
              <a:solidFill>
                <a:srgbClr val="202124"/>
              </a:solidFill>
              <a:latin typeface="DejaVu Sans Mono" pitchFamily="34" charset="0"/>
              <a:ea typeface="DejaVu Sans Mono" pitchFamily="34" charset="-122"/>
              <a:cs typeface="DejaVu Sans Mono" pitchFamily="34" charset="-120"/>
            </a:endParaRPr>
          </a:p>
        </p:txBody>
      </p:sp>
      <p:sp>
        <p:nvSpPr>
          <p:cNvPr id="3" name="Shape 7"/>
          <p:cNvSpPr/>
          <p:nvPr/>
        </p:nvSpPr>
        <p:spPr>
          <a:xfrm>
            <a:off x="7452360" y="1280160"/>
            <a:ext cx="40690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8"/>
          <p:cNvSpPr/>
          <p:nvPr/>
        </p:nvSpPr>
        <p:spPr>
          <a:xfrm>
            <a:off x="7699248" y="14813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</a:t>
            </a:r>
            <a:endParaRPr lang="en-US" sz="1450" dirty="0"/>
          </a:p>
        </p:txBody>
      </p:sp>
      <p:sp>
        <p:nvSpPr>
          <p:cNvPr id="5" name="Text 9"/>
          <p:cNvSpPr/>
          <p:nvPr/>
        </p:nvSpPr>
        <p:spPr>
          <a:xfrm>
            <a:off x="7699248" y="1792224"/>
            <a:ext cx="8412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3556D8"/>
                </a:solidFill>
              </a:rPr>
              <a:t>数据字段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8558784" y="1792224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prompt / response 对应哪两个 key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99248" y="2377440"/>
            <a:ext cx="8412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3556D8"/>
                </a:solidFill>
              </a:rPr>
              <a:t>模板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8558784" y="2377440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用 tokenizer 的 chat template，还是自写 input_template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99248" y="2962656"/>
            <a:ext cx="8412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3556D8"/>
                </a:solidFill>
              </a:rPr>
              <a:t>基座模型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8558784" y="2962656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pretrain 指向哪一个 base model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699248" y="3547872"/>
            <a:ext cx="841248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70" b="1" dirty="0">
                <a:solidFill>
                  <a:srgbClr val="3556D8"/>
                </a:solidFill>
              </a:rPr>
              <a:t>显存预算</a:t>
            </a:r>
            <a:endParaRPr lang="en-US" sz="1170" dirty="0"/>
          </a:p>
        </p:txBody>
      </p:sp>
      <p:sp>
        <p:nvSpPr>
          <p:cNvPr id="18" name="Text 16"/>
          <p:cNvSpPr/>
          <p:nvPr/>
        </p:nvSpPr>
        <p:spPr>
          <a:xfrm>
            <a:off x="8558784" y="3547872"/>
            <a:ext cx="26974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batch / max_len / bf16 / zero stage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44384" y="3968496"/>
            <a:ext cx="3639312" cy="402336"/>
          </a:xfrm>
          <a:prstGeom prst="roundRect">
            <a:avLst>
              <a:gd name="adj" fmla="val 18182"/>
            </a:avLst>
          </a:prstGeom>
          <a:solidFill>
            <a:srgbClr val="EAF0FF"/>
          </a:solidFill>
          <a:ln w="12700">
            <a:solidFill>
              <a:srgbClr val="B0C0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54112" y="4041648"/>
            <a:ext cx="34198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把最小 SFT 代码里的概念，换成 CLI 参数名就行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749808" y="4709160"/>
            <a:ext cx="10561320" cy="1234440"/>
          </a:xfrm>
          <a:prstGeom prst="roundRect">
            <a:avLst>
              <a:gd name="adj" fmla="val 5926"/>
            </a:avLst>
          </a:prstGeom>
          <a:solidFill>
            <a:srgbClr val="EAF0FF"/>
          </a:solidFill>
          <a:ln w="12700">
            <a:solidFill>
              <a:srgbClr val="C8D2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815" y="4900930"/>
            <a:ext cx="2545715" cy="2197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b="1" dirty="0">
                <a:solidFill>
                  <a:srgbClr val="0D3E4B"/>
                </a:solidFill>
              </a:rPr>
              <a:t>和</a:t>
            </a:r>
            <a:r>
              <a:rPr lang="en-US" sz="1280" b="1" dirty="0">
                <a:solidFill>
                  <a:srgbClr val="0D3E4B"/>
                </a:solidFill>
              </a:rPr>
              <a:t>huggingface Trainer的对应关系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932688" y="5230368"/>
            <a:ext cx="98755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instruction/input/output  →  (转换后) prompt/response；  get_templated_prompt  →  --apply_chat_template；  LoRA/保存路径  →  对应 shared options</a:t>
            </a:r>
            <a:endParaRPr lang="en-US" sz="11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0"/>
          <p:cNvSpPr/>
          <p:nvPr/>
        </p:nvSpPr>
        <p:spPr>
          <a:xfrm>
            <a:off x="621792" y="548767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55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SFT 训练时的参数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49808" y="1417320"/>
            <a:ext cx="2761488" cy="4160520"/>
          </a:xfrm>
          <a:prstGeom prst="roundRect">
            <a:avLst>
              <a:gd name="adj" fmla="val 2649"/>
            </a:avLst>
          </a:prstGeom>
          <a:solidFill>
            <a:srgbClr val="EAF0FF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6"/>
          <p:cNvSpPr/>
          <p:nvPr/>
        </p:nvSpPr>
        <p:spPr>
          <a:xfrm>
            <a:off x="950976" y="1664208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E4B"/>
                </a:solidFill>
              </a:rPr>
              <a:t>数据与模板</a:t>
            </a:r>
            <a:endParaRPr lang="en-US" sz="1400" dirty="0"/>
          </a:p>
        </p:txBody>
      </p:sp>
      <p:sp>
        <p:nvSpPr>
          <p:cNvPr id="4" name="Shape 7"/>
          <p:cNvSpPr/>
          <p:nvPr/>
        </p:nvSpPr>
        <p:spPr>
          <a:xfrm>
            <a:off x="950976" y="2135124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5" name="Text 8"/>
          <p:cNvSpPr/>
          <p:nvPr/>
        </p:nvSpPr>
        <p:spPr>
          <a:xfrm>
            <a:off x="1069848" y="2084832"/>
            <a:ext cx="2212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--dataset / --input_key / --output_key</a:t>
            </a:r>
            <a:endParaRPr lang="en-US" sz="1120" dirty="0"/>
          </a:p>
        </p:txBody>
      </p:sp>
      <p:sp>
        <p:nvSpPr>
          <p:cNvPr id="6" name="Shape 9"/>
          <p:cNvSpPr/>
          <p:nvPr/>
        </p:nvSpPr>
        <p:spPr>
          <a:xfrm>
            <a:off x="950976" y="2976372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2926080"/>
            <a:ext cx="2212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--apply_chat_template 或 --input_template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950976" y="3817620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3767328"/>
            <a:ext cx="2212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--max_len / --max_samples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4078224" y="1417320"/>
            <a:ext cx="2761488" cy="4160520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79392" y="1664208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E4B"/>
                </a:solidFill>
              </a:rPr>
              <a:t>效率与稳定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79392" y="2135124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98264" y="2084832"/>
            <a:ext cx="2212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--micro_train_batch_size / --train_batch_size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279392" y="2976372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98264" y="2926080"/>
            <a:ext cx="2212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--bf16 / --gradient_checkpointing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4279392" y="3817620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98264" y="3767328"/>
            <a:ext cx="2212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--zero_stage / flash_attention_2 / packing_samples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406640" y="1417320"/>
            <a:ext cx="2761488" cy="4160520"/>
          </a:xfrm>
          <a:prstGeom prst="roundRect">
            <a:avLst>
              <a:gd name="adj" fmla="val 2649"/>
            </a:avLst>
          </a:prstGeom>
          <a:solidFill>
            <a:srgbClr val="EAF8F2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07808" y="1664208"/>
            <a:ext cx="1691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E4B"/>
                </a:solidFill>
              </a:rPr>
              <a:t>LoRA 与保存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07808" y="2135124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26680" y="2084832"/>
            <a:ext cx="2212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--lora_rank / --lora_dropout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607808" y="2976372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2926080"/>
            <a:ext cx="2212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--target_modules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607808" y="3817620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26680" y="3767328"/>
            <a:ext cx="2212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训练完可用 lora_combiner 合并 adapter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914400" y="5797296"/>
            <a:ext cx="10012680" cy="438912"/>
          </a:xfrm>
          <a:prstGeom prst="roundRect">
            <a:avLst>
              <a:gd name="adj" fmla="val 16667"/>
            </a:avLst>
          </a:prstGeom>
          <a:solidFill>
            <a:srgbClr val="FFF8DB"/>
          </a:solidFill>
          <a:ln w="12700">
            <a:solidFill>
              <a:srgbClr val="F1D6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24128" y="5870448"/>
            <a:ext cx="97932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先让字段和模板跑通，再去追求 packing、ZeRO、bf16 这些效率项</a:t>
            </a:r>
            <a:endParaRPr lang="en-US" sz="11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/>
          <p:nvPr/>
        </p:nvSpPr>
        <p:spPr>
          <a:xfrm>
            <a:off x="700088" y="499858"/>
            <a:ext cx="68208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2F57D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常见的训练</a:t>
            </a:r>
            <a:r>
              <a:rPr lang="en-US" sz="2400" b="1" dirty="0">
                <a:solidFill>
                  <a:srgbClr val="355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  <a:sym typeface="+mn-ea"/>
              </a:rPr>
              <a:t>流水线</a:t>
            </a:r>
            <a:endParaRPr lang="zh-CN" altLang="en-US" sz="2400" b="1" dirty="0" smtClean="0">
              <a:solidFill>
                <a:srgbClr val="2F57D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5"/>
          <p:cNvSpPr/>
          <p:nvPr/>
        </p:nvSpPr>
        <p:spPr>
          <a:xfrm>
            <a:off x="822960" y="1920240"/>
            <a:ext cx="2057400" cy="2423160"/>
          </a:xfrm>
          <a:prstGeom prst="roundRect">
            <a:avLst>
              <a:gd name="adj" fmla="val 3556"/>
            </a:avLst>
          </a:prstGeom>
          <a:solidFill>
            <a:srgbClr val="EAF0FF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Text 6"/>
          <p:cNvSpPr/>
          <p:nvPr/>
        </p:nvSpPr>
        <p:spPr>
          <a:xfrm>
            <a:off x="987552" y="2212848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E4B"/>
                </a:solidFill>
              </a:rPr>
              <a:t>1. SFT</a:t>
            </a:r>
            <a:endParaRPr lang="en-US" sz="1500" dirty="0"/>
          </a:p>
        </p:txBody>
      </p:sp>
      <p:sp>
        <p:nvSpPr>
          <p:cNvPr id="3" name="Text 7"/>
          <p:cNvSpPr/>
          <p:nvPr/>
        </p:nvSpPr>
        <p:spPr>
          <a:xfrm>
            <a:off x="1024128" y="2926080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示范答案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demo data</a:t>
            </a:r>
            <a:endParaRPr lang="en-US" sz="1120" dirty="0"/>
          </a:p>
        </p:txBody>
      </p:sp>
      <p:sp>
        <p:nvSpPr>
          <p:cNvPr id="4" name="Shape 8"/>
          <p:cNvSpPr/>
          <p:nvPr/>
        </p:nvSpPr>
        <p:spPr>
          <a:xfrm>
            <a:off x="2880360" y="3127248"/>
            <a:ext cx="448056" cy="0"/>
          </a:xfrm>
          <a:prstGeom prst="line">
            <a:avLst/>
          </a:prstGeom>
          <a:noFill/>
          <a:ln w="12700">
            <a:solidFill>
              <a:srgbClr val="3556D8"/>
            </a:solidFill>
            <a:prstDash val="solid"/>
            <a:headEnd type="none"/>
            <a:tailEnd type="triangle"/>
          </a:ln>
        </p:spPr>
      </p:sp>
      <p:sp>
        <p:nvSpPr>
          <p:cNvPr id="5" name="Shape 9"/>
          <p:cNvSpPr/>
          <p:nvPr/>
        </p:nvSpPr>
        <p:spPr>
          <a:xfrm>
            <a:off x="3401568" y="1920240"/>
            <a:ext cx="2057400" cy="2423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2212848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E4B"/>
                </a:solidFill>
              </a:rPr>
              <a:t>2. Preference / RM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02736" y="2926080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偏好对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或 reward label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458968" y="3127248"/>
            <a:ext cx="448056" cy="0"/>
          </a:xfrm>
          <a:prstGeom prst="line">
            <a:avLst/>
          </a:prstGeom>
          <a:noFill/>
          <a:ln w="12700">
            <a:solidFill>
              <a:srgbClr val="3556D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80176" y="1920240"/>
            <a:ext cx="2057400" cy="2423160"/>
          </a:xfrm>
          <a:prstGeom prst="roundRect">
            <a:avLst>
              <a:gd name="adj" fmla="val 3556"/>
            </a:avLst>
          </a:prstGeom>
          <a:solidFill>
            <a:srgbClr val="EAF8F2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44768" y="2212848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E4B"/>
                </a:solidFill>
              </a:rPr>
              <a:t>3. PPO / DPO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81344" y="2926080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偏好优化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在线或离线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8037576" y="3127248"/>
            <a:ext cx="448056" cy="0"/>
          </a:xfrm>
          <a:prstGeom prst="line">
            <a:avLst/>
          </a:prstGeom>
          <a:noFill/>
          <a:ln w="12700">
            <a:solidFill>
              <a:srgbClr val="3556D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558784" y="1920240"/>
            <a:ext cx="2057400" cy="24231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23376" y="2212848"/>
            <a:ext cx="1737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3E4B"/>
                </a:solidFill>
              </a:rPr>
              <a:t>4. GRPO / Math RL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759952" y="2926080"/>
            <a:ext cx="164592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可验证任务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数学 / 代码 / 逻辑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1298448" y="4956048"/>
            <a:ext cx="9555480" cy="493776"/>
          </a:xfrm>
          <a:prstGeom prst="roundRect">
            <a:avLst>
              <a:gd name="adj" fmla="val 14815"/>
            </a:avLst>
          </a:prstGeom>
          <a:solidFill>
            <a:srgbClr val="EAF0FF"/>
          </a:solidFill>
          <a:ln w="12700">
            <a:solidFill>
              <a:srgbClr val="B0C0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08176" y="5029200"/>
            <a:ext cx="93360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PPO / DPO / GRPO，都只是把“监督信号”换了一种来源</a:t>
            </a:r>
            <a:endParaRPr lang="en-US" sz="118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/>
          <p:nvPr/>
        </p:nvSpPr>
        <p:spPr>
          <a:xfrm>
            <a:off x="700088" y="499858"/>
            <a:ext cx="68208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2F57D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PPO</a:t>
            </a:r>
            <a:endParaRPr lang="en-US" altLang="zh-CN" sz="2400" b="1" dirty="0" smtClean="0">
              <a:solidFill>
                <a:srgbClr val="2F57D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5"/>
          <p:cNvSpPr/>
          <p:nvPr/>
        </p:nvSpPr>
        <p:spPr>
          <a:xfrm>
            <a:off x="2697480" y="2514600"/>
            <a:ext cx="384048" cy="0"/>
          </a:xfrm>
          <a:prstGeom prst="line">
            <a:avLst/>
          </a:prstGeom>
          <a:noFill/>
          <a:ln w="12700">
            <a:solidFill>
              <a:srgbClr val="3556D8"/>
            </a:solidFill>
            <a:prstDash val="solid"/>
            <a:headEnd type="none"/>
            <a:tailEnd type="triangle"/>
          </a:ln>
        </p:spPr>
      </p:sp>
      <p:sp>
        <p:nvSpPr>
          <p:cNvPr id="2" name="Shape 6"/>
          <p:cNvSpPr/>
          <p:nvPr/>
        </p:nvSpPr>
        <p:spPr>
          <a:xfrm>
            <a:off x="5303520" y="2514600"/>
            <a:ext cx="365760" cy="0"/>
          </a:xfrm>
          <a:prstGeom prst="line">
            <a:avLst/>
          </a:prstGeom>
          <a:noFill/>
          <a:ln w="12700">
            <a:solidFill>
              <a:srgbClr val="3556D8"/>
            </a:solidFill>
            <a:prstDash val="solid"/>
            <a:headEnd type="none"/>
            <a:tailEnd type="triangle"/>
          </a:ln>
        </p:spPr>
      </p:sp>
      <p:sp>
        <p:nvSpPr>
          <p:cNvPr id="3" name="Shape 7"/>
          <p:cNvSpPr/>
          <p:nvPr/>
        </p:nvSpPr>
        <p:spPr>
          <a:xfrm>
            <a:off x="7571232" y="2514600"/>
            <a:ext cx="356616" cy="0"/>
          </a:xfrm>
          <a:prstGeom prst="line">
            <a:avLst/>
          </a:prstGeom>
          <a:noFill/>
          <a:ln w="12700">
            <a:solidFill>
              <a:srgbClr val="3556D8"/>
            </a:solidFill>
            <a:prstDash val="solid"/>
            <a:headEnd type="none"/>
            <a:tailEnd type="triangle"/>
          </a:ln>
        </p:spPr>
      </p:sp>
      <p:sp>
        <p:nvSpPr>
          <p:cNvPr id="4" name="Shape 8"/>
          <p:cNvSpPr/>
          <p:nvPr/>
        </p:nvSpPr>
        <p:spPr>
          <a:xfrm>
            <a:off x="9829800" y="2514600"/>
            <a:ext cx="320040" cy="0"/>
          </a:xfrm>
          <a:prstGeom prst="line">
            <a:avLst/>
          </a:prstGeom>
          <a:noFill/>
          <a:ln w="12700">
            <a:solidFill>
              <a:srgbClr val="3556D8"/>
            </a:solidFill>
            <a:prstDash val="solid"/>
            <a:headEnd type="none"/>
            <a:tailEnd type="triangle"/>
          </a:ln>
        </p:spPr>
      </p:sp>
      <p:sp>
        <p:nvSpPr>
          <p:cNvPr id="5" name="Shape 9"/>
          <p:cNvSpPr/>
          <p:nvPr/>
        </p:nvSpPr>
        <p:spPr>
          <a:xfrm>
            <a:off x="822960" y="2011680"/>
            <a:ext cx="1874520" cy="1005840"/>
          </a:xfrm>
          <a:prstGeom prst="roundRect">
            <a:avLst>
              <a:gd name="adj" fmla="val 7273"/>
            </a:avLst>
          </a:prstGeom>
          <a:solidFill>
            <a:srgbClr val="EAF0FF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212848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D3E4B"/>
                </a:solidFill>
              </a:rPr>
              <a:t>Prompt 数据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932688" y="2578608"/>
            <a:ext cx="165506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提示词集合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3154680" y="201168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2212848"/>
            <a:ext cx="1965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D3E4B"/>
                </a:solidFill>
              </a:rPr>
              <a:t>Actor + vLLM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3264408" y="2578608"/>
            <a:ext cx="192938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先生成回答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742432" y="20116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EAF8F2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33872" y="2212848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D3E4B"/>
                </a:solidFill>
              </a:rPr>
              <a:t>Reward Model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5852160" y="2578608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打分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8001000" y="20116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92440" y="2212848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D3E4B"/>
                </a:solidFill>
              </a:rPr>
              <a:t>Critic / GAE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8110728" y="2578608"/>
            <a:ext cx="160934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算 advantage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10222992" y="2011680"/>
            <a:ext cx="1188720" cy="1005840"/>
          </a:xfrm>
          <a:prstGeom prst="roundRect">
            <a:avLst>
              <a:gd name="adj" fmla="val 7273"/>
            </a:avLst>
          </a:prstGeom>
          <a:solidFill>
            <a:srgbClr val="EAF0FF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314432" y="2212848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D3E4B"/>
                </a:solidFill>
              </a:rPr>
              <a:t>更新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10332720" y="2578608"/>
            <a:ext cx="969264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11111"/>
                </a:solidFill>
              </a:rPr>
              <a:t>改 actor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1024128" y="3840480"/>
            <a:ext cx="10058400" cy="475488"/>
          </a:xfrm>
          <a:prstGeom prst="roundRect">
            <a:avLst>
              <a:gd name="adj" fmla="val 15385"/>
            </a:avLst>
          </a:prstGeom>
          <a:solidFill>
            <a:srgbClr val="EAF0FF"/>
          </a:solidFill>
          <a:ln w="12700">
            <a:solidFill>
              <a:srgbClr val="B0C0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33856" y="3913632"/>
            <a:ext cx="983894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Ray 负责调度；vLLM 负责高吞吐生成；PPO 默认对应 advantage_estimator = gae</a:t>
            </a:r>
            <a:endParaRPr lang="en-US" sz="1160" dirty="0"/>
          </a:p>
        </p:txBody>
      </p:sp>
      <p:sp>
        <p:nvSpPr>
          <p:cNvPr id="28" name="Text 26"/>
          <p:cNvSpPr/>
          <p:nvPr/>
        </p:nvSpPr>
        <p:spPr>
          <a:xfrm>
            <a:off x="1115568" y="4590288"/>
            <a:ext cx="9875520" cy="8229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工程上最关键的理解是：PPO 训练不只是“更新模型”，而是把在线生成、奖励打分、优势估计和策略更新串成一个循环。Hybrid Engine 还可以让 Actor / Critic / Reward / vLLM 共用 GPU。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/>
          <p:nvPr/>
        </p:nvSpPr>
        <p:spPr>
          <a:xfrm>
            <a:off x="700088" y="499858"/>
            <a:ext cx="68208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2F57D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PPO</a:t>
            </a:r>
            <a:endParaRPr lang="en-US" altLang="zh-CN" sz="2400" b="1" dirty="0" smtClean="0">
              <a:solidFill>
                <a:srgbClr val="2F57D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5"/>
          <p:cNvSpPr/>
          <p:nvPr/>
        </p:nvSpPr>
        <p:spPr>
          <a:xfrm>
            <a:off x="658368" y="1325880"/>
            <a:ext cx="6263640" cy="3611880"/>
          </a:xfrm>
          <a:prstGeom prst="roundRect">
            <a:avLst>
              <a:gd name="adj" fmla="val 2025"/>
            </a:avLst>
          </a:prstGeom>
          <a:solidFill>
            <a:srgbClr val="FBFCFE"/>
          </a:solidFill>
          <a:ln w="12700">
            <a:solidFill>
              <a:srgbClr val="D8DDE7"/>
            </a:solidFill>
            <a:prstDash val="solid"/>
          </a:ln>
        </p:spPr>
      </p:sp>
      <p:sp>
        <p:nvSpPr>
          <p:cNvPr id="2" name="Text 6"/>
          <p:cNvSpPr/>
          <p:nvPr/>
        </p:nvSpPr>
        <p:spPr>
          <a:xfrm>
            <a:off x="786384" y="1435608"/>
            <a:ext cx="6007608" cy="33924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 -m openrlhf.cli.train_ppo_ray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--actor_num_gpus_per_node 8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--critic_num_gpus_per_node 8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--reward_num_gpus_per_node 8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--vllm_num_engines 4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--rollout_batch_size 1024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--train_batch_size 128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--prompt_max_len 1024 --generate_max_len 1024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--packing_samples --use_dynamic_batch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--normalize_reward --init_kl_coef 0.01</a:t>
            </a:r>
            <a:endParaRPr lang="en-US" sz="2000" dirty="0">
              <a:solidFill>
                <a:srgbClr val="202124"/>
              </a:solidFill>
              <a:latin typeface="DejaVu Sans Mono" pitchFamily="34" charset="0"/>
              <a:ea typeface="DejaVu Sans Mono" pitchFamily="34" charset="-122"/>
              <a:cs typeface="DejaVu Sans Mono" pitchFamily="34" charset="-120"/>
            </a:endParaRPr>
          </a:p>
        </p:txBody>
      </p:sp>
      <p:sp>
        <p:nvSpPr>
          <p:cNvPr id="3" name="Shape 7"/>
          <p:cNvSpPr/>
          <p:nvPr/>
        </p:nvSpPr>
        <p:spPr>
          <a:xfrm>
            <a:off x="7315200" y="1444752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EAF0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4" name="Text 8"/>
          <p:cNvSpPr/>
          <p:nvPr/>
        </p:nvSpPr>
        <p:spPr>
          <a:xfrm>
            <a:off x="7498080" y="159105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0D3E4B"/>
                </a:solidFill>
              </a:rPr>
              <a:t>资源拆分</a:t>
            </a:r>
            <a:endParaRPr lang="en-US" sz="1240" dirty="0"/>
          </a:p>
        </p:txBody>
      </p:sp>
      <p:sp>
        <p:nvSpPr>
          <p:cNvPr id="5" name="Text 9"/>
          <p:cNvSpPr/>
          <p:nvPr/>
        </p:nvSpPr>
        <p:spPr>
          <a:xfrm>
            <a:off x="8485632" y="1591056"/>
            <a:ext cx="23591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11111"/>
                </a:solidFill>
              </a:rPr>
              <a:t>actor / critic / reward / vLLM 各占多少 GPU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7315200" y="2386584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253288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0D3E4B"/>
                </a:solidFill>
              </a:rPr>
              <a:t>rollout 大小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8485632" y="2532888"/>
            <a:ext cx="23591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11111"/>
                </a:solidFill>
              </a:rPr>
              <a:t>rollout_batch_size / micro_rollout_batch_size</a:t>
            </a:r>
            <a:endParaRPr lang="en-US" sz="1060" dirty="0"/>
          </a:p>
        </p:txBody>
      </p:sp>
      <p:sp>
        <p:nvSpPr>
          <p:cNvPr id="15" name="Shape 13"/>
          <p:cNvSpPr/>
          <p:nvPr/>
        </p:nvSpPr>
        <p:spPr>
          <a:xfrm>
            <a:off x="7315200" y="3328416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EAF0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3474720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0D3E4B"/>
                </a:solidFill>
              </a:rPr>
              <a:t>稳定项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8485632" y="3474720"/>
            <a:ext cx="23591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11111"/>
                </a:solidFill>
              </a:rPr>
              <a:t>init_kl_coef / normalize_reward / gae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7315200" y="4270248"/>
            <a:ext cx="3840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4416552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0D3E4B"/>
                </a:solidFill>
              </a:rPr>
              <a:t>吞吐项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8485632" y="4416552"/>
            <a:ext cx="235915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111111"/>
                </a:solidFill>
              </a:rPr>
              <a:t>packing_samples / dynamic_batch / n_samples_per_prompt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1078992" y="5285232"/>
            <a:ext cx="9692640" cy="438912"/>
          </a:xfrm>
          <a:prstGeom prst="roundRect">
            <a:avLst>
              <a:gd name="adj" fmla="val 16667"/>
            </a:avLst>
          </a:prstGeom>
          <a:solidFill>
            <a:srgbClr val="FFF8DB"/>
          </a:solidFill>
          <a:ln w="12700">
            <a:solidFill>
              <a:srgbClr val="F1D6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5358384"/>
            <a:ext cx="947318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推理任务常会多采样，再配合 dynamic filtering 过滤样本</a:t>
            </a:r>
            <a:endParaRPr lang="en-US" sz="11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/>
          <p:nvPr/>
        </p:nvSpPr>
        <p:spPr>
          <a:xfrm>
            <a:off x="700088" y="499858"/>
            <a:ext cx="68208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2F57D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DPO</a:t>
            </a:r>
            <a:endParaRPr lang="en-US" altLang="zh-CN" sz="2400" b="1" dirty="0" smtClean="0">
              <a:solidFill>
                <a:srgbClr val="2F57D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5"/>
          <p:cNvSpPr/>
          <p:nvPr/>
        </p:nvSpPr>
        <p:spPr>
          <a:xfrm>
            <a:off x="749808" y="1371600"/>
            <a:ext cx="3749040" cy="43434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Text 6"/>
          <p:cNvSpPr/>
          <p:nvPr/>
        </p:nvSpPr>
        <p:spPr>
          <a:xfrm>
            <a:off x="969264" y="162763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60" b="1" dirty="0">
                <a:solidFill>
                  <a:srgbClr val="0D3E4B"/>
                </a:solidFill>
              </a:rPr>
              <a:t>同一个 prompt</a:t>
            </a:r>
            <a:endParaRPr lang="en-US" sz="1360" dirty="0"/>
          </a:p>
        </p:txBody>
      </p:sp>
      <p:sp>
        <p:nvSpPr>
          <p:cNvPr id="3" name="Shape 7"/>
          <p:cNvSpPr/>
          <p:nvPr/>
        </p:nvSpPr>
        <p:spPr>
          <a:xfrm>
            <a:off x="932688" y="1993392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EAF0FF"/>
          </a:solidFill>
          <a:ln w="12700">
            <a:solidFill>
              <a:srgbClr val="B0C0FA"/>
            </a:solidFill>
            <a:prstDash val="solid"/>
          </a:ln>
        </p:spPr>
      </p:sp>
      <p:sp>
        <p:nvSpPr>
          <p:cNvPr id="4" name="Text 8"/>
          <p:cNvSpPr/>
          <p:nvPr/>
        </p:nvSpPr>
        <p:spPr>
          <a:xfrm>
            <a:off x="1042416" y="2066544"/>
            <a:ext cx="3072384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解释一下：为什么 sample packing 会提速？</a:t>
            </a:r>
            <a:endParaRPr lang="en-US" sz="1200" dirty="0"/>
          </a:p>
        </p:txBody>
      </p:sp>
      <p:sp>
        <p:nvSpPr>
          <p:cNvPr id="5" name="Shape 9"/>
          <p:cNvSpPr/>
          <p:nvPr/>
        </p:nvSpPr>
        <p:spPr>
          <a:xfrm>
            <a:off x="932688" y="2743200"/>
            <a:ext cx="3273552" cy="868680"/>
          </a:xfrm>
          <a:prstGeom prst="roundRect">
            <a:avLst>
              <a:gd name="adj" fmla="val 8421"/>
            </a:avLst>
          </a:prstGeom>
          <a:solidFill>
            <a:srgbClr val="EAF8F2"/>
          </a:solidFill>
          <a:ln w="12700">
            <a:solidFill>
              <a:srgbClr val="A7D8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90779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2E9C68"/>
                </a:solidFill>
              </a:rPr>
              <a:t>chosen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1097280" y="3163824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111111"/>
                </a:solidFill>
              </a:rPr>
              <a:t>“把多条短样本拼成更满的 token 块，减少 padding 浪费。”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932688" y="3886200"/>
            <a:ext cx="3273552" cy="868680"/>
          </a:xfrm>
          <a:prstGeom prst="roundRect">
            <a:avLst>
              <a:gd name="adj" fmla="val 8421"/>
            </a:avLst>
          </a:prstGeom>
          <a:solidFill>
            <a:srgbClr val="F8F8FA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50792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7A7F89"/>
                </a:solidFill>
              </a:rPr>
              <a:t>rejected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1097280" y="4306824"/>
            <a:ext cx="23774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70" dirty="0">
                <a:solidFill>
                  <a:srgbClr val="111111"/>
                </a:solidFill>
              </a:rPr>
              <a:t>“就是 batch 更大，所以更快。”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4754880" y="3538728"/>
            <a:ext cx="914400" cy="0"/>
          </a:xfrm>
          <a:prstGeom prst="line">
            <a:avLst/>
          </a:prstGeom>
          <a:noFill/>
          <a:ln w="12700">
            <a:solidFill>
              <a:srgbClr val="E6781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25312" y="155448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EAF0FF"/>
          </a:solidFill>
          <a:ln w="12700">
            <a:solidFill>
              <a:srgbClr val="C8D2F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99632" y="181051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0D3E4B"/>
                </a:solidFill>
              </a:rPr>
              <a:t>DPO 的学生版理解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6236208" y="2263140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212848"/>
            <a:ext cx="4270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不再显式训练 critic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236208" y="2720340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670048"/>
            <a:ext cx="4270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也不需要在训练环里实时跑 reward model server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236208" y="3177540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3127248"/>
            <a:ext cx="4270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只要你已经有 chosen / rejected 偏好对，就能直接做偏好优化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236208" y="3634740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584448"/>
            <a:ext cx="4270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因此它常被拿来作为“比 PPO 更轻”的第二阶段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6309360" y="452628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FFF8DB"/>
          </a:solidFill>
          <a:ln w="12700">
            <a:solidFill>
              <a:srgbClr val="F1D6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4599432"/>
            <a:ext cx="389534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一句话：SFT 是学“标准答案”；DPO 是学“更偏好的答案”</a:t>
            </a:r>
            <a:endParaRPr lang="en-US" sz="116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/>
          <p:nvPr/>
        </p:nvSpPr>
        <p:spPr>
          <a:xfrm>
            <a:off x="700088" y="499858"/>
            <a:ext cx="682085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>
                <a:solidFill>
                  <a:srgbClr val="2F57D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DPO</a:t>
            </a:r>
            <a:endParaRPr lang="en-US" altLang="zh-CN" sz="2400" b="1" dirty="0" smtClean="0">
              <a:solidFill>
                <a:srgbClr val="2F57D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5"/>
          <p:cNvSpPr/>
          <p:nvPr/>
        </p:nvSpPr>
        <p:spPr>
          <a:xfrm>
            <a:off x="749808" y="1389888"/>
            <a:ext cx="4251960" cy="2834640"/>
          </a:xfrm>
          <a:prstGeom prst="roundRect">
            <a:avLst>
              <a:gd name="adj" fmla="val 2581"/>
            </a:avLst>
          </a:prstGeom>
          <a:solidFill>
            <a:srgbClr val="FBFCFE"/>
          </a:solidFill>
          <a:ln w="12700">
            <a:solidFill>
              <a:srgbClr val="D8DDE7"/>
            </a:solidFill>
            <a:prstDash val="solid"/>
          </a:ln>
        </p:spPr>
      </p:sp>
      <p:sp>
        <p:nvSpPr>
          <p:cNvPr id="2" name="Text 6"/>
          <p:cNvSpPr/>
          <p:nvPr/>
        </p:nvSpPr>
        <p:spPr>
          <a:xfrm>
            <a:off x="877824" y="1499616"/>
            <a:ext cx="3995928" cy="26151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"prompt": "解释 sample packing 的作用",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"chosen": "它把样本打包到更满的 token 序列里，从而减少 padding。",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"rejected": "就是 batch 更大，所以更快。"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dirty="0">
              <a:solidFill>
                <a:srgbClr val="202124"/>
              </a:solidFill>
              <a:latin typeface="DejaVu Sans Mono" pitchFamily="34" charset="0"/>
              <a:ea typeface="DejaVu Sans Mono" pitchFamily="34" charset="-122"/>
              <a:cs typeface="DejaVu Sans Mono" pitchFamily="34" charset="-120"/>
            </a:endParaRPr>
          </a:p>
        </p:txBody>
      </p:sp>
      <p:sp>
        <p:nvSpPr>
          <p:cNvPr id="3" name="Shape 7"/>
          <p:cNvSpPr/>
          <p:nvPr/>
        </p:nvSpPr>
        <p:spPr>
          <a:xfrm>
            <a:off x="5358384" y="1389888"/>
            <a:ext cx="5669280" cy="2834640"/>
          </a:xfrm>
          <a:prstGeom prst="roundRect">
            <a:avLst>
              <a:gd name="adj" fmla="val 2581"/>
            </a:avLst>
          </a:prstGeom>
          <a:solidFill>
            <a:srgbClr val="FBFCFE"/>
          </a:solidFill>
          <a:ln w="12700">
            <a:solidFill>
              <a:srgbClr val="D8DDE7"/>
            </a:solidFill>
            <a:prstDash val="solid"/>
          </a:ln>
        </p:spPr>
      </p:sp>
      <p:sp>
        <p:nvSpPr>
          <p:cNvPr id="4" name="Text 8"/>
          <p:cNvSpPr/>
          <p:nvPr/>
        </p:nvSpPr>
        <p:spPr>
          <a:xfrm>
            <a:off x="5486400" y="1499616"/>
            <a:ext cx="5413248" cy="261518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deepspeed --module openrlhf.cli.train_dpo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--pretrain ./ckpt/sft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--dataset preference.jsonl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--apply_chat_template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--chosen_key chosen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--rejected_key rejected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--beta 0.1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--bf16 --max_len 8192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--save_path ./ckpt/dpo</a:t>
            </a:r>
            <a:endParaRPr lang="en-US" sz="2000" dirty="0">
              <a:solidFill>
                <a:srgbClr val="202124"/>
              </a:solidFill>
              <a:latin typeface="DejaVu Sans Mono" pitchFamily="34" charset="0"/>
              <a:ea typeface="DejaVu Sans Mono" pitchFamily="34" charset="-122"/>
              <a:cs typeface="DejaVu Sans Mono" pitchFamily="34" charset="-120"/>
            </a:endParaRPr>
          </a:p>
        </p:txBody>
      </p:sp>
      <p:sp>
        <p:nvSpPr>
          <p:cNvPr id="5" name="Shape 9"/>
          <p:cNvSpPr/>
          <p:nvPr/>
        </p:nvSpPr>
        <p:spPr>
          <a:xfrm>
            <a:off x="859536" y="4590288"/>
            <a:ext cx="10222992" cy="1005840"/>
          </a:xfrm>
          <a:prstGeom prst="roundRect">
            <a:avLst>
              <a:gd name="adj" fmla="val 7273"/>
            </a:avLst>
          </a:prstGeom>
          <a:solidFill>
            <a:srgbClr val="EAF0FF"/>
          </a:solidFill>
          <a:ln w="12700">
            <a:solidFill>
              <a:srgbClr val="C8D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4809744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E4B"/>
                </a:solidFill>
              </a:rPr>
              <a:t>教学上可以这么讲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4809744"/>
            <a:ext cx="80467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</a:rPr>
              <a:t>先用 SFT 把“会说话”的基本格式学出来；再用 DPO 告诉模型：面对同一道题，哪种回答更好。</a:t>
            </a:r>
            <a:endParaRPr lang="en-US" sz="11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5"/>
          <p:cNvSpPr/>
          <p:nvPr/>
        </p:nvSpPr>
        <p:spPr>
          <a:xfrm>
            <a:off x="786384" y="1426464"/>
            <a:ext cx="2148840" cy="4297680"/>
          </a:xfrm>
          <a:prstGeom prst="roundRect">
            <a:avLst>
              <a:gd name="adj" fmla="val 3404"/>
            </a:avLst>
          </a:prstGeom>
          <a:solidFill>
            <a:srgbClr val="EAF0FF"/>
          </a:solidFill>
          <a:ln w="12700">
            <a:solidFill>
              <a:srgbClr val="C8D2F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Text 6"/>
          <p:cNvSpPr/>
          <p:nvPr/>
        </p:nvSpPr>
        <p:spPr>
          <a:xfrm>
            <a:off x="1024128" y="175564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D3E4B"/>
                </a:solidFill>
              </a:rPr>
              <a:t>同一道数学题</a:t>
            </a:r>
            <a:endParaRPr lang="en-US" sz="1450" dirty="0"/>
          </a:p>
        </p:txBody>
      </p:sp>
      <p:sp>
        <p:nvSpPr>
          <p:cNvPr id="3" name="Shape 7"/>
          <p:cNvSpPr/>
          <p:nvPr/>
        </p:nvSpPr>
        <p:spPr>
          <a:xfrm>
            <a:off x="1060704" y="2432304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4" name="Text 8"/>
          <p:cNvSpPr/>
          <p:nvPr/>
        </p:nvSpPr>
        <p:spPr>
          <a:xfrm>
            <a:off x="1170432" y="2505456"/>
            <a:ext cx="13350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求：12x = 36</a:t>
            </a:r>
            <a:endParaRPr lang="en-US" sz="1300" dirty="0"/>
          </a:p>
        </p:txBody>
      </p:sp>
      <p:sp>
        <p:nvSpPr>
          <p:cNvPr id="5" name="Shape 9"/>
          <p:cNvSpPr/>
          <p:nvPr/>
        </p:nvSpPr>
        <p:spPr>
          <a:xfrm>
            <a:off x="2999232" y="3584448"/>
            <a:ext cx="658368" cy="0"/>
          </a:xfrm>
          <a:prstGeom prst="line">
            <a:avLst/>
          </a:prstGeom>
          <a:noFill/>
          <a:ln w="12700">
            <a:solidFill>
              <a:srgbClr val="E6781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67328" y="1682496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EAF8F2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1828800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56D8"/>
                </a:solidFill>
              </a:rPr>
              <a:t>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24528" y="1819656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x=3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016752" y="1819656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90" dirty="0">
                <a:solidFill>
                  <a:srgbClr val="66666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reward 0.95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3767328" y="2532888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FF2F3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2679192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56D8"/>
                </a:solidFill>
              </a:rPr>
              <a:t>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24528" y="2670048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x=4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016752" y="2670048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90" dirty="0">
                <a:solidFill>
                  <a:srgbClr val="66666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reward 0.08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3767328" y="3383280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EAF8F2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3632" y="3529584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56D8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24528" y="3520440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x=3，且过程清楚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016752" y="3520440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90" dirty="0">
                <a:solidFill>
                  <a:srgbClr val="66666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reward 1.00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3767328" y="4233672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FFF2F3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13632" y="4379976"/>
            <a:ext cx="2286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56D8"/>
                </a:solidFill>
              </a:rPr>
              <a:t>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24528" y="4370832"/>
            <a:ext cx="16916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x=6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016752" y="4370832"/>
            <a:ext cx="438912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90" dirty="0">
                <a:solidFill>
                  <a:srgbClr val="66666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reward 0.06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6821424" y="3584448"/>
            <a:ext cx="658368" cy="0"/>
          </a:xfrm>
          <a:prstGeom prst="line">
            <a:avLst/>
          </a:prstGeom>
          <a:noFill/>
          <a:ln w="12700">
            <a:solidFill>
              <a:srgbClr val="E67817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607808" y="1664208"/>
            <a:ext cx="3401568" cy="365760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845552" y="1883664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E4B"/>
                </a:solidFill>
              </a:rPr>
              <a:t>组内相对比较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863840" y="2354580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82712" y="2304288"/>
            <a:ext cx="2624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好的答案相对上浮</a:t>
            </a:r>
            <a:endParaRPr lang="en-US" sz="1160" dirty="0"/>
          </a:p>
        </p:txBody>
      </p:sp>
      <p:sp>
        <p:nvSpPr>
          <p:cNvPr id="33" name="Shape 31"/>
          <p:cNvSpPr/>
          <p:nvPr/>
        </p:nvSpPr>
        <p:spPr>
          <a:xfrm>
            <a:off x="7863840" y="2848356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82712" y="2798064"/>
            <a:ext cx="2624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差的答案相对下压</a:t>
            </a:r>
            <a:endParaRPr lang="en-US" sz="1160" dirty="0"/>
          </a:p>
        </p:txBody>
      </p:sp>
      <p:sp>
        <p:nvSpPr>
          <p:cNvPr id="35" name="Shape 33"/>
          <p:cNvSpPr/>
          <p:nvPr/>
        </p:nvSpPr>
        <p:spPr>
          <a:xfrm>
            <a:off x="7863840" y="3342132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2712" y="3291840"/>
            <a:ext cx="2624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不需要单独的 critic 网络</a:t>
            </a:r>
            <a:endParaRPr lang="en-US" sz="1160" dirty="0"/>
          </a:p>
        </p:txBody>
      </p:sp>
      <p:sp>
        <p:nvSpPr>
          <p:cNvPr id="37" name="Shape 35"/>
          <p:cNvSpPr/>
          <p:nvPr/>
        </p:nvSpPr>
        <p:spPr>
          <a:xfrm>
            <a:off x="7863840" y="3835908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82712" y="3785616"/>
            <a:ext cx="26243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因此对数学 / 推理任务很自然</a:t>
            </a:r>
            <a:endParaRPr lang="en-US" sz="1160" dirty="0"/>
          </a:p>
        </p:txBody>
      </p:sp>
      <p:sp>
        <p:nvSpPr>
          <p:cNvPr id="39" name="Shape 37"/>
          <p:cNvSpPr/>
          <p:nvPr/>
        </p:nvSpPr>
        <p:spPr>
          <a:xfrm>
            <a:off x="7827264" y="4590288"/>
            <a:ext cx="2697480" cy="457200"/>
          </a:xfrm>
          <a:prstGeom prst="roundRect">
            <a:avLst>
              <a:gd name="adj" fmla="val 16000"/>
            </a:avLst>
          </a:prstGeom>
          <a:solidFill>
            <a:srgbClr val="EAF0FF"/>
          </a:solidFill>
          <a:ln w="12700">
            <a:solidFill>
              <a:srgbClr val="B0C0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36992" y="4663440"/>
            <a:ext cx="24780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OpenRLHF 中：--advantage_estimator group_norm</a:t>
            </a:r>
            <a:endParaRPr lang="en-US" sz="1130" dirty="0"/>
          </a:p>
        </p:txBody>
      </p:sp>
      <p:sp>
        <p:nvSpPr>
          <p:cNvPr id="6" name="Text 0"/>
          <p:cNvSpPr/>
          <p:nvPr/>
        </p:nvSpPr>
        <p:spPr>
          <a:xfrm>
            <a:off x="603377" y="643382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55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GRPO：同一题多采样，按组内相对表现来学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0"/>
          <p:cNvSpPr/>
          <p:nvPr/>
        </p:nvSpPr>
        <p:spPr>
          <a:xfrm>
            <a:off x="605282" y="649097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55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GRPO：同一题多采样，按组内相对表现来学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5577840" cy="3246120"/>
          </a:xfrm>
          <a:prstGeom prst="roundRect">
            <a:avLst>
              <a:gd name="adj" fmla="val 2254"/>
            </a:avLst>
          </a:prstGeom>
          <a:solidFill>
            <a:srgbClr val="FBFCFE"/>
          </a:solidFill>
          <a:ln w="12700">
            <a:solidFill>
              <a:srgbClr val="D8DDE7"/>
            </a:solidFill>
            <a:prstDash val="solid"/>
          </a:ln>
        </p:spPr>
      </p:sp>
      <p:sp>
        <p:nvSpPr>
          <p:cNvPr id="3" name="Text 6"/>
          <p:cNvSpPr/>
          <p:nvPr/>
        </p:nvSpPr>
        <p:spPr>
          <a:xfrm>
            <a:off x="859536" y="1481328"/>
            <a:ext cx="5321808" cy="30266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python -m openrlhf.cli.train_ppo_ray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--advantage_estimator group_norm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--n_samples_per_prompt 8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--rollout_batch_size 128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--train_batch_size 1024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--packing_samples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--use_dynamic_batch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--prompt_data math_prompts.jsonl \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--apply_chat_template</a:t>
            </a:r>
            <a:endParaRPr lang="en-US" sz="2000" dirty="0">
              <a:solidFill>
                <a:srgbClr val="202124"/>
              </a:solidFill>
              <a:latin typeface="DejaVu Sans Mono" pitchFamily="34" charset="0"/>
              <a:ea typeface="DejaVu Sans Mono" pitchFamily="34" charset="-122"/>
              <a:cs typeface="DejaVu Sans Mono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601968" y="1371600"/>
            <a:ext cx="47091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8"/>
          <p:cNvSpPr/>
          <p:nvPr/>
        </p:nvSpPr>
        <p:spPr>
          <a:xfrm>
            <a:off x="6839712" y="1591056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E4B"/>
                </a:solidFill>
              </a:rPr>
              <a:t>和 PPO 对比着记</a:t>
            </a:r>
            <a:endParaRPr lang="en-US" sz="1400" dirty="0"/>
          </a:p>
        </p:txBody>
      </p:sp>
      <p:sp>
        <p:nvSpPr>
          <p:cNvPr id="5" name="Text 9"/>
          <p:cNvSpPr/>
          <p:nvPr/>
        </p:nvSpPr>
        <p:spPr>
          <a:xfrm>
            <a:off x="6839712" y="1938528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3556D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critic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7754112" y="1938528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PPO 常见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9162288" y="1938528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9C68"/>
                </a:solidFill>
              </a:rPr>
              <a:t>GRPO 不需要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6839712" y="2532888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3556D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多采样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754112" y="2532888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可选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9162288" y="2532888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9C68"/>
                </a:solidFill>
              </a:rPr>
              <a:t>通常更关键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839712" y="3127248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3556D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reasoning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754112" y="3127248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能做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9162288" y="3127248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9C68"/>
                </a:solidFill>
              </a:rPr>
              <a:t>更贴近组内比较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839712" y="3721608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3556D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内存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754112" y="3721608"/>
            <a:ext cx="9601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11111"/>
                </a:solidFill>
              </a:rPr>
              <a:t>更重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9162288" y="3721608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2E9C68"/>
                </a:solidFill>
              </a:rPr>
              <a:t>更轻一些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1097280" y="5074920"/>
            <a:ext cx="9326880" cy="438912"/>
          </a:xfrm>
          <a:prstGeom prst="roundRect">
            <a:avLst>
              <a:gd name="adj" fmla="val 16667"/>
            </a:avLst>
          </a:prstGeom>
          <a:solidFill>
            <a:srgbClr val="FFF8DB"/>
          </a:solidFill>
          <a:ln w="12700">
            <a:solidFill>
              <a:srgbClr val="F1D6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5148072"/>
            <a:ext cx="91074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4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多采样 + group 归一化，是 GRPO 教学时最该强调的两个点</a:t>
            </a:r>
            <a:endParaRPr lang="en-US" sz="114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5"/>
          <p:cNvSpPr/>
          <p:nvPr/>
        </p:nvSpPr>
        <p:spPr>
          <a:xfrm>
            <a:off x="768096" y="1389888"/>
            <a:ext cx="3794760" cy="452628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4D7DD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Text 6"/>
          <p:cNvSpPr/>
          <p:nvPr/>
        </p:nvSpPr>
        <p:spPr>
          <a:xfrm>
            <a:off x="987552" y="1645920"/>
            <a:ext cx="548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3E4B"/>
                </a:solidFill>
              </a:rPr>
              <a:t>题目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87552" y="1920240"/>
            <a:ext cx="2103120" cy="420624"/>
          </a:xfrm>
          <a:prstGeom prst="roundRect">
            <a:avLst>
              <a:gd name="adj" fmla="val 17391"/>
            </a:avLst>
          </a:prstGeom>
          <a:solidFill>
            <a:srgbClr val="EAF0FF"/>
          </a:solidFill>
          <a:ln w="12700">
            <a:solidFill>
              <a:srgbClr val="B0C0FA"/>
            </a:solidFill>
            <a:prstDash val="solid"/>
          </a:ln>
        </p:spPr>
      </p:sp>
      <p:sp>
        <p:nvSpPr>
          <p:cNvPr id="3" name="Text 8"/>
          <p:cNvSpPr/>
          <p:nvPr/>
        </p:nvSpPr>
        <p:spPr>
          <a:xfrm>
            <a:off x="1097280" y="1993392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解方程：12x = 36</a:t>
            </a:r>
            <a:endParaRPr lang="en-US" sz="1250" dirty="0"/>
          </a:p>
        </p:txBody>
      </p:sp>
      <p:sp>
        <p:nvSpPr>
          <p:cNvPr id="4" name="Text 9"/>
          <p:cNvSpPr/>
          <p:nvPr/>
        </p:nvSpPr>
        <p:spPr>
          <a:xfrm>
            <a:off x="987552" y="2615184"/>
            <a:ext cx="16916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D3E4B"/>
                </a:solidFill>
              </a:rPr>
              <a:t>模型可能给出的 3 个回答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87552" y="2944368"/>
            <a:ext cx="3127248" cy="603504"/>
          </a:xfrm>
          <a:prstGeom prst="roundRect">
            <a:avLst>
              <a:gd name="adj" fmla="val 12121"/>
            </a:avLst>
          </a:prstGeom>
          <a:solidFill>
            <a:srgbClr val="EAF8F2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072384"/>
            <a:ext cx="2011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556D8"/>
                </a:solidFill>
              </a:rPr>
              <a:t>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444752" y="3054096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&lt;think&gt;36/12=3&lt;/think&gt;</a:t>
            </a:r>
            <a:endParaRPr lang="en-US" sz="980" dirty="0"/>
          </a:p>
          <a:p>
            <a:pPr marL="0" indent="0">
              <a:buNone/>
            </a:pPr>
            <a:r>
              <a:rPr lang="en-US" sz="98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最终答案：3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987552" y="3767328"/>
            <a:ext cx="3127248" cy="603504"/>
          </a:xfrm>
          <a:prstGeom prst="roundRect">
            <a:avLst>
              <a:gd name="adj" fmla="val 12121"/>
            </a:avLst>
          </a:prstGeom>
          <a:solidFill>
            <a:srgbClr val="FFF2F3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5568" y="3895344"/>
            <a:ext cx="2011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556D8"/>
                </a:solidFill>
              </a:rPr>
              <a:t>B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444752" y="3877056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12x=36，所以 x=6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987552" y="4590288"/>
            <a:ext cx="3127248" cy="603504"/>
          </a:xfrm>
          <a:prstGeom prst="roundRect">
            <a:avLst>
              <a:gd name="adj" fmla="val 12121"/>
            </a:avLst>
          </a:prstGeom>
          <a:solidFill>
            <a:srgbClr val="EAF0FF"/>
          </a:solidFill>
          <a:ln w="12700">
            <a:solidFill>
              <a:srgbClr val="D7DC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4718304"/>
            <a:ext cx="201168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556D8"/>
                </a:solidFill>
              </a:rPr>
              <a:t>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444752" y="4700016"/>
            <a:ext cx="2377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11111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答案是 3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4937760" y="1389888"/>
            <a:ext cx="6217920" cy="4526280"/>
          </a:xfrm>
          <a:prstGeom prst="roundRect">
            <a:avLst>
              <a:gd name="adj" fmla="val 1616"/>
            </a:avLst>
          </a:prstGeom>
          <a:solidFill>
            <a:srgbClr val="EAF0FF"/>
          </a:solidFill>
          <a:ln w="12700">
            <a:solidFill>
              <a:srgbClr val="C8D2F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30368" y="164592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3E4B"/>
                </a:solidFill>
              </a:rPr>
              <a:t>最简单的 rule-based reward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230368" y="1938528"/>
            <a:ext cx="2971800" cy="1325880"/>
          </a:xfrm>
          <a:prstGeom prst="roundRect">
            <a:avLst>
              <a:gd name="adj" fmla="val 5517"/>
            </a:avLst>
          </a:prstGeom>
          <a:solidFill>
            <a:srgbClr val="FBFCFE"/>
          </a:solidFill>
          <a:ln w="12700">
            <a:solidFill>
              <a:srgbClr val="D8DD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58384" y="2048256"/>
            <a:ext cx="2715768" cy="11064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 reward(answer, label="3"):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r_acc = 1.0 if extract_final(answer) == label else 0.0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r_fmt = 0.2 if has_think_and_final(answer) else 0.0</a:t>
            </a:r>
            <a:endParaRPr lang="en-US" sz="970" dirty="0"/>
          </a:p>
          <a:p>
            <a:pPr marL="0" indent="0">
              <a:buNone/>
            </a:pPr>
            <a:r>
              <a:rPr lang="en-US" sz="970" dirty="0">
                <a:solidFill>
                  <a:srgbClr val="202124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r_acc + r_fmt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8430768" y="2135124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2084832"/>
            <a:ext cx="2167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accuracy reward：最后答案对不对</a:t>
            </a:r>
            <a:endParaRPr lang="en-US" sz="1140" dirty="0"/>
          </a:p>
        </p:txBody>
      </p:sp>
      <p:sp>
        <p:nvSpPr>
          <p:cNvPr id="27" name="Shape 25"/>
          <p:cNvSpPr/>
          <p:nvPr/>
        </p:nvSpPr>
        <p:spPr>
          <a:xfrm>
            <a:off x="8430768" y="2665476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9640" y="2615184"/>
            <a:ext cx="2167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format reward：格式合不合要求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8430768" y="3195828"/>
            <a:ext cx="64008" cy="64008"/>
          </a:xfrm>
          <a:prstGeom prst="ellipse">
            <a:avLst/>
          </a:prstGeom>
          <a:solidFill>
            <a:srgbClr val="3556D8"/>
          </a:solidFill>
          <a:ln w="12700">
            <a:solidFill>
              <a:srgbClr val="3556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3145536"/>
            <a:ext cx="216712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1111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这种奖励尤其适合数学、代码、逻辑题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5504688" y="4956048"/>
            <a:ext cx="4754880" cy="457200"/>
          </a:xfrm>
          <a:prstGeom prst="roundRect">
            <a:avLst>
              <a:gd name="adj" fmla="val 16000"/>
            </a:avLst>
          </a:prstGeom>
          <a:solidFill>
            <a:srgbClr val="FFF8DB"/>
          </a:solidFill>
          <a:ln w="12700">
            <a:solidFill>
              <a:srgbClr val="F1D6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14416" y="5029200"/>
            <a:ext cx="4535424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这就是为什么 GRPO 常和“可验证推理任务”一起出现</a:t>
            </a:r>
            <a:endParaRPr lang="en-US" sz="1150" dirty="0"/>
          </a:p>
        </p:txBody>
      </p:sp>
      <p:sp>
        <p:nvSpPr>
          <p:cNvPr id="5" name="Text 0"/>
          <p:cNvSpPr/>
          <p:nvPr/>
        </p:nvSpPr>
        <p:spPr>
          <a:xfrm>
            <a:off x="530352" y="256032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55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数学推理：最简单的可验证奖励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1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5693" y="5717379"/>
            <a:ext cx="750095" cy="7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/>
          <p:cNvCxnSpPr/>
          <p:nvPr/>
        </p:nvCxnSpPr>
        <p:spPr>
          <a:xfrm>
            <a:off x="771526" y="1030876"/>
            <a:ext cx="5516732" cy="0"/>
          </a:xfrm>
          <a:prstGeom prst="line">
            <a:avLst/>
          </a:prstGeom>
          <a:ln w="19050">
            <a:solidFill>
              <a:srgbClr val="2F57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hape 5"/>
          <p:cNvSpPr/>
          <p:nvPr/>
        </p:nvSpPr>
        <p:spPr>
          <a:xfrm>
            <a:off x="822960" y="146304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EAF0FF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Text 6"/>
          <p:cNvSpPr/>
          <p:nvPr/>
        </p:nvSpPr>
        <p:spPr>
          <a:xfrm>
            <a:off x="960120" y="1719072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E4B"/>
                </a:solidFill>
              </a:rPr>
              <a:t>SFT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2212848"/>
            <a:ext cx="213969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有示范答案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先把格式和基本能力学会</a:t>
            </a:r>
            <a:endParaRPr lang="en-US" sz="1120" dirty="0"/>
          </a:p>
        </p:txBody>
      </p:sp>
      <p:sp>
        <p:nvSpPr>
          <p:cNvPr id="3" name="Shape 8"/>
          <p:cNvSpPr/>
          <p:nvPr/>
        </p:nvSpPr>
        <p:spPr>
          <a:xfrm>
            <a:off x="3566160" y="146304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9"/>
          <p:cNvSpPr/>
          <p:nvPr/>
        </p:nvSpPr>
        <p:spPr>
          <a:xfrm>
            <a:off x="3703320" y="1719072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E4B"/>
                </a:solidFill>
              </a:rPr>
              <a:t>DPO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0752" y="2212848"/>
            <a:ext cx="213969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有 chosen / rejected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想做更轻的偏好优化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309360" y="146304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EAF8F2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719072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E4B"/>
                </a:solidFill>
              </a:rPr>
              <a:t>PPO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3952" y="2212848"/>
            <a:ext cx="213969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有 reward model 或在线环境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要做完整 RLHF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9052560" y="1463040"/>
            <a:ext cx="2468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DCE6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9720" y="1719072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3E4B"/>
                </a:solidFill>
              </a:rPr>
              <a:t>GRPO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17152" y="2212848"/>
            <a:ext cx="2139696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任务可验证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dirty="0">
                <a:solidFill>
                  <a:srgbClr val="111111"/>
                </a:solidFill>
              </a:rPr>
              <a:t>尤其数学 / 代码 / 推理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1097280" y="4069080"/>
            <a:ext cx="9966960" cy="512064"/>
          </a:xfrm>
          <a:prstGeom prst="roundRect">
            <a:avLst>
              <a:gd name="adj" fmla="val 14286"/>
            </a:avLst>
          </a:prstGeom>
          <a:solidFill>
            <a:srgbClr val="FFF8DB"/>
          </a:solidFill>
          <a:ln w="12700">
            <a:solidFill>
              <a:srgbClr val="F1D6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07008" y="4142232"/>
            <a:ext cx="974750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0D3E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建议的教学顺序：最小 SFT 例子 → 数据结构与 label mask → OpenRLHF train_sft → DPO / PPO → GRPO 数学例子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1353312" y="4901184"/>
            <a:ext cx="9418320" cy="868680"/>
          </a:xfrm>
          <a:prstGeom prst="roundRect">
            <a:avLst>
              <a:gd name="adj" fmla="val 8421"/>
            </a:avLst>
          </a:prstGeom>
          <a:solidFill>
            <a:srgbClr val="EAF0FF"/>
          </a:solidFill>
          <a:ln w="12700">
            <a:solidFill>
              <a:srgbClr val="C8D2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5138928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D3E4B"/>
                </a:solidFill>
              </a:rPr>
              <a:t>一句总结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2697480" y="5138928"/>
            <a:ext cx="74980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dirty="0">
                <a:solidFill>
                  <a:srgbClr val="111111"/>
                </a:solidFill>
              </a:rPr>
              <a:t>OpenRLHF 不是“从 PPO 开始”的框架，而是“先把 SFT / 数据 / 模板 / 训练接口讲清楚，再往 RL 扩”的框架。</a:t>
            </a:r>
            <a:endParaRPr lang="en-US" sz="1160" dirty="0"/>
          </a:p>
        </p:txBody>
      </p:sp>
      <p:sp>
        <p:nvSpPr>
          <p:cNvPr id="6" name="Text 0"/>
          <p:cNvSpPr/>
          <p:nvPr/>
        </p:nvSpPr>
        <p:spPr>
          <a:xfrm>
            <a:off x="530352" y="256032"/>
            <a:ext cx="6217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100" b="1" dirty="0">
                <a:solidFill>
                  <a:srgbClr val="3556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</a:t>
            </a:r>
            <a:endParaRPr lang="zh-CN" altLang="en-US" sz="2100" b="1" dirty="0">
              <a:solidFill>
                <a:srgbClr val="3556D8"/>
              </a:solidFill>
              <a:latin typeface="Noto Sans CJK SC" pitchFamily="34" charset="0"/>
              <a:ea typeface="Noto Sans CJK SC" pitchFamily="34" charset="-122"/>
              <a:cs typeface="Noto Sans CJK SC" pitchFamily="34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7" name="think-cell Slide" r:id="rId2" imgW="7763510" imgH="10049510" progId="TCLayout.ActiveDocument.1">
                  <p:embed/>
                </p:oleObj>
              </mc:Choice>
              <mc:Fallback>
                <p:oleObj name="think-cell Slide" r:id="rId2" imgW="7763510" imgH="10049510" progId="TCLayout.ActiveDocument.1">
                  <p:embed/>
                  <p:pic>
                    <p:nvPicPr>
                      <p:cNvPr id="0" name="图片 328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2" descr="Image result for sustech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EC6C00"/>
              </a:clrFrom>
              <a:clrTo>
                <a:srgbClr val="EC6C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6" y="1387477"/>
            <a:ext cx="4014786" cy="401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714844"/>
            <a:ext cx="9144000" cy="1071563"/>
          </a:xfrm>
        </p:spPr>
        <p:txBody>
          <a:bodyPr vert="horz">
            <a:normAutofit fontScale="90000"/>
          </a:bodyPr>
          <a:lstStyle/>
          <a:p>
            <a:b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End of Midterm </a:t>
            </a:r>
            <a:r>
              <a:rPr lang="en-US" altLang="zh-CN" sz="4800" dirty="0">
                <a:latin typeface="Calibri" panose="020F0502020204030204" pitchFamily="34" charset="0"/>
                <a:cs typeface="Calibri" panose="020F0502020204030204" pitchFamily="34" charset="0"/>
              </a:rPr>
              <a:t>Project</a:t>
            </a:r>
            <a:endParaRPr lang="en-US" altLang="zh-CN" sz="4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8"/>
          <p:cNvSpPr/>
          <p:nvPr/>
        </p:nvSpPr>
        <p:spPr>
          <a:xfrm>
            <a:off x="0" y="6550819"/>
            <a:ext cx="12192000" cy="307181"/>
          </a:xfrm>
          <a:prstGeom prst="rect">
            <a:avLst/>
          </a:prstGeom>
          <a:solidFill>
            <a:srgbClr val="2F5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5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6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7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8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9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10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11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12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13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14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15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16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17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18.xml><?xml version="1.0" encoding="utf-8"?>
<p:tagLst xmlns:p="http://schemas.openxmlformats.org/presentationml/2006/main">
  <p:tag name="KSO_WM_DIAGRAM_VIRTUALLY_FRAME" val="{&quot;height&quot;:186.95,&quot;left&quot;:392.4,&quot;top&quot;:142.85,&quot;width&quot;:542.8799999999999}"/>
</p:tagLst>
</file>

<file path=ppt/tags/tag19.xml><?xml version="1.0" encoding="utf-8"?>
<p:tagLst xmlns:p="http://schemas.openxmlformats.org/presentationml/2006/main">
  <p:tag name="THINKCELLSHAPEDONOTDELETE" val="thinkcellActiveDocDoNotDelete"/>
</p:tagLst>
</file>

<file path=ppt/tags/tag20.xml><?xml version="1.0" encoding="utf-8"?>
<p:tagLst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5753</Words>
  <Application>WPS 表格</Application>
  <PresentationFormat>Widescreen</PresentationFormat>
  <Paragraphs>514</Paragraphs>
  <Slides>18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18</vt:i4>
      </vt:variant>
    </vt:vector>
  </HeadingPairs>
  <TitlesOfParts>
    <vt:vector size="45" baseType="lpstr">
      <vt:lpstr>Arial</vt:lpstr>
      <vt:lpstr>宋体</vt:lpstr>
      <vt:lpstr>Wingdings</vt:lpstr>
      <vt:lpstr>Calibri</vt:lpstr>
      <vt:lpstr>Helvetica Neue</vt:lpstr>
      <vt:lpstr>等线</vt:lpstr>
      <vt:lpstr>汉仪中等线KW</vt:lpstr>
      <vt:lpstr>微软雅黑</vt:lpstr>
      <vt:lpstr>汉仪旗黑</vt:lpstr>
      <vt:lpstr>等线 Light</vt:lpstr>
      <vt:lpstr>汉仪书宋二KW</vt:lpstr>
      <vt:lpstr>宋体</vt:lpstr>
      <vt:lpstr>Arial Unicode MS</vt:lpstr>
      <vt:lpstr>Wingdings</vt:lpstr>
      <vt:lpstr>Noto Sans CJK SC</vt:lpstr>
      <vt:lpstr>苹方-简</vt:lpstr>
      <vt:lpstr>Noto Sans CJK SC</vt:lpstr>
      <vt:lpstr>Noto Sans CJK SC</vt:lpstr>
      <vt:lpstr>DejaVu Sans Mono</vt:lpstr>
      <vt:lpstr>DejaVu Sans Mono</vt:lpstr>
      <vt:lpstr>DejaVu Sans Mono</vt:lpstr>
      <vt:lpstr>Office 主题​​</vt:lpstr>
      <vt:lpstr>1_Office 主题​​</vt:lpstr>
      <vt:lpstr>TCLayout.ActiveDocument.1</vt:lpstr>
      <vt:lpstr>TCLayout.ActiveDocument.1</vt:lpstr>
      <vt:lpstr>TCLayout.ActiveDocument.1</vt:lpstr>
      <vt:lpstr>TCLayout.ActiveDocument.1</vt:lpstr>
      <vt:lpstr>  STA324 The Foundations and Applications of Large Language Models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End of Lecture 5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MA409 Statistical Data Analysis (SAS) </dc:title>
  <dc:creator>宋 安琪</dc:creator>
  <cp:lastModifiedBy>yixuan</cp:lastModifiedBy>
  <cp:revision>855</cp:revision>
  <cp:lastPrinted>2026-04-15T12:24:00Z</cp:lastPrinted>
  <dcterms:created xsi:type="dcterms:W3CDTF">2026-04-15T12:24:00Z</dcterms:created>
  <dcterms:modified xsi:type="dcterms:W3CDTF">2026-04-15T12:24:00Z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2052-12.1.25849.25849</vt:lpwstr>
  </property>
  <property fmtid="{D5CDD505-2E9C-101B-9397-08002B2CF9AE}" pid="3" name="ICV">
    <vt:lpwstr>FB5ABE8F8BF2A9DC6083DF69A3002692_42</vt:lpwstr>
  </property>
</Properties>
</file>