
<file path=[Content_Types].xml><?xml version="1.0" encoding="utf-8"?>
<Types xmlns="http://schemas.openxmlformats.org/package/2006/content-types">
  <Default Extension="xml" ContentType="application/xml"/>
  <Default Extension="jpeg" ContentType="image/jpeg"/>
  <Default Extension="rels" ContentType="application/vnd.openxmlformats-package.relationships+xml"/>
  <Default Extension="emf" ContentType="image/x-emf"/>
  <Default Extension="vml" ContentType="application/vnd.openxmlformats-officedocument.vmlDrawing"/>
  <Default Extension="bin" ContentType="application/vnd.openxmlformats-officedocument.oleObject"/>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439" r:id="rId3"/>
    <p:sldId id="440" r:id="rId4"/>
    <p:sldId id="441" r:id="rId5"/>
    <p:sldId id="442" r:id="rId6"/>
    <p:sldId id="444" r:id="rId7"/>
    <p:sldId id="443" r:id="rId8"/>
    <p:sldId id="445" r:id="rId9"/>
    <p:sldId id="446" r:id="rId10"/>
    <p:sldId id="493" r:id="rId11"/>
    <p:sldId id="494" r:id="rId12"/>
    <p:sldId id="572" r:id="rId13"/>
    <p:sldId id="495" r:id="rId14"/>
    <p:sldId id="496" r:id="rId15"/>
    <p:sldId id="497" r:id="rId16"/>
    <p:sldId id="498" r:id="rId17"/>
    <p:sldId id="499" r:id="rId18"/>
    <p:sldId id="500" r:id="rId19"/>
    <p:sldId id="501" r:id="rId20"/>
    <p:sldId id="502" r:id="rId21"/>
    <p:sldId id="503" r:id="rId22"/>
    <p:sldId id="504" r:id="rId23"/>
    <p:sldId id="506" r:id="rId24"/>
    <p:sldId id="507" r:id="rId25"/>
    <p:sldId id="508" r:id="rId26"/>
    <p:sldId id="509" r:id="rId27"/>
    <p:sldId id="510" r:id="rId28"/>
    <p:sldId id="511" r:id="rId29"/>
    <p:sldId id="512" r:id="rId30"/>
    <p:sldId id="571" r:id="rId31"/>
  </p:sldIdLst>
  <p:sldSz cx="12192000" cy="6858000"/>
  <p:notesSz cx="6858000" cy="9144000"/>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F00"/>
    <a:srgbClr val="2F57D9"/>
    <a:srgbClr val="0064E5"/>
    <a:srgbClr val="DEEBF7"/>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11" autoAdjust="0"/>
    <p:restoredTop sz="78028"/>
  </p:normalViewPr>
  <p:slideViewPr>
    <p:cSldViewPr snapToGrid="0">
      <p:cViewPr>
        <p:scale>
          <a:sx n="101" d="100"/>
          <a:sy n="101" d="100"/>
        </p:scale>
        <p:origin x="56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tags" Target="tags/tag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2BE604-7FA3-4B3A-BABD-E5F4FC67844B}" type="datetimeFigureOut">
              <a:rPr lang="zh-CN" altLang="en-US" smtClean="0"/>
              <a:t>2026/2/26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63BE11-001D-4FCF-9809-FCC312B3AD6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t>3</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t>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t>5</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t>6</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t>7</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t>8</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t>9</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t>10</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t>11</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939749B-4333-7100-4B41-71252F824F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0CAE7C2C-F057-261F-B775-BC5E15E5C2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67E4476D-A848-A616-8E5D-CF55C86EE08A}"/>
              </a:ext>
            </a:extLst>
          </p:cNvPr>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xmlns="" id="{206A255B-FA83-1B78-797B-2A949301E173}"/>
              </a:ext>
            </a:extLst>
          </p:cNvPr>
          <p:cNvSpPr>
            <a:spLocks noGrp="1"/>
          </p:cNvSpPr>
          <p:nvPr>
            <p:ph type="sldNum" sz="quarter" idx="5"/>
          </p:nvPr>
        </p:nvSpPr>
        <p:spPr/>
        <p:txBody>
          <a:bodyPr/>
          <a:lstStyle/>
          <a:p>
            <a:fld id="{1963BE11-001D-4FCF-9809-FCC312B3AD6A}" type="slidenum">
              <a:rPr lang="zh-CN" altLang="en-US" smtClean="0"/>
              <a:t>12</a:t>
            </a:fld>
            <a:endParaRPr lang="zh-CN" altLang="en-US"/>
          </a:p>
        </p:txBody>
      </p:sp>
    </p:spTree>
    <p:extLst>
      <p:ext uri="{BB962C8B-B14F-4D97-AF65-F5344CB8AC3E}">
        <p14:creationId xmlns:p14="http://schemas.microsoft.com/office/powerpoint/2010/main" val="26153784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t>13</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t>14</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t>15</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t>16</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t>17</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963BE11-001D-4FCF-9809-FCC312B3AD6A}" type="slidenum">
              <a:rPr lang="zh-CN" altLang="en-US" smtClean="0"/>
              <a:t>18</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可以有一个小互动，让学生自己测试，分别是开启深度思考前和深度思考后</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FB8052A-A712-4579-AC42-D1977B3A32C5}" type="datetimeFigureOut">
              <a:rPr lang="zh-CN" altLang="en-US" smtClean="0"/>
              <a:t>2026/2/26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3471B6-4801-4E17-8E24-C79CE225DF9C}"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8FB8052A-A712-4579-AC42-D1977B3A32C5}" type="datetimeFigureOut">
              <a:rPr lang="zh-CN" altLang="en-US" smtClean="0"/>
              <a:t>2026/2/26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3471B6-4801-4E17-8E24-C79CE225DF9C}"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FB8052A-A712-4579-AC42-D1977B3A32C5}" type="datetimeFigureOut">
              <a:rPr lang="zh-CN" altLang="en-US" smtClean="0"/>
              <a:t>2026/2/26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3471B6-4801-4E17-8E24-C79CE225DF9C}"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8FB8052A-A712-4579-AC42-D1977B3A32C5}" type="datetimeFigureOut">
              <a:rPr lang="zh-CN" altLang="en-US" smtClean="0"/>
              <a:t>2026/2/26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33471B6-4801-4E17-8E24-C79CE225DF9C}"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8FB8052A-A712-4579-AC42-D1977B3A32C5}" type="datetimeFigureOut">
              <a:rPr lang="zh-CN" altLang="en-US" smtClean="0"/>
              <a:t>2026/2/26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33471B6-4801-4E17-8E24-C79CE225DF9C}"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FB8052A-A712-4579-AC42-D1977B3A32C5}" type="datetimeFigureOut">
              <a:rPr lang="zh-CN" altLang="en-US" smtClean="0"/>
              <a:t>2026/2/26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33471B6-4801-4E17-8E24-C79CE225DF9C}"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FB8052A-A712-4579-AC42-D1977B3A32C5}" type="datetimeFigureOut">
              <a:rPr lang="zh-CN" altLang="en-US" smtClean="0"/>
              <a:t>2026/2/26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33471B6-4801-4E17-8E24-C79CE225DF9C}"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FB8052A-A712-4579-AC42-D1977B3A32C5}" type="datetimeFigureOut">
              <a:rPr lang="zh-CN" altLang="en-US" smtClean="0"/>
              <a:t>2026/2/26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33471B6-4801-4E17-8E24-C79CE225DF9C}"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FB8052A-A712-4579-AC42-D1977B3A32C5}" type="datetimeFigureOut">
              <a:rPr lang="zh-CN" altLang="en-US" smtClean="0"/>
              <a:t>2026/2/26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33471B6-4801-4E17-8E24-C79CE225DF9C}"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8FB8052A-A712-4579-AC42-D1977B3A32C5}" type="datetimeFigureOut">
              <a:rPr lang="zh-CN" altLang="en-US" smtClean="0"/>
              <a:t>2026/2/26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3471B6-4801-4E17-8E24-C79CE225DF9C}"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8FB8052A-A712-4579-AC42-D1977B3A32C5}" type="datetimeFigureOut">
              <a:rPr lang="zh-CN" altLang="en-US" smtClean="0"/>
              <a:t>2026/2/26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3471B6-4801-4E17-8E24-C79CE225DF9C}"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vmlDrawing" Target="../drawings/vmlDrawing1.vml"/><Relationship Id="rId14" Type="http://schemas.openxmlformats.org/officeDocument/2006/relationships/tags" Target="../tags/tag2.xml"/><Relationship Id="rId15" Type="http://schemas.openxmlformats.org/officeDocument/2006/relationships/oleObject" Target="../embeddings/oleObject1.bin"/><Relationship Id="rId16" Type="http://schemas.openxmlformats.org/officeDocument/2006/relationships/image" Target="../media/image1.emf"/><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14"/>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35" name="think-cell Slide" r:id="rId15" imgW="7772400" imgH="10058400" progId="TCLayout.ActiveDocument.1">
                  <p:embed/>
                </p:oleObj>
              </mc:Choice>
              <mc:Fallback>
                <p:oleObj name="think-cell Slide" r:id="rId15" imgW="7772400" imgH="10058400" progId="TCLayout.ActiveDocument.1">
                  <p:embed/>
                  <p:pic>
                    <p:nvPicPr>
                      <p:cNvPr id="0" name="图片 1251"/>
                      <p:cNvPicPr/>
                      <p:nvPr/>
                    </p:nvPicPr>
                    <p:blipFill>
                      <a:blip r:embed="rId16"/>
                      <a:stretch>
                        <a:fillRect/>
                      </a:stretch>
                    </p:blipFill>
                    <p:spPr>
                      <a:xfrm>
                        <a:off x="1588" y="1588"/>
                        <a:ext cx="1227" cy="1588"/>
                      </a:xfrm>
                      <a:prstGeom prst="rect">
                        <a:avLst/>
                      </a:prstGeom>
                    </p:spPr>
                  </p:pic>
                </p:oleObj>
              </mc:Fallback>
            </mc:AlternateContent>
          </a:graphicData>
        </a:graphic>
      </p:graphicFrame>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B8052A-A712-4579-AC42-D1977B3A32C5}" type="datetimeFigureOut">
              <a:rPr lang="zh-CN" altLang="en-US" smtClean="0"/>
              <a:t>2026/2/26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3471B6-4801-4E17-8E24-C79CE225DF9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4" Type="http://schemas.openxmlformats.org/officeDocument/2006/relationships/oleObject" Target="../embeddings/oleObject2.bin"/><Relationship Id="rId5" Type="http://schemas.openxmlformats.org/officeDocument/2006/relationships/image" Target="../media/image2.emf"/><Relationship Id="rId6" Type="http://schemas.openxmlformats.org/officeDocument/2006/relationships/image" Target="../media/image3.png"/><Relationship Id="rId1" Type="http://schemas.openxmlformats.org/officeDocument/2006/relationships/vmlDrawing" Target="../drawings/vmlDrawing2.vml"/><Relationship Id="rId2" Type="http://schemas.openxmlformats.org/officeDocument/2006/relationships/tags" Target="../tags/tag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8.png"/><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12.png"/><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14.png"/><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15.png"/><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16.png"/><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17.png"/><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18.png"/><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hyperlink" Target="https://huggingface.co/" TargetMode="External"/><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hyperlink" Target="https://link.zhihu.com/?target=https://huggingface.co/docs/huggingface_hub/guides/download#download-from-the-cli" TargetMode="External"/><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4" Type="http://schemas.openxmlformats.org/officeDocument/2006/relationships/image" Target="../media/image23.png"/><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tags" Target="../tags/tag6.xml"/><Relationship Id="rId4" Type="http://schemas.openxmlformats.org/officeDocument/2006/relationships/tags" Target="../tags/tag7.xml"/><Relationship Id="rId5" Type="http://schemas.openxmlformats.org/officeDocument/2006/relationships/slideLayout" Target="../slideLayouts/slideLayout7.xml"/><Relationship Id="rId6" Type="http://schemas.openxmlformats.org/officeDocument/2006/relationships/image" Target="../media/image3.png"/><Relationship Id="rId7" Type="http://schemas.openxmlformats.org/officeDocument/2006/relationships/image" Target="../media/image30.png"/><Relationship Id="rId8" Type="http://schemas.openxmlformats.org/officeDocument/2006/relationships/image" Target="../media/image31.png"/><Relationship Id="rId1" Type="http://schemas.openxmlformats.org/officeDocument/2006/relationships/tags" Target="../tags/tag4.xml"/><Relationship Id="rId2" Type="http://schemas.openxmlformats.org/officeDocument/2006/relationships/tags" Target="../tags/tag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xml"/><Relationship Id="rId4" Type="http://schemas.openxmlformats.org/officeDocument/2006/relationships/oleObject" Target="../embeddings/oleObject3.bin"/><Relationship Id="rId5" Type="http://schemas.openxmlformats.org/officeDocument/2006/relationships/image" Target="../media/image33.emf"/><Relationship Id="rId6" Type="http://schemas.openxmlformats.org/officeDocument/2006/relationships/image" Target="../media/image3.png"/><Relationship Id="rId1" Type="http://schemas.openxmlformats.org/officeDocument/2006/relationships/vmlDrawing" Target="../drawings/vmlDrawing3.vml"/><Relationship Id="rId2" Type="http://schemas.openxmlformats.org/officeDocument/2006/relationships/tags" Target="../tags/tag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59" name="think-cell Slide" r:id="rId4" imgW="7772400" imgH="10058400" progId="TCLayout.ActiveDocument.1">
                  <p:embed/>
                </p:oleObj>
              </mc:Choice>
              <mc:Fallback>
                <p:oleObj name="think-cell Slide" r:id="rId4" imgW="7772400" imgH="10058400" progId="TCLayout.ActiveDocument.1">
                  <p:embed/>
                  <p:pic>
                    <p:nvPicPr>
                      <p:cNvPr id="0" name="图片 2275"/>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8" name="Picture 2" descr="Image result for sustech"/>
          <p:cNvPicPr>
            <a:picLocks noChangeAspect="1" noChangeArrowheads="1"/>
          </p:cNvPicPr>
          <p:nvPr/>
        </p:nvPicPr>
        <p:blipFill>
          <a:blip r:embed="rId6">
            <a:clrChange>
              <a:clrFrom>
                <a:srgbClr val="EC6C00"/>
              </a:clrFrom>
              <a:clrTo>
                <a:srgbClr val="EC6C00">
                  <a:alpha val="0"/>
                </a:srgbClr>
              </a:clrTo>
            </a:clrChange>
            <a:extLst>
              <a:ext uri="{28A0092B-C50C-407E-A947-70E740481C1C}">
                <a14:useLocalDpi xmlns:a14="http://schemas.microsoft.com/office/drawing/2010/main" val="0"/>
              </a:ext>
            </a:extLst>
          </a:blip>
          <a:srcRect/>
          <a:stretch>
            <a:fillRect/>
          </a:stretch>
        </p:blipFill>
        <p:spPr bwMode="auto">
          <a:xfrm>
            <a:off x="4057656" y="1387477"/>
            <a:ext cx="4014786" cy="4014786"/>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ctrTitle"/>
          </p:nvPr>
        </p:nvSpPr>
        <p:spPr/>
        <p:txBody>
          <a:bodyPr vert="horz">
            <a:normAutofit fontScale="90000"/>
          </a:bodyPr>
          <a:lstStyle/>
          <a:p>
            <a:r>
              <a:rPr lang="en-US" altLang="zh-CN" sz="4800" dirty="0">
                <a:latin typeface="Calibri" panose="020F0502020204030204" pitchFamily="34" charset="0"/>
                <a:cs typeface="Calibri" panose="020F0502020204030204" pitchFamily="34" charset="0"/>
              </a:rPr>
              <a:t/>
            </a:r>
            <a:br>
              <a:rPr lang="en-US" altLang="zh-CN" sz="4800" dirty="0">
                <a:latin typeface="Calibri" panose="020F0502020204030204" pitchFamily="34" charset="0"/>
                <a:cs typeface="Calibri" panose="020F0502020204030204" pitchFamily="34" charset="0"/>
              </a:rPr>
            </a:br>
            <a:r>
              <a:rPr lang="en-US" altLang="zh-CN" sz="4800" dirty="0">
                <a:latin typeface="Calibri" panose="020F0502020204030204" pitchFamily="34" charset="0"/>
                <a:cs typeface="Calibri" panose="020F0502020204030204" pitchFamily="34" charset="0"/>
              </a:rPr>
              <a:t/>
            </a:r>
            <a:br>
              <a:rPr lang="en-US" altLang="zh-CN" sz="4800" dirty="0">
                <a:latin typeface="Calibri" panose="020F0502020204030204" pitchFamily="34" charset="0"/>
                <a:cs typeface="Calibri" panose="020F0502020204030204" pitchFamily="34" charset="0"/>
              </a:rPr>
            </a:br>
            <a:r>
              <a:rPr lang="sk-SK" altLang="zh-CN" sz="4800" dirty="0">
                <a:latin typeface="Calibri" panose="020F0502020204030204" pitchFamily="34" charset="0"/>
                <a:cs typeface="Calibri" panose="020F0502020204030204" pitchFamily="34" charset="0"/>
              </a:rPr>
              <a:t>STA324</a:t>
            </a:r>
            <a:br>
              <a:rPr lang="sk-SK" altLang="zh-CN" sz="4800" dirty="0">
                <a:latin typeface="Calibri" panose="020F0502020204030204" pitchFamily="34" charset="0"/>
                <a:cs typeface="Calibri" panose="020F0502020204030204" pitchFamily="34" charset="0"/>
              </a:rPr>
            </a:br>
            <a:r>
              <a:rPr lang="sk-SK" altLang="zh-CN" sz="4800" dirty="0" err="1">
                <a:latin typeface="Calibri" panose="020F0502020204030204" pitchFamily="34" charset="0"/>
                <a:cs typeface="Calibri" panose="020F0502020204030204" pitchFamily="34" charset="0"/>
              </a:rPr>
              <a:t>The</a:t>
            </a:r>
            <a:r>
              <a:rPr lang="sk-SK" altLang="zh-CN" sz="4800" dirty="0">
                <a:latin typeface="Calibri" panose="020F0502020204030204" pitchFamily="34" charset="0"/>
                <a:cs typeface="Calibri" panose="020F0502020204030204" pitchFamily="34" charset="0"/>
              </a:rPr>
              <a:t> </a:t>
            </a:r>
            <a:r>
              <a:rPr lang="sk-SK" altLang="zh-CN" sz="4800" dirty="0" err="1">
                <a:latin typeface="Calibri" panose="020F0502020204030204" pitchFamily="34" charset="0"/>
                <a:cs typeface="Calibri" panose="020F0502020204030204" pitchFamily="34" charset="0"/>
              </a:rPr>
              <a:t>Foundations</a:t>
            </a:r>
            <a:r>
              <a:rPr lang="sk-SK" altLang="zh-CN" sz="4800" dirty="0">
                <a:latin typeface="Calibri" panose="020F0502020204030204" pitchFamily="34" charset="0"/>
                <a:cs typeface="Calibri" panose="020F0502020204030204" pitchFamily="34" charset="0"/>
              </a:rPr>
              <a:t> and </a:t>
            </a:r>
            <a:r>
              <a:rPr lang="sk-SK" altLang="zh-CN" sz="4800" dirty="0" err="1">
                <a:latin typeface="Calibri" panose="020F0502020204030204" pitchFamily="34" charset="0"/>
                <a:cs typeface="Calibri" panose="020F0502020204030204" pitchFamily="34" charset="0"/>
              </a:rPr>
              <a:t>Applications</a:t>
            </a:r>
            <a:r>
              <a:rPr lang="sk-SK" altLang="zh-CN" sz="4800" dirty="0">
                <a:latin typeface="Calibri" panose="020F0502020204030204" pitchFamily="34" charset="0"/>
                <a:cs typeface="Calibri" panose="020F0502020204030204" pitchFamily="34" charset="0"/>
              </a:rPr>
              <a:t> of </a:t>
            </a:r>
            <a:r>
              <a:rPr lang="sk-SK" altLang="zh-CN" sz="4800" dirty="0" err="1">
                <a:latin typeface="Calibri" panose="020F0502020204030204" pitchFamily="34" charset="0"/>
                <a:cs typeface="Calibri" panose="020F0502020204030204" pitchFamily="34" charset="0"/>
              </a:rPr>
              <a:t>Large</a:t>
            </a:r>
            <a:r>
              <a:rPr lang="sk-SK" altLang="zh-CN" sz="4800" dirty="0">
                <a:latin typeface="Calibri" panose="020F0502020204030204" pitchFamily="34" charset="0"/>
                <a:cs typeface="Calibri" panose="020F0502020204030204" pitchFamily="34" charset="0"/>
              </a:rPr>
              <a:t> </a:t>
            </a:r>
            <a:r>
              <a:rPr lang="en-GB" altLang="zh-CN" sz="4800" dirty="0">
                <a:latin typeface="Calibri" panose="020F0502020204030204" pitchFamily="34" charset="0"/>
                <a:cs typeface="Calibri" panose="020F0502020204030204" pitchFamily="34" charset="0"/>
              </a:rPr>
              <a:t>Language</a:t>
            </a:r>
            <a:r>
              <a:rPr lang="sk-SK" altLang="zh-CN" sz="4800" dirty="0">
                <a:latin typeface="Calibri" panose="020F0502020204030204" pitchFamily="34" charset="0"/>
                <a:cs typeface="Calibri" panose="020F0502020204030204" pitchFamily="34" charset="0"/>
              </a:rPr>
              <a:t> </a:t>
            </a:r>
            <a:r>
              <a:rPr lang="sk-SK" altLang="zh-CN" sz="4800" dirty="0" err="1">
                <a:latin typeface="Calibri" panose="020F0502020204030204" pitchFamily="34" charset="0"/>
                <a:cs typeface="Calibri" panose="020F0502020204030204" pitchFamily="34" charset="0"/>
              </a:rPr>
              <a:t>Models</a:t>
            </a:r>
            <a:endParaRPr lang="zh-CN" altLang="en-US" sz="4800" dirty="0">
              <a:latin typeface="Calibri" panose="020F0502020204030204" pitchFamily="34" charset="0"/>
              <a:cs typeface="Calibri" panose="020F0502020204030204" pitchFamily="34" charset="0"/>
            </a:endParaRPr>
          </a:p>
        </p:txBody>
      </p:sp>
      <p:sp>
        <p:nvSpPr>
          <p:cNvPr id="3" name="副标题 2"/>
          <p:cNvSpPr>
            <a:spLocks noGrp="1"/>
          </p:cNvSpPr>
          <p:nvPr>
            <p:ph type="subTitle" idx="1"/>
          </p:nvPr>
        </p:nvSpPr>
        <p:spPr>
          <a:xfrm>
            <a:off x="1524000" y="3894932"/>
            <a:ext cx="9144000" cy="1655762"/>
          </a:xfrm>
        </p:spPr>
        <p:txBody>
          <a:bodyPr/>
          <a:lstStyle/>
          <a:p>
            <a:r>
              <a:rPr lang="en-US" altLang="zh-CN" b="1" dirty="0">
                <a:latin typeface="Calibri" panose="020F0502020204030204" pitchFamily="34" charset="0"/>
                <a:cs typeface="Calibri" panose="020F0502020204030204" pitchFamily="34" charset="0"/>
              </a:rPr>
              <a:t>2025-2026 Spring Semester</a:t>
            </a:r>
          </a:p>
          <a:p>
            <a:r>
              <a:rPr lang="en-US" altLang="zh-CN" b="1" dirty="0">
                <a:latin typeface="Calibri" panose="020F0502020204030204" pitchFamily="34" charset="0"/>
                <a:cs typeface="Calibri" panose="020F0502020204030204" pitchFamily="34" charset="0"/>
              </a:rPr>
              <a:t>Linyi Yang</a:t>
            </a:r>
            <a:endParaRPr lang="zh-CN" altLang="en-US" b="1" dirty="0">
              <a:latin typeface="Calibri" panose="020F0502020204030204" pitchFamily="34" charset="0"/>
              <a:cs typeface="Calibri" panose="020F0502020204030204" pitchFamily="34" charset="0"/>
            </a:endParaRPr>
          </a:p>
        </p:txBody>
      </p:sp>
      <p:cxnSp>
        <p:nvCxnSpPr>
          <p:cNvPr id="5" name="直接连接符 4"/>
          <p:cNvCxnSpPr/>
          <p:nvPr/>
        </p:nvCxnSpPr>
        <p:spPr>
          <a:xfrm>
            <a:off x="2207419" y="3743325"/>
            <a:ext cx="7850981"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 xmlns:a16="http://schemas.microsoft.com/office/drawing/2014/main" id="{1D286877-C593-8142-862D-FC9A75C71DB4}"/>
              </a:ext>
            </a:extLst>
          </p:cNvPr>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a:t>Lecture </a:t>
            </a:r>
            <a:r>
              <a:rPr lang="en-US" altLang="zh-CN" sz="1500" smtClean="0"/>
              <a:t>1   </a:t>
            </a:r>
            <a:r>
              <a:rPr lang="en-US" altLang="zh-CN" sz="1500" dirty="0"/>
              <a:t>						  				                 </a:t>
            </a:r>
            <a:r>
              <a:rPr lang="en-US" altLang="zh-CN" sz="1500" dirty="0" smtClean="0"/>
              <a:t>2026/02/27</a:t>
            </a:r>
            <a:endParaRPr lang="zh-CN" alt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E1. </a:t>
            </a:r>
            <a:r>
              <a:rPr lang="en-US" altLang="zh-CN" sz="1500" b="1" dirty="0">
                <a:latin typeface="Calibri" panose="020F0502020204030204" pitchFamily="34" charset="0"/>
                <a:cs typeface="Calibri" panose="020F0502020204030204" pitchFamily="34" charset="0"/>
                <a:sym typeface="+mn-ea"/>
              </a:rPr>
              <a:t>Environment Setup for Large Language Models</a:t>
            </a:r>
            <a:r>
              <a:rPr lang="en-US" altLang="zh-CN" sz="1500" dirty="0"/>
              <a:t>     						  	            		</a:t>
            </a:r>
            <a:endParaRPr lang="zh-CN" altLang="en-US" sz="1500" dirty="0"/>
          </a:p>
        </p:txBody>
      </p:sp>
      <p:sp>
        <p:nvSpPr>
          <p:cNvPr id="8" name="文本框 4"/>
          <p:cNvSpPr txBox="1"/>
          <p:nvPr/>
        </p:nvSpPr>
        <p:spPr>
          <a:xfrm>
            <a:off x="1684883" y="1584003"/>
            <a:ext cx="4793456" cy="523220"/>
          </a:xfrm>
          <a:prstGeom prst="rect">
            <a:avLst/>
          </a:prstGeom>
          <a:noFill/>
        </p:spPr>
        <p:txBody>
          <a:bodyPr wrap="square" rtlCol="0">
            <a:spAutoFit/>
          </a:bodyPr>
          <a:lstStyle/>
          <a:p>
            <a:r>
              <a:rPr lang="en-US" altLang="zh-CN" sz="2800" b="1" dirty="0">
                <a:solidFill>
                  <a:srgbClr val="2F57D9"/>
                </a:solidFill>
                <a:latin typeface="Calibri" panose="020F0502020204030204" pitchFamily="34" charset="0"/>
                <a:cs typeface="Calibri" panose="020F0502020204030204" pitchFamily="34" charset="0"/>
              </a:rPr>
              <a:t>Outline</a:t>
            </a:r>
            <a:endParaRPr lang="zh-CN" altLang="en-US" sz="2800" b="1" dirty="0">
              <a:solidFill>
                <a:srgbClr val="2F57D9"/>
              </a:solidFill>
              <a:latin typeface="Calibri" panose="020F0502020204030204" pitchFamily="34" charset="0"/>
              <a:cs typeface="Calibri" panose="020F0502020204030204" pitchFamily="34" charset="0"/>
            </a:endParaRPr>
          </a:p>
        </p:txBody>
      </p:sp>
      <p:sp>
        <p:nvSpPr>
          <p:cNvPr id="9" name="文本框 6"/>
          <p:cNvSpPr txBox="1"/>
          <p:nvPr/>
        </p:nvSpPr>
        <p:spPr>
          <a:xfrm>
            <a:off x="2002790" y="2372995"/>
            <a:ext cx="8869680" cy="2584450"/>
          </a:xfrm>
          <a:prstGeom prst="rect">
            <a:avLst/>
          </a:prstGeom>
          <a:noFill/>
        </p:spPr>
        <p:txBody>
          <a:bodyPr wrap="square" rtlCol="0">
            <a:spAutoFit/>
          </a:bodyPr>
          <a:lstStyle/>
          <a:p>
            <a:pPr marL="742950" lvl="1" indent="-285750">
              <a:lnSpc>
                <a:spcPct val="150000"/>
              </a:lnSpc>
              <a:buClr>
                <a:srgbClr val="2F57D9"/>
              </a:buClr>
              <a:buSzPct val="70000"/>
              <a:buFont typeface="Wingdings" panose="05000000000000000000" pitchFamily="2" charset="2"/>
              <a:buChar char="n"/>
            </a:pPr>
            <a:r>
              <a:rPr lang="en-US" altLang="zh-CN" sz="2200" dirty="0">
                <a:latin typeface="Calibri" panose="020F0502020204030204" pitchFamily="34" charset="0"/>
                <a:cs typeface="Calibri" panose="020F0502020204030204" pitchFamily="34" charset="0"/>
                <a:sym typeface="+mn-ea"/>
              </a:rPr>
              <a:t>E1. Environment Setup for Large Language Models</a:t>
            </a:r>
            <a:endParaRPr lang="en-US" altLang="zh-CN" sz="2200" dirty="0">
              <a:latin typeface="Calibri" panose="020F0502020204030204" pitchFamily="34" charset="0"/>
              <a:cs typeface="Calibri" panose="020F0502020204030204" pitchFamily="34" charset="0"/>
            </a:endParaRPr>
          </a:p>
          <a:p>
            <a:pPr marL="1200150" lvl="2" indent="-285750">
              <a:lnSpc>
                <a:spcPct val="150000"/>
              </a:lnSpc>
              <a:buClr>
                <a:srgbClr val="2F57D9"/>
              </a:buClr>
              <a:buSzPct val="70000"/>
              <a:buFont typeface="Wingdings" panose="05000000000000000000" pitchFamily="2" charset="2"/>
              <a:buChar char="n"/>
            </a:pPr>
            <a:r>
              <a:rPr lang="en-US" altLang="zh-CN" sz="2200" b="1" dirty="0">
                <a:latin typeface="Calibri" panose="020F0502020204030204" pitchFamily="34" charset="0"/>
                <a:cs typeface="Calibri" panose="020F0502020204030204" pitchFamily="34" charset="0"/>
                <a:sym typeface="+mn-ea"/>
              </a:rPr>
              <a:t>E1.1 Environments </a:t>
            </a:r>
            <a:r>
              <a:rPr lang="en-US" altLang="zh-CN" sz="2200" b="1" dirty="0" smtClean="0">
                <a:latin typeface="Calibri" panose="020F0502020204030204" pitchFamily="34" charset="0"/>
                <a:cs typeface="Calibri" panose="020F0502020204030204" pitchFamily="34" charset="0"/>
                <a:sym typeface="+mn-ea"/>
              </a:rPr>
              <a:t>Setup</a:t>
            </a:r>
            <a:endParaRPr lang="en-US" altLang="zh-CN" sz="2200" dirty="0">
              <a:latin typeface="Calibri" panose="020F0502020204030204" pitchFamily="34" charset="0"/>
              <a:cs typeface="Calibri" panose="020F0502020204030204" pitchFamily="34" charset="0"/>
            </a:endParaRPr>
          </a:p>
          <a:p>
            <a:pPr marL="1200150" lvl="2" indent="-285750">
              <a:lnSpc>
                <a:spcPct val="150000"/>
              </a:lnSpc>
              <a:buClr>
                <a:srgbClr val="2F57D9"/>
              </a:buClr>
              <a:buSzPct val="70000"/>
              <a:buFont typeface="Wingdings" panose="05000000000000000000" pitchFamily="2" charset="2"/>
              <a:buChar char="n"/>
            </a:pPr>
            <a:r>
              <a:rPr lang="en-US" altLang="zh-CN" sz="2200" dirty="0">
                <a:latin typeface="Calibri" panose="020F0502020204030204" pitchFamily="34" charset="0"/>
                <a:cs typeface="Calibri" panose="020F0502020204030204" pitchFamily="34" charset="0"/>
                <a:sym typeface="+mn-ea"/>
              </a:rPr>
              <a:t>E1.2 Large Language Model in Website</a:t>
            </a:r>
            <a:endParaRPr lang="en-US" altLang="zh-CN" sz="2200" dirty="0">
              <a:latin typeface="Calibri" panose="020F0502020204030204" pitchFamily="34" charset="0"/>
              <a:cs typeface="Calibri" panose="020F0502020204030204" pitchFamily="34" charset="0"/>
            </a:endParaRPr>
          </a:p>
          <a:p>
            <a:pPr marL="1200150" lvl="2" indent="-285750">
              <a:lnSpc>
                <a:spcPct val="150000"/>
              </a:lnSpc>
              <a:buClr>
                <a:srgbClr val="2F57D9"/>
              </a:buClr>
              <a:buSzPct val="70000"/>
              <a:buFont typeface="Wingdings" panose="05000000000000000000" pitchFamily="2" charset="2"/>
              <a:buChar char="n"/>
            </a:pPr>
            <a:r>
              <a:rPr lang="en-US" altLang="zh-CN" sz="2200" dirty="0">
                <a:latin typeface="Calibri" panose="020F0502020204030204" pitchFamily="34" charset="0"/>
                <a:cs typeface="Calibri" panose="020F0502020204030204" pitchFamily="34" charset="0"/>
                <a:sym typeface="+mn-ea"/>
              </a:rPr>
              <a:t>E1.3 Large Language Model in Terminal (e.g. Claude Code)</a:t>
            </a:r>
            <a:endParaRPr lang="en-US" altLang="zh-CN" sz="2200" dirty="0">
              <a:solidFill>
                <a:schemeClr val="tx1"/>
              </a:solidFill>
              <a:latin typeface="Calibri" panose="020F0502020204030204" pitchFamily="34" charset="0"/>
              <a:cs typeface="Calibri" panose="020F0502020204030204" pitchFamily="34" charset="0"/>
            </a:endParaRPr>
          </a:p>
          <a:p>
            <a:pPr lvl="2" indent="0">
              <a:lnSpc>
                <a:spcPct val="150000"/>
              </a:lnSpc>
              <a:buClr>
                <a:srgbClr val="2F57D9"/>
              </a:buClr>
              <a:buSzPct val="70000"/>
              <a:buFont typeface="Wingdings" panose="05000000000000000000" pitchFamily="2" charset="2"/>
              <a:buNone/>
            </a:pPr>
            <a:endParaRPr lang="en-US" altLang="zh-CN" sz="2000" dirty="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4"/>
          <p:cNvSpPr txBox="1"/>
          <p:nvPr/>
        </p:nvSpPr>
        <p:spPr>
          <a:xfrm>
            <a:off x="700405" y="511175"/>
            <a:ext cx="9037320" cy="953135"/>
          </a:xfrm>
          <a:prstGeom prst="rect">
            <a:avLst/>
          </a:prstGeom>
          <a:noFill/>
        </p:spPr>
        <p:txBody>
          <a:bodyPr wrap="square" rtlCol="0">
            <a:spAutoFit/>
          </a:bodyPr>
          <a:lstStyle/>
          <a:p>
            <a:pPr marL="0" lvl="1"/>
            <a:r>
              <a:rPr lang="en-US" altLang="zh-CN" sz="3200" b="1" dirty="0">
                <a:solidFill>
                  <a:schemeClr val="accent1"/>
                </a:solidFill>
                <a:latin typeface="Calibri" panose="020F0502020204030204" pitchFamily="34" charset="0"/>
                <a:cs typeface="Calibri" panose="020F0502020204030204" pitchFamily="34" charset="0"/>
                <a:sym typeface="+mn-ea"/>
              </a:rPr>
              <a:t>Python Setup</a:t>
            </a:r>
            <a:endParaRPr lang="en-US" altLang="zh-CN" sz="2400" dirty="0">
              <a:latin typeface="Calibri" panose="020F0502020204030204" pitchFamily="34" charset="0"/>
              <a:cs typeface="Calibri" panose="020F0502020204030204" pitchFamily="34" charset="0"/>
            </a:endParaRPr>
          </a:p>
          <a:p>
            <a:endParaRPr lang="zh-CN" altLang="en-US" sz="2400" b="1" dirty="0">
              <a:solidFill>
                <a:srgbClr val="2F57D9"/>
              </a:solidFill>
              <a:latin typeface="Calibri" panose="020F0502020204030204" pitchFamily="34" charset="0"/>
              <a:cs typeface="Calibri" panose="020F0502020204030204" pitchFamily="34" charset="0"/>
            </a:endParaRPr>
          </a:p>
        </p:txBody>
      </p:sp>
      <p:cxnSp>
        <p:nvCxnSpPr>
          <p:cNvPr id="12" name="直接连接符 2"/>
          <p:cNvCxnSpPr/>
          <p:nvPr/>
        </p:nvCxnSpPr>
        <p:spPr>
          <a:xfrm>
            <a:off x="771526" y="1150144"/>
            <a:ext cx="6576331"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3" name="文本框 6"/>
          <p:cNvSpPr txBox="1"/>
          <p:nvPr/>
        </p:nvSpPr>
        <p:spPr>
          <a:xfrm>
            <a:off x="700404" y="1150144"/>
            <a:ext cx="11315383" cy="1891287"/>
          </a:xfrm>
          <a:prstGeom prst="rect">
            <a:avLst/>
          </a:prstGeom>
          <a:noFill/>
        </p:spPr>
        <p:txBody>
          <a:bodyPr wrap="square" rtlCol="0">
            <a:spAutoFit/>
          </a:bodyPr>
          <a:lstStyle/>
          <a:p>
            <a:pPr marL="285750" indent="-285750">
              <a:lnSpc>
                <a:spcPct val="150000"/>
              </a:lnSpc>
              <a:buClr>
                <a:srgbClr val="2F57D9"/>
              </a:buClr>
              <a:buSzPct val="70000"/>
              <a:buFont typeface="Wingdings" panose="05000000000000000000" pitchFamily="2" charset="2"/>
              <a:buChar char="n"/>
            </a:pPr>
            <a:r>
              <a:rPr lang="en-GB" altLang="zh-CN" sz="2000" dirty="0">
                <a:latin typeface="Calibri" panose="020F0502020204030204" pitchFamily="34" charset="0"/>
                <a:cs typeface="Calibri" panose="020F0502020204030204" pitchFamily="34" charset="0"/>
              </a:rPr>
              <a:t>Download and install Python for running codes</a:t>
            </a:r>
          </a:p>
          <a:p>
            <a:pPr marL="742950" lvl="1" indent="-285750">
              <a:lnSpc>
                <a:spcPct val="150000"/>
              </a:lnSpc>
              <a:buClr>
                <a:srgbClr val="2F57D9"/>
              </a:buClr>
              <a:buSzPct val="70000"/>
              <a:buFont typeface="Wingdings" panose="05000000000000000000" pitchFamily="2" charset="2"/>
              <a:buChar char="n"/>
            </a:pPr>
            <a:r>
              <a:rPr lang="en-GB" altLang="zh-CN" sz="2000" dirty="0">
                <a:latin typeface="Calibri" panose="020F0502020204030204" pitchFamily="34" charset="0"/>
                <a:cs typeface="Calibri" panose="020F0502020204030204" pitchFamily="34" charset="0"/>
              </a:rPr>
              <a:t>https://</a:t>
            </a:r>
            <a:r>
              <a:rPr lang="en-GB" altLang="zh-CN" sz="2000" dirty="0" err="1">
                <a:latin typeface="Calibri" panose="020F0502020204030204" pitchFamily="34" charset="0"/>
                <a:cs typeface="Calibri" panose="020F0502020204030204" pitchFamily="34" charset="0"/>
              </a:rPr>
              <a:t>www.python.org</a:t>
            </a:r>
            <a:r>
              <a:rPr lang="en-GB" altLang="zh-CN" sz="2000" dirty="0">
                <a:latin typeface="Calibri" panose="020F0502020204030204" pitchFamily="34" charset="0"/>
                <a:cs typeface="Calibri" panose="020F0502020204030204" pitchFamily="34" charset="0"/>
              </a:rPr>
              <a:t>/downloads/</a:t>
            </a:r>
          </a:p>
          <a:p>
            <a:pPr marL="742950" lvl="1" indent="-285750">
              <a:lnSpc>
                <a:spcPct val="150000"/>
              </a:lnSpc>
              <a:buClr>
                <a:srgbClr val="2F57D9"/>
              </a:buClr>
              <a:buSzPct val="70000"/>
              <a:buFont typeface="Wingdings" panose="05000000000000000000" pitchFamily="2" charset="2"/>
              <a:buChar char="n"/>
            </a:pPr>
            <a:r>
              <a:rPr lang="en-GB" altLang="zh-CN" sz="2000" dirty="0">
                <a:latin typeface="Calibri" panose="020F0502020204030204" pitchFamily="34" charset="0"/>
                <a:cs typeface="Calibri" panose="020F0502020204030204" pitchFamily="34" charset="0"/>
              </a:rPr>
              <a:t>interactive Python interface</a:t>
            </a:r>
            <a:endParaRPr lang="en-GB" altLang="zh-CN" sz="2400" dirty="0">
              <a:latin typeface="Calibri" panose="020F0502020204030204" pitchFamily="34" charset="0"/>
              <a:cs typeface="Calibri" panose="020F0502020204030204" pitchFamily="34" charset="0"/>
            </a:endParaRPr>
          </a:p>
          <a:p>
            <a:pPr marL="742950" lvl="1" indent="-285750">
              <a:lnSpc>
                <a:spcPct val="150000"/>
              </a:lnSpc>
              <a:buClr>
                <a:srgbClr val="2F57D9"/>
              </a:buClr>
              <a:buSzPct val="70000"/>
              <a:buFont typeface="Wingdings" panose="05000000000000000000" pitchFamily="2" charset="2"/>
              <a:buChar char="n"/>
            </a:pPr>
            <a:endParaRPr lang="en-US" altLang="zh-CN" sz="2000" dirty="0">
              <a:latin typeface="Calibri" panose="020F0502020204030204" pitchFamily="34" charset="0"/>
              <a:cs typeface="Calibri" panose="020F0502020204030204" pitchFamily="34" charset="0"/>
            </a:endParaRPr>
          </a:p>
        </p:txBody>
      </p:sp>
      <p:sp>
        <p:nvSpPr>
          <p:cNvPr id="5"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E1. </a:t>
            </a:r>
            <a:r>
              <a:rPr lang="en-US" altLang="zh-CN" sz="1500" b="1" dirty="0">
                <a:latin typeface="Calibri" panose="020F0502020204030204" pitchFamily="34" charset="0"/>
                <a:cs typeface="Calibri" panose="020F0502020204030204" pitchFamily="34" charset="0"/>
                <a:sym typeface="+mn-ea"/>
              </a:rPr>
              <a:t>Environment Setup for Large Language Models</a:t>
            </a:r>
            <a:r>
              <a:rPr lang="en-US" altLang="zh-CN" sz="1500" dirty="0"/>
              <a:t>     						  	            		</a:t>
            </a:r>
            <a:endParaRPr lang="zh-CN" altLang="en-US" sz="1500" dirty="0"/>
          </a:p>
        </p:txBody>
      </p:sp>
      <p:grpSp>
        <p:nvGrpSpPr>
          <p:cNvPr id="10" name="组合 9"/>
          <p:cNvGrpSpPr/>
          <p:nvPr/>
        </p:nvGrpSpPr>
        <p:grpSpPr>
          <a:xfrm>
            <a:off x="2133123" y="2571750"/>
            <a:ext cx="7604602" cy="3972085"/>
            <a:chOff x="1481613" y="2803358"/>
            <a:chExt cx="7772400" cy="4283242"/>
          </a:xfrm>
        </p:grpSpPr>
        <p:pic>
          <p:nvPicPr>
            <p:cNvPr id="2" name="图片 1"/>
            <p:cNvPicPr>
              <a:picLocks noChangeAspect="1"/>
            </p:cNvPicPr>
            <p:nvPr/>
          </p:nvPicPr>
          <p:blipFill>
            <a:blip r:embed="rId4"/>
            <a:stretch>
              <a:fillRect/>
            </a:stretch>
          </p:blipFill>
          <p:spPr>
            <a:xfrm>
              <a:off x="1481613" y="2803358"/>
              <a:ext cx="7772400" cy="1251284"/>
            </a:xfrm>
            <a:prstGeom prst="rect">
              <a:avLst/>
            </a:prstGeom>
          </p:spPr>
        </p:pic>
        <p:pic>
          <p:nvPicPr>
            <p:cNvPr id="6" name="图片 5"/>
            <p:cNvPicPr>
              <a:picLocks noChangeAspect="1"/>
            </p:cNvPicPr>
            <p:nvPr/>
          </p:nvPicPr>
          <p:blipFill>
            <a:blip r:embed="rId5"/>
            <a:stretch>
              <a:fillRect/>
            </a:stretch>
          </p:blipFill>
          <p:spPr>
            <a:xfrm>
              <a:off x="1481613" y="4020352"/>
              <a:ext cx="7772400" cy="1073248"/>
            </a:xfrm>
            <a:prstGeom prst="rect">
              <a:avLst/>
            </a:prstGeom>
          </p:spPr>
        </p:pic>
        <p:pic>
          <p:nvPicPr>
            <p:cNvPr id="7" name="图片 6"/>
            <p:cNvPicPr>
              <a:picLocks noChangeAspect="1"/>
            </p:cNvPicPr>
            <p:nvPr/>
          </p:nvPicPr>
          <p:blipFill>
            <a:blip r:embed="rId6"/>
            <a:stretch>
              <a:fillRect/>
            </a:stretch>
          </p:blipFill>
          <p:spPr>
            <a:xfrm>
              <a:off x="1481613" y="5093600"/>
              <a:ext cx="7772400" cy="1665514"/>
            </a:xfrm>
            <a:prstGeom prst="rect">
              <a:avLst/>
            </a:prstGeom>
          </p:spPr>
        </p:pic>
        <p:pic>
          <p:nvPicPr>
            <p:cNvPr id="8" name="图片 7"/>
            <p:cNvPicPr>
              <a:picLocks noChangeAspect="1"/>
            </p:cNvPicPr>
            <p:nvPr/>
          </p:nvPicPr>
          <p:blipFill>
            <a:blip r:embed="rId7"/>
            <a:srcRect b="54761"/>
            <a:stretch>
              <a:fillRect/>
            </a:stretch>
          </p:blipFill>
          <p:spPr>
            <a:xfrm>
              <a:off x="1481613" y="6692186"/>
              <a:ext cx="7772400" cy="394414"/>
            </a:xfrm>
            <a:prstGeom prst="rect">
              <a:avLst/>
            </a:prstGeom>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4"/>
          <p:cNvSpPr txBox="1"/>
          <p:nvPr/>
        </p:nvSpPr>
        <p:spPr>
          <a:xfrm>
            <a:off x="700405" y="511175"/>
            <a:ext cx="9037320" cy="953135"/>
          </a:xfrm>
          <a:prstGeom prst="rect">
            <a:avLst/>
          </a:prstGeom>
          <a:noFill/>
        </p:spPr>
        <p:txBody>
          <a:bodyPr wrap="square" rtlCol="0">
            <a:spAutoFit/>
          </a:bodyPr>
          <a:lstStyle/>
          <a:p>
            <a:pPr marL="0" lvl="1"/>
            <a:r>
              <a:rPr lang="en-US" altLang="zh-CN" sz="3200" b="1" dirty="0">
                <a:solidFill>
                  <a:schemeClr val="accent1"/>
                </a:solidFill>
                <a:latin typeface="Calibri" panose="020F0502020204030204" pitchFamily="34" charset="0"/>
                <a:cs typeface="Calibri" panose="020F0502020204030204" pitchFamily="34" charset="0"/>
                <a:sym typeface="+mn-ea"/>
              </a:rPr>
              <a:t>Python Setup</a:t>
            </a:r>
            <a:endParaRPr lang="en-US" altLang="zh-CN" sz="2400" dirty="0">
              <a:latin typeface="Calibri" panose="020F0502020204030204" pitchFamily="34" charset="0"/>
              <a:cs typeface="Calibri" panose="020F0502020204030204" pitchFamily="34" charset="0"/>
            </a:endParaRPr>
          </a:p>
          <a:p>
            <a:endParaRPr lang="zh-CN" altLang="en-US" sz="2400" b="1" dirty="0">
              <a:solidFill>
                <a:srgbClr val="2F57D9"/>
              </a:solidFill>
              <a:latin typeface="Calibri" panose="020F0502020204030204" pitchFamily="34" charset="0"/>
              <a:cs typeface="Calibri" panose="020F0502020204030204" pitchFamily="34" charset="0"/>
            </a:endParaRPr>
          </a:p>
        </p:txBody>
      </p:sp>
      <p:cxnSp>
        <p:nvCxnSpPr>
          <p:cNvPr id="12" name="直接连接符 2"/>
          <p:cNvCxnSpPr/>
          <p:nvPr/>
        </p:nvCxnSpPr>
        <p:spPr>
          <a:xfrm>
            <a:off x="771526" y="1150144"/>
            <a:ext cx="6576331"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3" name="文本框 6"/>
          <p:cNvSpPr txBox="1"/>
          <p:nvPr/>
        </p:nvSpPr>
        <p:spPr>
          <a:xfrm>
            <a:off x="700404" y="1150144"/>
            <a:ext cx="11315383" cy="1429622"/>
          </a:xfrm>
          <a:prstGeom prst="rect">
            <a:avLst/>
          </a:prstGeom>
          <a:noFill/>
        </p:spPr>
        <p:txBody>
          <a:bodyPr wrap="square" rtlCol="0">
            <a:spAutoFit/>
          </a:bodyPr>
          <a:lstStyle/>
          <a:p>
            <a:pPr marL="285750" indent="-285750">
              <a:lnSpc>
                <a:spcPct val="150000"/>
              </a:lnSpc>
              <a:buClr>
                <a:srgbClr val="2F57D9"/>
              </a:buClr>
              <a:buSzPct val="70000"/>
              <a:buFont typeface="Wingdings" panose="05000000000000000000" pitchFamily="2" charset="2"/>
              <a:buChar char="n"/>
            </a:pPr>
            <a:r>
              <a:rPr lang="en-GB" altLang="zh-CN" sz="2000" dirty="0">
                <a:latin typeface="Calibri" panose="020F0502020204030204" pitchFamily="34" charset="0"/>
                <a:cs typeface="Calibri" panose="020F0502020204030204" pitchFamily="34" charset="0"/>
              </a:rPr>
              <a:t>Download Integrated Development Environment (IDE) for developing ( writing / debugging …) codes </a:t>
            </a:r>
          </a:p>
          <a:p>
            <a:pPr marL="742950" lvl="1" indent="-285750">
              <a:lnSpc>
                <a:spcPct val="150000"/>
              </a:lnSpc>
              <a:buClr>
                <a:srgbClr val="2F57D9"/>
              </a:buClr>
              <a:buSzPct val="70000"/>
              <a:buFont typeface="Wingdings" panose="05000000000000000000" pitchFamily="2" charset="2"/>
              <a:buChar char="n"/>
            </a:pPr>
            <a:r>
              <a:rPr lang="en-GB" altLang="zh-CN" sz="2000" dirty="0">
                <a:latin typeface="Calibri" panose="020F0502020204030204" pitchFamily="34" charset="0"/>
                <a:cs typeface="Calibri" panose="020F0502020204030204" pitchFamily="34" charset="0"/>
              </a:rPr>
              <a:t>PyCharm / Visual Studio Code</a:t>
            </a:r>
          </a:p>
          <a:p>
            <a:pPr marL="742950" lvl="1" indent="-285750">
              <a:lnSpc>
                <a:spcPct val="150000"/>
              </a:lnSpc>
              <a:buClr>
                <a:srgbClr val="2F57D9"/>
              </a:buClr>
              <a:buSzPct val="70000"/>
              <a:buFont typeface="Wingdings" panose="05000000000000000000" pitchFamily="2" charset="2"/>
              <a:buChar char="n"/>
            </a:pPr>
            <a:r>
              <a:rPr lang="en-GB" altLang="zh-CN" sz="2000" dirty="0">
                <a:latin typeface="Calibri" panose="020F0502020204030204" pitchFamily="34" charset="0"/>
                <a:cs typeface="Calibri" panose="020F0502020204030204" pitchFamily="34" charset="0"/>
              </a:rPr>
              <a:t>Instead of interactive coding, we need to write script first, and then running code by "python </a:t>
            </a:r>
            <a:r>
              <a:rPr lang="en-GB" altLang="zh-CN" sz="2000" dirty="0" err="1">
                <a:latin typeface="Calibri" panose="020F0502020204030204" pitchFamily="34" charset="0"/>
                <a:cs typeface="Calibri" panose="020F0502020204030204" pitchFamily="34" charset="0"/>
              </a:rPr>
              <a:t>xxx.py</a:t>
            </a:r>
            <a:r>
              <a:rPr lang="en-GB" altLang="zh-CN" sz="2000" dirty="0">
                <a:latin typeface="Calibri" panose="020F0502020204030204" pitchFamily="34" charset="0"/>
                <a:cs typeface="Calibri" panose="020F0502020204030204" pitchFamily="34" charset="0"/>
              </a:rPr>
              <a:t>"</a:t>
            </a:r>
          </a:p>
        </p:txBody>
      </p:sp>
      <p:sp>
        <p:nvSpPr>
          <p:cNvPr id="5"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E1. </a:t>
            </a:r>
            <a:r>
              <a:rPr lang="en-US" altLang="zh-CN" sz="1500" b="1" dirty="0">
                <a:latin typeface="Calibri" panose="020F0502020204030204" pitchFamily="34" charset="0"/>
                <a:cs typeface="Calibri" panose="020F0502020204030204" pitchFamily="34" charset="0"/>
                <a:sym typeface="+mn-ea"/>
              </a:rPr>
              <a:t>Environment Setup for Large Language Models</a:t>
            </a:r>
            <a:r>
              <a:rPr lang="en-US" altLang="zh-CN" sz="1500" dirty="0"/>
              <a:t>     						  	            		</a:t>
            </a:r>
            <a:endParaRPr lang="zh-CN" altLang="en-US" sz="1500" dirty="0"/>
          </a:p>
        </p:txBody>
      </p:sp>
      <p:pic>
        <p:nvPicPr>
          <p:cNvPr id="6" name="图片 5"/>
          <p:cNvPicPr>
            <a:picLocks noChangeAspect="1"/>
          </p:cNvPicPr>
          <p:nvPr/>
        </p:nvPicPr>
        <p:blipFill>
          <a:blip r:embed="rId4"/>
          <a:srcRect b="20305"/>
          <a:stretch>
            <a:fillRect/>
          </a:stretch>
        </p:blipFill>
        <p:spPr>
          <a:xfrm>
            <a:off x="1951037" y="2523427"/>
            <a:ext cx="8551684" cy="394404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4"/>
          <p:cNvSpPr txBox="1"/>
          <p:nvPr/>
        </p:nvSpPr>
        <p:spPr>
          <a:xfrm>
            <a:off x="700405" y="511175"/>
            <a:ext cx="9037320" cy="953135"/>
          </a:xfrm>
          <a:prstGeom prst="rect">
            <a:avLst/>
          </a:prstGeom>
          <a:noFill/>
        </p:spPr>
        <p:txBody>
          <a:bodyPr wrap="square" rtlCol="0">
            <a:spAutoFit/>
          </a:bodyPr>
          <a:lstStyle/>
          <a:p>
            <a:pPr marL="0" lvl="1"/>
            <a:r>
              <a:rPr lang="en-US" altLang="zh-CN" sz="3200" b="1" dirty="0">
                <a:solidFill>
                  <a:schemeClr val="accent1"/>
                </a:solidFill>
                <a:latin typeface="Calibri" panose="020F0502020204030204" pitchFamily="34" charset="0"/>
                <a:cs typeface="Calibri" panose="020F0502020204030204" pitchFamily="34" charset="0"/>
                <a:sym typeface="+mn-ea"/>
              </a:rPr>
              <a:t>Python Setup</a:t>
            </a:r>
            <a:endParaRPr lang="en-US" altLang="zh-CN" sz="2400" dirty="0">
              <a:latin typeface="Calibri" panose="020F0502020204030204" pitchFamily="34" charset="0"/>
              <a:cs typeface="Calibri" panose="020F0502020204030204" pitchFamily="34" charset="0"/>
            </a:endParaRPr>
          </a:p>
          <a:p>
            <a:endParaRPr lang="zh-CN" altLang="en-US" sz="2400" b="1" dirty="0">
              <a:solidFill>
                <a:srgbClr val="2F57D9"/>
              </a:solidFill>
              <a:latin typeface="Calibri" panose="020F0502020204030204" pitchFamily="34" charset="0"/>
              <a:cs typeface="Calibri" panose="020F0502020204030204" pitchFamily="34" charset="0"/>
            </a:endParaRPr>
          </a:p>
        </p:txBody>
      </p:sp>
      <p:cxnSp>
        <p:nvCxnSpPr>
          <p:cNvPr id="12" name="直接连接符 2"/>
          <p:cNvCxnSpPr/>
          <p:nvPr/>
        </p:nvCxnSpPr>
        <p:spPr>
          <a:xfrm>
            <a:off x="771526" y="1150144"/>
            <a:ext cx="6576331"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3" name="文本框 6"/>
          <p:cNvSpPr txBox="1"/>
          <p:nvPr/>
        </p:nvSpPr>
        <p:spPr>
          <a:xfrm>
            <a:off x="700405" y="1631681"/>
            <a:ext cx="11315383" cy="3594638"/>
          </a:xfrm>
          <a:prstGeom prst="rect">
            <a:avLst/>
          </a:prstGeom>
          <a:noFill/>
        </p:spPr>
        <p:txBody>
          <a:bodyPr wrap="square" rtlCol="0">
            <a:spAutoFit/>
          </a:bodyPr>
          <a:lstStyle/>
          <a:p>
            <a:pPr>
              <a:lnSpc>
                <a:spcPct val="150000"/>
              </a:lnSpc>
              <a:buClr>
                <a:srgbClr val="2F57D9"/>
              </a:buClr>
              <a:buSzPct val="70000"/>
            </a:pPr>
            <a:r>
              <a:rPr lang="en-GB" altLang="zh-CN" sz="2200" b="1" dirty="0">
                <a:latin typeface="Calibri" panose="020F0502020204030204" pitchFamily="34" charset="0"/>
                <a:cs typeface="Calibri" panose="020F0502020204030204" pitchFamily="34" charset="0"/>
              </a:rPr>
              <a:t>Why use an IDE? It makes coding easier by offering: </a:t>
            </a:r>
          </a:p>
          <a:p>
            <a:pPr marL="742950" lvl="1" indent="-285750">
              <a:lnSpc>
                <a:spcPct val="150000"/>
              </a:lnSpc>
              <a:buClr>
                <a:srgbClr val="2F57D9"/>
              </a:buClr>
              <a:buSzPct val="70000"/>
              <a:buFont typeface="Wingdings" panose="05000000000000000000" pitchFamily="2" charset="2"/>
              <a:buChar char="n"/>
            </a:pPr>
            <a:r>
              <a:rPr lang="en-GB" altLang="zh-CN" sz="2200" dirty="0">
                <a:latin typeface="Calibri" panose="020F0502020204030204" pitchFamily="34" charset="0"/>
                <a:cs typeface="Calibri" panose="020F0502020204030204" pitchFamily="34" charset="0"/>
              </a:rPr>
              <a:t>Syntax highlighting: keywords and errors are clearly marked </a:t>
            </a:r>
          </a:p>
          <a:p>
            <a:pPr marL="742950" lvl="1" indent="-285750">
              <a:lnSpc>
                <a:spcPct val="150000"/>
              </a:lnSpc>
              <a:buClr>
                <a:srgbClr val="2F57D9"/>
              </a:buClr>
              <a:buSzPct val="70000"/>
              <a:buFont typeface="Wingdings" panose="05000000000000000000" pitchFamily="2" charset="2"/>
              <a:buChar char="n"/>
            </a:pPr>
            <a:r>
              <a:rPr lang="en-GB" altLang="zh-CN" sz="2200" dirty="0">
                <a:latin typeface="Calibri" panose="020F0502020204030204" pitchFamily="34" charset="0"/>
                <a:cs typeface="Calibri" panose="020F0502020204030204" pitchFamily="34" charset="0"/>
              </a:rPr>
              <a:t>Auto completion: helps you finish code faster </a:t>
            </a:r>
          </a:p>
          <a:p>
            <a:pPr marL="742950" lvl="1" indent="-285750">
              <a:lnSpc>
                <a:spcPct val="150000"/>
              </a:lnSpc>
              <a:buClr>
                <a:srgbClr val="2F57D9"/>
              </a:buClr>
              <a:buSzPct val="70000"/>
              <a:buFont typeface="Wingdings" panose="05000000000000000000" pitchFamily="2" charset="2"/>
              <a:buChar char="n"/>
            </a:pPr>
            <a:r>
              <a:rPr lang="en-GB" altLang="zh-CN" sz="2200" dirty="0">
                <a:latin typeface="Calibri" panose="020F0502020204030204" pitchFamily="34" charset="0"/>
                <a:cs typeface="Calibri" panose="020F0502020204030204" pitchFamily="34" charset="0"/>
              </a:rPr>
              <a:t>Debugging tools: step through your program to find mistakes </a:t>
            </a:r>
          </a:p>
          <a:p>
            <a:pPr marL="742950" lvl="1" indent="-285750">
              <a:lnSpc>
                <a:spcPct val="150000"/>
              </a:lnSpc>
              <a:buClr>
                <a:srgbClr val="2F57D9"/>
              </a:buClr>
              <a:buSzPct val="70000"/>
              <a:buFont typeface="Wingdings" panose="05000000000000000000" pitchFamily="2" charset="2"/>
              <a:buChar char="n"/>
            </a:pPr>
            <a:r>
              <a:rPr lang="en-GB" altLang="zh-CN" sz="2200" dirty="0">
                <a:latin typeface="Calibri" panose="020F0502020204030204" pitchFamily="34" charset="0"/>
                <a:cs typeface="Calibri" panose="020F0502020204030204" pitchFamily="34" charset="0"/>
              </a:rPr>
              <a:t>Project/file management: organized workspace for code </a:t>
            </a:r>
          </a:p>
          <a:p>
            <a:pPr marL="742950" lvl="1" indent="-285750">
              <a:lnSpc>
                <a:spcPct val="150000"/>
              </a:lnSpc>
              <a:buClr>
                <a:srgbClr val="2F57D9"/>
              </a:buClr>
              <a:buSzPct val="70000"/>
              <a:buFont typeface="Wingdings" panose="05000000000000000000" pitchFamily="2" charset="2"/>
              <a:buChar char="n"/>
            </a:pPr>
            <a:r>
              <a:rPr lang="en-GB" altLang="zh-CN" sz="2200" dirty="0">
                <a:latin typeface="Calibri" panose="020F0502020204030204" pitchFamily="34" charset="0"/>
                <a:cs typeface="Calibri" panose="020F0502020204030204" pitchFamily="34" charset="0"/>
              </a:rPr>
              <a:t>Environment management: easily manage libraries and  dependencies </a:t>
            </a:r>
          </a:p>
          <a:p>
            <a:pPr marL="742950" lvl="1" indent="-285750">
              <a:lnSpc>
                <a:spcPct val="150000"/>
              </a:lnSpc>
              <a:buClr>
                <a:srgbClr val="2F57D9"/>
              </a:buClr>
              <a:buSzPct val="70000"/>
              <a:buFont typeface="Wingdings" panose="05000000000000000000" pitchFamily="2" charset="2"/>
              <a:buChar char="n"/>
            </a:pPr>
            <a:r>
              <a:rPr lang="en-GB" altLang="zh-CN" sz="2200" dirty="0">
                <a:latin typeface="Calibri" panose="020F0502020204030204" pitchFamily="34" charset="0"/>
                <a:cs typeface="Calibri" panose="020F0502020204030204" pitchFamily="34" charset="0"/>
              </a:rPr>
              <a:t>Remote server connection: run and test code on other machines</a:t>
            </a:r>
          </a:p>
        </p:txBody>
      </p:sp>
      <p:sp>
        <p:nvSpPr>
          <p:cNvPr id="5"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E1. </a:t>
            </a:r>
            <a:r>
              <a:rPr lang="en-US" altLang="zh-CN" sz="1500" b="1" dirty="0">
                <a:latin typeface="Calibri" panose="020F0502020204030204" pitchFamily="34" charset="0"/>
                <a:cs typeface="Calibri" panose="020F0502020204030204" pitchFamily="34" charset="0"/>
                <a:sym typeface="+mn-ea"/>
              </a:rPr>
              <a:t>Environment Setup for Large Language Models</a:t>
            </a:r>
            <a:r>
              <a:rPr lang="en-US" altLang="zh-CN" sz="1500" dirty="0"/>
              <a:t>     						  	            		</a:t>
            </a:r>
            <a:endParaRPr lang="zh-CN" alt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4"/>
          <p:cNvSpPr txBox="1"/>
          <p:nvPr/>
        </p:nvSpPr>
        <p:spPr>
          <a:xfrm>
            <a:off x="700405" y="511175"/>
            <a:ext cx="9037320" cy="1323439"/>
          </a:xfrm>
          <a:prstGeom prst="rect">
            <a:avLst/>
          </a:prstGeom>
          <a:noFill/>
        </p:spPr>
        <p:txBody>
          <a:bodyPr wrap="square" rtlCol="0">
            <a:spAutoFit/>
          </a:bodyPr>
          <a:lstStyle/>
          <a:p>
            <a:pPr marL="0" lvl="1"/>
            <a:r>
              <a:rPr lang="en-GB" altLang="zh-CN" sz="3200" b="1" dirty="0">
                <a:solidFill>
                  <a:schemeClr val="accent1"/>
                </a:solidFill>
                <a:latin typeface="Calibri" panose="020F0502020204030204" pitchFamily="34" charset="0"/>
                <a:cs typeface="Calibri" panose="020F0502020204030204" pitchFamily="34" charset="0"/>
              </a:rPr>
              <a:t>Getting started with </a:t>
            </a:r>
            <a:r>
              <a:rPr lang="en-GB" altLang="zh-CN" sz="3200" b="1" dirty="0" err="1">
                <a:solidFill>
                  <a:schemeClr val="accent1"/>
                </a:solidFill>
                <a:latin typeface="Calibri" panose="020F0502020204030204" pitchFamily="34" charset="0"/>
                <a:cs typeface="Calibri" panose="020F0502020204030204" pitchFamily="34" charset="0"/>
              </a:rPr>
              <a:t>Jupyter</a:t>
            </a:r>
            <a:r>
              <a:rPr lang="en-GB" altLang="zh-CN" sz="3200" b="1" dirty="0">
                <a:solidFill>
                  <a:schemeClr val="accent1"/>
                </a:solidFill>
                <a:latin typeface="Calibri" panose="020F0502020204030204" pitchFamily="34" charset="0"/>
                <a:cs typeface="Calibri" panose="020F0502020204030204" pitchFamily="34" charset="0"/>
              </a:rPr>
              <a:t> Notebook</a:t>
            </a:r>
          </a:p>
          <a:p>
            <a:pPr marL="0" lvl="1"/>
            <a:endParaRPr lang="en-US" altLang="zh-CN" sz="2400" dirty="0">
              <a:latin typeface="Calibri" panose="020F0502020204030204" pitchFamily="34" charset="0"/>
              <a:cs typeface="Calibri" panose="020F0502020204030204" pitchFamily="34" charset="0"/>
            </a:endParaRPr>
          </a:p>
          <a:p>
            <a:endParaRPr lang="zh-CN" altLang="en-US" sz="2400" b="1" dirty="0">
              <a:solidFill>
                <a:srgbClr val="2F57D9"/>
              </a:solidFill>
              <a:latin typeface="Calibri" panose="020F0502020204030204" pitchFamily="34" charset="0"/>
              <a:cs typeface="Calibri" panose="020F0502020204030204" pitchFamily="34" charset="0"/>
            </a:endParaRPr>
          </a:p>
        </p:txBody>
      </p:sp>
      <p:cxnSp>
        <p:nvCxnSpPr>
          <p:cNvPr id="12" name="直接连接符 2"/>
          <p:cNvCxnSpPr/>
          <p:nvPr/>
        </p:nvCxnSpPr>
        <p:spPr>
          <a:xfrm>
            <a:off x="771526" y="1150144"/>
            <a:ext cx="6576331"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3" name="文本框 6"/>
          <p:cNvSpPr txBox="1"/>
          <p:nvPr/>
        </p:nvSpPr>
        <p:spPr>
          <a:xfrm>
            <a:off x="700405" y="1233418"/>
            <a:ext cx="11315383" cy="430887"/>
          </a:xfrm>
          <a:prstGeom prst="rect">
            <a:avLst/>
          </a:prstGeom>
          <a:noFill/>
        </p:spPr>
        <p:txBody>
          <a:bodyPr wrap="square" rtlCol="0">
            <a:spAutoFit/>
          </a:bodyPr>
          <a:lstStyle/>
          <a:p>
            <a:r>
              <a:rPr lang="en-GB" altLang="zh-CN" sz="2200" dirty="0">
                <a:latin typeface="Calibri" panose="020F0502020204030204" pitchFamily="34" charset="0"/>
                <a:cs typeface="Calibri" panose="020F0502020204030204" pitchFamily="34" charset="0"/>
              </a:rPr>
              <a:t>Install </a:t>
            </a:r>
            <a:r>
              <a:rPr lang="en-GB" altLang="zh-CN" sz="2200" dirty="0" err="1">
                <a:latin typeface="Calibri" panose="020F0502020204030204" pitchFamily="34" charset="0"/>
                <a:cs typeface="Calibri" panose="020F0502020204030204" pitchFamily="34" charset="0"/>
              </a:rPr>
              <a:t>Jupyter</a:t>
            </a:r>
            <a:r>
              <a:rPr lang="en-GB" altLang="zh-CN" sz="2200" dirty="0">
                <a:latin typeface="Calibri" panose="020F0502020204030204" pitchFamily="34" charset="0"/>
                <a:cs typeface="Calibri" panose="020F0502020204030204" pitchFamily="34" charset="0"/>
              </a:rPr>
              <a:t> Notebook on your machine</a:t>
            </a:r>
          </a:p>
        </p:txBody>
      </p:sp>
      <p:sp>
        <p:nvSpPr>
          <p:cNvPr id="5"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E1. </a:t>
            </a:r>
            <a:r>
              <a:rPr lang="en-US" altLang="zh-CN" sz="1500" b="1" dirty="0">
                <a:latin typeface="Calibri" panose="020F0502020204030204" pitchFamily="34" charset="0"/>
                <a:cs typeface="Calibri" panose="020F0502020204030204" pitchFamily="34" charset="0"/>
                <a:sym typeface="+mn-ea"/>
              </a:rPr>
              <a:t>Environment Setup for Large Language Models</a:t>
            </a:r>
            <a:r>
              <a:rPr lang="en-US" altLang="zh-CN" sz="1500" dirty="0"/>
              <a:t>     						  	            		</a:t>
            </a:r>
            <a:endParaRPr lang="zh-CN" altLang="en-US" sz="1500" dirty="0"/>
          </a:p>
        </p:txBody>
      </p:sp>
      <p:pic>
        <p:nvPicPr>
          <p:cNvPr id="4" name="图片 3"/>
          <p:cNvPicPr>
            <a:picLocks noChangeAspect="1"/>
          </p:cNvPicPr>
          <p:nvPr/>
        </p:nvPicPr>
        <p:blipFill>
          <a:blip r:embed="rId4"/>
          <a:stretch>
            <a:fillRect/>
          </a:stretch>
        </p:blipFill>
        <p:spPr>
          <a:xfrm>
            <a:off x="2209800" y="1747650"/>
            <a:ext cx="7772400" cy="881021"/>
          </a:xfrm>
          <a:prstGeom prst="rect">
            <a:avLst/>
          </a:prstGeom>
        </p:spPr>
      </p:pic>
      <p:sp>
        <p:nvSpPr>
          <p:cNvPr id="7" name="文本框 6"/>
          <p:cNvSpPr txBox="1"/>
          <p:nvPr/>
        </p:nvSpPr>
        <p:spPr>
          <a:xfrm>
            <a:off x="771526" y="2682583"/>
            <a:ext cx="4589144" cy="369332"/>
          </a:xfrm>
          <a:prstGeom prst="rect">
            <a:avLst/>
          </a:prstGeom>
          <a:noFill/>
        </p:spPr>
        <p:txBody>
          <a:bodyPr wrap="square">
            <a:spAutoFit/>
          </a:bodyPr>
          <a:lstStyle/>
          <a:p>
            <a:pPr>
              <a:buNone/>
            </a:pPr>
            <a:r>
              <a:rPr lang="en-GB" altLang="zh-CN" sz="1800" b="1" dirty="0">
                <a:solidFill>
                  <a:srgbClr val="000000"/>
                </a:solidFill>
                <a:effectLst/>
                <a:latin typeface="Lato-Bold"/>
              </a:rPr>
              <a:t>Run </a:t>
            </a:r>
            <a:r>
              <a:rPr lang="en-GB" altLang="zh-CN" sz="1800" dirty="0" err="1">
                <a:solidFill>
                  <a:srgbClr val="000000"/>
                </a:solidFill>
                <a:effectLst/>
                <a:latin typeface="Lato-Regular"/>
              </a:rPr>
              <a:t>Jupyter</a:t>
            </a:r>
            <a:r>
              <a:rPr lang="en-GB" altLang="zh-CN" sz="1800" dirty="0">
                <a:solidFill>
                  <a:srgbClr val="000000"/>
                </a:solidFill>
                <a:effectLst/>
                <a:latin typeface="Lato-Regular"/>
              </a:rPr>
              <a:t> Notebook from your terminal</a:t>
            </a:r>
            <a:endParaRPr lang="en-GB" altLang="zh-CN" dirty="0"/>
          </a:p>
        </p:txBody>
      </p:sp>
      <p:sp>
        <p:nvSpPr>
          <p:cNvPr id="10" name="文本框 9"/>
          <p:cNvSpPr txBox="1"/>
          <p:nvPr/>
        </p:nvSpPr>
        <p:spPr>
          <a:xfrm>
            <a:off x="6096000" y="2682583"/>
            <a:ext cx="6097904" cy="369332"/>
          </a:xfrm>
          <a:prstGeom prst="rect">
            <a:avLst/>
          </a:prstGeom>
          <a:noFill/>
        </p:spPr>
        <p:txBody>
          <a:bodyPr wrap="square">
            <a:spAutoFit/>
          </a:bodyPr>
          <a:lstStyle/>
          <a:p>
            <a:pPr>
              <a:buNone/>
            </a:pPr>
            <a:r>
              <a:rPr lang="en-GB" altLang="zh-CN" sz="1800" b="1" dirty="0">
                <a:solidFill>
                  <a:srgbClr val="000000"/>
                </a:solidFill>
                <a:effectLst/>
                <a:latin typeface="Lato-Bold"/>
              </a:rPr>
              <a:t>Open </a:t>
            </a:r>
            <a:r>
              <a:rPr lang="en-GB" altLang="zh-CN" sz="1800" dirty="0">
                <a:solidFill>
                  <a:srgbClr val="000000"/>
                </a:solidFill>
                <a:effectLst/>
                <a:latin typeface="Lato-Regular"/>
              </a:rPr>
              <a:t>the Notebook interface in your web browser</a:t>
            </a:r>
            <a:endParaRPr lang="en-GB" altLang="zh-CN" dirty="0"/>
          </a:p>
        </p:txBody>
      </p:sp>
      <p:pic>
        <p:nvPicPr>
          <p:cNvPr id="11" name="图片 10"/>
          <p:cNvPicPr>
            <a:picLocks noChangeAspect="1"/>
          </p:cNvPicPr>
          <p:nvPr/>
        </p:nvPicPr>
        <p:blipFill>
          <a:blip r:embed="rId5"/>
          <a:stretch>
            <a:fillRect/>
          </a:stretch>
        </p:blipFill>
        <p:spPr>
          <a:xfrm>
            <a:off x="700405" y="3174611"/>
            <a:ext cx="5284958" cy="3292935"/>
          </a:xfrm>
          <a:prstGeom prst="rect">
            <a:avLst/>
          </a:prstGeom>
        </p:spPr>
      </p:pic>
      <p:pic>
        <p:nvPicPr>
          <p:cNvPr id="13" name="图片 12"/>
          <p:cNvPicPr>
            <a:picLocks noChangeAspect="1"/>
          </p:cNvPicPr>
          <p:nvPr/>
        </p:nvPicPr>
        <p:blipFill>
          <a:blip r:embed="rId6"/>
          <a:stretch>
            <a:fillRect/>
          </a:stretch>
        </p:blipFill>
        <p:spPr>
          <a:xfrm>
            <a:off x="6358096" y="3147635"/>
            <a:ext cx="5657701" cy="331983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4"/>
          <p:cNvSpPr txBox="1"/>
          <p:nvPr/>
        </p:nvSpPr>
        <p:spPr>
          <a:xfrm>
            <a:off x="700405" y="511175"/>
            <a:ext cx="9037320" cy="953135"/>
          </a:xfrm>
          <a:prstGeom prst="rect">
            <a:avLst/>
          </a:prstGeom>
          <a:noFill/>
        </p:spPr>
        <p:txBody>
          <a:bodyPr wrap="square" rtlCol="0">
            <a:spAutoFit/>
          </a:bodyPr>
          <a:lstStyle/>
          <a:p>
            <a:pPr marL="0" lvl="1"/>
            <a:r>
              <a:rPr lang="en-US" altLang="zh-CN" sz="3200" b="1" dirty="0" err="1">
                <a:solidFill>
                  <a:schemeClr val="accent1"/>
                </a:solidFill>
                <a:latin typeface="Calibri" panose="020F0502020204030204" pitchFamily="34" charset="0"/>
                <a:cs typeface="Calibri" panose="020F0502020204030204" pitchFamily="34" charset="0"/>
                <a:sym typeface="+mn-ea"/>
              </a:rPr>
              <a:t>Jupyter</a:t>
            </a:r>
            <a:r>
              <a:rPr lang="en-US" altLang="zh-CN" sz="3200" b="1" dirty="0">
                <a:solidFill>
                  <a:schemeClr val="accent1"/>
                </a:solidFill>
                <a:latin typeface="Calibri" panose="020F0502020204030204" pitchFamily="34" charset="0"/>
                <a:cs typeface="Calibri" panose="020F0502020204030204" pitchFamily="34" charset="0"/>
                <a:sym typeface="+mn-ea"/>
              </a:rPr>
              <a:t> Notebook</a:t>
            </a:r>
            <a:endParaRPr lang="en-US" altLang="zh-CN" sz="2400" dirty="0">
              <a:latin typeface="Calibri" panose="020F0502020204030204" pitchFamily="34" charset="0"/>
              <a:cs typeface="Calibri" panose="020F0502020204030204" pitchFamily="34" charset="0"/>
            </a:endParaRPr>
          </a:p>
          <a:p>
            <a:endParaRPr lang="zh-CN" altLang="en-US" sz="2400" b="1" dirty="0">
              <a:solidFill>
                <a:srgbClr val="2F57D9"/>
              </a:solidFill>
              <a:latin typeface="Calibri" panose="020F0502020204030204" pitchFamily="34" charset="0"/>
              <a:cs typeface="Calibri" panose="020F0502020204030204" pitchFamily="34" charset="0"/>
            </a:endParaRPr>
          </a:p>
        </p:txBody>
      </p:sp>
      <p:cxnSp>
        <p:nvCxnSpPr>
          <p:cNvPr id="12" name="直接连接符 2"/>
          <p:cNvCxnSpPr/>
          <p:nvPr/>
        </p:nvCxnSpPr>
        <p:spPr>
          <a:xfrm>
            <a:off x="771526" y="1150144"/>
            <a:ext cx="6576331"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3" name="文本框 6"/>
          <p:cNvSpPr txBox="1"/>
          <p:nvPr/>
        </p:nvSpPr>
        <p:spPr>
          <a:xfrm>
            <a:off x="700405" y="1631681"/>
            <a:ext cx="11315383" cy="461665"/>
          </a:xfrm>
          <a:prstGeom prst="rect">
            <a:avLst/>
          </a:prstGeom>
          <a:noFill/>
        </p:spPr>
        <p:txBody>
          <a:bodyPr wrap="square" rtlCol="0">
            <a:spAutoFit/>
          </a:bodyPr>
          <a:lstStyle/>
          <a:p>
            <a:r>
              <a:rPr lang="en-GB" altLang="zh-CN" sz="2400" dirty="0">
                <a:latin typeface="Calibri" panose="020F0502020204030204" pitchFamily="34" charset="0"/>
                <a:cs typeface="Calibri" panose="020F0502020204030204" pitchFamily="34" charset="0"/>
              </a:rPr>
              <a:t>Hybrid approach: combine script and interactive modes by coding in blocks</a:t>
            </a:r>
          </a:p>
        </p:txBody>
      </p:sp>
      <p:sp>
        <p:nvSpPr>
          <p:cNvPr id="5"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E1. </a:t>
            </a:r>
            <a:r>
              <a:rPr lang="en-US" altLang="zh-CN" sz="1500" b="1" dirty="0">
                <a:latin typeface="Calibri" panose="020F0502020204030204" pitchFamily="34" charset="0"/>
                <a:cs typeface="Calibri" panose="020F0502020204030204" pitchFamily="34" charset="0"/>
                <a:sym typeface="+mn-ea"/>
              </a:rPr>
              <a:t>Environment Setup for Large Language Models</a:t>
            </a:r>
            <a:r>
              <a:rPr lang="en-US" altLang="zh-CN" sz="1500" dirty="0"/>
              <a:t>     						  	            		</a:t>
            </a:r>
            <a:endParaRPr lang="zh-CN" altLang="en-US" sz="1500" dirty="0"/>
          </a:p>
        </p:txBody>
      </p:sp>
      <p:pic>
        <p:nvPicPr>
          <p:cNvPr id="2" name="图片 1"/>
          <p:cNvPicPr>
            <a:picLocks noChangeAspect="1"/>
          </p:cNvPicPr>
          <p:nvPr/>
        </p:nvPicPr>
        <p:blipFill>
          <a:blip r:embed="rId4"/>
          <a:stretch>
            <a:fillRect/>
          </a:stretch>
        </p:blipFill>
        <p:spPr>
          <a:xfrm>
            <a:off x="1830640" y="2583181"/>
            <a:ext cx="8530719" cy="253223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4"/>
          <p:cNvSpPr txBox="1"/>
          <p:nvPr/>
        </p:nvSpPr>
        <p:spPr>
          <a:xfrm>
            <a:off x="700405" y="511175"/>
            <a:ext cx="9037320" cy="1323439"/>
          </a:xfrm>
          <a:prstGeom prst="rect">
            <a:avLst/>
          </a:prstGeom>
          <a:noFill/>
        </p:spPr>
        <p:txBody>
          <a:bodyPr wrap="square" rtlCol="0">
            <a:spAutoFit/>
          </a:bodyPr>
          <a:lstStyle/>
          <a:p>
            <a:pPr marL="0" lvl="1"/>
            <a:r>
              <a:rPr lang="en-GB" altLang="zh-CN" sz="3200" b="1" dirty="0">
                <a:solidFill>
                  <a:schemeClr val="accent1"/>
                </a:solidFill>
                <a:latin typeface="Calibri" panose="020F0502020204030204" pitchFamily="34" charset="0"/>
                <a:cs typeface="Calibri" panose="020F0502020204030204" pitchFamily="34" charset="0"/>
              </a:rPr>
              <a:t>Getting started with </a:t>
            </a:r>
            <a:r>
              <a:rPr lang="en-GB" altLang="zh-CN" sz="3200" b="1" dirty="0" err="1">
                <a:solidFill>
                  <a:schemeClr val="accent1"/>
                </a:solidFill>
                <a:latin typeface="Calibri" panose="020F0502020204030204" pitchFamily="34" charset="0"/>
                <a:cs typeface="Calibri" panose="020F0502020204030204" pitchFamily="34" charset="0"/>
              </a:rPr>
              <a:t>Jupyter</a:t>
            </a:r>
            <a:r>
              <a:rPr lang="en-GB" altLang="zh-CN" sz="3200" b="1" dirty="0">
                <a:solidFill>
                  <a:schemeClr val="accent1"/>
                </a:solidFill>
                <a:latin typeface="Calibri" panose="020F0502020204030204" pitchFamily="34" charset="0"/>
                <a:cs typeface="Calibri" panose="020F0502020204030204" pitchFamily="34" charset="0"/>
              </a:rPr>
              <a:t> Notebook</a:t>
            </a:r>
          </a:p>
          <a:p>
            <a:pPr marL="0" lvl="1"/>
            <a:endParaRPr lang="en-US" altLang="zh-CN" sz="2400" dirty="0">
              <a:latin typeface="Calibri" panose="020F0502020204030204" pitchFamily="34" charset="0"/>
              <a:cs typeface="Calibri" panose="020F0502020204030204" pitchFamily="34" charset="0"/>
            </a:endParaRPr>
          </a:p>
          <a:p>
            <a:endParaRPr lang="zh-CN" altLang="en-US" sz="2400" b="1" dirty="0">
              <a:solidFill>
                <a:srgbClr val="2F57D9"/>
              </a:solidFill>
              <a:latin typeface="Calibri" panose="020F0502020204030204" pitchFamily="34" charset="0"/>
              <a:cs typeface="Calibri" panose="020F0502020204030204" pitchFamily="34" charset="0"/>
            </a:endParaRPr>
          </a:p>
        </p:txBody>
      </p:sp>
      <p:cxnSp>
        <p:nvCxnSpPr>
          <p:cNvPr id="12" name="直接连接符 2"/>
          <p:cNvCxnSpPr/>
          <p:nvPr/>
        </p:nvCxnSpPr>
        <p:spPr>
          <a:xfrm>
            <a:off x="771526" y="1150144"/>
            <a:ext cx="6576331"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3" name="文本框 6"/>
          <p:cNvSpPr txBox="1"/>
          <p:nvPr/>
        </p:nvSpPr>
        <p:spPr>
          <a:xfrm>
            <a:off x="700405" y="1233418"/>
            <a:ext cx="11315383" cy="1107996"/>
          </a:xfrm>
          <a:prstGeom prst="rect">
            <a:avLst/>
          </a:prstGeom>
          <a:noFill/>
        </p:spPr>
        <p:txBody>
          <a:bodyPr wrap="square" rtlCol="0">
            <a:spAutoFit/>
          </a:bodyPr>
          <a:lstStyle/>
          <a:p>
            <a:pPr marL="285750" indent="-285750">
              <a:buFont typeface="Arial" panose="020B0604020202020204" pitchFamily="34" charset="0"/>
              <a:buChar char="•"/>
            </a:pPr>
            <a:r>
              <a:rPr lang="en-GB" altLang="zh-CN" sz="2200" dirty="0">
                <a:latin typeface="Calibri" panose="020F0502020204030204" pitchFamily="34" charset="0"/>
                <a:cs typeface="Calibri" panose="020F0502020204030204" pitchFamily="34" charset="0"/>
              </a:rPr>
              <a:t>Create a new .</a:t>
            </a:r>
            <a:r>
              <a:rPr lang="en-GB" altLang="zh-CN" sz="2200" dirty="0" err="1">
                <a:latin typeface="Calibri" panose="020F0502020204030204" pitchFamily="34" charset="0"/>
                <a:cs typeface="Calibri" panose="020F0502020204030204" pitchFamily="34" charset="0"/>
              </a:rPr>
              <a:t>ipynb</a:t>
            </a:r>
            <a:r>
              <a:rPr lang="en-GB" altLang="zh-CN" sz="2200" dirty="0">
                <a:latin typeface="Calibri" panose="020F0502020204030204" pitchFamily="34" charset="0"/>
                <a:cs typeface="Calibri" panose="020F0502020204030204" pitchFamily="34" charset="0"/>
              </a:rPr>
              <a:t> notebook file </a:t>
            </a:r>
          </a:p>
          <a:p>
            <a:pPr marL="285750" indent="-285750">
              <a:buFont typeface="Arial" panose="020B0604020202020204" pitchFamily="34" charset="0"/>
              <a:buChar char="•"/>
            </a:pPr>
            <a:r>
              <a:rPr lang="en-GB" altLang="zh-CN" sz="2200" dirty="0">
                <a:latin typeface="Calibri" panose="020F0502020204030204" pitchFamily="34" charset="0"/>
                <a:cs typeface="Calibri" panose="020F0502020204030204" pitchFamily="34" charset="0"/>
              </a:rPr>
              <a:t>Write and run code in individual cells </a:t>
            </a:r>
          </a:p>
          <a:p>
            <a:pPr marL="285750" indent="-285750">
              <a:buFont typeface="Arial" panose="020B0604020202020204" pitchFamily="34" charset="0"/>
              <a:buChar char="•"/>
            </a:pPr>
            <a:r>
              <a:rPr lang="en-GB" altLang="zh-CN" sz="2200" dirty="0">
                <a:latin typeface="Calibri" panose="020F0502020204030204" pitchFamily="34" charset="0"/>
                <a:cs typeface="Calibri" panose="020F0502020204030204" pitchFamily="34" charset="0"/>
              </a:rPr>
              <a:t>View the results instantly within the browser</a:t>
            </a:r>
          </a:p>
        </p:txBody>
      </p:sp>
      <p:sp>
        <p:nvSpPr>
          <p:cNvPr id="5"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E1. </a:t>
            </a:r>
            <a:r>
              <a:rPr lang="en-US" altLang="zh-CN" sz="1500" b="1" dirty="0">
                <a:latin typeface="Calibri" panose="020F0502020204030204" pitchFamily="34" charset="0"/>
                <a:cs typeface="Calibri" panose="020F0502020204030204" pitchFamily="34" charset="0"/>
                <a:sym typeface="+mn-ea"/>
              </a:rPr>
              <a:t>Environment Setup for Large Language Models</a:t>
            </a:r>
            <a:r>
              <a:rPr lang="en-US" altLang="zh-CN" sz="1500" dirty="0"/>
              <a:t>     						  	            		</a:t>
            </a:r>
            <a:endParaRPr lang="zh-CN" altLang="en-US" sz="1500" dirty="0"/>
          </a:p>
        </p:txBody>
      </p:sp>
      <p:pic>
        <p:nvPicPr>
          <p:cNvPr id="2" name="图片 1"/>
          <p:cNvPicPr>
            <a:picLocks noChangeAspect="1"/>
          </p:cNvPicPr>
          <p:nvPr/>
        </p:nvPicPr>
        <p:blipFill>
          <a:blip r:embed="rId4"/>
          <a:stretch>
            <a:fillRect/>
          </a:stretch>
        </p:blipFill>
        <p:spPr>
          <a:xfrm>
            <a:off x="2621280" y="2341414"/>
            <a:ext cx="6214110" cy="2152888"/>
          </a:xfrm>
          <a:prstGeom prst="rect">
            <a:avLst/>
          </a:prstGeom>
        </p:spPr>
      </p:pic>
      <p:pic>
        <p:nvPicPr>
          <p:cNvPr id="6" name="图片 5"/>
          <p:cNvPicPr>
            <a:picLocks noChangeAspect="1"/>
          </p:cNvPicPr>
          <p:nvPr/>
        </p:nvPicPr>
        <p:blipFill>
          <a:blip r:embed="rId5"/>
          <a:stretch>
            <a:fillRect/>
          </a:stretch>
        </p:blipFill>
        <p:spPr>
          <a:xfrm>
            <a:off x="2621280" y="4516587"/>
            <a:ext cx="6214110" cy="185400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4"/>
          <p:cNvSpPr txBox="1"/>
          <p:nvPr/>
        </p:nvSpPr>
        <p:spPr>
          <a:xfrm>
            <a:off x="700405" y="511175"/>
            <a:ext cx="9037320" cy="584775"/>
          </a:xfrm>
          <a:prstGeom prst="rect">
            <a:avLst/>
          </a:prstGeom>
          <a:noFill/>
        </p:spPr>
        <p:txBody>
          <a:bodyPr wrap="square" rtlCol="0">
            <a:spAutoFit/>
          </a:bodyPr>
          <a:lstStyle/>
          <a:p>
            <a:pPr marL="0" lvl="1"/>
            <a:r>
              <a:rPr lang="en-GB" altLang="zh-CN" sz="3200" b="1" dirty="0" err="1">
                <a:solidFill>
                  <a:schemeClr val="accent1"/>
                </a:solidFill>
                <a:latin typeface="Calibri" panose="020F0502020204030204" pitchFamily="34" charset="0"/>
                <a:cs typeface="Calibri" panose="020F0502020204030204" pitchFamily="34" charset="0"/>
              </a:rPr>
              <a:t>PyPI</a:t>
            </a:r>
            <a:r>
              <a:rPr lang="en-GB" altLang="zh-CN" sz="3200" b="1" dirty="0">
                <a:solidFill>
                  <a:schemeClr val="accent1"/>
                </a:solidFill>
                <a:latin typeface="Calibri" panose="020F0502020204030204" pitchFamily="34" charset="0"/>
                <a:cs typeface="Calibri" panose="020F0502020204030204" pitchFamily="34" charset="0"/>
              </a:rPr>
              <a:t>: Python Package Index</a:t>
            </a:r>
          </a:p>
        </p:txBody>
      </p:sp>
      <p:cxnSp>
        <p:nvCxnSpPr>
          <p:cNvPr id="12" name="直接连接符 2"/>
          <p:cNvCxnSpPr/>
          <p:nvPr/>
        </p:nvCxnSpPr>
        <p:spPr>
          <a:xfrm>
            <a:off x="771526" y="1150144"/>
            <a:ext cx="6576331"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5"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E1. </a:t>
            </a:r>
            <a:r>
              <a:rPr lang="en-US" altLang="zh-CN" sz="1500" b="1" dirty="0">
                <a:latin typeface="Calibri" panose="020F0502020204030204" pitchFamily="34" charset="0"/>
                <a:cs typeface="Calibri" panose="020F0502020204030204" pitchFamily="34" charset="0"/>
                <a:sym typeface="+mn-ea"/>
              </a:rPr>
              <a:t>Environment Setup for Large Language Models</a:t>
            </a:r>
            <a:r>
              <a:rPr lang="en-US" altLang="zh-CN" sz="1500" dirty="0"/>
              <a:t>     						  	            		</a:t>
            </a:r>
            <a:endParaRPr lang="zh-CN" altLang="en-US" sz="1500" dirty="0"/>
          </a:p>
        </p:txBody>
      </p:sp>
      <p:pic>
        <p:nvPicPr>
          <p:cNvPr id="8" name="图片 7"/>
          <p:cNvPicPr>
            <a:picLocks noChangeAspect="1"/>
          </p:cNvPicPr>
          <p:nvPr/>
        </p:nvPicPr>
        <p:blipFill>
          <a:blip r:embed="rId4"/>
          <a:stretch>
            <a:fillRect/>
          </a:stretch>
        </p:blipFill>
        <p:spPr>
          <a:xfrm>
            <a:off x="2246484" y="1172895"/>
            <a:ext cx="7699032" cy="537792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4"/>
          <p:cNvSpPr txBox="1"/>
          <p:nvPr/>
        </p:nvSpPr>
        <p:spPr>
          <a:xfrm>
            <a:off x="700405" y="511175"/>
            <a:ext cx="9037320" cy="584775"/>
          </a:xfrm>
          <a:prstGeom prst="rect">
            <a:avLst/>
          </a:prstGeom>
          <a:noFill/>
        </p:spPr>
        <p:txBody>
          <a:bodyPr wrap="square" rtlCol="0">
            <a:spAutoFit/>
          </a:bodyPr>
          <a:lstStyle/>
          <a:p>
            <a:pPr marL="0" lvl="1"/>
            <a:r>
              <a:rPr lang="en-US" altLang="zh-CN" sz="3200" b="1" dirty="0">
                <a:solidFill>
                  <a:schemeClr val="accent1"/>
                </a:solidFill>
                <a:latin typeface="Calibri" panose="020F0502020204030204" pitchFamily="34" charset="0"/>
                <a:cs typeface="Calibri" panose="020F0502020204030204" pitchFamily="34" charset="0"/>
              </a:rPr>
              <a:t>The Need for Deep Learning Frameworks</a:t>
            </a:r>
          </a:p>
        </p:txBody>
      </p:sp>
      <p:cxnSp>
        <p:nvCxnSpPr>
          <p:cNvPr id="12" name="直接连接符 2"/>
          <p:cNvCxnSpPr/>
          <p:nvPr/>
        </p:nvCxnSpPr>
        <p:spPr>
          <a:xfrm>
            <a:off x="771526" y="1150144"/>
            <a:ext cx="6576331"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5"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E1. </a:t>
            </a:r>
            <a:r>
              <a:rPr lang="en-US" altLang="zh-CN" sz="1500" b="1" dirty="0">
                <a:latin typeface="Calibri" panose="020F0502020204030204" pitchFamily="34" charset="0"/>
                <a:cs typeface="Calibri" panose="020F0502020204030204" pitchFamily="34" charset="0"/>
                <a:sym typeface="+mn-ea"/>
              </a:rPr>
              <a:t>Environment Setup for Large Language Models</a:t>
            </a:r>
            <a:r>
              <a:rPr lang="en-US" altLang="zh-CN" sz="1500" dirty="0"/>
              <a:t>     						  	            		</a:t>
            </a:r>
            <a:endParaRPr lang="zh-CN" altLang="en-US" sz="1500" dirty="0"/>
          </a:p>
        </p:txBody>
      </p:sp>
      <p:sp>
        <p:nvSpPr>
          <p:cNvPr id="2" name="文本框 6"/>
          <p:cNvSpPr txBox="1"/>
          <p:nvPr/>
        </p:nvSpPr>
        <p:spPr>
          <a:xfrm>
            <a:off x="700405" y="1233490"/>
            <a:ext cx="11166698" cy="4493538"/>
          </a:xfrm>
          <a:prstGeom prst="rect">
            <a:avLst/>
          </a:prstGeom>
          <a:noFill/>
        </p:spPr>
        <p:txBody>
          <a:bodyPr wrap="square" rtlCol="0">
            <a:spAutoFit/>
          </a:bodyPr>
          <a:lstStyle/>
          <a:p>
            <a:pPr>
              <a:buClr>
                <a:srgbClr val="2F57D9"/>
              </a:buClr>
              <a:buSzPct val="70000"/>
            </a:pPr>
            <a:r>
              <a:rPr lang="en-US" altLang="zh-CN" sz="2200" dirty="0">
                <a:latin typeface="Calibri" panose="020F0502020204030204" pitchFamily="34" charset="0"/>
                <a:cs typeface="Calibri" panose="020F0502020204030204" pitchFamily="34" charset="0"/>
              </a:rPr>
              <a:t>Building a deep learning model involves:</a:t>
            </a:r>
          </a:p>
          <a:p>
            <a:pPr marL="742950" lvl="1" indent="-285750">
              <a:buClr>
                <a:srgbClr val="2F57D9"/>
              </a:buClr>
              <a:buSzPct val="70000"/>
              <a:buFont typeface="Wingdings" panose="05000000000000000000" pitchFamily="2" charset="2"/>
              <a:buChar char="n"/>
            </a:pPr>
            <a:r>
              <a:rPr lang="en-US" altLang="zh-CN" sz="2200" dirty="0">
                <a:latin typeface="Calibri" panose="020F0502020204030204" pitchFamily="34" charset="0"/>
                <a:cs typeface="Calibri" panose="020F0502020204030204" pitchFamily="34" charset="0"/>
              </a:rPr>
              <a:t>Customizing the structure (units and edges).</a:t>
            </a:r>
          </a:p>
          <a:p>
            <a:pPr marL="742950" lvl="1" indent="-285750">
              <a:buClr>
                <a:srgbClr val="2F57D9"/>
              </a:buClr>
              <a:buSzPct val="70000"/>
              <a:buFont typeface="Wingdings" panose="05000000000000000000" pitchFamily="2" charset="2"/>
              <a:buChar char="n"/>
            </a:pPr>
            <a:r>
              <a:rPr lang="en-US" altLang="zh-CN" sz="2200" dirty="0">
                <a:latin typeface="Calibri" panose="020F0502020204030204" pitchFamily="34" charset="0"/>
                <a:cs typeface="Calibri" panose="020F0502020204030204" pitchFamily="34" charset="0"/>
              </a:rPr>
              <a:t>Adapting data to the network’s input.</a:t>
            </a:r>
          </a:p>
          <a:p>
            <a:pPr marL="742950" lvl="1" indent="-285750">
              <a:buClr>
                <a:srgbClr val="2F57D9"/>
              </a:buClr>
              <a:buSzPct val="70000"/>
              <a:buFont typeface="Wingdings" panose="05000000000000000000" pitchFamily="2" charset="2"/>
              <a:buChar char="n"/>
            </a:pPr>
            <a:r>
              <a:rPr lang="en-US" altLang="zh-CN" sz="2200" dirty="0">
                <a:latin typeface="Calibri" panose="020F0502020204030204" pitchFamily="34" charset="0"/>
                <a:cs typeface="Calibri" panose="020F0502020204030204" pitchFamily="34" charset="0"/>
              </a:rPr>
              <a:t>Training the model with a suitable optimizer.</a:t>
            </a:r>
          </a:p>
          <a:p>
            <a:pPr marL="742950" lvl="1" indent="-285750">
              <a:buClr>
                <a:srgbClr val="2F57D9"/>
              </a:buClr>
              <a:buSzPct val="70000"/>
              <a:buFont typeface="Wingdings" panose="05000000000000000000" pitchFamily="2" charset="2"/>
              <a:buChar char="n"/>
            </a:pPr>
            <a:r>
              <a:rPr lang="en-US" altLang="zh-CN" sz="2200" dirty="0">
                <a:latin typeface="Calibri" panose="020F0502020204030204" pitchFamily="34" charset="0"/>
                <a:cs typeface="Calibri" panose="020F0502020204030204" pitchFamily="34" charset="0"/>
              </a:rPr>
              <a:t>(The model can be very large) – Accelerating the massive</a:t>
            </a:r>
            <a:r>
              <a:rPr lang="zh-CN" altLang="en-US" sz="2200" dirty="0">
                <a:latin typeface="Calibri" panose="020F0502020204030204" pitchFamily="34" charset="0"/>
                <a:cs typeface="Calibri" panose="020F0502020204030204" pitchFamily="34" charset="0"/>
              </a:rPr>
              <a:t> </a:t>
            </a:r>
            <a:r>
              <a:rPr lang="en-US" altLang="zh-CN" sz="2200" dirty="0">
                <a:latin typeface="Calibri" panose="020F0502020204030204" pitchFamily="34" charset="0"/>
                <a:cs typeface="Calibri" panose="020F0502020204030204" pitchFamily="34" charset="0"/>
              </a:rPr>
              <a:t>computations.</a:t>
            </a:r>
          </a:p>
          <a:p>
            <a:pPr marL="742950" lvl="1" indent="-285750">
              <a:buClr>
                <a:srgbClr val="2F57D9"/>
              </a:buClr>
              <a:buSzPct val="70000"/>
              <a:buFont typeface="Wingdings" panose="05000000000000000000" pitchFamily="2" charset="2"/>
              <a:buChar char="n"/>
            </a:pPr>
            <a:endParaRPr lang="en-US" altLang="zh-CN" sz="2200" dirty="0">
              <a:latin typeface="Calibri" panose="020F0502020204030204" pitchFamily="34" charset="0"/>
              <a:cs typeface="Calibri" panose="020F0502020204030204" pitchFamily="34" charset="0"/>
            </a:endParaRPr>
          </a:p>
          <a:p>
            <a:pPr marL="742950" lvl="1" indent="-285750">
              <a:buClr>
                <a:srgbClr val="2F57D9"/>
              </a:buClr>
              <a:buSzPct val="70000"/>
              <a:buFont typeface="Wingdings" panose="05000000000000000000" pitchFamily="2" charset="2"/>
              <a:buChar char="n"/>
            </a:pPr>
            <a:endParaRPr lang="en-US" altLang="zh-CN" sz="2200" dirty="0">
              <a:latin typeface="Calibri" panose="020F0502020204030204" pitchFamily="34" charset="0"/>
              <a:cs typeface="Calibri" panose="020F0502020204030204" pitchFamily="34" charset="0"/>
            </a:endParaRPr>
          </a:p>
          <a:p>
            <a:pPr marL="742950" lvl="1" indent="-285750">
              <a:buClr>
                <a:srgbClr val="2F57D9"/>
              </a:buClr>
              <a:buSzPct val="70000"/>
              <a:buFont typeface="Wingdings" panose="05000000000000000000" pitchFamily="2" charset="2"/>
              <a:buChar char="n"/>
            </a:pPr>
            <a:endParaRPr lang="en-US" altLang="zh-CN" sz="2200" dirty="0">
              <a:latin typeface="Calibri" panose="020F0502020204030204" pitchFamily="34" charset="0"/>
              <a:cs typeface="Calibri" panose="020F0502020204030204" pitchFamily="34" charset="0"/>
            </a:endParaRPr>
          </a:p>
          <a:p>
            <a:pPr>
              <a:buClr>
                <a:srgbClr val="2F57D9"/>
              </a:buClr>
              <a:buSzPct val="70000"/>
            </a:pPr>
            <a:r>
              <a:rPr lang="en-US" altLang="zh-CN" sz="2200" dirty="0">
                <a:latin typeface="Calibri" panose="020F0502020204030204" pitchFamily="34" charset="0"/>
                <a:cs typeface="Calibri" panose="020F0502020204030204" pitchFamily="34" charset="0"/>
              </a:rPr>
              <a:t>A Deep Learning Framework is a library that</a:t>
            </a:r>
            <a:r>
              <a:rPr lang="zh-CN" altLang="en-US" sz="2200" dirty="0">
                <a:latin typeface="Calibri" panose="020F0502020204030204" pitchFamily="34" charset="0"/>
                <a:cs typeface="Calibri" panose="020F0502020204030204" pitchFamily="34" charset="0"/>
              </a:rPr>
              <a:t> </a:t>
            </a:r>
            <a:r>
              <a:rPr lang="en-US" altLang="zh-CN" sz="2200" dirty="0">
                <a:latin typeface="Calibri" panose="020F0502020204030204" pitchFamily="34" charset="0"/>
                <a:cs typeface="Calibri" panose="020F0502020204030204" pitchFamily="34" charset="0"/>
              </a:rPr>
              <a:t>provides tools to assist developers in building</a:t>
            </a:r>
            <a:r>
              <a:rPr lang="zh-CN" altLang="en-US" sz="2200" dirty="0">
                <a:latin typeface="Calibri" panose="020F0502020204030204" pitchFamily="34" charset="0"/>
                <a:cs typeface="Calibri" panose="020F0502020204030204" pitchFamily="34" charset="0"/>
              </a:rPr>
              <a:t> </a:t>
            </a:r>
            <a:r>
              <a:rPr lang="en-US" altLang="zh-CN" sz="2200" dirty="0">
                <a:latin typeface="Calibri" panose="020F0502020204030204" pitchFamily="34" charset="0"/>
                <a:cs typeface="Calibri" panose="020F0502020204030204" pitchFamily="34" charset="0"/>
              </a:rPr>
              <a:t>and training deep learning models:</a:t>
            </a:r>
          </a:p>
          <a:p>
            <a:pPr marL="285750" indent="-285750">
              <a:buClr>
                <a:srgbClr val="2F57D9"/>
              </a:buClr>
              <a:buSzPct val="70000"/>
              <a:buFont typeface="Wingdings" panose="05000000000000000000" pitchFamily="2" charset="2"/>
              <a:buChar char="n"/>
            </a:pPr>
            <a:r>
              <a:rPr lang="en-US" altLang="zh-CN" sz="2200" dirty="0">
                <a:latin typeface="Calibri" panose="020F0502020204030204" pitchFamily="34" charset="0"/>
                <a:cs typeface="Calibri" panose="020F0502020204030204" pitchFamily="34" charset="0"/>
              </a:rPr>
              <a:t>GPU Support</a:t>
            </a:r>
          </a:p>
          <a:p>
            <a:pPr marL="285750" indent="-285750">
              <a:buClr>
                <a:srgbClr val="2F57D9"/>
              </a:buClr>
              <a:buSzPct val="70000"/>
              <a:buFont typeface="Wingdings" panose="05000000000000000000" pitchFamily="2" charset="2"/>
              <a:buChar char="n"/>
            </a:pPr>
            <a:r>
              <a:rPr lang="en-US" altLang="zh-CN" sz="2200" dirty="0">
                <a:latin typeface="Calibri" panose="020F0502020204030204" pitchFamily="34" charset="0"/>
                <a:cs typeface="Calibri" panose="020F0502020204030204" pitchFamily="34" charset="0"/>
              </a:rPr>
              <a:t>Automatic Diﬀerentiation (</a:t>
            </a:r>
            <a:r>
              <a:rPr lang="en-US" altLang="zh-CN" sz="2200" dirty="0" err="1">
                <a:latin typeface="Calibri" panose="020F0502020204030204" pitchFamily="34" charset="0"/>
                <a:cs typeface="Calibri" panose="020F0502020204030204" pitchFamily="34" charset="0"/>
              </a:rPr>
              <a:t>Autograd</a:t>
            </a:r>
            <a:r>
              <a:rPr lang="en-US" altLang="zh-CN" sz="2200" dirty="0">
                <a:latin typeface="Calibri" panose="020F0502020204030204" pitchFamily="34" charset="0"/>
                <a:cs typeface="Calibri" panose="020F0502020204030204" pitchFamily="34" charset="0"/>
              </a:rPr>
              <a:t>)</a:t>
            </a:r>
          </a:p>
          <a:p>
            <a:pPr marL="285750" indent="-285750">
              <a:buClr>
                <a:srgbClr val="2F57D9"/>
              </a:buClr>
              <a:buSzPct val="70000"/>
              <a:buFont typeface="Wingdings" panose="05000000000000000000" pitchFamily="2" charset="2"/>
              <a:buChar char="n"/>
            </a:pPr>
            <a:r>
              <a:rPr lang="en-US" altLang="zh-CN" sz="2200" dirty="0">
                <a:latin typeface="Calibri" panose="020F0502020204030204" pitchFamily="34" charset="0"/>
                <a:cs typeface="Calibri" panose="020F0502020204030204" pitchFamily="34" charset="0"/>
              </a:rPr>
              <a:t>Built-in, optimized network layers and</a:t>
            </a:r>
            <a:r>
              <a:rPr lang="zh-CN" altLang="en-US" sz="2200" dirty="0">
                <a:latin typeface="Calibri" panose="020F0502020204030204" pitchFamily="34" charset="0"/>
                <a:cs typeface="Calibri" panose="020F0502020204030204" pitchFamily="34" charset="0"/>
              </a:rPr>
              <a:t> </a:t>
            </a:r>
            <a:r>
              <a:rPr lang="en-US" altLang="zh-CN" sz="2200" dirty="0">
                <a:latin typeface="Calibri" panose="020F0502020204030204" pitchFamily="34" charset="0"/>
                <a:cs typeface="Calibri" panose="020F0502020204030204" pitchFamily="34" charset="0"/>
              </a:rPr>
              <a:t>loss functions</a:t>
            </a:r>
          </a:p>
        </p:txBody>
      </p:sp>
      <p:pic>
        <p:nvPicPr>
          <p:cNvPr id="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86524" y="4417846"/>
            <a:ext cx="2608943" cy="21329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4"/>
          <p:cNvSpPr txBox="1"/>
          <p:nvPr/>
        </p:nvSpPr>
        <p:spPr>
          <a:xfrm>
            <a:off x="700405" y="511175"/>
            <a:ext cx="9037320" cy="584775"/>
          </a:xfrm>
          <a:prstGeom prst="rect">
            <a:avLst/>
          </a:prstGeom>
          <a:noFill/>
        </p:spPr>
        <p:txBody>
          <a:bodyPr wrap="square" rtlCol="0">
            <a:spAutoFit/>
          </a:bodyPr>
          <a:lstStyle/>
          <a:p>
            <a:pPr marL="0" lvl="1"/>
            <a:r>
              <a:rPr lang="en-US" altLang="zh-CN" sz="3200" b="1" dirty="0">
                <a:solidFill>
                  <a:schemeClr val="accent1"/>
                </a:solidFill>
                <a:latin typeface="Calibri" panose="020F0502020204030204" pitchFamily="34" charset="0"/>
                <a:cs typeface="Calibri" panose="020F0502020204030204" pitchFamily="34" charset="0"/>
              </a:rPr>
              <a:t>What is a </a:t>
            </a:r>
            <a:r>
              <a:rPr lang="en-US" altLang="zh-CN" sz="3200" b="1" dirty="0" err="1">
                <a:solidFill>
                  <a:schemeClr val="accent1"/>
                </a:solidFill>
                <a:latin typeface="Calibri" panose="020F0502020204030204" pitchFamily="34" charset="0"/>
                <a:cs typeface="Calibri" panose="020F0502020204030204" pitchFamily="34" charset="0"/>
              </a:rPr>
              <a:t>PyTorch</a:t>
            </a:r>
            <a:r>
              <a:rPr lang="en-US" altLang="zh-CN" sz="3200" b="1" dirty="0">
                <a:solidFill>
                  <a:schemeClr val="accent1"/>
                </a:solidFill>
                <a:latin typeface="Calibri" panose="020F0502020204030204" pitchFamily="34" charset="0"/>
                <a:cs typeface="Calibri" panose="020F0502020204030204" pitchFamily="34" charset="0"/>
              </a:rPr>
              <a:t> Tensor?</a:t>
            </a:r>
          </a:p>
        </p:txBody>
      </p:sp>
      <p:cxnSp>
        <p:nvCxnSpPr>
          <p:cNvPr id="12" name="直接连接符 2"/>
          <p:cNvCxnSpPr/>
          <p:nvPr/>
        </p:nvCxnSpPr>
        <p:spPr>
          <a:xfrm>
            <a:off x="771526" y="1150144"/>
            <a:ext cx="6576331"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5"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E1. </a:t>
            </a:r>
            <a:r>
              <a:rPr lang="en-US" altLang="zh-CN" sz="1500" b="1" dirty="0">
                <a:latin typeface="Calibri" panose="020F0502020204030204" pitchFamily="34" charset="0"/>
                <a:cs typeface="Calibri" panose="020F0502020204030204" pitchFamily="34" charset="0"/>
                <a:sym typeface="+mn-ea"/>
              </a:rPr>
              <a:t>Environment Setup for Large Language Models</a:t>
            </a:r>
            <a:r>
              <a:rPr lang="en-US" altLang="zh-CN" sz="1500" dirty="0"/>
              <a:t>     						  	            		</a:t>
            </a:r>
            <a:endParaRPr lang="zh-CN" altLang="en-US" sz="1500" dirty="0"/>
          </a:p>
        </p:txBody>
      </p:sp>
      <p:sp>
        <p:nvSpPr>
          <p:cNvPr id="2" name="文本框 6"/>
          <p:cNvSpPr txBox="1"/>
          <p:nvPr/>
        </p:nvSpPr>
        <p:spPr>
          <a:xfrm>
            <a:off x="700405" y="1233490"/>
            <a:ext cx="11166698" cy="430887"/>
          </a:xfrm>
          <a:prstGeom prst="rect">
            <a:avLst/>
          </a:prstGeom>
          <a:noFill/>
        </p:spPr>
        <p:txBody>
          <a:bodyPr wrap="square" rtlCol="0">
            <a:spAutoFit/>
          </a:bodyPr>
          <a:lstStyle/>
          <a:p>
            <a:pPr>
              <a:buClr>
                <a:srgbClr val="2F57D9"/>
              </a:buClr>
              <a:buSzPct val="70000"/>
            </a:pPr>
            <a:r>
              <a:rPr lang="en-US" altLang="zh-CN" sz="2200" dirty="0">
                <a:latin typeface="Calibri" panose="020F0502020204030204" pitchFamily="34" charset="0"/>
                <a:cs typeface="Calibri" panose="020F0502020204030204" pitchFamily="34" charset="0"/>
              </a:rPr>
              <a:t>A </a:t>
            </a:r>
            <a:r>
              <a:rPr lang="en-US" altLang="zh-CN" sz="2200" dirty="0" err="1">
                <a:latin typeface="Courier New" panose="02070309020205020404" pitchFamily="49" charset="0"/>
                <a:cs typeface="Courier New" panose="02070309020205020404" pitchFamily="49" charset="0"/>
              </a:rPr>
              <a:t>torch.Tensor</a:t>
            </a:r>
            <a:r>
              <a:rPr lang="en-US" altLang="zh-CN" sz="2200" dirty="0">
                <a:latin typeface="Calibri" panose="020F0502020204030204" pitchFamily="34" charset="0"/>
                <a:cs typeface="Calibri" panose="020F0502020204030204" pitchFamily="34" charset="0"/>
              </a:rPr>
              <a:t> is the basic operand in </a:t>
            </a:r>
            <a:r>
              <a:rPr lang="en-US" altLang="zh-CN" sz="2200" dirty="0" err="1">
                <a:latin typeface="Calibri" panose="020F0502020204030204" pitchFamily="34" charset="0"/>
                <a:cs typeface="Calibri" panose="020F0502020204030204" pitchFamily="34" charset="0"/>
              </a:rPr>
              <a:t>PyTorch</a:t>
            </a:r>
            <a:r>
              <a:rPr lang="en-US" altLang="zh-CN" sz="2200" dirty="0">
                <a:latin typeface="Calibri" panose="020F0502020204030204" pitchFamily="34" charset="0"/>
                <a:cs typeface="Calibri" panose="020F0502020204030204" pitchFamily="34" charset="0"/>
              </a:rPr>
              <a:t>.</a:t>
            </a:r>
          </a:p>
        </p:txBody>
      </p:sp>
      <p:pic>
        <p:nvPicPr>
          <p:cNvPr id="4" name="图片 3"/>
          <p:cNvPicPr>
            <a:picLocks noChangeAspect="1"/>
          </p:cNvPicPr>
          <p:nvPr/>
        </p:nvPicPr>
        <p:blipFill>
          <a:blip r:embed="rId4"/>
          <a:stretch>
            <a:fillRect/>
          </a:stretch>
        </p:blipFill>
        <p:spPr>
          <a:xfrm>
            <a:off x="1655545" y="1801917"/>
            <a:ext cx="8880909" cy="4057016"/>
          </a:xfrm>
          <a:prstGeom prst="rect">
            <a:avLst/>
          </a:prstGeom>
        </p:spPr>
      </p:pic>
      <p:sp>
        <p:nvSpPr>
          <p:cNvPr id="6" name="矩形 5"/>
          <p:cNvSpPr/>
          <p:nvPr/>
        </p:nvSpPr>
        <p:spPr>
          <a:xfrm>
            <a:off x="2664178" y="1801917"/>
            <a:ext cx="2641600" cy="58003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91691D9-B0DB-9A24-7701-1778005B08AD}"/>
            </a:ext>
          </a:extLst>
        </p:cNvPr>
        <p:cNvGrpSpPr/>
        <p:nvPr/>
      </p:nvGrpSpPr>
      <p:grpSpPr>
        <a:xfrm>
          <a:off x="0" y="0"/>
          <a:ext cx="0" cy="0"/>
          <a:chOff x="0" y="0"/>
          <a:chExt cx="0" cy="0"/>
        </a:xfrm>
      </p:grpSpPr>
      <p:pic>
        <p:nvPicPr>
          <p:cNvPr id="1026" name="Picture 2" descr="Image result for sustech">
            <a:extLst>
              <a:ext uri="{FF2B5EF4-FFF2-40B4-BE49-F238E27FC236}">
                <a16:creationId xmlns:a16="http://schemas.microsoft.com/office/drawing/2014/main" xmlns="" id="{DE1BB5EE-ECF0-B82E-588F-B2A587CE43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4">
            <a:extLst>
              <a:ext uri="{FF2B5EF4-FFF2-40B4-BE49-F238E27FC236}">
                <a16:creationId xmlns:a16="http://schemas.microsoft.com/office/drawing/2014/main" xmlns="" id="{CC77F312-1022-DBAE-7932-0255D5E2A536}"/>
              </a:ext>
            </a:extLst>
          </p:cNvPr>
          <p:cNvSpPr txBox="1"/>
          <p:nvPr/>
        </p:nvSpPr>
        <p:spPr>
          <a:xfrm>
            <a:off x="700405" y="511175"/>
            <a:ext cx="9037320" cy="584775"/>
          </a:xfrm>
          <a:prstGeom prst="rect">
            <a:avLst/>
          </a:prstGeom>
          <a:noFill/>
        </p:spPr>
        <p:txBody>
          <a:bodyPr wrap="square" rtlCol="0">
            <a:spAutoFit/>
          </a:bodyPr>
          <a:lstStyle/>
          <a:p>
            <a:pPr marL="0" lvl="1"/>
            <a:r>
              <a:rPr lang="en-US" altLang="zh-CN" sz="3200" b="1" dirty="0">
                <a:solidFill>
                  <a:schemeClr val="accent1"/>
                </a:solidFill>
                <a:latin typeface="Calibri" panose="020F0502020204030204" pitchFamily="34" charset="0"/>
                <a:cs typeface="Calibri" panose="020F0502020204030204" pitchFamily="34" charset="0"/>
              </a:rPr>
              <a:t>Install torch</a:t>
            </a:r>
          </a:p>
        </p:txBody>
      </p:sp>
      <p:cxnSp>
        <p:nvCxnSpPr>
          <p:cNvPr id="12" name="直接连接符 2">
            <a:extLst>
              <a:ext uri="{FF2B5EF4-FFF2-40B4-BE49-F238E27FC236}">
                <a16:creationId xmlns:a16="http://schemas.microsoft.com/office/drawing/2014/main" xmlns="" id="{57C1663D-6F7A-6C0D-7D17-EB48FEFF766A}"/>
              </a:ext>
            </a:extLst>
          </p:cNvPr>
          <p:cNvCxnSpPr/>
          <p:nvPr/>
        </p:nvCxnSpPr>
        <p:spPr>
          <a:xfrm>
            <a:off x="771526" y="1150144"/>
            <a:ext cx="6576331"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5" name="矩形 1">
            <a:extLst>
              <a:ext uri="{FF2B5EF4-FFF2-40B4-BE49-F238E27FC236}">
                <a16:creationId xmlns:a16="http://schemas.microsoft.com/office/drawing/2014/main" xmlns="" id="{2030EA7D-9680-8CB7-B4E4-8FED35C19DB9}"/>
              </a:ext>
            </a:extLst>
          </p:cNvPr>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E1. </a:t>
            </a:r>
            <a:r>
              <a:rPr lang="en-US" altLang="zh-CN" sz="1500" b="1" dirty="0">
                <a:latin typeface="Calibri" panose="020F0502020204030204" pitchFamily="34" charset="0"/>
                <a:cs typeface="Calibri" panose="020F0502020204030204" pitchFamily="34" charset="0"/>
                <a:sym typeface="+mn-ea"/>
              </a:rPr>
              <a:t>Environment Setup for Large Language Models</a:t>
            </a:r>
            <a:r>
              <a:rPr lang="en-US" altLang="zh-CN" sz="1500" dirty="0"/>
              <a:t>     						  	            		</a:t>
            </a:r>
            <a:endParaRPr lang="zh-CN" altLang="en-US" sz="1500" dirty="0"/>
          </a:p>
        </p:txBody>
      </p:sp>
      <p:pic>
        <p:nvPicPr>
          <p:cNvPr id="3" name="图片 2">
            <a:extLst>
              <a:ext uri="{FF2B5EF4-FFF2-40B4-BE49-F238E27FC236}">
                <a16:creationId xmlns:a16="http://schemas.microsoft.com/office/drawing/2014/main" xmlns="" id="{3BD941E1-943B-C77D-90FC-61866929511E}"/>
              </a:ext>
            </a:extLst>
          </p:cNvPr>
          <p:cNvPicPr>
            <a:picLocks noChangeAspect="1"/>
          </p:cNvPicPr>
          <p:nvPr/>
        </p:nvPicPr>
        <p:blipFill>
          <a:blip r:embed="rId4"/>
          <a:stretch>
            <a:fillRect/>
          </a:stretch>
        </p:blipFill>
        <p:spPr>
          <a:xfrm>
            <a:off x="771526" y="1388949"/>
            <a:ext cx="10871584" cy="3201991"/>
          </a:xfrm>
          <a:prstGeom prst="rect">
            <a:avLst/>
          </a:prstGeom>
        </p:spPr>
      </p:pic>
      <p:sp>
        <p:nvSpPr>
          <p:cNvPr id="8" name="文本框 7">
            <a:extLst>
              <a:ext uri="{FF2B5EF4-FFF2-40B4-BE49-F238E27FC236}">
                <a16:creationId xmlns:a16="http://schemas.microsoft.com/office/drawing/2014/main" xmlns="" id="{9DDA3A5F-9B40-6E61-6D82-62ABCD1AEC77}"/>
              </a:ext>
            </a:extLst>
          </p:cNvPr>
          <p:cNvSpPr txBox="1"/>
          <p:nvPr/>
        </p:nvSpPr>
        <p:spPr>
          <a:xfrm>
            <a:off x="3229670" y="5016881"/>
            <a:ext cx="5732660" cy="369332"/>
          </a:xfrm>
          <a:prstGeom prst="rect">
            <a:avLst/>
          </a:prstGeom>
          <a:noFill/>
        </p:spPr>
        <p:txBody>
          <a:bodyPr wrap="none" rtlCol="0">
            <a:spAutoFit/>
          </a:bodyPr>
          <a:lstStyle/>
          <a:p>
            <a:r>
              <a:rPr kumimoji="1" lang="en-US" altLang="zh-CN" dirty="0"/>
              <a:t>Reference: https://</a:t>
            </a:r>
            <a:r>
              <a:rPr kumimoji="1" lang="en-US" altLang="zh-CN" dirty="0" err="1"/>
              <a:t>developer.aliyun.com</a:t>
            </a:r>
            <a:r>
              <a:rPr kumimoji="1" lang="en-US" altLang="zh-CN" dirty="0"/>
              <a:t>/article/1544711</a:t>
            </a:r>
            <a:endParaRPr kumimoji="1" lang="zh-CN" altLang="en-US" dirty="0"/>
          </a:p>
        </p:txBody>
      </p:sp>
    </p:spTree>
    <p:extLst>
      <p:ext uri="{BB962C8B-B14F-4D97-AF65-F5344CB8AC3E}">
        <p14:creationId xmlns:p14="http://schemas.microsoft.com/office/powerpoint/2010/main" val="18609666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4"/>
          <p:cNvSpPr txBox="1"/>
          <p:nvPr/>
        </p:nvSpPr>
        <p:spPr>
          <a:xfrm>
            <a:off x="700404" y="511175"/>
            <a:ext cx="11315383" cy="584775"/>
          </a:xfrm>
          <a:prstGeom prst="rect">
            <a:avLst/>
          </a:prstGeom>
          <a:noFill/>
        </p:spPr>
        <p:txBody>
          <a:bodyPr wrap="square" rtlCol="0">
            <a:spAutoFit/>
          </a:bodyPr>
          <a:lstStyle/>
          <a:p>
            <a:pPr marL="0" lvl="1"/>
            <a:r>
              <a:rPr lang="en-US" altLang="zh-CN" sz="3200" b="1" dirty="0" err="1">
                <a:solidFill>
                  <a:schemeClr val="accent1"/>
                </a:solidFill>
                <a:latin typeface="Calibri" panose="020F0502020204030204" pitchFamily="34" charset="0"/>
                <a:cs typeface="Calibri" panose="020F0502020204030204" pitchFamily="34" charset="0"/>
              </a:rPr>
              <a:t>HuggingFace</a:t>
            </a:r>
            <a:r>
              <a:rPr lang="en-US" altLang="zh-CN" sz="3200" b="1" dirty="0">
                <a:solidFill>
                  <a:schemeClr val="accent1"/>
                </a:solidFill>
                <a:latin typeface="Calibri" panose="020F0502020204030204" pitchFamily="34" charset="0"/>
                <a:cs typeface="Calibri" panose="020F0502020204030204" pitchFamily="34" charset="0"/>
              </a:rPr>
              <a:t> &amp; </a:t>
            </a:r>
            <a:r>
              <a:rPr lang="en-US" altLang="zh-CN" sz="3200" b="1" dirty="0" err="1">
                <a:solidFill>
                  <a:schemeClr val="accent1"/>
                </a:solidFill>
                <a:latin typeface="Calibri" panose="020F0502020204030204" pitchFamily="34" charset="0"/>
                <a:cs typeface="Calibri" panose="020F0502020204030204" pitchFamily="34" charset="0"/>
              </a:rPr>
              <a:t>ModelScope</a:t>
            </a:r>
            <a:r>
              <a:rPr lang="en-US" altLang="zh-CN" sz="3200" b="1" dirty="0">
                <a:solidFill>
                  <a:schemeClr val="accent1"/>
                </a:solidFill>
                <a:latin typeface="Calibri" panose="020F0502020204030204" pitchFamily="34" charset="0"/>
                <a:cs typeface="Calibri" panose="020F0502020204030204" pitchFamily="34" charset="0"/>
              </a:rPr>
              <a:t>: Download model weights &amp; datasets</a:t>
            </a:r>
          </a:p>
        </p:txBody>
      </p:sp>
      <p:cxnSp>
        <p:nvCxnSpPr>
          <p:cNvPr id="12" name="直接连接符 2"/>
          <p:cNvCxnSpPr/>
          <p:nvPr/>
        </p:nvCxnSpPr>
        <p:spPr>
          <a:xfrm>
            <a:off x="771526" y="1150144"/>
            <a:ext cx="6576331"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5"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E1. </a:t>
            </a:r>
            <a:r>
              <a:rPr lang="en-US" altLang="zh-CN" sz="1500" b="1" dirty="0">
                <a:latin typeface="Calibri" panose="020F0502020204030204" pitchFamily="34" charset="0"/>
                <a:cs typeface="Calibri" panose="020F0502020204030204" pitchFamily="34" charset="0"/>
                <a:sym typeface="+mn-ea"/>
              </a:rPr>
              <a:t>Environment Setup for Large Language Models</a:t>
            </a:r>
            <a:r>
              <a:rPr lang="en-US" altLang="zh-CN" sz="1500" dirty="0"/>
              <a:t>     						  	            		</a:t>
            </a:r>
            <a:endParaRPr lang="zh-CN" altLang="en-US" sz="1500" dirty="0"/>
          </a:p>
        </p:txBody>
      </p:sp>
      <p:sp>
        <p:nvSpPr>
          <p:cNvPr id="2" name="文本框 6"/>
          <p:cNvSpPr txBox="1"/>
          <p:nvPr/>
        </p:nvSpPr>
        <p:spPr>
          <a:xfrm>
            <a:off x="700405" y="1233490"/>
            <a:ext cx="7461462" cy="1631216"/>
          </a:xfrm>
          <a:prstGeom prst="rect">
            <a:avLst/>
          </a:prstGeom>
          <a:noFill/>
        </p:spPr>
        <p:txBody>
          <a:bodyPr wrap="square" rtlCol="0">
            <a:spAutoFit/>
          </a:bodyPr>
          <a:lstStyle/>
          <a:p>
            <a:pPr algn="just">
              <a:buClr>
                <a:srgbClr val="2F57D9"/>
              </a:buClr>
              <a:buSzPct val="70000"/>
            </a:pPr>
            <a:r>
              <a:rPr lang="en-US" altLang="zh-CN" sz="2000" dirty="0">
                <a:latin typeface="Calibri" panose="020F0502020204030204" pitchFamily="34" charset="0"/>
                <a:cs typeface="Calibri" panose="020F0502020204030204" pitchFamily="34" charset="0"/>
              </a:rPr>
              <a:t>What is </a:t>
            </a:r>
            <a:r>
              <a:rPr lang="en-US" altLang="zh-CN" sz="2000" dirty="0" err="1">
                <a:latin typeface="Calibri" panose="020F0502020204030204" pitchFamily="34" charset="0"/>
                <a:cs typeface="Calibri" panose="020F0502020204030204" pitchFamily="34" charset="0"/>
              </a:rPr>
              <a:t>Huggingface</a:t>
            </a:r>
            <a:r>
              <a:rPr lang="en-US" altLang="zh-CN" sz="2000" dirty="0">
                <a:latin typeface="Calibri" panose="020F0502020204030204" pitchFamily="34" charset="0"/>
                <a:cs typeface="Calibri" panose="020F0502020204030204" pitchFamily="34" charset="0"/>
              </a:rPr>
              <a:t>? </a:t>
            </a:r>
            <a:r>
              <a:rPr lang="en-US" altLang="zh-CN" sz="2000" dirty="0">
                <a:latin typeface="Calibri" panose="020F0502020204030204" pitchFamily="34" charset="0"/>
                <a:cs typeface="Calibri" panose="020F0502020204030204" pitchFamily="34" charset="0"/>
                <a:hlinkClick r:id="rId4"/>
              </a:rPr>
              <a:t>https://huggingface.co</a:t>
            </a:r>
            <a:endParaRPr lang="en-US" altLang="zh-CN" sz="2000" dirty="0">
              <a:latin typeface="Calibri" panose="020F0502020204030204" pitchFamily="34" charset="0"/>
              <a:cs typeface="Calibri" panose="020F0502020204030204" pitchFamily="34" charset="0"/>
            </a:endParaRPr>
          </a:p>
          <a:p>
            <a:pPr algn="just">
              <a:buClr>
                <a:srgbClr val="2F57D9"/>
              </a:buClr>
              <a:buSzPct val="70000"/>
            </a:pPr>
            <a:r>
              <a:rPr lang="en-US" altLang="zh-CN" sz="2000" dirty="0">
                <a:latin typeface="Calibri" panose="020F0502020204030204" pitchFamily="34" charset="0"/>
                <a:cs typeface="Calibri" panose="020F0502020204030204" pitchFamily="34" charset="0"/>
              </a:rPr>
              <a:t>	The Hugging Face Hub is a platform with over 2M models, 500k datasets, and 1M demo apps (Spaces), all open source and publicly available, in an online platform where people can easily collaborate and build ML together.</a:t>
            </a:r>
          </a:p>
        </p:txBody>
      </p:sp>
      <p:pic>
        <p:nvPicPr>
          <p:cNvPr id="7" name="图片 6"/>
          <p:cNvPicPr>
            <a:picLocks noChangeAspect="1"/>
          </p:cNvPicPr>
          <p:nvPr/>
        </p:nvPicPr>
        <p:blipFill>
          <a:blip r:embed="rId5"/>
          <a:stretch>
            <a:fillRect/>
          </a:stretch>
        </p:blipFill>
        <p:spPr>
          <a:xfrm>
            <a:off x="237313" y="3002246"/>
            <a:ext cx="9053196" cy="921444"/>
          </a:xfrm>
          <a:prstGeom prst="rect">
            <a:avLst/>
          </a:prstGeom>
        </p:spPr>
      </p:pic>
      <p:pic>
        <p:nvPicPr>
          <p:cNvPr id="8" name="图片 7"/>
          <p:cNvPicPr>
            <a:picLocks noChangeAspect="1"/>
          </p:cNvPicPr>
          <p:nvPr/>
        </p:nvPicPr>
        <p:blipFill>
          <a:blip r:embed="rId6"/>
          <a:stretch>
            <a:fillRect/>
          </a:stretch>
        </p:blipFill>
        <p:spPr>
          <a:xfrm>
            <a:off x="9760934" y="1339502"/>
            <a:ext cx="2340262" cy="5159016"/>
          </a:xfrm>
          <a:prstGeom prst="rect">
            <a:avLst/>
          </a:prstGeom>
        </p:spPr>
      </p:pic>
      <p:pic>
        <p:nvPicPr>
          <p:cNvPr id="10" name="图片 9"/>
          <p:cNvPicPr>
            <a:picLocks noChangeAspect="1"/>
          </p:cNvPicPr>
          <p:nvPr/>
        </p:nvPicPr>
        <p:blipFill>
          <a:blip r:embed="rId7"/>
          <a:stretch>
            <a:fillRect/>
          </a:stretch>
        </p:blipFill>
        <p:spPr>
          <a:xfrm>
            <a:off x="877711" y="4478045"/>
            <a:ext cx="7772400" cy="1239334"/>
          </a:xfrm>
          <a:prstGeom prst="rect">
            <a:avLst/>
          </a:prstGeom>
        </p:spPr>
      </p:pic>
      <p:sp>
        <p:nvSpPr>
          <p:cNvPr id="17" name="文本框 16"/>
          <p:cNvSpPr txBox="1"/>
          <p:nvPr/>
        </p:nvSpPr>
        <p:spPr>
          <a:xfrm>
            <a:off x="8419694" y="2680040"/>
            <a:ext cx="306494" cy="369332"/>
          </a:xfrm>
          <a:prstGeom prst="rect">
            <a:avLst/>
          </a:prstGeom>
          <a:noFill/>
        </p:spPr>
        <p:txBody>
          <a:bodyPr wrap="none" rtlCol="0">
            <a:spAutoFit/>
          </a:bodyPr>
          <a:lstStyle/>
          <a:p>
            <a:r>
              <a:rPr kumimoji="1" lang="en-US" altLang="zh-CN" dirty="0">
                <a:solidFill>
                  <a:srgbClr val="FF0000"/>
                </a:solidFill>
              </a:rPr>
              <a:t>1</a:t>
            </a:r>
            <a:endParaRPr kumimoji="1" lang="zh-CN" altLang="en-US" dirty="0">
              <a:solidFill>
                <a:srgbClr val="FF0000"/>
              </a:solidFill>
            </a:endParaRPr>
          </a:p>
        </p:txBody>
      </p:sp>
      <p:sp>
        <p:nvSpPr>
          <p:cNvPr id="18" name="文本框 17"/>
          <p:cNvSpPr txBox="1"/>
          <p:nvPr/>
        </p:nvSpPr>
        <p:spPr>
          <a:xfrm>
            <a:off x="11007795" y="5289161"/>
            <a:ext cx="306494" cy="369332"/>
          </a:xfrm>
          <a:prstGeom prst="rect">
            <a:avLst/>
          </a:prstGeom>
          <a:noFill/>
        </p:spPr>
        <p:txBody>
          <a:bodyPr wrap="none" rtlCol="0">
            <a:spAutoFit/>
          </a:bodyPr>
          <a:lstStyle/>
          <a:p>
            <a:r>
              <a:rPr kumimoji="1" lang="en-US" altLang="zh-CN" dirty="0">
                <a:solidFill>
                  <a:srgbClr val="FF0000"/>
                </a:solidFill>
              </a:rPr>
              <a:t>2</a:t>
            </a:r>
            <a:endParaRPr kumimoji="1" lang="zh-CN" altLang="en-US" dirty="0">
              <a:solidFill>
                <a:srgbClr val="FF0000"/>
              </a:solidFill>
            </a:endParaRPr>
          </a:p>
        </p:txBody>
      </p:sp>
      <p:sp>
        <p:nvSpPr>
          <p:cNvPr id="19" name="文本框 18"/>
          <p:cNvSpPr txBox="1"/>
          <p:nvPr/>
        </p:nvSpPr>
        <p:spPr>
          <a:xfrm>
            <a:off x="7440506" y="4401670"/>
            <a:ext cx="306494" cy="369332"/>
          </a:xfrm>
          <a:prstGeom prst="rect">
            <a:avLst/>
          </a:prstGeom>
          <a:noFill/>
        </p:spPr>
        <p:txBody>
          <a:bodyPr wrap="none" rtlCol="0">
            <a:spAutoFit/>
          </a:bodyPr>
          <a:lstStyle/>
          <a:p>
            <a:r>
              <a:rPr kumimoji="1" lang="en-US" altLang="zh-CN" dirty="0">
                <a:solidFill>
                  <a:srgbClr val="FF0000"/>
                </a:solidFill>
              </a:rPr>
              <a:t>3</a:t>
            </a:r>
            <a:endParaRPr kumimoji="1" lang="zh-CN" altLang="en-US" dirty="0">
              <a:solidFill>
                <a:srgbClr val="FF0000"/>
              </a:solidFill>
            </a:endParaRPr>
          </a:p>
        </p:txBody>
      </p:sp>
      <p:sp>
        <p:nvSpPr>
          <p:cNvPr id="3" name="文本框 6"/>
          <p:cNvSpPr txBox="1"/>
          <p:nvPr/>
        </p:nvSpPr>
        <p:spPr>
          <a:xfrm>
            <a:off x="550333" y="5829986"/>
            <a:ext cx="8830733" cy="707886"/>
          </a:xfrm>
          <a:prstGeom prst="rect">
            <a:avLst/>
          </a:prstGeom>
          <a:noFill/>
        </p:spPr>
        <p:txBody>
          <a:bodyPr wrap="square" rtlCol="0">
            <a:spAutoFit/>
          </a:bodyPr>
          <a:lstStyle/>
          <a:p>
            <a:pPr algn="just">
              <a:buClr>
                <a:srgbClr val="2F57D9"/>
              </a:buClr>
              <a:buSzPct val="70000"/>
            </a:pPr>
            <a:r>
              <a:rPr lang="en-US" altLang="zh-CN" sz="2000" dirty="0">
                <a:latin typeface="Calibri" panose="020F0502020204030204" pitchFamily="34" charset="0"/>
                <a:cs typeface="Calibri" panose="020F0502020204030204" pitchFamily="34" charset="0"/>
              </a:rPr>
              <a:t>Please</a:t>
            </a:r>
            <a:r>
              <a:rPr lang="zh-CN" altLang="en-US" sz="2000" dirty="0">
                <a:latin typeface="Calibri" panose="020F0502020204030204" pitchFamily="34" charset="0"/>
                <a:cs typeface="Calibri" panose="020F0502020204030204" pitchFamily="34" charset="0"/>
              </a:rPr>
              <a:t> </a:t>
            </a:r>
            <a:r>
              <a:rPr lang="en-US" altLang="zh-CN" sz="2000" dirty="0">
                <a:latin typeface="Calibri" panose="020F0502020204030204" pitchFamily="34" charset="0"/>
                <a:cs typeface="Calibri" panose="020F0502020204030204" pitchFamily="34" charset="0"/>
              </a:rPr>
              <a:t>record or save elsewhere you own token!!! The token will be shown only once, and you need it later.</a:t>
            </a:r>
          </a:p>
        </p:txBody>
      </p:sp>
      <p:sp>
        <p:nvSpPr>
          <p:cNvPr id="6" name="文本框 5">
            <a:extLst>
              <a:ext uri="{FF2B5EF4-FFF2-40B4-BE49-F238E27FC236}">
                <a16:creationId xmlns:a16="http://schemas.microsoft.com/office/drawing/2014/main" xmlns="" id="{3FF7A6AB-4FE1-04F7-91FE-22B8328170D1}"/>
              </a:ext>
            </a:extLst>
          </p:cNvPr>
          <p:cNvSpPr txBox="1"/>
          <p:nvPr/>
        </p:nvSpPr>
        <p:spPr>
          <a:xfrm>
            <a:off x="771526" y="243164"/>
            <a:ext cx="6100996" cy="369332"/>
          </a:xfrm>
          <a:prstGeom prst="rect">
            <a:avLst/>
          </a:prstGeom>
          <a:noFill/>
        </p:spPr>
        <p:txBody>
          <a:bodyPr wrap="square">
            <a:spAutoFit/>
          </a:bodyPr>
          <a:lstStyle/>
          <a:p>
            <a:r>
              <a:rPr lang="zh-CN" altLang="en-US" dirty="0"/>
              <a:t>https://hf-mirror.com/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4"/>
          <p:cNvSpPr txBox="1"/>
          <p:nvPr/>
        </p:nvSpPr>
        <p:spPr>
          <a:xfrm>
            <a:off x="700404" y="511175"/>
            <a:ext cx="11315383" cy="584775"/>
          </a:xfrm>
          <a:prstGeom prst="rect">
            <a:avLst/>
          </a:prstGeom>
          <a:noFill/>
        </p:spPr>
        <p:txBody>
          <a:bodyPr wrap="square" rtlCol="0">
            <a:spAutoFit/>
          </a:bodyPr>
          <a:lstStyle/>
          <a:p>
            <a:pPr marL="0" lvl="1"/>
            <a:r>
              <a:rPr lang="en-US" altLang="zh-CN" sz="3200" b="1" dirty="0" err="1">
                <a:solidFill>
                  <a:schemeClr val="accent1"/>
                </a:solidFill>
                <a:latin typeface="Calibri" panose="020F0502020204030204" pitchFamily="34" charset="0"/>
                <a:cs typeface="Calibri" panose="020F0502020204030204" pitchFamily="34" charset="0"/>
              </a:rPr>
              <a:t>HuggingFace</a:t>
            </a:r>
            <a:r>
              <a:rPr lang="en-US" altLang="zh-CN" sz="3200" b="1" dirty="0">
                <a:solidFill>
                  <a:schemeClr val="accent1"/>
                </a:solidFill>
                <a:latin typeface="Calibri" panose="020F0502020204030204" pitchFamily="34" charset="0"/>
                <a:cs typeface="Calibri" panose="020F0502020204030204" pitchFamily="34" charset="0"/>
              </a:rPr>
              <a:t> &amp; </a:t>
            </a:r>
            <a:r>
              <a:rPr lang="en-US" altLang="zh-CN" sz="3200" b="1" dirty="0" err="1">
                <a:solidFill>
                  <a:schemeClr val="accent1"/>
                </a:solidFill>
                <a:latin typeface="Calibri" panose="020F0502020204030204" pitchFamily="34" charset="0"/>
                <a:cs typeface="Calibri" panose="020F0502020204030204" pitchFamily="34" charset="0"/>
              </a:rPr>
              <a:t>ModelScope</a:t>
            </a:r>
            <a:r>
              <a:rPr lang="en-US" altLang="zh-CN" sz="3200" b="1" dirty="0">
                <a:solidFill>
                  <a:schemeClr val="accent1"/>
                </a:solidFill>
                <a:latin typeface="Calibri" panose="020F0502020204030204" pitchFamily="34" charset="0"/>
                <a:cs typeface="Calibri" panose="020F0502020204030204" pitchFamily="34" charset="0"/>
              </a:rPr>
              <a:t>: Download model weights &amp; datasets</a:t>
            </a:r>
          </a:p>
        </p:txBody>
      </p:sp>
      <p:cxnSp>
        <p:nvCxnSpPr>
          <p:cNvPr id="12" name="直接连接符 2"/>
          <p:cNvCxnSpPr/>
          <p:nvPr/>
        </p:nvCxnSpPr>
        <p:spPr>
          <a:xfrm>
            <a:off x="771526" y="1150144"/>
            <a:ext cx="6576331"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5"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E1. </a:t>
            </a:r>
            <a:r>
              <a:rPr lang="en-US" altLang="zh-CN" sz="1500" b="1" dirty="0">
                <a:latin typeface="Calibri" panose="020F0502020204030204" pitchFamily="34" charset="0"/>
                <a:cs typeface="Calibri" panose="020F0502020204030204" pitchFamily="34" charset="0"/>
                <a:sym typeface="+mn-ea"/>
              </a:rPr>
              <a:t>Environment Setup for Large Language Models</a:t>
            </a:r>
            <a:r>
              <a:rPr lang="en-US" altLang="zh-CN" sz="1500" dirty="0"/>
              <a:t>     						  	            		</a:t>
            </a:r>
            <a:endParaRPr lang="zh-CN" altLang="en-US" sz="1500" dirty="0"/>
          </a:p>
        </p:txBody>
      </p:sp>
      <p:sp>
        <p:nvSpPr>
          <p:cNvPr id="2" name="文本框 6"/>
          <p:cNvSpPr txBox="1"/>
          <p:nvPr/>
        </p:nvSpPr>
        <p:spPr>
          <a:xfrm>
            <a:off x="700405" y="1233490"/>
            <a:ext cx="11315382" cy="3724096"/>
          </a:xfrm>
          <a:prstGeom prst="rect">
            <a:avLst/>
          </a:prstGeom>
          <a:noFill/>
        </p:spPr>
        <p:txBody>
          <a:bodyPr wrap="square" rtlCol="0">
            <a:spAutoFit/>
          </a:bodyPr>
          <a:lstStyle/>
          <a:p>
            <a:pPr algn="just">
              <a:buClr>
                <a:srgbClr val="2F57D9"/>
              </a:buClr>
              <a:buSzPct val="70000"/>
            </a:pPr>
            <a:r>
              <a:rPr lang="en-US" altLang="zh-CN" dirty="0">
                <a:hlinkClick r:id="rId4"/>
              </a:rPr>
              <a:t>huggingface-cli</a:t>
            </a:r>
            <a:r>
              <a:rPr lang="en-US" altLang="zh-CN" dirty="0"/>
              <a:t> it not only allows you to download models and data, but also lets you log in to </a:t>
            </a:r>
            <a:r>
              <a:rPr lang="en-US" altLang="zh-CN" dirty="0" err="1"/>
              <a:t>Huggingface</a:t>
            </a:r>
            <a:r>
              <a:rPr lang="en-US" altLang="zh-CN" dirty="0"/>
              <a:t> (using the token created before), upload models and data.</a:t>
            </a:r>
          </a:p>
          <a:p>
            <a:pPr algn="just">
              <a:buClr>
                <a:srgbClr val="2F57D9"/>
              </a:buClr>
              <a:buSzPct val="70000"/>
            </a:pPr>
            <a:endParaRPr lang="en-US" altLang="zh-CN" sz="2000" dirty="0">
              <a:latin typeface="Calibri" panose="020F0502020204030204" pitchFamily="34" charset="0"/>
              <a:cs typeface="Calibri" panose="020F0502020204030204" pitchFamily="34" charset="0"/>
            </a:endParaRPr>
          </a:p>
          <a:p>
            <a:r>
              <a:rPr lang="en-US" altLang="zh-CN" b="1" dirty="0">
                <a:latin typeface="Calibri" panose="020F0502020204030204" pitchFamily="34" charset="0"/>
                <a:cs typeface="Calibri" panose="020F0502020204030204" pitchFamily="34" charset="0"/>
              </a:rPr>
              <a:t>Install dependencies</a:t>
            </a:r>
          </a:p>
          <a:p>
            <a:r>
              <a:rPr lang="en-US" altLang="zh-CN" dirty="0">
                <a:latin typeface="Courier New" panose="02070309020205020404" pitchFamily="49" charset="0"/>
                <a:cs typeface="Courier New" panose="02070309020205020404" pitchFamily="49" charset="0"/>
              </a:rPr>
              <a:t>pip install --upgrade </a:t>
            </a:r>
            <a:r>
              <a:rPr lang="en-US" altLang="zh-CN" dirty="0" err="1">
                <a:latin typeface="Courier New" panose="02070309020205020404" pitchFamily="49" charset="0"/>
                <a:cs typeface="Courier New" panose="02070309020205020404" pitchFamily="49" charset="0"/>
              </a:rPr>
              <a:t>huggingface_hub</a:t>
            </a:r>
            <a:r>
              <a:rPr lang="en-US" altLang="zh-CN" dirty="0">
                <a:latin typeface="Courier New" panose="02070309020205020404" pitchFamily="49" charset="0"/>
                <a:cs typeface="Courier New" panose="02070309020205020404" pitchFamily="49" charset="0"/>
              </a:rPr>
              <a:t> #depends on Python 3.8 or higher</a:t>
            </a:r>
          </a:p>
          <a:p>
            <a:r>
              <a:rPr lang="en-US" altLang="zh-CN" dirty="0">
                <a:latin typeface="Courier New" panose="02070309020205020404" pitchFamily="49" charset="0"/>
                <a:cs typeface="Courier New" panose="02070309020205020404" pitchFamily="49" charset="0"/>
              </a:rPr>
              <a:t>export HF_ENDPOINT=https://hf-</a:t>
            </a:r>
            <a:r>
              <a:rPr lang="en-US" altLang="zh-CN" dirty="0" err="1">
                <a:latin typeface="Courier New" panose="02070309020205020404" pitchFamily="49" charset="0"/>
                <a:cs typeface="Courier New" panose="02070309020205020404" pitchFamily="49" charset="0"/>
              </a:rPr>
              <a:t>mirror.com</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hf auth login</a:t>
            </a:r>
            <a:r>
              <a:rPr lang="zh-CN" altLang="en-US" dirty="0">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a:t>
            </a:r>
            <a:r>
              <a:rPr lang="zh-CN" altLang="en-US"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use</a:t>
            </a:r>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the access token here</a:t>
            </a:r>
          </a:p>
          <a:p>
            <a:endParaRPr lang="en-US" altLang="zh-CN" dirty="0">
              <a:latin typeface="Courier New" panose="02070309020205020404" pitchFamily="49" charset="0"/>
              <a:cs typeface="Courier New" panose="02070309020205020404" pitchFamily="49" charset="0"/>
            </a:endParaRPr>
          </a:p>
          <a:p>
            <a:r>
              <a:rPr lang="en-US" altLang="zh-CN" b="1" dirty="0">
                <a:latin typeface="Calibri" panose="020F0502020204030204" pitchFamily="34" charset="0"/>
                <a:cs typeface="Calibri" panose="020F0502020204030204" pitchFamily="34" charset="0"/>
              </a:rPr>
              <a:t>Basic Usage - Downloading Models</a:t>
            </a:r>
          </a:p>
          <a:p>
            <a:r>
              <a:rPr lang="en-US" altLang="zh-CN" dirty="0">
                <a:latin typeface="Courier New" panose="02070309020205020404" pitchFamily="49" charset="0"/>
                <a:cs typeface="Courier New" panose="02070309020205020404" pitchFamily="49" charset="0"/>
              </a:rPr>
              <a:t>hf download gpt2 --local-</a:t>
            </a:r>
            <a:r>
              <a:rPr lang="en-US" altLang="zh-CN" dirty="0" err="1">
                <a:latin typeface="Courier New" panose="02070309020205020404" pitchFamily="49" charset="0"/>
                <a:cs typeface="Courier New" panose="02070309020205020404" pitchFamily="49" charset="0"/>
              </a:rPr>
              <a:t>dir</a:t>
            </a:r>
            <a:r>
              <a:rPr lang="en-US" altLang="zh-CN" dirty="0">
                <a:latin typeface="Courier New" panose="02070309020205020404" pitchFamily="49" charset="0"/>
                <a:cs typeface="Courier New" panose="02070309020205020404" pitchFamily="49" charset="0"/>
              </a:rPr>
              <a:t> gpt2</a:t>
            </a:r>
          </a:p>
          <a:p>
            <a:endParaRPr lang="en-US" altLang="zh-CN" dirty="0">
              <a:latin typeface="Courier New" panose="02070309020205020404" pitchFamily="49" charset="0"/>
              <a:cs typeface="Courier New" panose="02070309020205020404" pitchFamily="49" charset="0"/>
            </a:endParaRPr>
          </a:p>
          <a:p>
            <a:r>
              <a:rPr lang="en-US" altLang="zh-CN" b="1" dirty="0">
                <a:latin typeface="Calibri" panose="020F0502020204030204" pitchFamily="34" charset="0"/>
                <a:cs typeface="Calibri" panose="020F0502020204030204" pitchFamily="34" charset="0"/>
              </a:rPr>
              <a:t>Basic usage - Downloading datasets</a:t>
            </a:r>
          </a:p>
          <a:p>
            <a:r>
              <a:rPr lang="en-US" altLang="zh-CN" dirty="0">
                <a:latin typeface="Courier New" panose="02070309020205020404" pitchFamily="49" charset="0"/>
                <a:cs typeface="Courier New" panose="02070309020205020404" pitchFamily="49" charset="0"/>
              </a:rPr>
              <a:t>hf download --repo-type dataset </a:t>
            </a:r>
            <a:r>
              <a:rPr lang="en-US" altLang="zh-CN" dirty="0" err="1">
                <a:latin typeface="Courier New" panose="02070309020205020404" pitchFamily="49" charset="0"/>
                <a:cs typeface="Courier New" panose="02070309020205020404" pitchFamily="49" charset="0"/>
              </a:rPr>
              <a:t>lavita</a:t>
            </a:r>
            <a:r>
              <a:rPr lang="en-US" altLang="zh-CN" dirty="0">
                <a:latin typeface="Courier New" panose="02070309020205020404" pitchFamily="49" charset="0"/>
                <a:cs typeface="Courier New" panose="02070309020205020404" pitchFamily="49" charset="0"/>
              </a:rPr>
              <a:t>/medical-qa-shared-task-v1-toy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4"/>
          <p:cNvSpPr txBox="1"/>
          <p:nvPr/>
        </p:nvSpPr>
        <p:spPr>
          <a:xfrm>
            <a:off x="700404" y="511175"/>
            <a:ext cx="11315383" cy="584775"/>
          </a:xfrm>
          <a:prstGeom prst="rect">
            <a:avLst/>
          </a:prstGeom>
          <a:noFill/>
        </p:spPr>
        <p:txBody>
          <a:bodyPr wrap="square" rtlCol="0">
            <a:spAutoFit/>
          </a:bodyPr>
          <a:lstStyle/>
          <a:p>
            <a:pPr marL="0" lvl="1"/>
            <a:r>
              <a:rPr lang="en-US" altLang="zh-CN" sz="3200" b="1" dirty="0" err="1">
                <a:solidFill>
                  <a:schemeClr val="accent1"/>
                </a:solidFill>
                <a:latin typeface="Calibri" panose="020F0502020204030204" pitchFamily="34" charset="0"/>
                <a:cs typeface="Calibri" panose="020F0502020204030204" pitchFamily="34" charset="0"/>
              </a:rPr>
              <a:t>HuggingFace</a:t>
            </a:r>
            <a:r>
              <a:rPr lang="en-US" altLang="zh-CN" sz="3200" b="1" dirty="0">
                <a:solidFill>
                  <a:schemeClr val="accent1"/>
                </a:solidFill>
                <a:latin typeface="Calibri" panose="020F0502020204030204" pitchFamily="34" charset="0"/>
                <a:cs typeface="Calibri" panose="020F0502020204030204" pitchFamily="34" charset="0"/>
              </a:rPr>
              <a:t> &amp; </a:t>
            </a:r>
            <a:r>
              <a:rPr lang="en-US" altLang="zh-CN" sz="3200" b="1" dirty="0" err="1">
                <a:solidFill>
                  <a:schemeClr val="accent1"/>
                </a:solidFill>
                <a:latin typeface="Calibri" panose="020F0502020204030204" pitchFamily="34" charset="0"/>
                <a:cs typeface="Calibri" panose="020F0502020204030204" pitchFamily="34" charset="0"/>
              </a:rPr>
              <a:t>ModelScope</a:t>
            </a:r>
            <a:r>
              <a:rPr lang="en-US" altLang="zh-CN" sz="3200" b="1" dirty="0">
                <a:solidFill>
                  <a:schemeClr val="accent1"/>
                </a:solidFill>
                <a:latin typeface="Calibri" panose="020F0502020204030204" pitchFamily="34" charset="0"/>
                <a:cs typeface="Calibri" panose="020F0502020204030204" pitchFamily="34" charset="0"/>
              </a:rPr>
              <a:t>: Download model weights &amp; datasets</a:t>
            </a:r>
          </a:p>
        </p:txBody>
      </p:sp>
      <p:cxnSp>
        <p:nvCxnSpPr>
          <p:cNvPr id="12" name="直接连接符 2"/>
          <p:cNvCxnSpPr/>
          <p:nvPr/>
        </p:nvCxnSpPr>
        <p:spPr>
          <a:xfrm>
            <a:off x="771526" y="1150144"/>
            <a:ext cx="6576331"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5"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E1. </a:t>
            </a:r>
            <a:r>
              <a:rPr lang="en-US" altLang="zh-CN" sz="1500" b="1" dirty="0">
                <a:latin typeface="Calibri" panose="020F0502020204030204" pitchFamily="34" charset="0"/>
                <a:cs typeface="Calibri" panose="020F0502020204030204" pitchFamily="34" charset="0"/>
                <a:sym typeface="+mn-ea"/>
              </a:rPr>
              <a:t>Environment Setup for Large Language Models</a:t>
            </a:r>
            <a:r>
              <a:rPr lang="en-US" altLang="zh-CN" sz="1500" dirty="0"/>
              <a:t>     						  	            		</a:t>
            </a:r>
            <a:endParaRPr lang="zh-CN" altLang="en-US" sz="1500" dirty="0"/>
          </a:p>
        </p:txBody>
      </p:sp>
      <p:sp>
        <p:nvSpPr>
          <p:cNvPr id="2" name="文本框 6"/>
          <p:cNvSpPr txBox="1"/>
          <p:nvPr/>
        </p:nvSpPr>
        <p:spPr>
          <a:xfrm>
            <a:off x="700404" y="1445240"/>
            <a:ext cx="11315382" cy="2893100"/>
          </a:xfrm>
          <a:prstGeom prst="rect">
            <a:avLst/>
          </a:prstGeom>
          <a:noFill/>
        </p:spPr>
        <p:txBody>
          <a:bodyPr wrap="square" rtlCol="0">
            <a:spAutoFit/>
          </a:bodyPr>
          <a:lstStyle/>
          <a:p>
            <a:pPr algn="just">
              <a:buClr>
                <a:srgbClr val="2F57D9"/>
              </a:buClr>
              <a:buSzPct val="70000"/>
            </a:pPr>
            <a:r>
              <a:rPr lang="en-US" altLang="zh-CN" dirty="0" err="1"/>
              <a:t>ModelScope</a:t>
            </a:r>
            <a:r>
              <a:rPr lang="zh-CN" altLang="en-US" dirty="0"/>
              <a:t> （魔搭社区）</a:t>
            </a:r>
            <a:endParaRPr lang="en-US" altLang="zh-CN" dirty="0"/>
          </a:p>
          <a:p>
            <a:pPr algn="just">
              <a:buClr>
                <a:srgbClr val="2F57D9"/>
              </a:buClr>
              <a:buSzPct val="70000"/>
            </a:pPr>
            <a:endParaRPr lang="en-US" altLang="zh-CN" sz="2000" dirty="0">
              <a:latin typeface="Calibri" panose="020F0502020204030204" pitchFamily="34" charset="0"/>
              <a:cs typeface="Calibri" panose="020F0502020204030204" pitchFamily="34" charset="0"/>
            </a:endParaRPr>
          </a:p>
          <a:p>
            <a:r>
              <a:rPr lang="en-US" altLang="zh-CN" b="1" dirty="0">
                <a:latin typeface="Calibri" panose="020F0502020204030204" pitchFamily="34" charset="0"/>
                <a:cs typeface="Calibri" panose="020F0502020204030204" pitchFamily="34" charset="0"/>
              </a:rPr>
              <a:t>Install dependencies</a:t>
            </a:r>
          </a:p>
          <a:p>
            <a:r>
              <a:rPr lang="en-US" altLang="zh-CN" dirty="0">
                <a:latin typeface="Courier New" panose="02070309020205020404" pitchFamily="49" charset="0"/>
                <a:cs typeface="Courier New" panose="02070309020205020404" pitchFamily="49" charset="0"/>
              </a:rPr>
              <a:t>pip install</a:t>
            </a:r>
            <a:r>
              <a:rPr lang="zh-CN" altLang="en-US"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modelscope</a:t>
            </a:r>
            <a:endParaRPr lang="en-US" altLang="zh-CN" dirty="0">
              <a:latin typeface="Courier New" panose="02070309020205020404" pitchFamily="49" charset="0"/>
              <a:cs typeface="Courier New" panose="02070309020205020404" pitchFamily="49" charset="0"/>
            </a:endParaRPr>
          </a:p>
          <a:p>
            <a:endParaRPr lang="en-US" altLang="zh-CN" dirty="0">
              <a:latin typeface="Courier New" panose="02070309020205020404" pitchFamily="49" charset="0"/>
              <a:cs typeface="Courier New" panose="02070309020205020404" pitchFamily="49" charset="0"/>
            </a:endParaRPr>
          </a:p>
          <a:p>
            <a:r>
              <a:rPr lang="en-US" altLang="zh-CN" b="1" dirty="0">
                <a:latin typeface="Calibri" panose="020F0502020204030204" pitchFamily="34" charset="0"/>
                <a:cs typeface="Calibri" panose="020F0502020204030204" pitchFamily="34" charset="0"/>
              </a:rPr>
              <a:t>Basic Usage - Downloading Models</a:t>
            </a:r>
          </a:p>
          <a:p>
            <a:r>
              <a:rPr lang="en-US" altLang="zh-CN" dirty="0" err="1">
                <a:latin typeface="Courier New" panose="02070309020205020404" pitchFamily="49" charset="0"/>
                <a:cs typeface="Courier New" panose="02070309020205020404" pitchFamily="49" charset="0"/>
              </a:rPr>
              <a:t>modelscope</a:t>
            </a:r>
            <a:r>
              <a:rPr lang="en-US" altLang="zh-CN" dirty="0">
                <a:latin typeface="Courier New" panose="02070309020205020404" pitchFamily="49" charset="0"/>
                <a:cs typeface="Courier New" panose="02070309020205020404" pitchFamily="49" charset="0"/>
              </a:rPr>
              <a:t> download gpt2 --local-</a:t>
            </a:r>
            <a:r>
              <a:rPr lang="en-US" altLang="zh-CN" dirty="0" err="1">
                <a:latin typeface="Courier New" panose="02070309020205020404" pitchFamily="49" charset="0"/>
                <a:cs typeface="Courier New" panose="02070309020205020404" pitchFamily="49" charset="0"/>
              </a:rPr>
              <a:t>dir</a:t>
            </a:r>
            <a:r>
              <a:rPr lang="en-US" altLang="zh-CN" dirty="0">
                <a:latin typeface="Courier New" panose="02070309020205020404" pitchFamily="49" charset="0"/>
                <a:cs typeface="Courier New" panose="02070309020205020404" pitchFamily="49" charset="0"/>
              </a:rPr>
              <a:t> gpt2</a:t>
            </a:r>
          </a:p>
          <a:p>
            <a:endParaRPr lang="en-US" altLang="zh-CN" dirty="0">
              <a:latin typeface="Courier New" panose="02070309020205020404" pitchFamily="49" charset="0"/>
              <a:cs typeface="Courier New" panose="02070309020205020404" pitchFamily="49" charset="0"/>
            </a:endParaRPr>
          </a:p>
          <a:p>
            <a:r>
              <a:rPr lang="en-US" altLang="zh-CN" b="1" dirty="0">
                <a:latin typeface="Calibri" panose="020F0502020204030204" pitchFamily="34" charset="0"/>
                <a:cs typeface="Calibri" panose="020F0502020204030204" pitchFamily="34" charset="0"/>
              </a:rPr>
              <a:t>Basic usage - Downloading datasets</a:t>
            </a:r>
          </a:p>
          <a:p>
            <a:r>
              <a:rPr lang="en-US" altLang="zh-CN" dirty="0" err="1">
                <a:latin typeface="Courier New" panose="02070309020205020404" pitchFamily="49" charset="0"/>
                <a:cs typeface="Courier New" panose="02070309020205020404" pitchFamily="49" charset="0"/>
              </a:rPr>
              <a:t>modelscope</a:t>
            </a:r>
            <a:r>
              <a:rPr lang="en-US" altLang="zh-CN" dirty="0">
                <a:latin typeface="Courier New" panose="02070309020205020404" pitchFamily="49" charset="0"/>
                <a:cs typeface="Courier New" panose="02070309020205020404" pitchFamily="49" charset="0"/>
              </a:rPr>
              <a:t> download --repo-type dataset </a:t>
            </a:r>
            <a:r>
              <a:rPr lang="en-US" altLang="zh-CN" dirty="0" err="1">
                <a:latin typeface="Courier New" panose="02070309020205020404" pitchFamily="49" charset="0"/>
                <a:cs typeface="Courier New" panose="02070309020205020404" pitchFamily="49" charset="0"/>
              </a:rPr>
              <a:t>lavita</a:t>
            </a:r>
            <a:r>
              <a:rPr lang="en-US" altLang="zh-CN" dirty="0">
                <a:latin typeface="Courier New" panose="02070309020205020404" pitchFamily="49" charset="0"/>
                <a:cs typeface="Courier New" panose="02070309020205020404" pitchFamily="49" charset="0"/>
              </a:rPr>
              <a:t>/medical-qa-shared-task-v1-toy</a:t>
            </a:r>
          </a:p>
        </p:txBody>
      </p:sp>
      <p:sp>
        <p:nvSpPr>
          <p:cNvPr id="3" name="文本框 6"/>
          <p:cNvSpPr txBox="1"/>
          <p:nvPr/>
        </p:nvSpPr>
        <p:spPr>
          <a:xfrm>
            <a:off x="700404" y="4584321"/>
            <a:ext cx="11315382" cy="1815882"/>
          </a:xfrm>
          <a:prstGeom prst="rect">
            <a:avLst/>
          </a:prstGeom>
          <a:noFill/>
        </p:spPr>
        <p:txBody>
          <a:bodyPr wrap="square" rtlCol="0">
            <a:spAutoFit/>
          </a:bodyPr>
          <a:lstStyle/>
          <a:p>
            <a:pPr algn="just">
              <a:buClr>
                <a:srgbClr val="2F57D9"/>
              </a:buClr>
              <a:buSzPct val="70000"/>
            </a:pPr>
            <a:r>
              <a:rPr lang="en-US" altLang="zh-CN" sz="2000" dirty="0" err="1">
                <a:latin typeface="Calibri" panose="020F0502020204030204" pitchFamily="34" charset="0"/>
                <a:cs typeface="Calibri" panose="020F0502020204030204" pitchFamily="34" charset="0"/>
              </a:rPr>
              <a:t>huggingface</a:t>
            </a:r>
            <a:r>
              <a:rPr lang="zh-CN" altLang="en-US" sz="2000" dirty="0">
                <a:latin typeface="Calibri" panose="020F0502020204030204" pitchFamily="34" charset="0"/>
                <a:cs typeface="Calibri" panose="020F0502020204030204" pitchFamily="34" charset="0"/>
              </a:rPr>
              <a:t> </a:t>
            </a:r>
            <a:r>
              <a:rPr lang="en-US" altLang="zh-CN" sz="2000" dirty="0">
                <a:latin typeface="Calibri" panose="020F0502020204030204" pitchFamily="34" charset="0"/>
                <a:cs typeface="Calibri" panose="020F0502020204030204" pitchFamily="34" charset="0"/>
              </a:rPr>
              <a:t>package</a:t>
            </a:r>
            <a:r>
              <a:rPr lang="zh-CN" altLang="en-US" sz="2000" dirty="0">
                <a:latin typeface="Calibri" panose="020F0502020204030204" pitchFamily="34" charset="0"/>
                <a:cs typeface="Calibri" panose="020F0502020204030204" pitchFamily="34" charset="0"/>
              </a:rPr>
              <a:t> </a:t>
            </a:r>
            <a:r>
              <a:rPr lang="en-US" altLang="zh-CN" sz="2000" dirty="0">
                <a:latin typeface="Calibri" panose="020F0502020204030204" pitchFamily="34" charset="0"/>
                <a:cs typeface="Calibri" panose="020F0502020204030204" pitchFamily="34" charset="0"/>
              </a:rPr>
              <a:t>for</a:t>
            </a:r>
            <a:r>
              <a:rPr lang="zh-CN" altLang="en-US" sz="2000" dirty="0">
                <a:latin typeface="Calibri" panose="020F0502020204030204" pitchFamily="34" charset="0"/>
                <a:cs typeface="Calibri" panose="020F0502020204030204" pitchFamily="34" charset="0"/>
              </a:rPr>
              <a:t> </a:t>
            </a:r>
            <a:r>
              <a:rPr lang="en-US" altLang="zh-CN" sz="2000" dirty="0">
                <a:latin typeface="Calibri" panose="020F0502020204030204" pitchFamily="34" charset="0"/>
                <a:cs typeface="Calibri" panose="020F0502020204030204" pitchFamily="34" charset="0"/>
              </a:rPr>
              <a:t>using</a:t>
            </a:r>
            <a:r>
              <a:rPr lang="zh-CN" altLang="en-US" sz="2000" dirty="0">
                <a:latin typeface="Calibri" panose="020F0502020204030204" pitchFamily="34" charset="0"/>
                <a:cs typeface="Calibri" panose="020F0502020204030204" pitchFamily="34" charset="0"/>
              </a:rPr>
              <a:t> </a:t>
            </a:r>
            <a:r>
              <a:rPr lang="en-US" altLang="zh-CN" sz="2000" dirty="0">
                <a:latin typeface="Calibri" panose="020F0502020204030204" pitchFamily="34" charset="0"/>
                <a:cs typeface="Calibri" panose="020F0502020204030204" pitchFamily="34" charset="0"/>
              </a:rPr>
              <a:t>the model &amp; dataset</a:t>
            </a:r>
          </a:p>
          <a:p>
            <a:pPr algn="just">
              <a:buClr>
                <a:srgbClr val="2F57D9"/>
              </a:buClr>
              <a:buSzPct val="70000"/>
            </a:pPr>
            <a:endParaRPr lang="en-US" altLang="zh-CN" sz="2000" dirty="0">
              <a:latin typeface="Calibri" panose="020F0502020204030204" pitchFamily="34" charset="0"/>
              <a:cs typeface="Calibri" panose="020F0502020204030204" pitchFamily="34" charset="0"/>
            </a:endParaRPr>
          </a:p>
          <a:p>
            <a:r>
              <a:rPr lang="en-US" altLang="zh-CN" b="1" dirty="0">
                <a:latin typeface="Calibri" panose="020F0502020204030204" pitchFamily="34" charset="0"/>
                <a:cs typeface="Calibri" panose="020F0502020204030204" pitchFamily="34" charset="0"/>
              </a:rPr>
              <a:t>Install dependencies</a:t>
            </a:r>
          </a:p>
          <a:p>
            <a:r>
              <a:rPr lang="en-US" altLang="zh-CN" dirty="0">
                <a:latin typeface="Courier New" panose="02070309020205020404" pitchFamily="49" charset="0"/>
                <a:cs typeface="Courier New" panose="02070309020205020404" pitchFamily="49" charset="0"/>
              </a:rPr>
              <a:t>pip3 install torch </a:t>
            </a:r>
            <a:r>
              <a:rPr lang="en-US" altLang="zh-CN" dirty="0" err="1">
                <a:latin typeface="Courier New" panose="02070309020205020404" pitchFamily="49" charset="0"/>
                <a:cs typeface="Courier New" panose="02070309020205020404" pitchFamily="49" charset="0"/>
              </a:rPr>
              <a:t>torchvision</a:t>
            </a:r>
            <a:r>
              <a:rPr lang="zh-CN" altLang="en-US" dirty="0">
                <a:latin typeface="Courier New" panose="02070309020205020404" pitchFamily="49" charset="0"/>
                <a:cs typeface="Courier New" panose="02070309020205020404" pitchFamily="49" charset="0"/>
              </a:rPr>
              <a:t> </a:t>
            </a:r>
            <a:r>
              <a:rPr lang="en-US" altLang="zh-CN" dirty="0">
                <a:latin typeface="Courier New" panose="02070309020205020404" pitchFamily="49" charset="0"/>
                <a:cs typeface="Courier New" panose="02070309020205020404" pitchFamily="49" charset="0"/>
              </a:rPr>
              <a:t>#for</a:t>
            </a:r>
            <a:r>
              <a:rPr lang="zh-CN" altLang="en-US"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cpu</a:t>
            </a:r>
            <a:endParaRPr lang="en-US" altLang="zh-CN" dirty="0">
              <a:latin typeface="Courier New" panose="02070309020205020404" pitchFamily="49" charset="0"/>
              <a:cs typeface="Courier New" panose="02070309020205020404" pitchFamily="49" charset="0"/>
            </a:endParaRPr>
          </a:p>
          <a:p>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 https://</a:t>
            </a:r>
            <a:r>
              <a:rPr lang="en-US" altLang="zh-CN" dirty="0" err="1">
                <a:latin typeface="Courier New" panose="02070309020205020404" pitchFamily="49" charset="0"/>
                <a:cs typeface="Courier New" panose="02070309020205020404" pitchFamily="49" charset="0"/>
              </a:rPr>
              <a:t>pytorch.org</a:t>
            </a:r>
            <a:r>
              <a:rPr lang="en-US" altLang="zh-CN" dirty="0">
                <a:latin typeface="Courier New" panose="02070309020205020404" pitchFamily="49" charset="0"/>
                <a:cs typeface="Courier New" panose="02070309020205020404" pitchFamily="49" charset="0"/>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4"/>
          <p:cNvSpPr txBox="1"/>
          <p:nvPr/>
        </p:nvSpPr>
        <p:spPr>
          <a:xfrm>
            <a:off x="700404" y="511175"/>
            <a:ext cx="11315383" cy="584775"/>
          </a:xfrm>
          <a:prstGeom prst="rect">
            <a:avLst/>
          </a:prstGeom>
          <a:noFill/>
        </p:spPr>
        <p:txBody>
          <a:bodyPr wrap="square" rtlCol="0">
            <a:spAutoFit/>
          </a:bodyPr>
          <a:lstStyle/>
          <a:p>
            <a:pPr marL="0" lvl="1"/>
            <a:r>
              <a:rPr lang="en-US" altLang="zh-CN" sz="3200" b="1" dirty="0" err="1">
                <a:solidFill>
                  <a:schemeClr val="accent1"/>
                </a:solidFill>
                <a:latin typeface="Calibri" panose="020F0502020204030204" pitchFamily="34" charset="0"/>
                <a:cs typeface="Calibri" panose="020F0502020204030204" pitchFamily="34" charset="0"/>
              </a:rPr>
              <a:t>HuggingFace</a:t>
            </a:r>
            <a:r>
              <a:rPr lang="en-US" altLang="zh-CN" sz="3200" b="1" dirty="0">
                <a:solidFill>
                  <a:schemeClr val="accent1"/>
                </a:solidFill>
                <a:latin typeface="Calibri" panose="020F0502020204030204" pitchFamily="34" charset="0"/>
                <a:cs typeface="Calibri" panose="020F0502020204030204" pitchFamily="34" charset="0"/>
              </a:rPr>
              <a:t> </a:t>
            </a:r>
            <a:r>
              <a:rPr lang="en-US" altLang="zh-CN" sz="3200" dirty="0">
                <a:solidFill>
                  <a:schemeClr val="accent1"/>
                </a:solidFill>
                <a:latin typeface="Courier New" panose="02070309020205020404" pitchFamily="49" charset="0"/>
                <a:cs typeface="Courier New" panose="02070309020205020404" pitchFamily="49" charset="0"/>
              </a:rPr>
              <a:t>transformer</a:t>
            </a:r>
            <a:r>
              <a:rPr lang="en-US" altLang="zh-CN" sz="3200" b="1" dirty="0">
                <a:solidFill>
                  <a:schemeClr val="accent1"/>
                </a:solidFill>
                <a:latin typeface="Calibri" panose="020F0502020204030204" pitchFamily="34" charset="0"/>
                <a:cs typeface="Calibri" panose="020F0502020204030204" pitchFamily="34" charset="0"/>
              </a:rPr>
              <a:t> Package for Using the Model</a:t>
            </a:r>
          </a:p>
        </p:txBody>
      </p:sp>
      <p:cxnSp>
        <p:nvCxnSpPr>
          <p:cNvPr id="12" name="直接连接符 2"/>
          <p:cNvCxnSpPr/>
          <p:nvPr/>
        </p:nvCxnSpPr>
        <p:spPr>
          <a:xfrm>
            <a:off x="771526" y="1150144"/>
            <a:ext cx="6576331"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5"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E1. </a:t>
            </a:r>
            <a:r>
              <a:rPr lang="en-US" altLang="zh-CN" sz="1500" b="1" dirty="0">
                <a:latin typeface="Calibri" panose="020F0502020204030204" pitchFamily="34" charset="0"/>
                <a:cs typeface="Calibri" panose="020F0502020204030204" pitchFamily="34" charset="0"/>
                <a:sym typeface="+mn-ea"/>
              </a:rPr>
              <a:t>Environment Setup for Large Language Models</a:t>
            </a:r>
            <a:r>
              <a:rPr lang="en-US" altLang="zh-CN" sz="1500" dirty="0"/>
              <a:t>     						  	            		</a:t>
            </a:r>
            <a:endParaRPr lang="zh-CN" altLang="en-US" sz="1500" dirty="0"/>
          </a:p>
        </p:txBody>
      </p:sp>
      <p:sp>
        <p:nvSpPr>
          <p:cNvPr id="2" name="文本框 6"/>
          <p:cNvSpPr txBox="1"/>
          <p:nvPr/>
        </p:nvSpPr>
        <p:spPr>
          <a:xfrm>
            <a:off x="700404" y="1445240"/>
            <a:ext cx="11315382" cy="2585323"/>
          </a:xfrm>
          <a:prstGeom prst="rect">
            <a:avLst/>
          </a:prstGeom>
          <a:noFill/>
        </p:spPr>
        <p:txBody>
          <a:bodyPr wrap="square" rtlCol="0">
            <a:spAutoFit/>
          </a:bodyPr>
          <a:lstStyle/>
          <a:p>
            <a:r>
              <a:rPr lang="en-US" altLang="zh-CN" b="1" dirty="0">
                <a:latin typeface="Calibri" panose="020F0502020204030204" pitchFamily="34" charset="0"/>
                <a:cs typeface="Calibri" panose="020F0502020204030204" pitchFamily="34" charset="0"/>
              </a:rPr>
              <a:t>Install dependencies</a:t>
            </a:r>
          </a:p>
          <a:p>
            <a:r>
              <a:rPr lang="en-US" altLang="zh-CN" dirty="0">
                <a:latin typeface="Courier New" panose="02070309020205020404" pitchFamily="49" charset="0"/>
                <a:cs typeface="Courier New" panose="02070309020205020404" pitchFamily="49" charset="0"/>
              </a:rPr>
              <a:t>pip install</a:t>
            </a:r>
            <a:r>
              <a:rPr lang="zh-CN" altLang="en-US" dirty="0">
                <a:latin typeface="Courier New" panose="02070309020205020404" pitchFamily="49" charset="0"/>
                <a:cs typeface="Courier New" panose="02070309020205020404" pitchFamily="49" charset="0"/>
              </a:rPr>
              <a:t> </a:t>
            </a:r>
            <a:r>
              <a:rPr lang="en-GB" altLang="zh-CN" dirty="0">
                <a:latin typeface="Courier New" panose="02070309020205020404" pitchFamily="49" charset="0"/>
                <a:cs typeface="Courier New" panose="02070309020205020404" pitchFamily="49" charset="0"/>
              </a:rPr>
              <a:t>transformers</a:t>
            </a:r>
          </a:p>
          <a:p>
            <a:endParaRPr lang="en-GB" altLang="zh-CN" dirty="0">
              <a:latin typeface="Courier New" panose="02070309020205020404" pitchFamily="49" charset="0"/>
              <a:cs typeface="Courier New" panose="02070309020205020404" pitchFamily="49" charset="0"/>
            </a:endParaRPr>
          </a:p>
          <a:p>
            <a:r>
              <a:rPr lang="en-US" altLang="zh-CN" b="1" dirty="0">
                <a:latin typeface="Calibri" panose="020F0502020204030204" pitchFamily="34" charset="0"/>
                <a:cs typeface="Calibri" panose="020F0502020204030204" pitchFamily="34" charset="0"/>
              </a:rPr>
              <a:t>In python</a:t>
            </a:r>
            <a:r>
              <a:rPr lang="zh-CN" altLang="en-US" b="1" dirty="0">
                <a:latin typeface="Calibri" panose="020F0502020204030204" pitchFamily="34" charset="0"/>
                <a:cs typeface="Calibri" panose="020F0502020204030204" pitchFamily="34" charset="0"/>
              </a:rPr>
              <a:t> </a:t>
            </a:r>
            <a:r>
              <a:rPr lang="en-US" altLang="zh-CN" b="1" dirty="0">
                <a:latin typeface="Calibri" panose="020F0502020204030204" pitchFamily="34" charset="0"/>
                <a:cs typeface="Calibri" panose="020F0502020204030204" pitchFamily="34" charset="0"/>
              </a:rPr>
              <a:t>script</a:t>
            </a:r>
            <a:endParaRPr lang="en-GB"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from </a:t>
            </a:r>
            <a:r>
              <a:rPr lang="en-GB" altLang="zh-CN" dirty="0">
                <a:latin typeface="Courier New" panose="02070309020205020404" pitchFamily="49" charset="0"/>
                <a:cs typeface="Courier New" panose="02070309020205020404" pitchFamily="49" charset="0"/>
              </a:rPr>
              <a:t>transformer</a:t>
            </a:r>
            <a:r>
              <a:rPr lang="en-US" altLang="zh-CN" dirty="0">
                <a:latin typeface="Courier New" panose="02070309020205020404" pitchFamily="49" charset="0"/>
                <a:cs typeface="Courier New" panose="02070309020205020404" pitchFamily="49" charset="0"/>
              </a:rPr>
              <a:t> import </a:t>
            </a:r>
            <a:r>
              <a:rPr lang="en-US" altLang="zh-CN" dirty="0" err="1">
                <a:latin typeface="Courier New" panose="02070309020205020404" pitchFamily="49" charset="0"/>
                <a:cs typeface="Courier New" panose="02070309020205020404" pitchFamily="49" charset="0"/>
              </a:rPr>
              <a:t>AutoModelForCausalLM</a:t>
            </a: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AutoTokenizer</a:t>
            </a:r>
            <a:endParaRPr lang="en-US" altLang="zh-CN" dirty="0">
              <a:latin typeface="Courier New" panose="02070309020205020404" pitchFamily="49" charset="0"/>
              <a:cs typeface="Courier New" panose="02070309020205020404" pitchFamily="49" charset="0"/>
            </a:endParaRPr>
          </a:p>
          <a:p>
            <a:endParaRPr lang="en-US" altLang="zh-CN" dirty="0">
              <a:latin typeface="Courier New" panose="02070309020205020404" pitchFamily="49" charset="0"/>
              <a:cs typeface="Courier New" panose="02070309020205020404" pitchFamily="49" charset="0"/>
            </a:endParaRPr>
          </a:p>
          <a:p>
            <a:r>
              <a:rPr lang="en-US" altLang="zh-CN" b="1" dirty="0">
                <a:latin typeface="Calibri" panose="020F0502020204030204" pitchFamily="34" charset="0"/>
                <a:cs typeface="Calibri" panose="020F0502020204030204" pitchFamily="34" charset="0"/>
              </a:rPr>
              <a:t>Basic Usage – Loding the Tokenizer &amp; Model</a:t>
            </a:r>
          </a:p>
          <a:p>
            <a:r>
              <a:rPr lang="en-US" altLang="zh-CN" dirty="0">
                <a:latin typeface="Courier New" panose="02070309020205020404" pitchFamily="49" charset="0"/>
                <a:cs typeface="Courier New" panose="02070309020205020404" pitchFamily="49" charset="0"/>
              </a:rPr>
              <a:t>tokenizer = </a:t>
            </a:r>
            <a:r>
              <a:rPr lang="en-US" altLang="zh-CN" dirty="0" err="1">
                <a:latin typeface="Courier New" panose="02070309020205020404" pitchFamily="49" charset="0"/>
                <a:cs typeface="Courier New" panose="02070309020205020404" pitchFamily="49" charset="0"/>
              </a:rPr>
              <a:t>AutoTokenizer.from_pretrained</a:t>
            </a:r>
            <a:r>
              <a:rPr lang="en-US" altLang="zh-CN" dirty="0">
                <a:latin typeface="Courier New" panose="02070309020205020404" pitchFamily="49" charset="0"/>
                <a:cs typeface="Courier New" panose="02070309020205020404" pitchFamily="49" charset="0"/>
              </a:rPr>
              <a:t>(</a:t>
            </a:r>
            <a:r>
              <a:rPr lang="en-US" altLang="zh-CN" dirty="0" err="1">
                <a:latin typeface="Courier New" panose="02070309020205020404" pitchFamily="49" charset="0"/>
                <a:cs typeface="Courier New" panose="02070309020205020404" pitchFamily="49" charset="0"/>
              </a:rPr>
              <a:t>model_name</a:t>
            </a:r>
            <a:r>
              <a:rPr lang="en-US" altLang="zh-CN" dirty="0">
                <a:latin typeface="Courier New" panose="02070309020205020404" pitchFamily="49" charset="0"/>
                <a:cs typeface="Courier New" panose="02070309020205020404" pitchFamily="49" charset="0"/>
              </a:rPr>
              <a:t>) </a:t>
            </a:r>
          </a:p>
          <a:p>
            <a:r>
              <a:rPr lang="en-US" altLang="zh-CN" dirty="0">
                <a:latin typeface="Courier New" panose="02070309020205020404" pitchFamily="49" charset="0"/>
                <a:cs typeface="Courier New" panose="02070309020205020404" pitchFamily="49" charset="0"/>
              </a:rPr>
              <a:t>model = </a:t>
            </a:r>
            <a:r>
              <a:rPr lang="en-US" altLang="zh-CN" dirty="0" err="1">
                <a:latin typeface="Courier New" panose="02070309020205020404" pitchFamily="49" charset="0"/>
                <a:cs typeface="Courier New" panose="02070309020205020404" pitchFamily="49" charset="0"/>
              </a:rPr>
              <a:t>AutoModelForCausalLM.from_pretrained</a:t>
            </a:r>
            <a:r>
              <a:rPr lang="en-US" altLang="zh-CN" dirty="0">
                <a:latin typeface="Courier New" panose="02070309020205020404" pitchFamily="49" charset="0"/>
                <a:cs typeface="Courier New" panose="02070309020205020404" pitchFamily="49" charset="0"/>
              </a:rPr>
              <a:t>(</a:t>
            </a:r>
            <a:r>
              <a:rPr lang="en-US" altLang="zh-CN" dirty="0" err="1">
                <a:latin typeface="Courier New" panose="02070309020205020404" pitchFamily="49" charset="0"/>
                <a:cs typeface="Courier New" panose="02070309020205020404" pitchFamily="49" charset="0"/>
              </a:rPr>
              <a:t>model_name,device_map</a:t>
            </a:r>
            <a:r>
              <a:rPr lang="en-US" altLang="zh-CN" dirty="0">
                <a:latin typeface="Courier New" panose="02070309020205020404" pitchFamily="49" charset="0"/>
                <a:cs typeface="Courier New" panose="02070309020205020404" pitchFamily="49" charset="0"/>
              </a:rPr>
              <a:t>="auto")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4"/>
          <p:cNvSpPr txBox="1"/>
          <p:nvPr/>
        </p:nvSpPr>
        <p:spPr>
          <a:xfrm>
            <a:off x="700405" y="511175"/>
            <a:ext cx="9037320" cy="584775"/>
          </a:xfrm>
          <a:prstGeom prst="rect">
            <a:avLst/>
          </a:prstGeom>
          <a:noFill/>
        </p:spPr>
        <p:txBody>
          <a:bodyPr wrap="square" rtlCol="0">
            <a:spAutoFit/>
          </a:bodyPr>
          <a:lstStyle/>
          <a:p>
            <a:pPr marL="0" lvl="1"/>
            <a:r>
              <a:rPr lang="en-US" altLang="zh-CN" sz="3200" b="1" dirty="0">
                <a:solidFill>
                  <a:schemeClr val="accent1"/>
                </a:solidFill>
                <a:latin typeface="Calibri" panose="020F0502020204030204" pitchFamily="34" charset="0"/>
                <a:cs typeface="Calibri" panose="020F0502020204030204" pitchFamily="34" charset="0"/>
              </a:rPr>
              <a:t>A</a:t>
            </a:r>
            <a:r>
              <a:rPr lang="zh-CN" altLang="en-US" sz="3200" b="1" dirty="0">
                <a:solidFill>
                  <a:schemeClr val="accent1"/>
                </a:solidFill>
                <a:latin typeface="Calibri" panose="020F0502020204030204" pitchFamily="34" charset="0"/>
                <a:cs typeface="Calibri" panose="020F0502020204030204" pitchFamily="34" charset="0"/>
              </a:rPr>
              <a:t> </a:t>
            </a:r>
            <a:r>
              <a:rPr lang="en-US" altLang="zh-CN" sz="3200" b="1" dirty="0">
                <a:solidFill>
                  <a:schemeClr val="accent1"/>
                </a:solidFill>
                <a:latin typeface="Calibri" panose="020F0502020204030204" pitchFamily="34" charset="0"/>
                <a:cs typeface="Calibri" panose="020F0502020204030204" pitchFamily="34" charset="0"/>
              </a:rPr>
              <a:t>simple</a:t>
            </a:r>
            <a:r>
              <a:rPr lang="zh-CN" altLang="en-US" sz="3200" b="1" dirty="0">
                <a:solidFill>
                  <a:schemeClr val="accent1"/>
                </a:solidFill>
                <a:latin typeface="Calibri" panose="020F0502020204030204" pitchFamily="34" charset="0"/>
                <a:cs typeface="Calibri" panose="020F0502020204030204" pitchFamily="34" charset="0"/>
              </a:rPr>
              <a:t> </a:t>
            </a:r>
            <a:r>
              <a:rPr lang="en-US" altLang="zh-CN" sz="3200" b="1" dirty="0">
                <a:solidFill>
                  <a:schemeClr val="accent1"/>
                </a:solidFill>
                <a:latin typeface="Calibri" panose="020F0502020204030204" pitchFamily="34" charset="0"/>
                <a:cs typeface="Calibri" panose="020F0502020204030204" pitchFamily="34" charset="0"/>
              </a:rPr>
              <a:t>example</a:t>
            </a:r>
            <a:r>
              <a:rPr lang="zh-CN" altLang="en-US" sz="3200" b="1" dirty="0">
                <a:solidFill>
                  <a:schemeClr val="accent1"/>
                </a:solidFill>
                <a:latin typeface="Calibri" panose="020F0502020204030204" pitchFamily="34" charset="0"/>
                <a:cs typeface="Calibri" panose="020F0502020204030204" pitchFamily="34" charset="0"/>
              </a:rPr>
              <a:t> </a:t>
            </a:r>
            <a:r>
              <a:rPr lang="en-US" altLang="zh-CN" sz="3200" b="1" dirty="0">
                <a:solidFill>
                  <a:schemeClr val="accent1"/>
                </a:solidFill>
                <a:latin typeface="Calibri" panose="020F0502020204030204" pitchFamily="34" charset="0"/>
                <a:cs typeface="Calibri" panose="020F0502020204030204" pitchFamily="34" charset="0"/>
              </a:rPr>
              <a:t>using</a:t>
            </a:r>
            <a:r>
              <a:rPr lang="zh-CN" altLang="en-US" sz="3200" b="1" dirty="0">
                <a:solidFill>
                  <a:schemeClr val="accent1"/>
                </a:solidFill>
                <a:latin typeface="Calibri" panose="020F0502020204030204" pitchFamily="34" charset="0"/>
                <a:cs typeface="Calibri" panose="020F0502020204030204" pitchFamily="34" charset="0"/>
              </a:rPr>
              <a:t> </a:t>
            </a:r>
            <a:r>
              <a:rPr lang="en-US" altLang="zh-CN" sz="3200" b="1" dirty="0">
                <a:solidFill>
                  <a:schemeClr val="accent1"/>
                </a:solidFill>
                <a:latin typeface="Calibri" panose="020F0502020204030204" pitchFamily="34" charset="0"/>
                <a:cs typeface="Calibri" panose="020F0502020204030204" pitchFamily="34" charset="0"/>
              </a:rPr>
              <a:t>the</a:t>
            </a:r>
            <a:r>
              <a:rPr lang="zh-CN" altLang="en-US" sz="3200" b="1" dirty="0">
                <a:solidFill>
                  <a:schemeClr val="accent1"/>
                </a:solidFill>
                <a:latin typeface="Calibri" panose="020F0502020204030204" pitchFamily="34" charset="0"/>
                <a:cs typeface="Calibri" panose="020F0502020204030204" pitchFamily="34" charset="0"/>
              </a:rPr>
              <a:t> </a:t>
            </a:r>
            <a:r>
              <a:rPr lang="en-US" altLang="zh-CN" sz="3200" b="1" dirty="0">
                <a:solidFill>
                  <a:schemeClr val="accent1"/>
                </a:solidFill>
                <a:latin typeface="Calibri" panose="020F0502020204030204" pitchFamily="34" charset="0"/>
                <a:cs typeface="Calibri" panose="020F0502020204030204" pitchFamily="34" charset="0"/>
              </a:rPr>
              <a:t>downloaded</a:t>
            </a:r>
            <a:r>
              <a:rPr lang="zh-CN" altLang="en-US" sz="3200" b="1" dirty="0">
                <a:solidFill>
                  <a:schemeClr val="accent1"/>
                </a:solidFill>
                <a:latin typeface="Calibri" panose="020F0502020204030204" pitchFamily="34" charset="0"/>
                <a:cs typeface="Calibri" panose="020F0502020204030204" pitchFamily="34" charset="0"/>
              </a:rPr>
              <a:t> </a:t>
            </a:r>
            <a:r>
              <a:rPr lang="en-US" altLang="zh-CN" sz="3200" b="1" dirty="0">
                <a:solidFill>
                  <a:schemeClr val="accent1"/>
                </a:solidFill>
                <a:latin typeface="Calibri" panose="020F0502020204030204" pitchFamily="34" charset="0"/>
                <a:cs typeface="Calibri" panose="020F0502020204030204" pitchFamily="34" charset="0"/>
              </a:rPr>
              <a:t>model</a:t>
            </a:r>
          </a:p>
        </p:txBody>
      </p:sp>
      <p:cxnSp>
        <p:nvCxnSpPr>
          <p:cNvPr id="12" name="直接连接符 2"/>
          <p:cNvCxnSpPr/>
          <p:nvPr/>
        </p:nvCxnSpPr>
        <p:spPr>
          <a:xfrm>
            <a:off x="771526" y="1124744"/>
            <a:ext cx="6576331"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5"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E1. </a:t>
            </a:r>
            <a:r>
              <a:rPr lang="en-US" altLang="zh-CN" sz="1500" b="1" dirty="0">
                <a:latin typeface="Calibri" panose="020F0502020204030204" pitchFamily="34" charset="0"/>
                <a:cs typeface="Calibri" panose="020F0502020204030204" pitchFamily="34" charset="0"/>
                <a:sym typeface="+mn-ea"/>
              </a:rPr>
              <a:t>Environment Setup for Large Language Models</a:t>
            </a:r>
            <a:r>
              <a:rPr lang="en-US" altLang="zh-CN" sz="1500" dirty="0"/>
              <a:t>     						  	            		</a:t>
            </a:r>
            <a:endParaRPr lang="zh-CN" altLang="en-US" sz="1500" dirty="0"/>
          </a:p>
        </p:txBody>
      </p:sp>
      <p:sp>
        <p:nvSpPr>
          <p:cNvPr id="20" name="文本框 19"/>
          <p:cNvSpPr txBox="1"/>
          <p:nvPr/>
        </p:nvSpPr>
        <p:spPr>
          <a:xfrm>
            <a:off x="700405" y="1121556"/>
            <a:ext cx="11315383" cy="5670783"/>
          </a:xfrm>
          <a:prstGeom prst="rect">
            <a:avLst/>
          </a:prstGeom>
          <a:noFill/>
        </p:spPr>
        <p:txBody>
          <a:bodyPr wrap="square">
            <a:spAutoFit/>
          </a:bodyPr>
          <a:lstStyle/>
          <a:p>
            <a:pPr>
              <a:lnSpc>
                <a:spcPts val="1450"/>
              </a:lnSpc>
              <a:buNone/>
            </a:pPr>
            <a:r>
              <a:rPr lang="en-GB" altLang="zh-CN" sz="1600" b="0" dirty="0" smtClean="0">
                <a:solidFill>
                  <a:srgbClr val="AF00DB"/>
                </a:solidFill>
                <a:effectLst/>
                <a:latin typeface="Courier New" panose="02070309020205020404" pitchFamily="49" charset="0"/>
                <a:cs typeface="Courier New" panose="02070309020205020404" pitchFamily="49" charset="0"/>
              </a:rPr>
              <a:t>import</a:t>
            </a:r>
            <a:r>
              <a:rPr lang="en-GB" altLang="zh-CN" sz="1600" b="0" dirty="0" smtClean="0">
                <a:solidFill>
                  <a:srgbClr val="3B3B3B"/>
                </a:solidFill>
                <a:effectLst/>
                <a:latin typeface="Courier New" panose="02070309020205020404" pitchFamily="49" charset="0"/>
                <a:cs typeface="Courier New" panose="02070309020205020404" pitchFamily="49" charset="0"/>
              </a:rPr>
              <a:t> torch</a:t>
            </a:r>
          </a:p>
          <a:p>
            <a:pPr>
              <a:lnSpc>
                <a:spcPts val="1450"/>
              </a:lnSpc>
            </a:pPr>
            <a:r>
              <a:rPr lang="en-GB" altLang="zh-CN" sz="1600" b="0" dirty="0" smtClean="0">
                <a:solidFill>
                  <a:srgbClr val="AF00DB"/>
                </a:solidFill>
                <a:effectLst/>
                <a:latin typeface="Courier New" panose="02070309020205020404" pitchFamily="49" charset="0"/>
                <a:cs typeface="Courier New" panose="02070309020205020404" pitchFamily="49" charset="0"/>
              </a:rPr>
              <a:t>from</a:t>
            </a:r>
            <a:r>
              <a:rPr lang="en-GB" altLang="zh-CN" sz="1600" b="0" dirty="0" smtClean="0">
                <a:solidFill>
                  <a:srgbClr val="3B3B3B"/>
                </a:solidFill>
                <a:effectLst/>
                <a:latin typeface="Courier New" panose="02070309020205020404" pitchFamily="49" charset="0"/>
                <a:cs typeface="Courier New" panose="02070309020205020404" pitchFamily="49" charset="0"/>
              </a:rPr>
              <a:t> transformers </a:t>
            </a:r>
            <a:r>
              <a:rPr lang="en-GB" altLang="zh-CN" sz="1600" b="0" dirty="0" smtClean="0">
                <a:solidFill>
                  <a:srgbClr val="AF00DB"/>
                </a:solidFill>
                <a:effectLst/>
                <a:latin typeface="Courier New" panose="02070309020205020404" pitchFamily="49" charset="0"/>
                <a:cs typeface="Courier New" panose="02070309020205020404" pitchFamily="49" charset="0"/>
              </a:rPr>
              <a:t>import</a:t>
            </a:r>
            <a:r>
              <a:rPr lang="en-GB" altLang="zh-CN" sz="1600" b="0" dirty="0" smtClean="0">
                <a:solidFill>
                  <a:srgbClr val="3B3B3B"/>
                </a:solidFill>
                <a:effectLst/>
                <a:latin typeface="Courier New" panose="02070309020205020404" pitchFamily="49" charset="0"/>
                <a:cs typeface="Courier New" panose="02070309020205020404" pitchFamily="49" charset="0"/>
              </a:rPr>
              <a:t> </a:t>
            </a:r>
            <a:r>
              <a:rPr lang="en-GB" altLang="zh-CN" sz="1600" b="0" dirty="0" err="1" smtClean="0">
                <a:solidFill>
                  <a:srgbClr val="3B3B3B"/>
                </a:solidFill>
                <a:effectLst/>
                <a:latin typeface="Courier New" panose="02070309020205020404" pitchFamily="49" charset="0"/>
                <a:cs typeface="Courier New" panose="02070309020205020404" pitchFamily="49" charset="0"/>
              </a:rPr>
              <a:t>AutoModelForCausalLM</a:t>
            </a:r>
            <a:r>
              <a:rPr lang="en-GB" altLang="zh-CN" sz="1600" b="0" dirty="0" smtClean="0">
                <a:solidFill>
                  <a:srgbClr val="3B3B3B"/>
                </a:solidFill>
                <a:effectLst/>
                <a:latin typeface="Courier New" panose="02070309020205020404" pitchFamily="49" charset="0"/>
                <a:cs typeface="Courier New" panose="02070309020205020404" pitchFamily="49" charset="0"/>
              </a:rPr>
              <a:t>, </a:t>
            </a:r>
            <a:r>
              <a:rPr lang="en-GB" altLang="zh-CN" sz="1600" b="0" dirty="0" err="1" smtClean="0">
                <a:solidFill>
                  <a:srgbClr val="3B3B3B"/>
                </a:solidFill>
                <a:effectLst/>
                <a:latin typeface="Courier New" panose="02070309020205020404" pitchFamily="49" charset="0"/>
                <a:cs typeface="Courier New" panose="02070309020205020404" pitchFamily="49" charset="0"/>
              </a:rPr>
              <a:t>AutoTokenizer</a:t>
            </a:r>
            <a:r>
              <a:rPr lang="en-GB" altLang="zh-CN" sz="1600" b="0" dirty="0" smtClean="0">
                <a:solidFill>
                  <a:srgbClr val="3B3B3B"/>
                </a:solidFill>
                <a:effectLst/>
                <a:latin typeface="Courier New" panose="02070309020205020404" pitchFamily="49" charset="0"/>
                <a:cs typeface="Courier New" panose="02070309020205020404" pitchFamily="49" charset="0"/>
              </a:rPr>
              <a:t/>
            </a:r>
            <a:br>
              <a:rPr lang="en-GB" altLang="zh-CN" sz="1600" b="0" dirty="0" smtClean="0">
                <a:solidFill>
                  <a:srgbClr val="3B3B3B"/>
                </a:solidFill>
                <a:effectLst/>
                <a:latin typeface="Courier New" panose="02070309020205020404" pitchFamily="49" charset="0"/>
                <a:cs typeface="Courier New" panose="02070309020205020404" pitchFamily="49" charset="0"/>
              </a:rPr>
            </a:br>
            <a:r>
              <a:rPr lang="en-GB" altLang="zh-CN" sz="1600" dirty="0">
                <a:solidFill>
                  <a:srgbClr val="008000"/>
                </a:solidFill>
                <a:latin typeface="Courier New" panose="02070309020205020404" pitchFamily="49" charset="0"/>
                <a:cs typeface="Courier New" panose="02070309020205020404" pitchFamily="49" charset="0"/>
              </a:rPr>
              <a:t># 1. </a:t>
            </a:r>
            <a:r>
              <a:rPr lang="en-US" altLang="zh-CN" sz="1600" dirty="0">
                <a:solidFill>
                  <a:srgbClr val="007F00"/>
                </a:solidFill>
                <a:latin typeface="Courier New" panose="02070309020205020404" pitchFamily="49" charset="0"/>
                <a:cs typeface="Courier New" panose="02070309020205020404" pitchFamily="49" charset="0"/>
              </a:rPr>
              <a:t>Load the model and </a:t>
            </a:r>
            <a:r>
              <a:rPr lang="en-US" altLang="zh-CN" sz="1600" dirty="0" smtClean="0">
                <a:solidFill>
                  <a:srgbClr val="007F00"/>
                </a:solidFill>
                <a:latin typeface="Courier New" panose="02070309020205020404" pitchFamily="49" charset="0"/>
                <a:cs typeface="Courier New" panose="02070309020205020404" pitchFamily="49" charset="0"/>
              </a:rPr>
              <a:t>tokenizer</a:t>
            </a:r>
            <a:endParaRPr lang="en-GB" altLang="zh-CN" sz="1600" b="0" dirty="0" smtClean="0">
              <a:solidFill>
                <a:srgbClr val="3B3B3B"/>
              </a:solidFill>
              <a:effectLst/>
              <a:latin typeface="Courier New" panose="02070309020205020404" pitchFamily="49" charset="0"/>
              <a:cs typeface="Courier New" panose="02070309020205020404" pitchFamily="49" charset="0"/>
            </a:endParaRPr>
          </a:p>
          <a:p>
            <a:pPr>
              <a:lnSpc>
                <a:spcPts val="1450"/>
              </a:lnSpc>
              <a:buNone/>
            </a:pPr>
            <a:r>
              <a:rPr lang="en-GB" altLang="zh-CN" sz="1600" b="0" dirty="0" err="1" smtClean="0">
                <a:solidFill>
                  <a:srgbClr val="3B3B3B"/>
                </a:solidFill>
                <a:effectLst/>
                <a:latin typeface="Courier New" panose="02070309020205020404" pitchFamily="49" charset="0"/>
                <a:cs typeface="Courier New" panose="02070309020205020404" pitchFamily="49" charset="0"/>
              </a:rPr>
              <a:t>model_name</a:t>
            </a:r>
            <a:r>
              <a:rPr lang="en-GB" altLang="zh-CN" sz="1600" b="0" dirty="0" smtClean="0">
                <a:solidFill>
                  <a:srgbClr val="3B3B3B"/>
                </a:solidFill>
                <a:effectLst/>
                <a:latin typeface="Courier New" panose="02070309020205020404" pitchFamily="49" charset="0"/>
                <a:cs typeface="Courier New" panose="02070309020205020404" pitchFamily="49" charset="0"/>
              </a:rPr>
              <a:t> </a:t>
            </a:r>
            <a:r>
              <a:rPr lang="en-GB" altLang="zh-CN" sz="1600" b="0" dirty="0" smtClean="0">
                <a:solidFill>
                  <a:srgbClr val="000000"/>
                </a:solidFill>
                <a:effectLst/>
                <a:latin typeface="Courier New" panose="02070309020205020404" pitchFamily="49" charset="0"/>
                <a:cs typeface="Courier New" panose="02070309020205020404" pitchFamily="49" charset="0"/>
              </a:rPr>
              <a:t>=</a:t>
            </a:r>
            <a:r>
              <a:rPr lang="en-GB" altLang="zh-CN" sz="1600" b="0" dirty="0" smtClean="0">
                <a:solidFill>
                  <a:srgbClr val="3B3B3B"/>
                </a:solidFill>
                <a:effectLst/>
                <a:latin typeface="Courier New" panose="02070309020205020404" pitchFamily="49" charset="0"/>
                <a:cs typeface="Courier New" panose="02070309020205020404" pitchFamily="49" charset="0"/>
              </a:rPr>
              <a:t> </a:t>
            </a:r>
            <a:r>
              <a:rPr lang="en-GB" altLang="zh-CN" sz="1600" b="0" dirty="0" smtClean="0">
                <a:solidFill>
                  <a:srgbClr val="A31515"/>
                </a:solidFill>
                <a:effectLst/>
                <a:latin typeface="Courier New" panose="02070309020205020404" pitchFamily="49" charset="0"/>
                <a:cs typeface="Courier New" panose="02070309020205020404" pitchFamily="49" charset="0"/>
              </a:rPr>
              <a:t>"</a:t>
            </a:r>
            <a:r>
              <a:rPr lang="en-GB" altLang="zh-CN" sz="1600" b="0" dirty="0" err="1" smtClean="0">
                <a:solidFill>
                  <a:srgbClr val="A31515"/>
                </a:solidFill>
                <a:effectLst/>
                <a:latin typeface="Courier New" panose="02070309020205020404" pitchFamily="49" charset="0"/>
                <a:cs typeface="Courier New" panose="02070309020205020404" pitchFamily="49" charset="0"/>
              </a:rPr>
              <a:t>Qwen</a:t>
            </a:r>
            <a:r>
              <a:rPr lang="en-GB" altLang="zh-CN" sz="1600" b="0" dirty="0" smtClean="0">
                <a:solidFill>
                  <a:srgbClr val="A31515"/>
                </a:solidFill>
                <a:effectLst/>
                <a:latin typeface="Courier New" panose="02070309020205020404" pitchFamily="49" charset="0"/>
                <a:cs typeface="Courier New" panose="02070309020205020404" pitchFamily="49" charset="0"/>
              </a:rPr>
              <a:t>/Qwen2.5-0.5B"</a:t>
            </a:r>
            <a:endParaRPr lang="en-GB" altLang="zh-CN" sz="1600" b="0" dirty="0" smtClean="0">
              <a:solidFill>
                <a:srgbClr val="3B3B3B"/>
              </a:solidFill>
              <a:effectLst/>
              <a:latin typeface="Courier New" panose="02070309020205020404" pitchFamily="49" charset="0"/>
              <a:cs typeface="Courier New" panose="02070309020205020404" pitchFamily="49" charset="0"/>
            </a:endParaRPr>
          </a:p>
          <a:p>
            <a:pPr>
              <a:lnSpc>
                <a:spcPts val="1450"/>
              </a:lnSpc>
              <a:buNone/>
            </a:pPr>
            <a:r>
              <a:rPr lang="en-US" sz="1600" dirty="0" smtClean="0">
                <a:solidFill>
                  <a:srgbClr val="007F00"/>
                </a:solidFill>
                <a:latin typeface="Courier New" panose="02070309020205020404" pitchFamily="49" charset="0"/>
                <a:cs typeface="Courier New" panose="02070309020205020404" pitchFamily="49" charset="0"/>
              </a:rPr>
              <a:t># Initialize the tokenizer: acts as a translator between human text and the numbers (tokens) the model understands.</a:t>
            </a:r>
            <a:endParaRPr lang="en-US" altLang="zh-CN" sz="1600" dirty="0" smtClean="0">
              <a:solidFill>
                <a:srgbClr val="007F00"/>
              </a:solidFill>
              <a:latin typeface="Courier New" panose="02070309020205020404" pitchFamily="49" charset="0"/>
              <a:cs typeface="Courier New" panose="02070309020205020404" pitchFamily="49" charset="0"/>
            </a:endParaRPr>
          </a:p>
          <a:p>
            <a:pPr>
              <a:lnSpc>
                <a:spcPts val="1450"/>
              </a:lnSpc>
              <a:buNone/>
            </a:pPr>
            <a:r>
              <a:rPr lang="en-GB" altLang="zh-CN" sz="1600" b="0" dirty="0" smtClean="0">
                <a:solidFill>
                  <a:srgbClr val="3B3B3B"/>
                </a:solidFill>
                <a:effectLst/>
                <a:latin typeface="Courier New" panose="02070309020205020404" pitchFamily="49" charset="0"/>
                <a:cs typeface="Courier New" panose="02070309020205020404" pitchFamily="49" charset="0"/>
              </a:rPr>
              <a:t>tokenizer </a:t>
            </a:r>
            <a:r>
              <a:rPr lang="en-GB" altLang="zh-CN" sz="1600" b="0" dirty="0" smtClean="0">
                <a:solidFill>
                  <a:srgbClr val="000000"/>
                </a:solidFill>
                <a:effectLst/>
                <a:latin typeface="Courier New" panose="02070309020205020404" pitchFamily="49" charset="0"/>
                <a:cs typeface="Courier New" panose="02070309020205020404" pitchFamily="49" charset="0"/>
              </a:rPr>
              <a:t>=</a:t>
            </a:r>
            <a:r>
              <a:rPr lang="en-GB" altLang="zh-CN" sz="1600" b="0" dirty="0" smtClean="0">
                <a:solidFill>
                  <a:srgbClr val="3B3B3B"/>
                </a:solidFill>
                <a:effectLst/>
                <a:latin typeface="Courier New" panose="02070309020205020404" pitchFamily="49" charset="0"/>
                <a:cs typeface="Courier New" panose="02070309020205020404" pitchFamily="49" charset="0"/>
              </a:rPr>
              <a:t> </a:t>
            </a:r>
            <a:r>
              <a:rPr lang="en-GB" altLang="zh-CN" sz="1600" b="0" dirty="0" err="1" smtClean="0">
                <a:solidFill>
                  <a:srgbClr val="3B3B3B"/>
                </a:solidFill>
                <a:effectLst/>
                <a:latin typeface="Courier New" panose="02070309020205020404" pitchFamily="49" charset="0"/>
                <a:cs typeface="Courier New" panose="02070309020205020404" pitchFamily="49" charset="0"/>
              </a:rPr>
              <a:t>AutoTokenizer.from_pretrained</a:t>
            </a:r>
            <a:r>
              <a:rPr lang="en-GB" altLang="zh-CN" sz="1600" b="0" dirty="0" smtClean="0">
                <a:solidFill>
                  <a:srgbClr val="3B3B3B"/>
                </a:solidFill>
                <a:effectLst/>
                <a:latin typeface="Courier New" panose="02070309020205020404" pitchFamily="49" charset="0"/>
                <a:cs typeface="Courier New" panose="02070309020205020404" pitchFamily="49" charset="0"/>
              </a:rPr>
              <a:t>(</a:t>
            </a:r>
            <a:r>
              <a:rPr lang="en-GB" altLang="zh-CN" sz="1600" b="0" dirty="0" err="1" smtClean="0">
                <a:solidFill>
                  <a:srgbClr val="3B3B3B"/>
                </a:solidFill>
                <a:effectLst/>
                <a:latin typeface="Courier New" panose="02070309020205020404" pitchFamily="49" charset="0"/>
                <a:cs typeface="Courier New" panose="02070309020205020404" pitchFamily="49" charset="0"/>
              </a:rPr>
              <a:t>model_name</a:t>
            </a:r>
            <a:r>
              <a:rPr lang="en-GB" altLang="zh-CN" sz="1600" b="0" dirty="0" smtClean="0">
                <a:solidFill>
                  <a:srgbClr val="3B3B3B"/>
                </a:solidFill>
                <a:effectLst/>
                <a:latin typeface="Courier New" panose="02070309020205020404" pitchFamily="49" charset="0"/>
                <a:cs typeface="Courier New" panose="02070309020205020404" pitchFamily="49" charset="0"/>
              </a:rPr>
              <a:t>)</a:t>
            </a:r>
          </a:p>
          <a:p>
            <a:pPr>
              <a:lnSpc>
                <a:spcPts val="1450"/>
              </a:lnSpc>
            </a:pPr>
            <a:r>
              <a:rPr lang="en-GB" altLang="zh-CN" sz="1600" dirty="0">
                <a:solidFill>
                  <a:srgbClr val="007F00"/>
                </a:solidFill>
                <a:latin typeface="Courier New" panose="02070309020205020404" pitchFamily="49" charset="0"/>
                <a:cs typeface="Courier New" panose="02070309020205020404" pitchFamily="49" charset="0"/>
              </a:rPr>
              <a:t># Download and load the neural network weights. </a:t>
            </a:r>
            <a:endParaRPr lang="en-GB" altLang="zh-CN" sz="1600" dirty="0" smtClean="0">
              <a:solidFill>
                <a:srgbClr val="007F00"/>
              </a:solidFill>
              <a:latin typeface="Courier New" panose="02070309020205020404" pitchFamily="49" charset="0"/>
              <a:cs typeface="Courier New" panose="02070309020205020404" pitchFamily="49" charset="0"/>
            </a:endParaRPr>
          </a:p>
          <a:p>
            <a:pPr>
              <a:lnSpc>
                <a:spcPts val="1450"/>
              </a:lnSpc>
            </a:pPr>
            <a:r>
              <a:rPr lang="en-GB" altLang="zh-CN" sz="1600" dirty="0" smtClean="0">
                <a:solidFill>
                  <a:srgbClr val="007F00"/>
                </a:solidFill>
                <a:latin typeface="Courier New" panose="02070309020205020404" pitchFamily="49" charset="0"/>
                <a:cs typeface="Courier New" panose="02070309020205020404" pitchFamily="49" charset="0"/>
              </a:rPr>
              <a:t># </a:t>
            </a:r>
            <a:r>
              <a:rPr lang="en-GB" altLang="zh-CN" sz="1600" dirty="0">
                <a:solidFill>
                  <a:srgbClr val="007F00"/>
                </a:solidFill>
                <a:latin typeface="Courier New" panose="02070309020205020404" pitchFamily="49" charset="0"/>
                <a:cs typeface="Courier New" panose="02070309020205020404" pitchFamily="49" charset="0"/>
              </a:rPr>
              <a:t>`</a:t>
            </a:r>
            <a:r>
              <a:rPr lang="en-GB" altLang="zh-CN" sz="1600" dirty="0" err="1">
                <a:solidFill>
                  <a:srgbClr val="007F00"/>
                </a:solidFill>
                <a:latin typeface="Courier New" panose="02070309020205020404" pitchFamily="49" charset="0"/>
                <a:cs typeface="Courier New" panose="02070309020205020404" pitchFamily="49" charset="0"/>
              </a:rPr>
              <a:t>device_map</a:t>
            </a:r>
            <a:r>
              <a:rPr lang="en-GB" altLang="zh-CN" sz="1600" dirty="0">
                <a:solidFill>
                  <a:srgbClr val="007F00"/>
                </a:solidFill>
                <a:latin typeface="Courier New" panose="02070309020205020404" pitchFamily="49" charset="0"/>
                <a:cs typeface="Courier New" panose="02070309020205020404" pitchFamily="49" charset="0"/>
              </a:rPr>
              <a:t>="auto"` automatically checks your hardware and places the model on </a:t>
            </a:r>
            <a:r>
              <a:rPr lang="en-GB" altLang="zh-CN" sz="1600" dirty="0" smtClean="0">
                <a:solidFill>
                  <a:srgbClr val="007F00"/>
                </a:solidFill>
                <a:latin typeface="Courier New" panose="02070309020205020404" pitchFamily="49" charset="0"/>
                <a:cs typeface="Courier New" panose="02070309020205020404" pitchFamily="49" charset="0"/>
              </a:rPr>
              <a:t>the device </a:t>
            </a:r>
            <a:endParaRPr lang="en-GB" altLang="zh-CN" sz="1600" dirty="0">
              <a:solidFill>
                <a:srgbClr val="007F00"/>
              </a:solidFill>
              <a:latin typeface="Courier New" panose="02070309020205020404" pitchFamily="49" charset="0"/>
              <a:cs typeface="Courier New" panose="02070309020205020404" pitchFamily="49" charset="0"/>
            </a:endParaRPr>
          </a:p>
          <a:p>
            <a:pPr>
              <a:lnSpc>
                <a:spcPts val="1450"/>
              </a:lnSpc>
              <a:buNone/>
            </a:pPr>
            <a:r>
              <a:rPr lang="en-GB" altLang="zh-CN" sz="1600" b="0" dirty="0" smtClean="0">
                <a:solidFill>
                  <a:srgbClr val="3B3B3B"/>
                </a:solidFill>
                <a:effectLst/>
                <a:latin typeface="Courier New" panose="02070309020205020404" pitchFamily="49" charset="0"/>
                <a:cs typeface="Courier New" panose="02070309020205020404" pitchFamily="49" charset="0"/>
              </a:rPr>
              <a:t>model </a:t>
            </a:r>
            <a:r>
              <a:rPr lang="en-GB" altLang="zh-CN" sz="1600" b="0" dirty="0" smtClean="0">
                <a:solidFill>
                  <a:srgbClr val="000000"/>
                </a:solidFill>
                <a:effectLst/>
                <a:latin typeface="Courier New" panose="02070309020205020404" pitchFamily="49" charset="0"/>
                <a:cs typeface="Courier New" panose="02070309020205020404" pitchFamily="49" charset="0"/>
              </a:rPr>
              <a:t>=</a:t>
            </a:r>
            <a:r>
              <a:rPr lang="en-GB" altLang="zh-CN" sz="1600" b="0" dirty="0" smtClean="0">
                <a:solidFill>
                  <a:srgbClr val="3B3B3B"/>
                </a:solidFill>
                <a:effectLst/>
                <a:latin typeface="Courier New" panose="02070309020205020404" pitchFamily="49" charset="0"/>
                <a:cs typeface="Courier New" panose="02070309020205020404" pitchFamily="49" charset="0"/>
              </a:rPr>
              <a:t> </a:t>
            </a:r>
            <a:r>
              <a:rPr lang="en-GB" altLang="zh-CN" sz="1600" b="0" dirty="0" err="1" smtClean="0">
                <a:solidFill>
                  <a:srgbClr val="3B3B3B"/>
                </a:solidFill>
                <a:effectLst/>
                <a:latin typeface="Courier New" panose="02070309020205020404" pitchFamily="49" charset="0"/>
                <a:cs typeface="Courier New" panose="02070309020205020404" pitchFamily="49" charset="0"/>
              </a:rPr>
              <a:t>AutoModelForCausalLM.from_pretrained</a:t>
            </a:r>
            <a:r>
              <a:rPr lang="en-GB" altLang="zh-CN" sz="1600" b="0" dirty="0" smtClean="0">
                <a:solidFill>
                  <a:srgbClr val="3B3B3B"/>
                </a:solidFill>
                <a:effectLst/>
                <a:latin typeface="Courier New" panose="02070309020205020404" pitchFamily="49" charset="0"/>
                <a:cs typeface="Courier New" panose="02070309020205020404" pitchFamily="49" charset="0"/>
              </a:rPr>
              <a:t>(</a:t>
            </a:r>
            <a:r>
              <a:rPr lang="en-GB" altLang="zh-CN" sz="1600" b="0" dirty="0" err="1" smtClean="0">
                <a:solidFill>
                  <a:srgbClr val="3B3B3B"/>
                </a:solidFill>
                <a:effectLst/>
                <a:latin typeface="Courier New" panose="02070309020205020404" pitchFamily="49" charset="0"/>
                <a:cs typeface="Courier New" panose="02070309020205020404" pitchFamily="49" charset="0"/>
              </a:rPr>
              <a:t>model_name</a:t>
            </a:r>
            <a:r>
              <a:rPr lang="en-GB" altLang="zh-CN" sz="1600" b="0" dirty="0" smtClean="0">
                <a:solidFill>
                  <a:srgbClr val="3B3B3B"/>
                </a:solidFill>
                <a:effectLst/>
                <a:latin typeface="Courier New" panose="02070309020205020404" pitchFamily="49" charset="0"/>
                <a:cs typeface="Courier New" panose="02070309020205020404" pitchFamily="49" charset="0"/>
              </a:rPr>
              <a:t>, </a:t>
            </a:r>
            <a:r>
              <a:rPr lang="en-GB" altLang="zh-CN" sz="1600" b="0" dirty="0" err="1" smtClean="0">
                <a:solidFill>
                  <a:srgbClr val="001080"/>
                </a:solidFill>
                <a:effectLst/>
                <a:latin typeface="Courier New" panose="02070309020205020404" pitchFamily="49" charset="0"/>
                <a:cs typeface="Courier New" panose="02070309020205020404" pitchFamily="49" charset="0"/>
              </a:rPr>
              <a:t>device_map</a:t>
            </a:r>
            <a:r>
              <a:rPr lang="en-GB" altLang="zh-CN" sz="1600" b="0" dirty="0" smtClean="0">
                <a:solidFill>
                  <a:srgbClr val="000000"/>
                </a:solidFill>
                <a:effectLst/>
                <a:latin typeface="Courier New" panose="02070309020205020404" pitchFamily="49" charset="0"/>
                <a:cs typeface="Courier New" panose="02070309020205020404" pitchFamily="49" charset="0"/>
              </a:rPr>
              <a:t>=</a:t>
            </a:r>
            <a:r>
              <a:rPr lang="en-GB" altLang="zh-CN" sz="1600" b="0" dirty="0" smtClean="0">
                <a:solidFill>
                  <a:srgbClr val="A31515"/>
                </a:solidFill>
                <a:effectLst/>
                <a:latin typeface="Courier New" panose="02070309020205020404" pitchFamily="49" charset="0"/>
                <a:cs typeface="Courier New" panose="02070309020205020404" pitchFamily="49" charset="0"/>
              </a:rPr>
              <a:t>"auto"</a:t>
            </a:r>
            <a:r>
              <a:rPr lang="en-GB" altLang="zh-CN" sz="1600" b="0" dirty="0" smtClean="0">
                <a:solidFill>
                  <a:srgbClr val="3B3B3B"/>
                </a:solidFill>
                <a:effectLst/>
                <a:latin typeface="Courier New" panose="02070309020205020404" pitchFamily="49" charset="0"/>
                <a:cs typeface="Courier New" panose="02070309020205020404" pitchFamily="49" charset="0"/>
              </a:rPr>
              <a:t>)</a:t>
            </a:r>
          </a:p>
          <a:p>
            <a:pPr>
              <a:lnSpc>
                <a:spcPts val="1450"/>
              </a:lnSpc>
              <a:buNone/>
            </a:pPr>
            <a:r>
              <a:rPr lang="en-GB" altLang="zh-CN" sz="1600" b="0" dirty="0" smtClean="0">
                <a:solidFill>
                  <a:srgbClr val="3B3B3B"/>
                </a:solidFill>
                <a:effectLst/>
                <a:latin typeface="Courier New" panose="02070309020205020404" pitchFamily="49" charset="0"/>
                <a:cs typeface="Courier New" panose="02070309020205020404" pitchFamily="49" charset="0"/>
              </a:rPr>
              <a:t/>
            </a:r>
            <a:br>
              <a:rPr lang="en-GB" altLang="zh-CN" sz="1600" b="0" dirty="0" smtClean="0">
                <a:solidFill>
                  <a:srgbClr val="3B3B3B"/>
                </a:solidFill>
                <a:effectLst/>
                <a:latin typeface="Courier New" panose="02070309020205020404" pitchFamily="49" charset="0"/>
                <a:cs typeface="Courier New" panose="02070309020205020404" pitchFamily="49" charset="0"/>
              </a:rPr>
            </a:br>
            <a:endParaRPr lang="en-GB" altLang="zh-CN" sz="1600" b="0" dirty="0" smtClean="0">
              <a:solidFill>
                <a:srgbClr val="3B3B3B"/>
              </a:solidFill>
              <a:effectLst/>
              <a:latin typeface="Courier New" panose="02070309020205020404" pitchFamily="49" charset="0"/>
              <a:cs typeface="Courier New" panose="02070309020205020404" pitchFamily="49" charset="0"/>
            </a:endParaRPr>
          </a:p>
          <a:p>
            <a:pPr>
              <a:lnSpc>
                <a:spcPts val="1450"/>
              </a:lnSpc>
              <a:buNone/>
            </a:pPr>
            <a:r>
              <a:rPr lang="en-GB" altLang="zh-CN" sz="1600" b="0" dirty="0" smtClean="0">
                <a:solidFill>
                  <a:srgbClr val="008000"/>
                </a:solidFill>
                <a:effectLst/>
                <a:latin typeface="Courier New" panose="02070309020205020404" pitchFamily="49" charset="0"/>
                <a:cs typeface="Courier New" panose="02070309020205020404" pitchFamily="49" charset="0"/>
              </a:rPr>
              <a:t># 2. </a:t>
            </a:r>
            <a:r>
              <a:rPr lang="en-US" altLang="zh-CN" sz="1600" b="0" dirty="0" smtClean="0">
                <a:solidFill>
                  <a:srgbClr val="007F00"/>
                </a:solidFill>
                <a:effectLst/>
                <a:latin typeface="Courier New" panose="02070309020205020404" pitchFamily="49" charset="0"/>
                <a:cs typeface="Courier New" panose="02070309020205020404" pitchFamily="49" charset="0"/>
              </a:rPr>
              <a:t>Prepare the input</a:t>
            </a:r>
          </a:p>
          <a:p>
            <a:pPr>
              <a:lnSpc>
                <a:spcPts val="1450"/>
              </a:lnSpc>
              <a:buNone/>
            </a:pPr>
            <a:r>
              <a:rPr lang="en-US" sz="1600" dirty="0">
                <a:solidFill>
                  <a:srgbClr val="007F00"/>
                </a:solidFill>
                <a:latin typeface="Courier New" panose="02070309020205020404" pitchFamily="49" charset="0"/>
                <a:cs typeface="Courier New" panose="02070309020205020404" pitchFamily="49" charset="0"/>
              </a:rPr>
              <a:t># (Note: In standard practice, you usually add `</a:t>
            </a:r>
            <a:r>
              <a:rPr lang="en-US" sz="1600" dirty="0" err="1">
                <a:solidFill>
                  <a:srgbClr val="007F00"/>
                </a:solidFill>
                <a:latin typeface="Courier New" panose="02070309020205020404" pitchFamily="49" charset="0"/>
                <a:cs typeface="Courier New" panose="02070309020205020404" pitchFamily="49" charset="0"/>
              </a:rPr>
              <a:t>return_tensors</a:t>
            </a:r>
            <a:r>
              <a:rPr lang="en-US" sz="1600" dirty="0">
                <a:solidFill>
                  <a:srgbClr val="007F00"/>
                </a:solidFill>
                <a:latin typeface="Courier New" panose="02070309020205020404" pitchFamily="49" charset="0"/>
                <a:cs typeface="Courier New" panose="02070309020205020404" pitchFamily="49" charset="0"/>
              </a:rPr>
              <a:t>="</a:t>
            </a:r>
            <a:r>
              <a:rPr lang="en-US" sz="1600" dirty="0" err="1">
                <a:solidFill>
                  <a:srgbClr val="007F00"/>
                </a:solidFill>
                <a:latin typeface="Courier New" panose="02070309020205020404" pitchFamily="49" charset="0"/>
                <a:cs typeface="Courier New" panose="02070309020205020404" pitchFamily="49" charset="0"/>
              </a:rPr>
              <a:t>pt</a:t>
            </a:r>
            <a:r>
              <a:rPr lang="en-US" sz="1600" dirty="0">
                <a:solidFill>
                  <a:srgbClr val="007F00"/>
                </a:solidFill>
                <a:latin typeface="Courier New" panose="02070309020205020404" pitchFamily="49" charset="0"/>
                <a:cs typeface="Courier New" panose="02070309020205020404" pitchFamily="49" charset="0"/>
              </a:rPr>
              <a:t>"` inside the tokenizer call so it outputs </a:t>
            </a:r>
            <a:r>
              <a:rPr lang="en-US" sz="1600" dirty="0" err="1">
                <a:solidFill>
                  <a:srgbClr val="007F00"/>
                </a:solidFill>
                <a:latin typeface="Courier New" panose="02070309020205020404" pitchFamily="49" charset="0"/>
                <a:cs typeface="Courier New" panose="02070309020205020404" pitchFamily="49" charset="0"/>
              </a:rPr>
              <a:t>PyTorch</a:t>
            </a:r>
            <a:r>
              <a:rPr lang="en-US" sz="1600" dirty="0">
                <a:solidFill>
                  <a:srgbClr val="007F00"/>
                </a:solidFill>
                <a:latin typeface="Courier New" panose="02070309020205020404" pitchFamily="49" charset="0"/>
                <a:cs typeface="Courier New" panose="02070309020205020404" pitchFamily="49" charset="0"/>
              </a:rPr>
              <a:t> tensors).</a:t>
            </a:r>
            <a:endParaRPr lang="en-US" altLang="zh-CN" sz="1600" dirty="0">
              <a:solidFill>
                <a:srgbClr val="007F00"/>
              </a:solidFill>
              <a:latin typeface="Courier New" panose="02070309020205020404" pitchFamily="49" charset="0"/>
              <a:cs typeface="Courier New" panose="02070309020205020404" pitchFamily="49" charset="0"/>
            </a:endParaRPr>
          </a:p>
          <a:p>
            <a:pPr>
              <a:lnSpc>
                <a:spcPts val="1450"/>
              </a:lnSpc>
              <a:buNone/>
            </a:pPr>
            <a:r>
              <a:rPr lang="en-GB" altLang="zh-CN" sz="1600" b="0" dirty="0" smtClean="0">
                <a:solidFill>
                  <a:srgbClr val="3B3B3B"/>
                </a:solidFill>
                <a:effectLst/>
                <a:latin typeface="Courier New" panose="02070309020205020404" pitchFamily="49" charset="0"/>
                <a:cs typeface="Courier New" panose="02070309020205020404" pitchFamily="49" charset="0"/>
              </a:rPr>
              <a:t>prompt </a:t>
            </a:r>
            <a:r>
              <a:rPr lang="en-GB" altLang="zh-CN" sz="1600" b="0" dirty="0" smtClean="0">
                <a:solidFill>
                  <a:srgbClr val="000000"/>
                </a:solidFill>
                <a:effectLst/>
                <a:latin typeface="Courier New" panose="02070309020205020404" pitchFamily="49" charset="0"/>
                <a:cs typeface="Courier New" panose="02070309020205020404" pitchFamily="49" charset="0"/>
              </a:rPr>
              <a:t>=</a:t>
            </a:r>
            <a:r>
              <a:rPr lang="en-GB" altLang="zh-CN" sz="1600" b="0" dirty="0" smtClean="0">
                <a:solidFill>
                  <a:srgbClr val="3B3B3B"/>
                </a:solidFill>
                <a:effectLst/>
                <a:latin typeface="Courier New" panose="02070309020205020404" pitchFamily="49" charset="0"/>
                <a:cs typeface="Courier New" panose="02070309020205020404" pitchFamily="49" charset="0"/>
              </a:rPr>
              <a:t> </a:t>
            </a:r>
            <a:r>
              <a:rPr lang="en-GB" altLang="zh-CN" sz="1600" b="0" dirty="0" smtClean="0">
                <a:solidFill>
                  <a:srgbClr val="A31515"/>
                </a:solidFill>
                <a:effectLst/>
                <a:latin typeface="Courier New" panose="02070309020205020404" pitchFamily="49" charset="0"/>
                <a:cs typeface="Courier New" panose="02070309020205020404" pitchFamily="49" charset="0"/>
              </a:rPr>
              <a:t>"</a:t>
            </a:r>
            <a:r>
              <a:rPr lang="en-US" altLang="zh-CN" sz="1600" b="0" dirty="0" smtClean="0">
                <a:solidFill>
                  <a:srgbClr val="A31515"/>
                </a:solidFill>
                <a:effectLst/>
                <a:latin typeface="Courier New" panose="02070309020205020404" pitchFamily="49" charset="0"/>
                <a:cs typeface="Courier New" panose="02070309020205020404" pitchFamily="49" charset="0"/>
              </a:rPr>
              <a:t>How should we evaluate the creativity of large language models?"</a:t>
            </a:r>
            <a:endParaRPr lang="zh-CN" altLang="en-US" sz="1600" b="0" dirty="0" smtClean="0">
              <a:solidFill>
                <a:srgbClr val="3B3B3B"/>
              </a:solidFill>
              <a:effectLst/>
              <a:latin typeface="Courier New" panose="02070309020205020404" pitchFamily="49" charset="0"/>
              <a:cs typeface="Courier New" panose="02070309020205020404" pitchFamily="49" charset="0"/>
            </a:endParaRPr>
          </a:p>
          <a:p>
            <a:pPr>
              <a:lnSpc>
                <a:spcPts val="1450"/>
              </a:lnSpc>
              <a:buNone/>
            </a:pPr>
            <a:r>
              <a:rPr lang="en-GB" altLang="zh-CN" sz="1600" b="0" dirty="0" smtClean="0">
                <a:solidFill>
                  <a:srgbClr val="3B3B3B"/>
                </a:solidFill>
                <a:effectLst/>
                <a:latin typeface="Courier New" panose="02070309020205020404" pitchFamily="49" charset="0"/>
                <a:cs typeface="Courier New" panose="02070309020205020404" pitchFamily="49" charset="0"/>
              </a:rPr>
              <a:t>inputs </a:t>
            </a:r>
            <a:r>
              <a:rPr lang="en-GB" altLang="zh-CN" sz="1600" b="0" dirty="0" smtClean="0">
                <a:solidFill>
                  <a:srgbClr val="000000"/>
                </a:solidFill>
                <a:effectLst/>
                <a:latin typeface="Courier New" panose="02070309020205020404" pitchFamily="49" charset="0"/>
                <a:cs typeface="Courier New" panose="02070309020205020404" pitchFamily="49" charset="0"/>
              </a:rPr>
              <a:t>=</a:t>
            </a:r>
            <a:r>
              <a:rPr lang="en-GB" altLang="zh-CN" sz="1600" b="0" dirty="0" smtClean="0">
                <a:solidFill>
                  <a:srgbClr val="3B3B3B"/>
                </a:solidFill>
                <a:effectLst/>
                <a:latin typeface="Courier New" panose="02070309020205020404" pitchFamily="49" charset="0"/>
                <a:cs typeface="Courier New" panose="02070309020205020404" pitchFamily="49" charset="0"/>
              </a:rPr>
              <a:t> tokenizer(prompt).to(</a:t>
            </a:r>
            <a:r>
              <a:rPr lang="en-GB" altLang="zh-CN" sz="1600" b="0" dirty="0" err="1" smtClean="0">
                <a:solidFill>
                  <a:srgbClr val="3B3B3B"/>
                </a:solidFill>
                <a:effectLst/>
                <a:latin typeface="Courier New" panose="02070309020205020404" pitchFamily="49" charset="0"/>
                <a:cs typeface="Courier New" panose="02070309020205020404" pitchFamily="49" charset="0"/>
              </a:rPr>
              <a:t>model.device</a:t>
            </a:r>
            <a:r>
              <a:rPr lang="en-GB" altLang="zh-CN" sz="1600" b="0" dirty="0" smtClean="0">
                <a:solidFill>
                  <a:srgbClr val="3B3B3B"/>
                </a:solidFill>
                <a:effectLst/>
                <a:latin typeface="Courier New" panose="02070309020205020404" pitchFamily="49" charset="0"/>
                <a:cs typeface="Courier New" panose="02070309020205020404" pitchFamily="49" charset="0"/>
              </a:rPr>
              <a:t>)</a:t>
            </a:r>
          </a:p>
          <a:p>
            <a:pPr>
              <a:lnSpc>
                <a:spcPts val="1450"/>
              </a:lnSpc>
              <a:buNone/>
            </a:pPr>
            <a:endParaRPr lang="en-GB" altLang="zh-CN" sz="1600" b="0" dirty="0" smtClean="0">
              <a:solidFill>
                <a:srgbClr val="3B3B3B"/>
              </a:solidFill>
              <a:effectLst/>
              <a:latin typeface="Courier New" panose="02070309020205020404" pitchFamily="49" charset="0"/>
              <a:cs typeface="Courier New" panose="02070309020205020404" pitchFamily="49" charset="0"/>
            </a:endParaRPr>
          </a:p>
          <a:p>
            <a:pPr>
              <a:lnSpc>
                <a:spcPts val="1450"/>
              </a:lnSpc>
              <a:buNone/>
            </a:pPr>
            <a:r>
              <a:rPr lang="en-GB" altLang="zh-CN" sz="1600" b="0" dirty="0" smtClean="0">
                <a:solidFill>
                  <a:srgbClr val="008000"/>
                </a:solidFill>
                <a:effectLst/>
                <a:latin typeface="Courier New" panose="02070309020205020404" pitchFamily="49" charset="0"/>
                <a:cs typeface="Courier New" panose="02070309020205020404" pitchFamily="49" charset="0"/>
              </a:rPr>
              <a:t># 3. </a:t>
            </a:r>
            <a:r>
              <a:rPr lang="en-US" altLang="zh-CN" sz="1600" b="0" dirty="0" smtClean="0">
                <a:solidFill>
                  <a:srgbClr val="007F00"/>
                </a:solidFill>
                <a:effectLst/>
                <a:latin typeface="Courier New" panose="02070309020205020404" pitchFamily="49" charset="0"/>
                <a:cs typeface="Courier New" panose="02070309020205020404" pitchFamily="49" charset="0"/>
              </a:rPr>
              <a:t>Generate (inference)</a:t>
            </a:r>
          </a:p>
          <a:p>
            <a:pPr>
              <a:lnSpc>
                <a:spcPts val="1450"/>
              </a:lnSpc>
              <a:buNone/>
            </a:pPr>
            <a:r>
              <a:rPr lang="en-US" sz="1600" dirty="0">
                <a:solidFill>
                  <a:srgbClr val="007F00"/>
                </a:solidFill>
                <a:latin typeface="Courier New" panose="02070309020205020404" pitchFamily="49" charset="0"/>
                <a:cs typeface="Courier New" panose="02070309020205020404" pitchFamily="49" charset="0"/>
              </a:rPr>
              <a:t># `</a:t>
            </a:r>
            <a:r>
              <a:rPr lang="en-US" sz="1600" dirty="0" err="1">
                <a:solidFill>
                  <a:srgbClr val="007F00"/>
                </a:solidFill>
                <a:latin typeface="Courier New" panose="02070309020205020404" pitchFamily="49" charset="0"/>
                <a:cs typeface="Courier New" panose="02070309020205020404" pitchFamily="49" charset="0"/>
              </a:rPr>
              <a:t>torch.no_grad</a:t>
            </a:r>
            <a:r>
              <a:rPr lang="en-US" sz="1600" dirty="0">
                <a:solidFill>
                  <a:srgbClr val="007F00"/>
                </a:solidFill>
                <a:latin typeface="Courier New" panose="02070309020205020404" pitchFamily="49" charset="0"/>
                <a:cs typeface="Courier New" panose="02070309020205020404" pitchFamily="49" charset="0"/>
              </a:rPr>
              <a:t>()` tells </a:t>
            </a:r>
            <a:r>
              <a:rPr lang="en-US" sz="1600" dirty="0" err="1">
                <a:solidFill>
                  <a:srgbClr val="007F00"/>
                </a:solidFill>
                <a:latin typeface="Courier New" panose="02070309020205020404" pitchFamily="49" charset="0"/>
                <a:cs typeface="Courier New" panose="02070309020205020404" pitchFamily="49" charset="0"/>
              </a:rPr>
              <a:t>PyTorch</a:t>
            </a:r>
            <a:r>
              <a:rPr lang="en-US" sz="1600" dirty="0">
                <a:solidFill>
                  <a:srgbClr val="007F00"/>
                </a:solidFill>
                <a:latin typeface="Courier New" panose="02070309020205020404" pitchFamily="49" charset="0"/>
                <a:cs typeface="Courier New" panose="02070309020205020404" pitchFamily="49" charset="0"/>
              </a:rPr>
              <a:t> to temporarily stop </a:t>
            </a:r>
            <a:r>
              <a:rPr lang="en-US" sz="1600" dirty="0" smtClean="0">
                <a:solidFill>
                  <a:srgbClr val="007F00"/>
                </a:solidFill>
                <a:latin typeface="Courier New" panose="02070309020205020404" pitchFamily="49" charset="0"/>
                <a:cs typeface="Courier New" panose="02070309020205020404" pitchFamily="49" charset="0"/>
              </a:rPr>
              <a:t>tracking. </a:t>
            </a:r>
          </a:p>
          <a:p>
            <a:pPr>
              <a:lnSpc>
                <a:spcPts val="1450"/>
              </a:lnSpc>
              <a:buNone/>
            </a:pPr>
            <a:r>
              <a:rPr lang="en-US" sz="1600" dirty="0" smtClean="0">
                <a:solidFill>
                  <a:srgbClr val="007F00"/>
                </a:solidFill>
                <a:latin typeface="Courier New" panose="02070309020205020404" pitchFamily="49" charset="0"/>
                <a:cs typeface="Courier New" panose="02070309020205020404" pitchFamily="49" charset="0"/>
              </a:rPr>
              <a:t># </a:t>
            </a:r>
            <a:r>
              <a:rPr lang="en-US" sz="1600" dirty="0">
                <a:solidFill>
                  <a:srgbClr val="007F00"/>
                </a:solidFill>
                <a:latin typeface="Courier New" panose="02070309020205020404" pitchFamily="49" charset="0"/>
                <a:cs typeface="Courier New" panose="02070309020205020404" pitchFamily="49" charset="0"/>
              </a:rPr>
              <a:t>Turning this off saves significant memory </a:t>
            </a:r>
            <a:r>
              <a:rPr lang="en-US" sz="1600" dirty="0" smtClean="0">
                <a:solidFill>
                  <a:srgbClr val="007F00"/>
                </a:solidFill>
                <a:latin typeface="Courier New" panose="02070309020205020404" pitchFamily="49" charset="0"/>
                <a:cs typeface="Courier New" panose="02070309020205020404" pitchFamily="49" charset="0"/>
              </a:rPr>
              <a:t>since </a:t>
            </a:r>
            <a:r>
              <a:rPr lang="en-US" sz="1600" dirty="0">
                <a:solidFill>
                  <a:srgbClr val="007F00"/>
                </a:solidFill>
                <a:latin typeface="Courier New" panose="02070309020205020404" pitchFamily="49" charset="0"/>
                <a:cs typeface="Courier New" panose="02070309020205020404" pitchFamily="49" charset="0"/>
              </a:rPr>
              <a:t>we are only generating text.</a:t>
            </a:r>
            <a:endParaRPr lang="en-US" altLang="zh-CN" sz="1600" dirty="0">
              <a:solidFill>
                <a:srgbClr val="007F00"/>
              </a:solidFill>
              <a:latin typeface="Courier New" panose="02070309020205020404" pitchFamily="49" charset="0"/>
              <a:cs typeface="Courier New" panose="02070309020205020404" pitchFamily="49" charset="0"/>
            </a:endParaRPr>
          </a:p>
          <a:p>
            <a:pPr>
              <a:lnSpc>
                <a:spcPts val="1450"/>
              </a:lnSpc>
              <a:buNone/>
            </a:pPr>
            <a:r>
              <a:rPr lang="en-GB" altLang="zh-CN" sz="1600" b="0" dirty="0" smtClean="0">
                <a:solidFill>
                  <a:srgbClr val="AF00DB"/>
                </a:solidFill>
                <a:effectLst/>
                <a:latin typeface="Courier New" panose="02070309020205020404" pitchFamily="49" charset="0"/>
                <a:cs typeface="Courier New" panose="02070309020205020404" pitchFamily="49" charset="0"/>
              </a:rPr>
              <a:t>with</a:t>
            </a:r>
            <a:r>
              <a:rPr lang="en-GB" altLang="zh-CN" sz="1600" b="0" dirty="0" smtClean="0">
                <a:solidFill>
                  <a:srgbClr val="3B3B3B"/>
                </a:solidFill>
                <a:effectLst/>
                <a:latin typeface="Courier New" panose="02070309020205020404" pitchFamily="49" charset="0"/>
                <a:cs typeface="Courier New" panose="02070309020205020404" pitchFamily="49" charset="0"/>
              </a:rPr>
              <a:t> </a:t>
            </a:r>
            <a:r>
              <a:rPr lang="en-GB" altLang="zh-CN" sz="1600" b="0" dirty="0" err="1" smtClean="0">
                <a:solidFill>
                  <a:srgbClr val="3B3B3B"/>
                </a:solidFill>
                <a:effectLst/>
                <a:latin typeface="Courier New" panose="02070309020205020404" pitchFamily="49" charset="0"/>
                <a:cs typeface="Courier New" panose="02070309020205020404" pitchFamily="49" charset="0"/>
              </a:rPr>
              <a:t>torch.no_grad</a:t>
            </a:r>
            <a:r>
              <a:rPr lang="en-GB" altLang="zh-CN" sz="1600" b="0" dirty="0" smtClean="0">
                <a:solidFill>
                  <a:srgbClr val="3B3B3B"/>
                </a:solidFill>
                <a:effectLst/>
                <a:latin typeface="Courier New" panose="02070309020205020404" pitchFamily="49" charset="0"/>
                <a:cs typeface="Courier New" panose="02070309020205020404" pitchFamily="49" charset="0"/>
              </a:rPr>
              <a:t>():</a:t>
            </a:r>
          </a:p>
          <a:p>
            <a:pPr>
              <a:lnSpc>
                <a:spcPts val="1450"/>
              </a:lnSpc>
              <a:buNone/>
            </a:pPr>
            <a:r>
              <a:rPr lang="en-GB" sz="1600" dirty="0" smtClean="0">
                <a:solidFill>
                  <a:srgbClr val="007F00"/>
                </a:solidFill>
                <a:latin typeface="Courier New" panose="02070309020205020404" pitchFamily="49" charset="0"/>
                <a:cs typeface="Courier New" panose="02070309020205020404" pitchFamily="49" charset="0"/>
              </a:rPr>
              <a:t>#Using </a:t>
            </a:r>
            <a:r>
              <a:rPr lang="en-GB" sz="1600" dirty="0">
                <a:solidFill>
                  <a:srgbClr val="007F00"/>
                </a:solidFill>
                <a:latin typeface="Courier New" panose="02070309020205020404" pitchFamily="49" charset="0"/>
                <a:cs typeface="Courier New" panose="02070309020205020404" pitchFamily="49" charset="0"/>
              </a:rPr>
              <a:t>**inputs is exactly the same as manually typing this </a:t>
            </a:r>
            <a:r>
              <a:rPr lang="en-GB" sz="1600" dirty="0" smtClean="0">
                <a:solidFill>
                  <a:srgbClr val="007F00"/>
                </a:solidFill>
                <a:latin typeface="Courier New" panose="02070309020205020404" pitchFamily="49" charset="0"/>
                <a:cs typeface="Courier New" panose="02070309020205020404" pitchFamily="49" charset="0"/>
              </a:rPr>
              <a:t>out: #</a:t>
            </a:r>
            <a:r>
              <a:rPr lang="en-GB" sz="1600" dirty="0" err="1" smtClean="0">
                <a:solidFill>
                  <a:srgbClr val="007F00"/>
                </a:solidFill>
                <a:latin typeface="Courier New" panose="02070309020205020404" pitchFamily="49" charset="0"/>
                <a:cs typeface="Courier New" panose="02070309020205020404" pitchFamily="49" charset="0"/>
              </a:rPr>
              <a:t>model.generate</a:t>
            </a:r>
            <a:r>
              <a:rPr lang="en-GB" sz="1600" dirty="0" smtClean="0">
                <a:solidFill>
                  <a:srgbClr val="007F00"/>
                </a:solidFill>
                <a:latin typeface="Courier New" panose="02070309020205020404" pitchFamily="49" charset="0"/>
                <a:cs typeface="Courier New" panose="02070309020205020404" pitchFamily="49" charset="0"/>
              </a:rPr>
              <a:t>(</a:t>
            </a:r>
            <a:r>
              <a:rPr lang="en-GB" sz="1600" dirty="0" err="1" smtClean="0">
                <a:solidFill>
                  <a:srgbClr val="007F00"/>
                </a:solidFill>
                <a:latin typeface="Courier New" panose="02070309020205020404" pitchFamily="49" charset="0"/>
                <a:cs typeface="Courier New" panose="02070309020205020404" pitchFamily="49" charset="0"/>
              </a:rPr>
              <a:t>input_ids</a:t>
            </a:r>
            <a:r>
              <a:rPr lang="en-GB" sz="1600" dirty="0" smtClean="0">
                <a:solidFill>
                  <a:srgbClr val="007F00"/>
                </a:solidFill>
                <a:latin typeface="Courier New" panose="02070309020205020404" pitchFamily="49" charset="0"/>
                <a:cs typeface="Courier New" panose="02070309020205020404" pitchFamily="49" charset="0"/>
              </a:rPr>
              <a:t>=tensor</a:t>
            </a:r>
            <a:r>
              <a:rPr lang="en-GB" sz="1600" dirty="0">
                <a:solidFill>
                  <a:srgbClr val="007F00"/>
                </a:solidFill>
                <a:latin typeface="Courier New" panose="02070309020205020404" pitchFamily="49" charset="0"/>
                <a:cs typeface="Courier New" panose="02070309020205020404" pitchFamily="49" charset="0"/>
              </a:rPr>
              <a:t>([[...]]), </a:t>
            </a:r>
            <a:r>
              <a:rPr lang="en-GB" sz="1600" dirty="0" err="1">
                <a:solidFill>
                  <a:srgbClr val="007F00"/>
                </a:solidFill>
                <a:latin typeface="Courier New" panose="02070309020205020404" pitchFamily="49" charset="0"/>
                <a:cs typeface="Courier New" panose="02070309020205020404" pitchFamily="49" charset="0"/>
              </a:rPr>
              <a:t>attention_mask</a:t>
            </a:r>
            <a:r>
              <a:rPr lang="en-GB" sz="1600" dirty="0">
                <a:solidFill>
                  <a:srgbClr val="007F00"/>
                </a:solidFill>
                <a:latin typeface="Courier New" panose="02070309020205020404" pitchFamily="49" charset="0"/>
                <a:cs typeface="Courier New" panose="02070309020205020404" pitchFamily="49" charset="0"/>
              </a:rPr>
              <a:t>=tensor</a:t>
            </a:r>
            <a:r>
              <a:rPr lang="en-GB" sz="1600" dirty="0">
                <a:solidFill>
                  <a:srgbClr val="007F00"/>
                </a:solidFill>
                <a:latin typeface="Courier New" panose="02070309020205020404" pitchFamily="49" charset="0"/>
                <a:cs typeface="Courier New" panose="02070309020205020404" pitchFamily="49" charset="0"/>
              </a:rPr>
              <a:t>([[...]])</a:t>
            </a:r>
            <a:endParaRPr lang="en-GB" altLang="zh-CN" sz="1600" dirty="0">
              <a:solidFill>
                <a:srgbClr val="007F00"/>
              </a:solidFill>
              <a:latin typeface="Courier New" panose="02070309020205020404" pitchFamily="49" charset="0"/>
              <a:cs typeface="Courier New" panose="02070309020205020404" pitchFamily="49" charset="0"/>
            </a:endParaRPr>
          </a:p>
          <a:p>
            <a:pPr>
              <a:lnSpc>
                <a:spcPts val="1450"/>
              </a:lnSpc>
              <a:buNone/>
            </a:pPr>
            <a:r>
              <a:rPr lang="en-GB" altLang="zh-CN" sz="1600" b="0" dirty="0" smtClean="0">
                <a:solidFill>
                  <a:srgbClr val="3B3B3B"/>
                </a:solidFill>
                <a:effectLst/>
                <a:latin typeface="Courier New" panose="02070309020205020404" pitchFamily="49" charset="0"/>
                <a:cs typeface="Courier New" panose="02070309020205020404" pitchFamily="49" charset="0"/>
              </a:rPr>
              <a:t>	outputs </a:t>
            </a:r>
            <a:r>
              <a:rPr lang="en-GB" altLang="zh-CN" sz="1600" b="0" dirty="0" smtClean="0">
                <a:solidFill>
                  <a:srgbClr val="000000"/>
                </a:solidFill>
                <a:effectLst/>
                <a:latin typeface="Courier New" panose="02070309020205020404" pitchFamily="49" charset="0"/>
                <a:cs typeface="Courier New" panose="02070309020205020404" pitchFamily="49" charset="0"/>
              </a:rPr>
              <a:t>=</a:t>
            </a:r>
            <a:r>
              <a:rPr lang="en-GB" altLang="zh-CN" sz="1600" b="0" dirty="0" smtClean="0">
                <a:solidFill>
                  <a:srgbClr val="3B3B3B"/>
                </a:solidFill>
                <a:effectLst/>
                <a:latin typeface="Courier New" panose="02070309020205020404" pitchFamily="49" charset="0"/>
                <a:cs typeface="Courier New" panose="02070309020205020404" pitchFamily="49" charset="0"/>
              </a:rPr>
              <a:t> </a:t>
            </a:r>
            <a:r>
              <a:rPr lang="en-GB" altLang="zh-CN" sz="1600" b="0" dirty="0" err="1" smtClean="0">
                <a:solidFill>
                  <a:srgbClr val="3B3B3B"/>
                </a:solidFill>
                <a:effectLst/>
                <a:latin typeface="Courier New" panose="02070309020205020404" pitchFamily="49" charset="0"/>
                <a:cs typeface="Courier New" panose="02070309020205020404" pitchFamily="49" charset="0"/>
              </a:rPr>
              <a:t>model.generate</a:t>
            </a:r>
            <a:r>
              <a:rPr lang="en-GB" altLang="zh-CN" sz="1600" b="0" dirty="0" smtClean="0">
                <a:solidFill>
                  <a:srgbClr val="3B3B3B"/>
                </a:solidFill>
                <a:effectLst/>
                <a:latin typeface="Courier New" panose="02070309020205020404" pitchFamily="49" charset="0"/>
                <a:cs typeface="Courier New" panose="02070309020205020404" pitchFamily="49" charset="0"/>
              </a:rPr>
              <a:t>(</a:t>
            </a:r>
            <a:r>
              <a:rPr lang="en-GB" altLang="zh-CN" sz="1600" b="0" dirty="0" smtClean="0">
                <a:solidFill>
                  <a:srgbClr val="000000"/>
                </a:solidFill>
                <a:effectLst/>
                <a:latin typeface="Courier New" panose="02070309020205020404" pitchFamily="49" charset="0"/>
                <a:cs typeface="Courier New" panose="02070309020205020404" pitchFamily="49" charset="0"/>
              </a:rPr>
              <a:t>**</a:t>
            </a:r>
            <a:r>
              <a:rPr lang="en-GB" altLang="zh-CN" sz="1600" b="0" dirty="0" smtClean="0">
                <a:solidFill>
                  <a:srgbClr val="3B3B3B"/>
                </a:solidFill>
                <a:effectLst/>
                <a:latin typeface="Courier New" panose="02070309020205020404" pitchFamily="49" charset="0"/>
                <a:cs typeface="Courier New" panose="02070309020205020404" pitchFamily="49" charset="0"/>
              </a:rPr>
              <a:t>inputs, </a:t>
            </a:r>
            <a:r>
              <a:rPr lang="en-GB" altLang="zh-CN" sz="1600" b="0" dirty="0" err="1" smtClean="0">
                <a:solidFill>
                  <a:srgbClr val="001080"/>
                </a:solidFill>
                <a:effectLst/>
                <a:latin typeface="Courier New" panose="02070309020205020404" pitchFamily="49" charset="0"/>
                <a:cs typeface="Courier New" panose="02070309020205020404" pitchFamily="49" charset="0"/>
              </a:rPr>
              <a:t>max_new_tokens</a:t>
            </a:r>
            <a:r>
              <a:rPr lang="en-GB" altLang="zh-CN" sz="1600" b="0" dirty="0" smtClean="0">
                <a:solidFill>
                  <a:srgbClr val="000000"/>
                </a:solidFill>
                <a:effectLst/>
                <a:latin typeface="Courier New" panose="02070309020205020404" pitchFamily="49" charset="0"/>
                <a:cs typeface="Courier New" panose="02070309020205020404" pitchFamily="49" charset="0"/>
              </a:rPr>
              <a:t>=</a:t>
            </a:r>
            <a:r>
              <a:rPr lang="en-GB" altLang="zh-CN" sz="1600" b="0" dirty="0" smtClean="0">
                <a:solidFill>
                  <a:srgbClr val="098658"/>
                </a:solidFill>
                <a:effectLst/>
                <a:latin typeface="Courier New" panose="02070309020205020404" pitchFamily="49" charset="0"/>
                <a:cs typeface="Courier New" panose="02070309020205020404" pitchFamily="49" charset="0"/>
              </a:rPr>
              <a:t>100</a:t>
            </a:r>
            <a:r>
              <a:rPr lang="en-GB" altLang="zh-CN" sz="1600" b="0" dirty="0" smtClean="0">
                <a:solidFill>
                  <a:srgbClr val="3B3B3B"/>
                </a:solidFill>
                <a:effectLst/>
                <a:latin typeface="Courier New" panose="02070309020205020404" pitchFamily="49" charset="0"/>
                <a:cs typeface="Courier New" panose="02070309020205020404" pitchFamily="49" charset="0"/>
              </a:rPr>
              <a:t>)</a:t>
            </a:r>
          </a:p>
          <a:p>
            <a:pPr>
              <a:lnSpc>
                <a:spcPts val="1450"/>
              </a:lnSpc>
              <a:buNone/>
            </a:pPr>
            <a:endParaRPr lang="en-GB" altLang="zh-CN" sz="1600" b="0" dirty="0" smtClean="0">
              <a:solidFill>
                <a:srgbClr val="3B3B3B"/>
              </a:solidFill>
              <a:effectLst/>
              <a:latin typeface="Courier New" panose="02070309020205020404" pitchFamily="49" charset="0"/>
              <a:cs typeface="Courier New" panose="02070309020205020404" pitchFamily="49" charset="0"/>
            </a:endParaRPr>
          </a:p>
          <a:p>
            <a:pPr>
              <a:lnSpc>
                <a:spcPts val="1450"/>
              </a:lnSpc>
              <a:buNone/>
            </a:pPr>
            <a:r>
              <a:rPr lang="en-GB" altLang="zh-CN" sz="1600" b="0" dirty="0" smtClean="0">
                <a:solidFill>
                  <a:srgbClr val="007F00"/>
                </a:solidFill>
                <a:effectLst/>
                <a:latin typeface="Courier New" panose="02070309020205020404" pitchFamily="49" charset="0"/>
                <a:cs typeface="Courier New" panose="02070309020205020404" pitchFamily="49" charset="0"/>
              </a:rPr>
              <a:t># 4. </a:t>
            </a:r>
            <a:r>
              <a:rPr lang="en-US" altLang="zh-CN" sz="1600" b="0" dirty="0" smtClean="0">
                <a:solidFill>
                  <a:srgbClr val="007F00"/>
                </a:solidFill>
                <a:effectLst/>
                <a:latin typeface="Courier New" panose="02070309020205020404" pitchFamily="49" charset="0"/>
                <a:cs typeface="Courier New" panose="02070309020205020404" pitchFamily="49" charset="0"/>
              </a:rPr>
              <a:t>Decode the output</a:t>
            </a:r>
          </a:p>
          <a:p>
            <a:pPr>
              <a:lnSpc>
                <a:spcPts val="1450"/>
              </a:lnSpc>
              <a:buNone/>
            </a:pPr>
            <a:r>
              <a:rPr lang="en-GB" altLang="zh-CN" sz="1600" b="0" dirty="0" smtClean="0">
                <a:solidFill>
                  <a:srgbClr val="795E26"/>
                </a:solidFill>
                <a:effectLst/>
                <a:latin typeface="Courier New" panose="02070309020205020404" pitchFamily="49" charset="0"/>
                <a:cs typeface="Courier New" panose="02070309020205020404" pitchFamily="49" charset="0"/>
              </a:rPr>
              <a:t>print</a:t>
            </a:r>
            <a:r>
              <a:rPr lang="en-GB" altLang="zh-CN" sz="1600" b="0" dirty="0" smtClean="0">
                <a:solidFill>
                  <a:srgbClr val="3B3B3B"/>
                </a:solidFill>
                <a:effectLst/>
                <a:latin typeface="Courier New" panose="02070309020205020404" pitchFamily="49" charset="0"/>
                <a:cs typeface="Courier New" panose="02070309020205020404" pitchFamily="49" charset="0"/>
              </a:rPr>
              <a:t>(</a:t>
            </a:r>
            <a:r>
              <a:rPr lang="en-GB" altLang="zh-CN" sz="1600" b="0" dirty="0" err="1" smtClean="0">
                <a:solidFill>
                  <a:srgbClr val="3B3B3B"/>
                </a:solidFill>
                <a:effectLst/>
                <a:latin typeface="Courier New" panose="02070309020205020404" pitchFamily="49" charset="0"/>
                <a:cs typeface="Courier New" panose="02070309020205020404" pitchFamily="49" charset="0"/>
              </a:rPr>
              <a:t>tokenizer.decode</a:t>
            </a:r>
            <a:r>
              <a:rPr lang="en-GB" altLang="zh-CN" sz="1600" b="0" dirty="0" smtClean="0">
                <a:solidFill>
                  <a:srgbClr val="3B3B3B"/>
                </a:solidFill>
                <a:effectLst/>
                <a:latin typeface="Courier New" panose="02070309020205020404" pitchFamily="49" charset="0"/>
                <a:cs typeface="Courier New" panose="02070309020205020404" pitchFamily="49" charset="0"/>
              </a:rPr>
              <a:t>(outputs[</a:t>
            </a:r>
            <a:r>
              <a:rPr lang="en-GB" altLang="zh-CN" sz="1600" b="0" dirty="0" smtClean="0">
                <a:solidFill>
                  <a:srgbClr val="098658"/>
                </a:solidFill>
                <a:effectLst/>
                <a:latin typeface="Courier New" panose="02070309020205020404" pitchFamily="49" charset="0"/>
                <a:cs typeface="Courier New" panose="02070309020205020404" pitchFamily="49" charset="0"/>
              </a:rPr>
              <a:t>0</a:t>
            </a:r>
            <a:r>
              <a:rPr lang="en-GB" altLang="zh-CN" sz="1600" b="0" dirty="0" smtClean="0">
                <a:solidFill>
                  <a:srgbClr val="3B3B3B"/>
                </a:solidFill>
                <a:effectLst/>
                <a:latin typeface="Courier New" panose="02070309020205020404" pitchFamily="49" charset="0"/>
                <a:cs typeface="Courier New" panose="02070309020205020404" pitchFamily="49" charset="0"/>
              </a:rPr>
              <a:t>], </a:t>
            </a:r>
            <a:r>
              <a:rPr lang="en-GB" altLang="zh-CN" sz="1600" b="0" dirty="0" err="1" smtClean="0">
                <a:solidFill>
                  <a:srgbClr val="001080"/>
                </a:solidFill>
                <a:effectLst/>
                <a:latin typeface="Courier New" panose="02070309020205020404" pitchFamily="49" charset="0"/>
                <a:cs typeface="Courier New" panose="02070309020205020404" pitchFamily="49" charset="0"/>
              </a:rPr>
              <a:t>skip_special_tokens</a:t>
            </a:r>
            <a:r>
              <a:rPr lang="en-GB" altLang="zh-CN" sz="1600" b="0" dirty="0" smtClean="0">
                <a:solidFill>
                  <a:srgbClr val="000000"/>
                </a:solidFill>
                <a:effectLst/>
                <a:latin typeface="Courier New" panose="02070309020205020404" pitchFamily="49" charset="0"/>
                <a:cs typeface="Courier New" panose="02070309020205020404" pitchFamily="49" charset="0"/>
              </a:rPr>
              <a:t>=</a:t>
            </a:r>
            <a:r>
              <a:rPr lang="en-GB" altLang="zh-CN" sz="1600" b="0" dirty="0" smtClean="0">
                <a:solidFill>
                  <a:srgbClr val="0000FF"/>
                </a:solidFill>
                <a:effectLst/>
                <a:latin typeface="Courier New" panose="02070309020205020404" pitchFamily="49" charset="0"/>
                <a:cs typeface="Courier New" panose="02070309020205020404" pitchFamily="49" charset="0"/>
              </a:rPr>
              <a:t>True</a:t>
            </a:r>
            <a:r>
              <a:rPr lang="en-GB" altLang="zh-CN" sz="1600" b="0" dirty="0" smtClean="0">
                <a:solidFill>
                  <a:srgbClr val="3B3B3B"/>
                </a:solidFill>
                <a:effectLst/>
                <a:latin typeface="Courier New" panose="02070309020205020404" pitchFamily="49" charset="0"/>
                <a:cs typeface="Courier New" panose="02070309020205020404" pitchFamily="49" charset="0"/>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E1. </a:t>
            </a:r>
            <a:r>
              <a:rPr lang="en-US" altLang="zh-CN" sz="1500" b="1" dirty="0">
                <a:latin typeface="Calibri" panose="020F0502020204030204" pitchFamily="34" charset="0"/>
                <a:cs typeface="Calibri" panose="020F0502020204030204" pitchFamily="34" charset="0"/>
                <a:sym typeface="+mn-ea"/>
              </a:rPr>
              <a:t>Environment Setup for Large Language Models</a:t>
            </a:r>
            <a:r>
              <a:rPr lang="en-US" altLang="zh-CN" sz="1500" dirty="0"/>
              <a:t>     						  	            		</a:t>
            </a:r>
            <a:endParaRPr lang="zh-CN" altLang="en-US" sz="1500" dirty="0"/>
          </a:p>
        </p:txBody>
      </p:sp>
      <p:sp>
        <p:nvSpPr>
          <p:cNvPr id="8" name="文本框 4"/>
          <p:cNvSpPr txBox="1"/>
          <p:nvPr/>
        </p:nvSpPr>
        <p:spPr>
          <a:xfrm>
            <a:off x="1684883" y="1584003"/>
            <a:ext cx="4793456" cy="523220"/>
          </a:xfrm>
          <a:prstGeom prst="rect">
            <a:avLst/>
          </a:prstGeom>
          <a:noFill/>
        </p:spPr>
        <p:txBody>
          <a:bodyPr wrap="square" rtlCol="0">
            <a:spAutoFit/>
          </a:bodyPr>
          <a:lstStyle/>
          <a:p>
            <a:r>
              <a:rPr lang="en-US" altLang="zh-CN" sz="2800" b="1" dirty="0">
                <a:solidFill>
                  <a:srgbClr val="2F57D9"/>
                </a:solidFill>
                <a:latin typeface="Calibri" panose="020F0502020204030204" pitchFamily="34" charset="0"/>
                <a:cs typeface="Calibri" panose="020F0502020204030204" pitchFamily="34" charset="0"/>
              </a:rPr>
              <a:t>Outline</a:t>
            </a:r>
            <a:endParaRPr lang="zh-CN" altLang="en-US" sz="2800" b="1" dirty="0">
              <a:solidFill>
                <a:srgbClr val="2F57D9"/>
              </a:solidFill>
              <a:latin typeface="Calibri" panose="020F0502020204030204" pitchFamily="34" charset="0"/>
              <a:cs typeface="Calibri" panose="020F0502020204030204" pitchFamily="34" charset="0"/>
            </a:endParaRPr>
          </a:p>
        </p:txBody>
      </p:sp>
      <p:sp>
        <p:nvSpPr>
          <p:cNvPr id="9" name="文本框 6"/>
          <p:cNvSpPr txBox="1"/>
          <p:nvPr/>
        </p:nvSpPr>
        <p:spPr>
          <a:xfrm>
            <a:off x="2002790" y="2372995"/>
            <a:ext cx="8869680" cy="2122805"/>
          </a:xfrm>
          <a:prstGeom prst="rect">
            <a:avLst/>
          </a:prstGeom>
          <a:noFill/>
        </p:spPr>
        <p:txBody>
          <a:bodyPr wrap="square" rtlCol="0">
            <a:spAutoFit/>
          </a:bodyPr>
          <a:lstStyle/>
          <a:p>
            <a:pPr marL="742950" lvl="1" indent="-285750">
              <a:lnSpc>
                <a:spcPct val="150000"/>
              </a:lnSpc>
              <a:buClr>
                <a:srgbClr val="2F57D9"/>
              </a:buClr>
              <a:buSzPct val="70000"/>
              <a:buFont typeface="Wingdings" panose="05000000000000000000" pitchFamily="2" charset="2"/>
              <a:buChar char="n"/>
            </a:pPr>
            <a:r>
              <a:rPr lang="en-US" altLang="zh-CN" sz="2200" dirty="0">
                <a:latin typeface="Calibri" panose="020F0502020204030204" pitchFamily="34" charset="0"/>
                <a:cs typeface="Calibri" panose="020F0502020204030204" pitchFamily="34" charset="0"/>
                <a:sym typeface="+mn-ea"/>
              </a:rPr>
              <a:t>E1. Environment Setup for Large Language Models</a:t>
            </a:r>
            <a:endParaRPr lang="en-US" altLang="zh-CN" sz="2200" dirty="0">
              <a:latin typeface="Calibri" panose="020F0502020204030204" pitchFamily="34" charset="0"/>
              <a:cs typeface="Calibri" panose="020F0502020204030204" pitchFamily="34" charset="0"/>
            </a:endParaRPr>
          </a:p>
          <a:p>
            <a:pPr marL="1200150" lvl="2" indent="-285750">
              <a:lnSpc>
                <a:spcPct val="150000"/>
              </a:lnSpc>
              <a:buClr>
                <a:srgbClr val="2F57D9"/>
              </a:buClr>
              <a:buSzPct val="70000"/>
              <a:buFont typeface="Wingdings" panose="05000000000000000000" pitchFamily="2" charset="2"/>
              <a:buChar char="n"/>
            </a:pPr>
            <a:r>
              <a:rPr lang="en-US" altLang="zh-CN" sz="2200" dirty="0">
                <a:latin typeface="Calibri" panose="020F0502020204030204" pitchFamily="34" charset="0"/>
                <a:cs typeface="Calibri" panose="020F0502020204030204" pitchFamily="34" charset="0"/>
                <a:sym typeface="+mn-ea"/>
              </a:rPr>
              <a:t>E1.1 Python &amp; </a:t>
            </a:r>
            <a:r>
              <a:rPr lang="en-US" altLang="zh-CN" sz="2200" dirty="0" err="1">
                <a:latin typeface="Calibri" panose="020F0502020204030204" pitchFamily="34" charset="0"/>
                <a:cs typeface="Calibri" panose="020F0502020204030204" pitchFamily="34" charset="0"/>
                <a:sym typeface="+mn-ea"/>
              </a:rPr>
              <a:t>Jupyter</a:t>
            </a:r>
            <a:r>
              <a:rPr lang="en-US" altLang="zh-CN" sz="2200" dirty="0">
                <a:latin typeface="Calibri" panose="020F0502020204030204" pitchFamily="34" charset="0"/>
                <a:cs typeface="Calibri" panose="020F0502020204030204" pitchFamily="34" charset="0"/>
                <a:sym typeface="+mn-ea"/>
              </a:rPr>
              <a:t> notebook &amp; </a:t>
            </a:r>
            <a:r>
              <a:rPr lang="en-US" altLang="zh-CN" sz="2200" dirty="0" err="1">
                <a:latin typeface="Calibri" panose="020F0502020204030204" pitchFamily="34" charset="0"/>
                <a:cs typeface="Calibri" panose="020F0502020204030204" pitchFamily="34" charset="0"/>
                <a:sym typeface="+mn-ea"/>
              </a:rPr>
              <a:t>Pytorch</a:t>
            </a:r>
            <a:r>
              <a:rPr lang="en-US" altLang="zh-CN" sz="2200" dirty="0">
                <a:latin typeface="Calibri" panose="020F0502020204030204" pitchFamily="34" charset="0"/>
                <a:cs typeface="Calibri" panose="020F0502020204030204" pitchFamily="34" charset="0"/>
                <a:sym typeface="+mn-ea"/>
              </a:rPr>
              <a:t> &amp; </a:t>
            </a:r>
            <a:r>
              <a:rPr lang="en-US" altLang="zh-CN" sz="2200" dirty="0" err="1">
                <a:latin typeface="Calibri" panose="020F0502020204030204" pitchFamily="34" charset="0"/>
                <a:cs typeface="Calibri" panose="020F0502020204030204" pitchFamily="34" charset="0"/>
                <a:sym typeface="+mn-ea"/>
              </a:rPr>
              <a:t>Huggingface</a:t>
            </a:r>
            <a:r>
              <a:rPr lang="en-US" altLang="zh-CN" sz="2200" dirty="0">
                <a:latin typeface="Calibri" panose="020F0502020204030204" pitchFamily="34" charset="0"/>
                <a:cs typeface="Calibri" panose="020F0502020204030204" pitchFamily="34" charset="0"/>
                <a:sym typeface="+mn-ea"/>
              </a:rPr>
              <a:t> </a:t>
            </a:r>
            <a:endParaRPr lang="en-US" altLang="zh-CN" sz="2200" dirty="0">
              <a:latin typeface="Calibri" panose="020F0502020204030204" pitchFamily="34" charset="0"/>
              <a:cs typeface="Calibri" panose="020F0502020204030204" pitchFamily="34" charset="0"/>
            </a:endParaRPr>
          </a:p>
          <a:p>
            <a:pPr marL="1200150" lvl="2" indent="-285750">
              <a:lnSpc>
                <a:spcPct val="150000"/>
              </a:lnSpc>
              <a:buClr>
                <a:srgbClr val="2F57D9"/>
              </a:buClr>
              <a:buSzPct val="70000"/>
              <a:buFont typeface="Wingdings" panose="05000000000000000000" pitchFamily="2" charset="2"/>
              <a:buChar char="n"/>
            </a:pPr>
            <a:r>
              <a:rPr lang="en-US" altLang="zh-CN" sz="2200" b="1" dirty="0">
                <a:latin typeface="Calibri" panose="020F0502020204030204" pitchFamily="34" charset="0"/>
                <a:cs typeface="Calibri" panose="020F0502020204030204" pitchFamily="34" charset="0"/>
                <a:sym typeface="+mn-ea"/>
              </a:rPr>
              <a:t>E1.2 Large Language Model in Website</a:t>
            </a:r>
            <a:endParaRPr lang="en-US" altLang="zh-CN" sz="2200" b="1" dirty="0">
              <a:latin typeface="Calibri" panose="020F0502020204030204" pitchFamily="34" charset="0"/>
              <a:cs typeface="Calibri" panose="020F0502020204030204" pitchFamily="34" charset="0"/>
            </a:endParaRPr>
          </a:p>
          <a:p>
            <a:pPr marL="1200150" lvl="2" indent="-285750">
              <a:lnSpc>
                <a:spcPct val="150000"/>
              </a:lnSpc>
              <a:buClr>
                <a:srgbClr val="2F57D9"/>
              </a:buClr>
              <a:buSzPct val="70000"/>
              <a:buFont typeface="Wingdings" panose="05000000000000000000" pitchFamily="2" charset="2"/>
              <a:buChar char="n"/>
            </a:pPr>
            <a:r>
              <a:rPr lang="en-US" altLang="zh-CN" sz="2200" dirty="0">
                <a:latin typeface="Calibri" panose="020F0502020204030204" pitchFamily="34" charset="0"/>
                <a:cs typeface="Calibri" panose="020F0502020204030204" pitchFamily="34" charset="0"/>
                <a:sym typeface="+mn-ea"/>
              </a:rPr>
              <a:t>E1.3 Large Language Model in Terminal (e.g. Claude Code)</a:t>
            </a:r>
            <a:endParaRPr lang="en-US" altLang="zh-CN" sz="2000" dirty="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E1. </a:t>
            </a:r>
            <a:r>
              <a:rPr lang="en-US" altLang="zh-CN" sz="1500" b="1" dirty="0">
                <a:latin typeface="Calibri" panose="020F0502020204030204" pitchFamily="34" charset="0"/>
                <a:cs typeface="Calibri" panose="020F0502020204030204" pitchFamily="34" charset="0"/>
                <a:sym typeface="+mn-ea"/>
              </a:rPr>
              <a:t>Environment Setup for Large Language Models						Large Language Model in Website</a:t>
            </a:r>
            <a:r>
              <a:rPr lang="en-US" altLang="zh-CN" sz="1500" dirty="0"/>
              <a:t>  </a:t>
            </a:r>
            <a:endParaRPr lang="zh-CN" altLang="en-US" sz="1500" dirty="0"/>
          </a:p>
        </p:txBody>
      </p:sp>
      <p:pic>
        <p:nvPicPr>
          <p:cNvPr id="2" name="图片 1"/>
          <p:cNvPicPr>
            <a:picLocks noChangeAspect="1"/>
          </p:cNvPicPr>
          <p:nvPr/>
        </p:nvPicPr>
        <p:blipFill>
          <a:blip r:embed="rId3"/>
          <a:stretch>
            <a:fillRect/>
          </a:stretch>
        </p:blipFill>
        <p:spPr>
          <a:xfrm>
            <a:off x="835660" y="614045"/>
            <a:ext cx="8223885" cy="3752850"/>
          </a:xfrm>
          <a:prstGeom prst="rect">
            <a:avLst/>
          </a:prstGeom>
          <a:ln w="22225">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pic>
      <p:sp>
        <p:nvSpPr>
          <p:cNvPr id="3" name="圆角矩形 2"/>
          <p:cNvSpPr/>
          <p:nvPr/>
        </p:nvSpPr>
        <p:spPr>
          <a:xfrm>
            <a:off x="7141845" y="1008380"/>
            <a:ext cx="1804670" cy="608330"/>
          </a:xfrm>
          <a:prstGeom prst="round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800" b="1">
                <a:solidFill>
                  <a:schemeClr val="tx1"/>
                </a:solidFill>
              </a:rPr>
              <a:t>ChatGPT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E1. </a:t>
            </a:r>
            <a:r>
              <a:rPr lang="en-US" altLang="zh-CN" sz="1500" b="1" dirty="0">
                <a:latin typeface="Calibri" panose="020F0502020204030204" pitchFamily="34" charset="0"/>
                <a:cs typeface="Calibri" panose="020F0502020204030204" pitchFamily="34" charset="0"/>
                <a:sym typeface="+mn-ea"/>
              </a:rPr>
              <a:t>Environment Setup for Large Language Models						Large Language Model in Website</a:t>
            </a:r>
            <a:r>
              <a:rPr lang="en-US" altLang="zh-CN" sz="1500" dirty="0"/>
              <a:t>  </a:t>
            </a:r>
            <a:endParaRPr lang="zh-CN" altLang="en-US" sz="1500" dirty="0"/>
          </a:p>
        </p:txBody>
      </p:sp>
      <p:pic>
        <p:nvPicPr>
          <p:cNvPr id="2" name="图片 1"/>
          <p:cNvPicPr>
            <a:picLocks noChangeAspect="1"/>
          </p:cNvPicPr>
          <p:nvPr/>
        </p:nvPicPr>
        <p:blipFill>
          <a:blip r:embed="rId3"/>
          <a:stretch>
            <a:fillRect/>
          </a:stretch>
        </p:blipFill>
        <p:spPr>
          <a:xfrm>
            <a:off x="835660" y="614045"/>
            <a:ext cx="8223885" cy="3752850"/>
          </a:xfrm>
          <a:prstGeom prst="rect">
            <a:avLst/>
          </a:prstGeom>
          <a:ln w="22225">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pic>
      <p:pic>
        <p:nvPicPr>
          <p:cNvPr id="3" name="图片 2"/>
          <p:cNvPicPr>
            <a:picLocks noChangeAspect="1"/>
          </p:cNvPicPr>
          <p:nvPr/>
        </p:nvPicPr>
        <p:blipFill>
          <a:blip r:embed="rId4"/>
          <a:stretch>
            <a:fillRect/>
          </a:stretch>
        </p:blipFill>
        <p:spPr>
          <a:xfrm>
            <a:off x="1116965" y="871220"/>
            <a:ext cx="8480425" cy="4164965"/>
          </a:xfrm>
          <a:prstGeom prst="rect">
            <a:avLst/>
          </a:prstGeom>
          <a:ln w="190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pic>
      <p:sp>
        <p:nvSpPr>
          <p:cNvPr id="4" name="圆角矩形 3"/>
          <p:cNvSpPr/>
          <p:nvPr/>
        </p:nvSpPr>
        <p:spPr>
          <a:xfrm>
            <a:off x="7709535" y="1068070"/>
            <a:ext cx="1804670" cy="608330"/>
          </a:xfrm>
          <a:prstGeom prst="round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800" b="1">
                <a:solidFill>
                  <a:schemeClr val="tx1"/>
                </a:solidFill>
              </a:rPr>
              <a:t>Claude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E1. </a:t>
            </a:r>
            <a:r>
              <a:rPr lang="en-US" altLang="zh-CN" sz="1500" b="1" dirty="0">
                <a:latin typeface="Calibri" panose="020F0502020204030204" pitchFamily="34" charset="0"/>
                <a:cs typeface="Calibri" panose="020F0502020204030204" pitchFamily="34" charset="0"/>
                <a:sym typeface="+mn-ea"/>
              </a:rPr>
              <a:t>Environment Setup for Large Language Models						Large Language Model in Website</a:t>
            </a:r>
            <a:r>
              <a:rPr lang="en-US" altLang="zh-CN" sz="1500" dirty="0"/>
              <a:t>  </a:t>
            </a:r>
            <a:endParaRPr lang="zh-CN" altLang="en-US" sz="1500" dirty="0"/>
          </a:p>
        </p:txBody>
      </p:sp>
      <p:pic>
        <p:nvPicPr>
          <p:cNvPr id="2" name="图片 1"/>
          <p:cNvPicPr>
            <a:picLocks noChangeAspect="1"/>
          </p:cNvPicPr>
          <p:nvPr/>
        </p:nvPicPr>
        <p:blipFill>
          <a:blip r:embed="rId3"/>
          <a:stretch>
            <a:fillRect/>
          </a:stretch>
        </p:blipFill>
        <p:spPr>
          <a:xfrm>
            <a:off x="835660" y="614045"/>
            <a:ext cx="8223885" cy="3752850"/>
          </a:xfrm>
          <a:prstGeom prst="rect">
            <a:avLst/>
          </a:prstGeom>
          <a:ln w="22225">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pic>
      <p:pic>
        <p:nvPicPr>
          <p:cNvPr id="3" name="图片 2"/>
          <p:cNvPicPr>
            <a:picLocks noChangeAspect="1"/>
          </p:cNvPicPr>
          <p:nvPr/>
        </p:nvPicPr>
        <p:blipFill>
          <a:blip r:embed="rId4"/>
          <a:stretch>
            <a:fillRect/>
          </a:stretch>
        </p:blipFill>
        <p:spPr>
          <a:xfrm>
            <a:off x="1116965" y="871220"/>
            <a:ext cx="8480425" cy="4164965"/>
          </a:xfrm>
          <a:prstGeom prst="rect">
            <a:avLst/>
          </a:prstGeom>
          <a:ln w="190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pic>
      <p:pic>
        <p:nvPicPr>
          <p:cNvPr id="4" name="图片 3"/>
          <p:cNvPicPr>
            <a:picLocks noChangeAspect="1"/>
          </p:cNvPicPr>
          <p:nvPr/>
        </p:nvPicPr>
        <p:blipFill>
          <a:blip r:embed="rId5"/>
          <a:stretch>
            <a:fillRect/>
          </a:stretch>
        </p:blipFill>
        <p:spPr>
          <a:xfrm>
            <a:off x="1510665" y="1214755"/>
            <a:ext cx="8752205" cy="3985895"/>
          </a:xfrm>
          <a:prstGeom prst="rect">
            <a:avLst/>
          </a:prstGeom>
          <a:ln w="22225">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pic>
      <p:sp>
        <p:nvSpPr>
          <p:cNvPr id="5" name="圆角矩形 4"/>
          <p:cNvSpPr/>
          <p:nvPr/>
        </p:nvSpPr>
        <p:spPr>
          <a:xfrm>
            <a:off x="8171180" y="1395730"/>
            <a:ext cx="1804670" cy="608330"/>
          </a:xfrm>
          <a:prstGeom prst="round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800" b="1">
                <a:solidFill>
                  <a:schemeClr val="tx1"/>
                </a:solidFill>
              </a:rPr>
              <a:t>Gemini</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E1. </a:t>
            </a:r>
            <a:r>
              <a:rPr lang="en-US" altLang="zh-CN" sz="1500" b="1" dirty="0">
                <a:latin typeface="Calibri" panose="020F0502020204030204" pitchFamily="34" charset="0"/>
                <a:cs typeface="Calibri" panose="020F0502020204030204" pitchFamily="34" charset="0"/>
                <a:sym typeface="+mn-ea"/>
              </a:rPr>
              <a:t>Environment Setup for Large Language Models						Large Language Model in Website</a:t>
            </a:r>
            <a:r>
              <a:rPr lang="en-US" altLang="zh-CN" sz="1500" dirty="0"/>
              <a:t>  </a:t>
            </a:r>
            <a:endParaRPr lang="zh-CN" altLang="en-US" sz="1500" dirty="0"/>
          </a:p>
        </p:txBody>
      </p:sp>
      <p:pic>
        <p:nvPicPr>
          <p:cNvPr id="2" name="图片 1"/>
          <p:cNvPicPr>
            <a:picLocks noChangeAspect="1"/>
          </p:cNvPicPr>
          <p:nvPr/>
        </p:nvPicPr>
        <p:blipFill>
          <a:blip r:embed="rId3"/>
          <a:stretch>
            <a:fillRect/>
          </a:stretch>
        </p:blipFill>
        <p:spPr>
          <a:xfrm>
            <a:off x="835660" y="614045"/>
            <a:ext cx="8223885" cy="3752850"/>
          </a:xfrm>
          <a:prstGeom prst="rect">
            <a:avLst/>
          </a:prstGeom>
          <a:ln w="22225">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pic>
      <p:pic>
        <p:nvPicPr>
          <p:cNvPr id="3" name="图片 2"/>
          <p:cNvPicPr>
            <a:picLocks noChangeAspect="1"/>
          </p:cNvPicPr>
          <p:nvPr/>
        </p:nvPicPr>
        <p:blipFill>
          <a:blip r:embed="rId4"/>
          <a:stretch>
            <a:fillRect/>
          </a:stretch>
        </p:blipFill>
        <p:spPr>
          <a:xfrm>
            <a:off x="1116965" y="871220"/>
            <a:ext cx="8480425" cy="4164965"/>
          </a:xfrm>
          <a:prstGeom prst="rect">
            <a:avLst/>
          </a:prstGeom>
          <a:ln w="190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pic>
      <p:pic>
        <p:nvPicPr>
          <p:cNvPr id="4" name="图片 3"/>
          <p:cNvPicPr>
            <a:picLocks noChangeAspect="1"/>
          </p:cNvPicPr>
          <p:nvPr/>
        </p:nvPicPr>
        <p:blipFill>
          <a:blip r:embed="rId5"/>
          <a:stretch>
            <a:fillRect/>
          </a:stretch>
        </p:blipFill>
        <p:spPr>
          <a:xfrm>
            <a:off x="1510665" y="1214755"/>
            <a:ext cx="8752205" cy="3985895"/>
          </a:xfrm>
          <a:prstGeom prst="rect">
            <a:avLst/>
          </a:prstGeom>
          <a:ln w="22225">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pic>
      <p:sp>
        <p:nvSpPr>
          <p:cNvPr id="5" name="圆角矩形 4"/>
          <p:cNvSpPr/>
          <p:nvPr/>
        </p:nvSpPr>
        <p:spPr>
          <a:xfrm>
            <a:off x="8171180" y="1395730"/>
            <a:ext cx="1804670" cy="608330"/>
          </a:xfrm>
          <a:prstGeom prst="round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800" b="1">
                <a:solidFill>
                  <a:schemeClr val="tx1"/>
                </a:solidFill>
              </a:rPr>
              <a:t>Gemini</a:t>
            </a:r>
          </a:p>
        </p:txBody>
      </p:sp>
      <p:pic>
        <p:nvPicPr>
          <p:cNvPr id="7" name="图片 6"/>
          <p:cNvPicPr>
            <a:picLocks noChangeAspect="1"/>
          </p:cNvPicPr>
          <p:nvPr/>
        </p:nvPicPr>
        <p:blipFill>
          <a:blip r:embed="rId6"/>
          <a:stretch>
            <a:fillRect/>
          </a:stretch>
        </p:blipFill>
        <p:spPr>
          <a:xfrm>
            <a:off x="1998980" y="1438275"/>
            <a:ext cx="8632825" cy="4194175"/>
          </a:xfrm>
          <a:prstGeom prst="rect">
            <a:avLst/>
          </a:prstGeom>
          <a:ln w="22225">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pic>
      <p:sp>
        <p:nvSpPr>
          <p:cNvPr id="8" name="圆角矩形 7"/>
          <p:cNvSpPr/>
          <p:nvPr/>
        </p:nvSpPr>
        <p:spPr>
          <a:xfrm>
            <a:off x="8599170" y="1823720"/>
            <a:ext cx="1804670" cy="608330"/>
          </a:xfrm>
          <a:prstGeom prst="round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800" b="1">
                <a:solidFill>
                  <a:schemeClr val="tx1"/>
                </a:solidFill>
              </a:rPr>
              <a:t>Manus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E1. </a:t>
            </a:r>
            <a:r>
              <a:rPr lang="en-US" altLang="zh-CN" sz="1500" b="1" dirty="0">
                <a:latin typeface="Calibri" panose="020F0502020204030204" pitchFamily="34" charset="0"/>
                <a:cs typeface="Calibri" panose="020F0502020204030204" pitchFamily="34" charset="0"/>
                <a:sym typeface="+mn-ea"/>
              </a:rPr>
              <a:t>Environment Setup for Large Language Models						Large Language Model in Website</a:t>
            </a:r>
            <a:r>
              <a:rPr lang="en-US" altLang="zh-CN" sz="1500" dirty="0"/>
              <a:t>  </a:t>
            </a:r>
            <a:endParaRPr lang="zh-CN" altLang="en-US" sz="1500" dirty="0"/>
          </a:p>
        </p:txBody>
      </p:sp>
      <p:pic>
        <p:nvPicPr>
          <p:cNvPr id="9" name="图片 8"/>
          <p:cNvPicPr>
            <a:picLocks noChangeAspect="1"/>
          </p:cNvPicPr>
          <p:nvPr/>
        </p:nvPicPr>
        <p:blipFill>
          <a:blip r:embed="rId3"/>
          <a:stretch>
            <a:fillRect/>
          </a:stretch>
        </p:blipFill>
        <p:spPr>
          <a:xfrm>
            <a:off x="1479550" y="820420"/>
            <a:ext cx="2366010" cy="5128260"/>
          </a:xfrm>
          <a:prstGeom prst="rect">
            <a:avLst/>
          </a:prstGeom>
        </p:spPr>
      </p:pic>
      <p:pic>
        <p:nvPicPr>
          <p:cNvPr id="10" name="图片 9"/>
          <p:cNvPicPr>
            <a:picLocks noChangeAspect="1"/>
          </p:cNvPicPr>
          <p:nvPr/>
        </p:nvPicPr>
        <p:blipFill>
          <a:blip r:embed="rId4"/>
          <a:stretch>
            <a:fillRect/>
          </a:stretch>
        </p:blipFill>
        <p:spPr>
          <a:xfrm>
            <a:off x="4887595" y="810895"/>
            <a:ext cx="2370455" cy="5137785"/>
          </a:xfrm>
          <a:prstGeom prst="rect">
            <a:avLst/>
          </a:prstGeom>
        </p:spPr>
      </p:pic>
      <p:pic>
        <p:nvPicPr>
          <p:cNvPr id="11" name="图片 10"/>
          <p:cNvPicPr>
            <a:picLocks noChangeAspect="1"/>
          </p:cNvPicPr>
          <p:nvPr/>
        </p:nvPicPr>
        <p:blipFill>
          <a:blip r:embed="rId5"/>
          <a:stretch>
            <a:fillRect/>
          </a:stretch>
        </p:blipFill>
        <p:spPr>
          <a:xfrm>
            <a:off x="8300085" y="820420"/>
            <a:ext cx="2369820" cy="5137150"/>
          </a:xfrm>
          <a:prstGeom prst="rect">
            <a:avLst/>
          </a:prstGeom>
        </p:spPr>
      </p:pic>
      <p:sp>
        <p:nvSpPr>
          <p:cNvPr id="12" name="圆角矩形 11"/>
          <p:cNvSpPr/>
          <p:nvPr/>
        </p:nvSpPr>
        <p:spPr>
          <a:xfrm>
            <a:off x="1590040" y="299085"/>
            <a:ext cx="2145665" cy="608330"/>
          </a:xfrm>
          <a:prstGeom prst="round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800" b="1">
                <a:solidFill>
                  <a:schemeClr val="tx1"/>
                </a:solidFill>
              </a:rPr>
              <a:t>Gemini</a:t>
            </a:r>
          </a:p>
        </p:txBody>
      </p:sp>
      <p:sp>
        <p:nvSpPr>
          <p:cNvPr id="13" name="圆角矩形 12"/>
          <p:cNvSpPr/>
          <p:nvPr/>
        </p:nvSpPr>
        <p:spPr>
          <a:xfrm>
            <a:off x="5229225" y="299085"/>
            <a:ext cx="1804670" cy="608330"/>
          </a:xfrm>
          <a:prstGeom prst="round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800" b="1">
                <a:solidFill>
                  <a:schemeClr val="tx1"/>
                </a:solidFill>
              </a:rPr>
              <a:t>doubao</a:t>
            </a:r>
          </a:p>
        </p:txBody>
      </p:sp>
      <p:sp>
        <p:nvSpPr>
          <p:cNvPr id="14" name="圆角矩形 13"/>
          <p:cNvSpPr/>
          <p:nvPr/>
        </p:nvSpPr>
        <p:spPr>
          <a:xfrm>
            <a:off x="8481060" y="299085"/>
            <a:ext cx="2145665" cy="608330"/>
          </a:xfrm>
          <a:prstGeom prst="round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800" b="1">
                <a:solidFill>
                  <a:schemeClr val="tx1"/>
                </a:solidFill>
              </a:rPr>
              <a:t>ChatGPT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E1. </a:t>
            </a:r>
            <a:r>
              <a:rPr lang="en-US" altLang="zh-CN" sz="1500" b="1" dirty="0">
                <a:latin typeface="Calibri" panose="020F0502020204030204" pitchFamily="34" charset="0"/>
                <a:cs typeface="Calibri" panose="020F0502020204030204" pitchFamily="34" charset="0"/>
                <a:sym typeface="+mn-ea"/>
              </a:rPr>
              <a:t>Environment Setup for Large Language Models						Large Language Model in Website</a:t>
            </a:r>
            <a:r>
              <a:rPr lang="en-US" altLang="zh-CN" sz="1500" dirty="0"/>
              <a:t>  </a:t>
            </a:r>
            <a:endParaRPr lang="zh-CN" altLang="en-US" sz="1500" dirty="0"/>
          </a:p>
        </p:txBody>
      </p:sp>
      <p:graphicFrame>
        <p:nvGraphicFramePr>
          <p:cNvPr id="2" name="表格 1"/>
          <p:cNvGraphicFramePr/>
          <p:nvPr/>
        </p:nvGraphicFramePr>
        <p:xfrm>
          <a:off x="807085" y="638810"/>
          <a:ext cx="10485120" cy="5267325"/>
        </p:xfrm>
        <a:graphic>
          <a:graphicData uri="http://schemas.openxmlformats.org/drawingml/2006/table">
            <a:tbl>
              <a:tblPr/>
              <a:tblGrid>
                <a:gridCol w="3495040">
                  <a:extLst>
                    <a:ext uri="{9D8B030D-6E8A-4147-A177-3AD203B41FA5}">
                      <a16:colId xmlns:a16="http://schemas.microsoft.com/office/drawing/2014/main" xmlns="" val="20000"/>
                    </a:ext>
                  </a:extLst>
                </a:gridCol>
                <a:gridCol w="3495040">
                  <a:extLst>
                    <a:ext uri="{9D8B030D-6E8A-4147-A177-3AD203B41FA5}">
                      <a16:colId xmlns:a16="http://schemas.microsoft.com/office/drawing/2014/main" xmlns="" val="20001"/>
                    </a:ext>
                  </a:extLst>
                </a:gridCol>
                <a:gridCol w="3495040">
                  <a:extLst>
                    <a:ext uri="{9D8B030D-6E8A-4147-A177-3AD203B41FA5}">
                      <a16:colId xmlns:a16="http://schemas.microsoft.com/office/drawing/2014/main" xmlns="" val="20002"/>
                    </a:ext>
                  </a:extLst>
                </a:gridCol>
              </a:tblGrid>
              <a:tr h="356870">
                <a:tc>
                  <a:txBody>
                    <a:bodyPr/>
                    <a:lstStyle/>
                    <a:p>
                      <a:pPr marL="0" indent="0">
                        <a:spcBef>
                          <a:spcPct val="0"/>
                        </a:spcBef>
                        <a:spcAft>
                          <a:spcPct val="0"/>
                        </a:spcAft>
                      </a:pPr>
                      <a:r>
                        <a:rPr lang="en-US" altLang="zh-CN" sz="1600">
                          <a:solidFill>
                            <a:srgbClr val="1F1F1F"/>
                          </a:solidFill>
                          <a:latin typeface="Arial" panose="020B0604020202020204" pitchFamily="34" charset="0"/>
                          <a:ea typeface="Google Sans Text"/>
                          <a:cs typeface="Arial" panose="020B0604020202020204" pitchFamily="34" charset="0"/>
                        </a:rPr>
                        <a:t>Capability</a:t>
                      </a:r>
                    </a:p>
                  </a:txBody>
                  <a:tcPr marL="76517" marR="76517" marT="51117" marB="5111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spcBef>
                          <a:spcPct val="0"/>
                        </a:spcBef>
                        <a:spcAft>
                          <a:spcPct val="0"/>
                        </a:spcAft>
                      </a:pPr>
                      <a:r>
                        <a:rPr lang="en-US" altLang="zh-CN" sz="1600">
                          <a:solidFill>
                            <a:srgbClr val="1F1F1F"/>
                          </a:solidFill>
                          <a:latin typeface="Arial" panose="020B0604020202020204" pitchFamily="34" charset="0"/>
                          <a:ea typeface="Google Sans Text"/>
                          <a:cs typeface="Arial" panose="020B0604020202020204" pitchFamily="34" charset="0"/>
                        </a:rPr>
                        <a:t>Typical Use Cases</a:t>
                      </a:r>
                    </a:p>
                  </a:txBody>
                  <a:tcPr marL="76517" marR="76517" marT="51117" marB="5111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spcBef>
                          <a:spcPct val="0"/>
                        </a:spcBef>
                        <a:spcAft>
                          <a:spcPct val="0"/>
                        </a:spcAft>
                      </a:pPr>
                      <a:r>
                        <a:rPr lang="en-US" altLang="zh-CN" sz="1600">
                          <a:solidFill>
                            <a:srgbClr val="1F1F1F"/>
                          </a:solidFill>
                          <a:latin typeface="Arial" panose="020B0604020202020204" pitchFamily="34" charset="0"/>
                          <a:ea typeface="Google Sans Text"/>
                          <a:cs typeface="Arial" panose="020B0604020202020204" pitchFamily="34" charset="0"/>
                        </a:rPr>
                        <a:t>Current Status / Availability</a:t>
                      </a:r>
                    </a:p>
                  </a:txBody>
                  <a:tcPr marL="76517" marR="76517" marT="51117" marB="5111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xmlns="" val="10000"/>
                  </a:ext>
                </a:extLst>
              </a:tr>
              <a:tr h="608330">
                <a:tc>
                  <a:txBody>
                    <a:bodyPr/>
                    <a:lstStyle/>
                    <a:p>
                      <a:pPr marL="0" indent="0">
                        <a:spcBef>
                          <a:spcPct val="0"/>
                        </a:spcBef>
                        <a:spcAft>
                          <a:spcPct val="0"/>
                        </a:spcAft>
                      </a:pPr>
                      <a:r>
                        <a:rPr lang="en-US" altLang="zh-CN" sz="1600" b="1">
                          <a:solidFill>
                            <a:srgbClr val="1F1F1F"/>
                          </a:solidFill>
                          <a:latin typeface="Arial" panose="020B0604020202020204" pitchFamily="34" charset="0"/>
                          <a:ea typeface="Google Sans Text"/>
                          <a:cs typeface="Arial" panose="020B0604020202020204" pitchFamily="34" charset="0"/>
                        </a:rPr>
                        <a:t>Text</a:t>
                      </a:r>
                    </a:p>
                  </a:txBody>
                  <a:tcPr marL="76517" marR="76517" marT="51117" marB="5111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spcBef>
                          <a:spcPct val="0"/>
                        </a:spcBef>
                        <a:spcAft>
                          <a:spcPct val="0"/>
                        </a:spcAft>
                      </a:pPr>
                      <a:r>
                        <a:rPr lang="en-US" altLang="zh-CN" sz="1600">
                          <a:solidFill>
                            <a:srgbClr val="1F1F1F"/>
                          </a:solidFill>
                          <a:latin typeface="Arial" panose="020B0604020202020204" pitchFamily="34" charset="0"/>
                          <a:ea typeface="Google Sans Text"/>
                          <a:cs typeface="Arial" panose="020B0604020202020204" pitchFamily="34" charset="0"/>
                        </a:rPr>
                        <a:t>Writing, Translation, Coding</a:t>
                      </a:r>
                    </a:p>
                  </a:txBody>
                  <a:tcPr marL="76517" marR="76517" marT="51117" marB="5111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spcBef>
                          <a:spcPct val="0"/>
                        </a:spcBef>
                        <a:spcAft>
                          <a:spcPct val="0"/>
                        </a:spcAft>
                      </a:pPr>
                      <a:r>
                        <a:rPr lang="en-US" altLang="zh-CN" sz="1600" b="1">
                          <a:solidFill>
                            <a:srgbClr val="1F1F1F"/>
                          </a:solidFill>
                          <a:latin typeface="Arial" panose="020B0604020202020204" pitchFamily="34" charset="0"/>
                          <a:ea typeface="Google Sans Text"/>
                          <a:cs typeface="Arial" panose="020B0604020202020204" pitchFamily="34" charset="0"/>
                        </a:rPr>
                        <a:t>Highly Mature</a:t>
                      </a:r>
                      <a:r>
                        <a:rPr lang="en-US" altLang="zh-CN" sz="1600">
                          <a:solidFill>
                            <a:srgbClr val="1F1F1F"/>
                          </a:solidFill>
                          <a:latin typeface="Arial" panose="020B0604020202020204" pitchFamily="34" charset="0"/>
                          <a:ea typeface="Google Sans Text"/>
                          <a:cs typeface="Arial" panose="020B0604020202020204" pitchFamily="34" charset="0"/>
                        </a:rPr>
                        <a:t>. Supported by almost all versions (free &amp; paid).</a:t>
                      </a:r>
                    </a:p>
                  </a:txBody>
                  <a:tcPr marL="76517" marR="76517" marT="51117" marB="5111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xmlns="" val="10001"/>
                  </a:ext>
                </a:extLst>
              </a:tr>
              <a:tr h="860425">
                <a:tc>
                  <a:txBody>
                    <a:bodyPr/>
                    <a:lstStyle/>
                    <a:p>
                      <a:pPr marL="0" indent="0">
                        <a:spcBef>
                          <a:spcPct val="0"/>
                        </a:spcBef>
                        <a:spcAft>
                          <a:spcPct val="0"/>
                        </a:spcAft>
                      </a:pPr>
                      <a:r>
                        <a:rPr lang="en-US" altLang="zh-CN" sz="1600" b="1">
                          <a:solidFill>
                            <a:srgbClr val="1F1F1F"/>
                          </a:solidFill>
                          <a:latin typeface="Arial" panose="020B0604020202020204" pitchFamily="34" charset="0"/>
                          <a:ea typeface="Google Sans Text"/>
                          <a:cs typeface="Arial" panose="020B0604020202020204" pitchFamily="34" charset="0"/>
                        </a:rPr>
                        <a:t>Image</a:t>
                      </a:r>
                    </a:p>
                  </a:txBody>
                  <a:tcPr marL="76517" marR="76517" marT="51117" marB="5111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spcBef>
                          <a:spcPct val="0"/>
                        </a:spcBef>
                        <a:spcAft>
                          <a:spcPct val="0"/>
                        </a:spcAft>
                      </a:pPr>
                      <a:r>
                        <a:rPr lang="en-US" altLang="zh-CN" sz="1600">
                          <a:solidFill>
                            <a:srgbClr val="1F1F1F"/>
                          </a:solidFill>
                          <a:latin typeface="Arial" panose="020B0604020202020204" pitchFamily="34" charset="0"/>
                          <a:ea typeface="Google Sans Text"/>
                          <a:cs typeface="Arial" panose="020B0604020202020204" pitchFamily="34" charset="0"/>
                        </a:rPr>
                        <a:t>Generating art (Text-to-Image), Analyzing photos</a:t>
                      </a:r>
                    </a:p>
                  </a:txBody>
                  <a:tcPr marL="76517" marR="76517" marT="51117" marB="5111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spcBef>
                          <a:spcPct val="0"/>
                        </a:spcBef>
                        <a:spcAft>
                          <a:spcPct val="0"/>
                        </a:spcAft>
                      </a:pPr>
                      <a:r>
                        <a:rPr lang="en-US" altLang="zh-CN" sz="1600" b="1">
                          <a:solidFill>
                            <a:srgbClr val="1F1F1F"/>
                          </a:solidFill>
                          <a:latin typeface="Arial" panose="020B0604020202020204" pitchFamily="34" charset="0"/>
                          <a:ea typeface="Google Sans Text"/>
                          <a:cs typeface="Arial" panose="020B0604020202020204" pitchFamily="34" charset="0"/>
                        </a:rPr>
                        <a:t>Mature</a:t>
                      </a:r>
                      <a:r>
                        <a:rPr lang="en-US" altLang="zh-CN" sz="1600">
                          <a:solidFill>
                            <a:srgbClr val="1F1F1F"/>
                          </a:solidFill>
                          <a:latin typeface="Arial" panose="020B0604020202020204" pitchFamily="34" charset="0"/>
                          <a:ea typeface="Google Sans Text"/>
                          <a:cs typeface="Arial" panose="020B0604020202020204" pitchFamily="34" charset="0"/>
                        </a:rPr>
                        <a:t>. High-quality generation usually requires paid plans (e.g., GPT-Image, Gemini Nano Banana).</a:t>
                      </a:r>
                    </a:p>
                  </a:txBody>
                  <a:tcPr marL="76517" marR="76517" marT="51117" marB="5111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xmlns="" val="10002"/>
                  </a:ext>
                </a:extLst>
              </a:tr>
              <a:tr h="608965">
                <a:tc>
                  <a:txBody>
                    <a:bodyPr/>
                    <a:lstStyle/>
                    <a:p>
                      <a:pPr marL="0" indent="0">
                        <a:spcBef>
                          <a:spcPct val="0"/>
                        </a:spcBef>
                        <a:spcAft>
                          <a:spcPct val="0"/>
                        </a:spcAft>
                      </a:pPr>
                      <a:r>
                        <a:rPr lang="en-US" altLang="zh-CN" sz="1600" b="1">
                          <a:solidFill>
                            <a:srgbClr val="1F1F1F"/>
                          </a:solidFill>
                          <a:latin typeface="Arial" panose="020B0604020202020204" pitchFamily="34" charset="0"/>
                          <a:ea typeface="Google Sans Text"/>
                          <a:cs typeface="Arial" panose="020B0604020202020204" pitchFamily="34" charset="0"/>
                        </a:rPr>
                        <a:t>Documents &amp; Data</a:t>
                      </a:r>
                    </a:p>
                  </a:txBody>
                  <a:tcPr marL="76517" marR="76517" marT="51117" marB="5111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spcBef>
                          <a:spcPct val="0"/>
                        </a:spcBef>
                        <a:spcAft>
                          <a:spcPct val="0"/>
                        </a:spcAft>
                      </a:pPr>
                      <a:r>
                        <a:rPr lang="en-US" altLang="zh-CN" sz="1600">
                          <a:solidFill>
                            <a:srgbClr val="1F1F1F"/>
                          </a:solidFill>
                          <a:latin typeface="Arial" panose="020B0604020202020204" pitchFamily="34" charset="0"/>
                          <a:ea typeface="Google Sans Text"/>
                          <a:cs typeface="Arial" panose="020B0604020202020204" pitchFamily="34" charset="0"/>
                        </a:rPr>
                        <a:t>Summarizing PDFs, Analyzing Excel/CSV files</a:t>
                      </a:r>
                    </a:p>
                  </a:txBody>
                  <a:tcPr marL="76517" marR="76517" marT="51117" marB="5111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spcBef>
                          <a:spcPct val="0"/>
                        </a:spcBef>
                        <a:spcAft>
                          <a:spcPct val="0"/>
                        </a:spcAft>
                      </a:pPr>
                      <a:r>
                        <a:rPr lang="en-US" altLang="zh-CN" sz="1600" b="1">
                          <a:solidFill>
                            <a:srgbClr val="1F1F1F"/>
                          </a:solidFill>
                          <a:latin typeface="Arial" panose="020B0604020202020204" pitchFamily="34" charset="0"/>
                          <a:ea typeface="Google Sans Text"/>
                          <a:cs typeface="Arial" panose="020B0604020202020204" pitchFamily="34" charset="0"/>
                        </a:rPr>
                        <a:t>Mature</a:t>
                      </a:r>
                      <a:r>
                        <a:rPr lang="en-US" altLang="zh-CN" sz="1600">
                          <a:solidFill>
                            <a:srgbClr val="1F1F1F"/>
                          </a:solidFill>
                          <a:latin typeface="Arial" panose="020B0604020202020204" pitchFamily="34" charset="0"/>
                          <a:ea typeface="Google Sans Text"/>
                          <a:cs typeface="Arial" panose="020B0604020202020204" pitchFamily="34" charset="0"/>
                        </a:rPr>
                        <a:t>. Powerful productivity tools for handling large files.</a:t>
                      </a:r>
                    </a:p>
                  </a:txBody>
                  <a:tcPr marL="76517" marR="76517" marT="51117" marB="5111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xmlns="" val="10003"/>
                  </a:ext>
                </a:extLst>
              </a:tr>
              <a:tr h="860425">
                <a:tc>
                  <a:txBody>
                    <a:bodyPr/>
                    <a:lstStyle/>
                    <a:p>
                      <a:pPr marL="0" indent="0">
                        <a:spcBef>
                          <a:spcPct val="0"/>
                        </a:spcBef>
                        <a:spcAft>
                          <a:spcPct val="0"/>
                        </a:spcAft>
                      </a:pPr>
                      <a:r>
                        <a:rPr lang="en-US" altLang="zh-CN" sz="1600" b="1">
                          <a:solidFill>
                            <a:srgbClr val="1F1F1F"/>
                          </a:solidFill>
                          <a:latin typeface="Arial" panose="020B0604020202020204" pitchFamily="34" charset="0"/>
                          <a:ea typeface="Google Sans Text"/>
                          <a:cs typeface="Arial" panose="020B0604020202020204" pitchFamily="34" charset="0"/>
                        </a:rPr>
                        <a:t>Web Browsing</a:t>
                      </a:r>
                    </a:p>
                  </a:txBody>
                  <a:tcPr marL="76517" marR="76517" marT="51117" marB="5111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spcBef>
                          <a:spcPct val="0"/>
                        </a:spcBef>
                        <a:spcAft>
                          <a:spcPct val="0"/>
                        </a:spcAft>
                      </a:pPr>
                      <a:r>
                        <a:rPr lang="en-US" altLang="zh-CN" sz="1600">
                          <a:solidFill>
                            <a:srgbClr val="1F1F1F"/>
                          </a:solidFill>
                          <a:latin typeface="Arial" panose="020B0604020202020204" pitchFamily="34" charset="0"/>
                          <a:ea typeface="Google Sans Text"/>
                          <a:cs typeface="Arial" panose="020B0604020202020204" pitchFamily="34" charset="0"/>
                        </a:rPr>
                        <a:t>Real-time news, Fact-checking, Weather</a:t>
                      </a:r>
                    </a:p>
                  </a:txBody>
                  <a:tcPr marL="76517" marR="76517" marT="51117" marB="5111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spcBef>
                          <a:spcPct val="0"/>
                        </a:spcBef>
                        <a:spcAft>
                          <a:spcPct val="0"/>
                        </a:spcAft>
                      </a:pPr>
                      <a:r>
                        <a:rPr lang="en-US" altLang="zh-CN" sz="1600" b="1">
                          <a:solidFill>
                            <a:srgbClr val="1F1F1F"/>
                          </a:solidFill>
                          <a:latin typeface="Arial" panose="020B0604020202020204" pitchFamily="34" charset="0"/>
                          <a:ea typeface="Google Sans Text"/>
                          <a:cs typeface="Arial" panose="020B0604020202020204" pitchFamily="34" charset="0"/>
                        </a:rPr>
                        <a:t>Mature</a:t>
                      </a:r>
                      <a:r>
                        <a:rPr lang="en-US" altLang="zh-CN" sz="1600">
                          <a:solidFill>
                            <a:srgbClr val="1F1F1F"/>
                          </a:solidFill>
                          <a:latin typeface="Arial" panose="020B0604020202020204" pitchFamily="34" charset="0"/>
                          <a:ea typeface="Google Sans Text"/>
                          <a:cs typeface="Arial" panose="020B0604020202020204" pitchFamily="34" charset="0"/>
                        </a:rPr>
                        <a:t>. Integrated with search engines (Google or Bing) for up-to-date info.</a:t>
                      </a:r>
                    </a:p>
                  </a:txBody>
                  <a:tcPr marL="76517" marR="76517" marT="51117" marB="5111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xmlns="" val="10004"/>
                  </a:ext>
                </a:extLst>
              </a:tr>
              <a:tr h="1111885">
                <a:tc>
                  <a:txBody>
                    <a:bodyPr/>
                    <a:lstStyle/>
                    <a:p>
                      <a:pPr marL="0" indent="0">
                        <a:spcBef>
                          <a:spcPct val="0"/>
                        </a:spcBef>
                        <a:spcAft>
                          <a:spcPct val="0"/>
                        </a:spcAft>
                      </a:pPr>
                      <a:r>
                        <a:rPr lang="en-US" altLang="zh-CN" sz="1600" b="1">
                          <a:solidFill>
                            <a:srgbClr val="1F1F1F"/>
                          </a:solidFill>
                          <a:latin typeface="Arial" panose="020B0604020202020204" pitchFamily="34" charset="0"/>
                          <a:ea typeface="Google Sans Text"/>
                          <a:cs typeface="Arial" panose="020B0604020202020204" pitchFamily="34" charset="0"/>
                        </a:rPr>
                        <a:t>Video Generation</a:t>
                      </a:r>
                    </a:p>
                  </a:txBody>
                  <a:tcPr marL="76517" marR="76517" marT="51117" marB="5111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spcBef>
                          <a:spcPct val="0"/>
                        </a:spcBef>
                        <a:spcAft>
                          <a:spcPct val="0"/>
                        </a:spcAft>
                      </a:pPr>
                      <a:r>
                        <a:rPr lang="en-US" altLang="zh-CN" sz="1600">
                          <a:solidFill>
                            <a:srgbClr val="1F1F1F"/>
                          </a:solidFill>
                          <a:latin typeface="Arial" panose="020B0604020202020204" pitchFamily="34" charset="0"/>
                          <a:ea typeface="Google Sans Text"/>
                          <a:cs typeface="Arial" panose="020B0604020202020204" pitchFamily="34" charset="0"/>
                        </a:rPr>
                        <a:t>Creating short video clips from text</a:t>
                      </a:r>
                    </a:p>
                  </a:txBody>
                  <a:tcPr marL="76517" marR="76517" marT="51117" marB="5111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spcBef>
                          <a:spcPct val="0"/>
                        </a:spcBef>
                        <a:spcAft>
                          <a:spcPct val="0"/>
                        </a:spcAft>
                      </a:pPr>
                      <a:r>
                        <a:rPr lang="en-US" altLang="zh-CN" sz="1600" b="1">
                          <a:solidFill>
                            <a:srgbClr val="1F1F1F"/>
                          </a:solidFill>
                          <a:latin typeface="Arial" panose="020B0604020202020204" pitchFamily="34" charset="0"/>
                          <a:ea typeface="Google Sans Text"/>
                          <a:cs typeface="Arial" panose="020B0604020202020204" pitchFamily="34" charset="0"/>
                        </a:rPr>
                        <a:t>Limited / Experimental</a:t>
                      </a:r>
                      <a:r>
                        <a:rPr lang="en-US" altLang="zh-CN" sz="1600">
                          <a:solidFill>
                            <a:srgbClr val="1F1F1F"/>
                          </a:solidFill>
                          <a:latin typeface="Arial" panose="020B0604020202020204" pitchFamily="34" charset="0"/>
                          <a:ea typeface="Google Sans Text"/>
                          <a:cs typeface="Arial" panose="020B0604020202020204" pitchFamily="34" charset="0"/>
                        </a:rPr>
                        <a:t>. High-end models (like Sora or Veo) are not yet fully available to the general public via standard web chat.</a:t>
                      </a:r>
                    </a:p>
                  </a:txBody>
                  <a:tcPr marL="76517" marR="76517" marT="51117" marB="5111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xmlns="" val="10005"/>
                  </a:ext>
                </a:extLst>
              </a:tr>
              <a:tr h="860425">
                <a:tc>
                  <a:txBody>
                    <a:bodyPr/>
                    <a:lstStyle/>
                    <a:p>
                      <a:pPr marL="0" indent="0">
                        <a:spcBef>
                          <a:spcPct val="0"/>
                        </a:spcBef>
                        <a:spcAft>
                          <a:spcPct val="0"/>
                        </a:spcAft>
                      </a:pPr>
                      <a:r>
                        <a:rPr lang="en-US" altLang="zh-CN" sz="1600" b="1">
                          <a:solidFill>
                            <a:srgbClr val="1F1F1F"/>
                          </a:solidFill>
                          <a:latin typeface="Arial" panose="020B0604020202020204" pitchFamily="34" charset="0"/>
                          <a:ea typeface="Google Sans Text"/>
                          <a:cs typeface="Arial" panose="020B0604020202020204" pitchFamily="34" charset="0"/>
                        </a:rPr>
                        <a:t>Video Analysis</a:t>
                      </a:r>
                    </a:p>
                  </a:txBody>
                  <a:tcPr marL="76517" marR="76517" marT="51117" marB="5111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spcBef>
                          <a:spcPct val="0"/>
                        </a:spcBef>
                        <a:spcAft>
                          <a:spcPct val="0"/>
                        </a:spcAft>
                      </a:pPr>
                      <a:r>
                        <a:rPr lang="en-US" altLang="zh-CN" sz="1600">
                          <a:solidFill>
                            <a:srgbClr val="1F1F1F"/>
                          </a:solidFill>
                          <a:latin typeface="Arial" panose="020B0604020202020204" pitchFamily="34" charset="0"/>
                          <a:ea typeface="Google Sans Text"/>
                          <a:cs typeface="Arial" panose="020B0604020202020204" pitchFamily="34" charset="0"/>
                        </a:rPr>
                        <a:t>Understanding &amp; answering questions about uploaded videos</a:t>
                      </a:r>
                    </a:p>
                  </a:txBody>
                  <a:tcPr marL="76517" marR="76517" marT="51117" marB="5111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lstStyle/>
                    <a:p>
                      <a:pPr marL="0" indent="0">
                        <a:spcBef>
                          <a:spcPct val="0"/>
                        </a:spcBef>
                        <a:spcAft>
                          <a:spcPct val="0"/>
                        </a:spcAft>
                      </a:pPr>
                      <a:r>
                        <a:rPr lang="en-US" altLang="zh-CN" sz="1600" b="1">
                          <a:solidFill>
                            <a:srgbClr val="1F1F1F"/>
                          </a:solidFill>
                          <a:latin typeface="Arial" panose="020B0604020202020204" pitchFamily="34" charset="0"/>
                          <a:ea typeface="Google Sans Text"/>
                          <a:cs typeface="Arial" panose="020B0604020202020204" pitchFamily="34" charset="0"/>
                        </a:rPr>
                        <a:t>Gemini is notably strong</a:t>
                      </a:r>
                      <a:r>
                        <a:rPr lang="en-US" altLang="zh-CN" sz="1600">
                          <a:solidFill>
                            <a:srgbClr val="1F1F1F"/>
                          </a:solidFill>
                          <a:latin typeface="Arial" panose="020B0604020202020204" pitchFamily="34" charset="0"/>
                          <a:ea typeface="Google Sans Text"/>
                          <a:cs typeface="Arial" panose="020B0604020202020204" pitchFamily="34" charset="0"/>
                        </a:rPr>
                        <a:t>. It can natively "watch" and analyze long video files.</a:t>
                      </a:r>
                    </a:p>
                  </a:txBody>
                  <a:tcPr marL="76517" marR="76517" marT="51117" marB="51117"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extLst>
                  <a:ext uri="{0D108BD9-81ED-4DB2-BD59-A6C34878D82A}">
                    <a16:rowId xmlns:a16="http://schemas.microsoft.com/office/drawing/2014/main" xmlns="" val="10006"/>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E1. </a:t>
            </a:r>
            <a:r>
              <a:rPr lang="en-US" altLang="zh-CN" sz="1500" b="1" dirty="0">
                <a:latin typeface="Calibri" panose="020F0502020204030204" pitchFamily="34" charset="0"/>
                <a:cs typeface="Calibri" panose="020F0502020204030204" pitchFamily="34" charset="0"/>
                <a:sym typeface="+mn-ea"/>
              </a:rPr>
              <a:t>Environment Setup for Large Language Models						Large Language Model in Website</a:t>
            </a:r>
            <a:r>
              <a:rPr lang="en-US" altLang="zh-CN" sz="1500" dirty="0"/>
              <a:t>  </a:t>
            </a:r>
            <a:endParaRPr lang="zh-CN" altLang="en-US" sz="1500" dirty="0"/>
          </a:p>
        </p:txBody>
      </p:sp>
      <p:sp>
        <p:nvSpPr>
          <p:cNvPr id="8" name="文本框 4"/>
          <p:cNvSpPr txBox="1"/>
          <p:nvPr/>
        </p:nvSpPr>
        <p:spPr>
          <a:xfrm>
            <a:off x="720953" y="538793"/>
            <a:ext cx="4793456" cy="521970"/>
          </a:xfrm>
          <a:prstGeom prst="rect">
            <a:avLst/>
          </a:prstGeom>
          <a:noFill/>
        </p:spPr>
        <p:txBody>
          <a:bodyPr wrap="square" rtlCol="0">
            <a:spAutoFit/>
          </a:bodyPr>
          <a:lstStyle/>
          <a:p>
            <a:r>
              <a:rPr lang="en-US" altLang="zh-CN" sz="2800" b="1" dirty="0">
                <a:solidFill>
                  <a:srgbClr val="2F57D9"/>
                </a:solidFill>
                <a:latin typeface="Calibri" panose="020F0502020204030204" pitchFamily="34" charset="0"/>
                <a:cs typeface="Calibri" panose="020F0502020204030204" pitchFamily="34" charset="0"/>
              </a:rPr>
              <a:t>Task</a:t>
            </a:r>
            <a:endParaRPr lang="zh-CN" altLang="en-US" sz="2800" b="1" dirty="0">
              <a:solidFill>
                <a:srgbClr val="2F57D9"/>
              </a:solidFill>
              <a:latin typeface="Calibri" panose="020F0502020204030204" pitchFamily="34" charset="0"/>
              <a:cs typeface="Calibri" panose="020F0502020204030204" pitchFamily="34" charset="0"/>
            </a:endParaRPr>
          </a:p>
        </p:txBody>
      </p:sp>
      <p:sp>
        <p:nvSpPr>
          <p:cNvPr id="9" name="文本框 6"/>
          <p:cNvSpPr txBox="1"/>
          <p:nvPr/>
        </p:nvSpPr>
        <p:spPr>
          <a:xfrm>
            <a:off x="1005748" y="1137221"/>
            <a:ext cx="6524897" cy="1014730"/>
          </a:xfrm>
          <a:prstGeom prst="rect">
            <a:avLst/>
          </a:prstGeom>
          <a:noFill/>
        </p:spPr>
        <p:txBody>
          <a:bodyPr wrap="square" rtlCol="0">
            <a:spAutoFit/>
          </a:bodyPr>
          <a:lstStyle/>
          <a:p>
            <a:pPr marL="285750" indent="-285750">
              <a:lnSpc>
                <a:spcPct val="150000"/>
              </a:lnSpc>
              <a:buClr>
                <a:srgbClr val="2F57D9"/>
              </a:buClr>
              <a:buSzPct val="70000"/>
              <a:buFont typeface="Wingdings" panose="05000000000000000000" pitchFamily="2" charset="2"/>
              <a:buChar char="n"/>
            </a:pPr>
            <a:r>
              <a:rPr lang="en-US" altLang="zh-CN" sz="2000" dirty="0">
                <a:solidFill>
                  <a:schemeClr val="tx1"/>
                </a:solidFill>
                <a:latin typeface="Calibri" panose="020F0502020204030204" pitchFamily="34" charset="0"/>
                <a:cs typeface="Calibri" panose="020F0502020204030204" pitchFamily="34" charset="0"/>
              </a:rPr>
              <a:t>-&gt; doubao.com</a:t>
            </a:r>
          </a:p>
          <a:p>
            <a:pPr marL="285750" indent="-285750">
              <a:lnSpc>
                <a:spcPct val="150000"/>
              </a:lnSpc>
              <a:buClr>
                <a:srgbClr val="2F57D9"/>
              </a:buClr>
              <a:buSzPct val="70000"/>
              <a:buFont typeface="Wingdings" panose="05000000000000000000" pitchFamily="2" charset="2"/>
              <a:buChar char="n"/>
            </a:pPr>
            <a:r>
              <a:rPr lang="en-US" altLang="zh-CN" sz="2000" dirty="0">
                <a:solidFill>
                  <a:schemeClr val="tx1"/>
                </a:solidFill>
                <a:latin typeface="Calibri" panose="020F0502020204030204" pitchFamily="34" charset="0"/>
                <a:cs typeface="Calibri" panose="020F0502020204030204" pitchFamily="34" charset="0"/>
              </a:rPr>
              <a:t>-&gt; Ask a question “Who are you”</a:t>
            </a:r>
          </a:p>
        </p:txBody>
      </p:sp>
      <p:pic>
        <p:nvPicPr>
          <p:cNvPr id="3" name="图片 2"/>
          <p:cNvPicPr>
            <a:picLocks noChangeAspect="1"/>
          </p:cNvPicPr>
          <p:nvPr/>
        </p:nvPicPr>
        <p:blipFill>
          <a:blip r:embed="rId3"/>
          <a:stretch>
            <a:fillRect/>
          </a:stretch>
        </p:blipFill>
        <p:spPr>
          <a:xfrm>
            <a:off x="1598930" y="2228850"/>
            <a:ext cx="8660765" cy="4029710"/>
          </a:xfrm>
          <a:prstGeom prst="rect">
            <a:avLst/>
          </a:prstGeom>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pic>
      <p:sp>
        <p:nvSpPr>
          <p:cNvPr id="11" name="圆角矩形 10"/>
          <p:cNvSpPr/>
          <p:nvPr/>
        </p:nvSpPr>
        <p:spPr>
          <a:xfrm>
            <a:off x="8618855" y="735965"/>
            <a:ext cx="2969260" cy="401320"/>
          </a:xfrm>
          <a:prstGeom prst="roundRect">
            <a:avLst/>
          </a:prstGeom>
          <a:solidFill>
            <a:srgbClr val="DEEBF7"/>
          </a:solidFill>
          <a:ln>
            <a:solidFill>
              <a:srgbClr val="DEEBF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ChatBot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E1. </a:t>
            </a:r>
            <a:r>
              <a:rPr lang="en-US" altLang="zh-CN" sz="1500" b="1" dirty="0">
                <a:latin typeface="Calibri" panose="020F0502020204030204" pitchFamily="34" charset="0"/>
                <a:cs typeface="Calibri" panose="020F0502020204030204" pitchFamily="34" charset="0"/>
                <a:sym typeface="+mn-ea"/>
              </a:rPr>
              <a:t>Environment Setup for Large Language Models						Large Language Model in Website</a:t>
            </a:r>
            <a:r>
              <a:rPr lang="en-US" altLang="zh-CN" sz="1500" dirty="0"/>
              <a:t>  </a:t>
            </a:r>
            <a:endParaRPr lang="zh-CN" altLang="en-US" sz="1500" dirty="0"/>
          </a:p>
        </p:txBody>
      </p:sp>
      <p:sp>
        <p:nvSpPr>
          <p:cNvPr id="8" name="文本框 4"/>
          <p:cNvSpPr txBox="1"/>
          <p:nvPr/>
        </p:nvSpPr>
        <p:spPr>
          <a:xfrm>
            <a:off x="720953" y="538793"/>
            <a:ext cx="4793456" cy="521970"/>
          </a:xfrm>
          <a:prstGeom prst="rect">
            <a:avLst/>
          </a:prstGeom>
          <a:noFill/>
        </p:spPr>
        <p:txBody>
          <a:bodyPr wrap="square" rtlCol="0">
            <a:spAutoFit/>
          </a:bodyPr>
          <a:lstStyle/>
          <a:p>
            <a:r>
              <a:rPr lang="en-US" altLang="zh-CN" sz="2800" b="1" dirty="0">
                <a:solidFill>
                  <a:srgbClr val="2F57D9"/>
                </a:solidFill>
                <a:latin typeface="Calibri" panose="020F0502020204030204" pitchFamily="34" charset="0"/>
                <a:cs typeface="Calibri" panose="020F0502020204030204" pitchFamily="34" charset="0"/>
              </a:rPr>
              <a:t>Task</a:t>
            </a:r>
            <a:endParaRPr lang="zh-CN" altLang="en-US" sz="2800" b="1" dirty="0">
              <a:solidFill>
                <a:srgbClr val="2F57D9"/>
              </a:solidFill>
              <a:latin typeface="Calibri" panose="020F0502020204030204" pitchFamily="34" charset="0"/>
              <a:cs typeface="Calibri" panose="020F0502020204030204" pitchFamily="34" charset="0"/>
            </a:endParaRPr>
          </a:p>
        </p:txBody>
      </p:sp>
      <p:sp>
        <p:nvSpPr>
          <p:cNvPr id="9" name="文本框 6"/>
          <p:cNvSpPr txBox="1"/>
          <p:nvPr/>
        </p:nvSpPr>
        <p:spPr>
          <a:xfrm>
            <a:off x="1005840" y="1137285"/>
            <a:ext cx="10440670" cy="5354320"/>
          </a:xfrm>
          <a:prstGeom prst="rect">
            <a:avLst/>
          </a:prstGeom>
          <a:noFill/>
        </p:spPr>
        <p:txBody>
          <a:bodyPr wrap="square" rtlCol="0">
            <a:spAutoFit/>
          </a:bodyPr>
          <a:lstStyle/>
          <a:p>
            <a:pPr marL="285750" indent="-285750">
              <a:lnSpc>
                <a:spcPct val="150000"/>
              </a:lnSpc>
              <a:buClr>
                <a:srgbClr val="2F57D9"/>
              </a:buClr>
              <a:buSzPct val="70000"/>
              <a:buFont typeface="Wingdings" panose="05000000000000000000" pitchFamily="2" charset="2"/>
              <a:buChar char="n"/>
            </a:pPr>
            <a:r>
              <a:rPr lang="en-US" altLang="zh-CN" sz="2000" dirty="0">
                <a:solidFill>
                  <a:schemeClr val="tx1"/>
                </a:solidFill>
                <a:latin typeface="Calibri" panose="020F0502020204030204" pitchFamily="34" charset="0"/>
                <a:cs typeface="Calibri" panose="020F0502020204030204" pitchFamily="34" charset="0"/>
              </a:rPr>
              <a:t>-&gt; Ask a question </a:t>
            </a:r>
          </a:p>
          <a:p>
            <a:pPr marL="285750" indent="-285750">
              <a:lnSpc>
                <a:spcPct val="150000"/>
              </a:lnSpc>
              <a:buClr>
                <a:srgbClr val="2F57D9"/>
              </a:buClr>
              <a:buSzPct val="70000"/>
              <a:buFont typeface="Wingdings" panose="05000000000000000000" pitchFamily="2" charset="2"/>
              <a:buChar char="n"/>
            </a:pPr>
            <a:r>
              <a:rPr lang="en-US" altLang="zh-CN" sz="2000" dirty="0">
                <a:latin typeface="Calibri" panose="020F0502020204030204" pitchFamily="34" charset="0"/>
                <a:cs typeface="Calibri" panose="020F0502020204030204" pitchFamily="34" charset="0"/>
                <a:sym typeface="+mn-ea"/>
              </a:rPr>
              <a:t>-&gt; Check “Thinking”</a:t>
            </a:r>
            <a:endParaRPr lang="en-US" altLang="zh-CN" sz="2000" dirty="0">
              <a:solidFill>
                <a:schemeClr val="tx1"/>
              </a:solidFill>
              <a:latin typeface="Calibri" panose="020F0502020204030204" pitchFamily="34" charset="0"/>
              <a:cs typeface="Calibri" panose="020F0502020204030204" pitchFamily="34" charset="0"/>
            </a:endParaRPr>
          </a:p>
          <a:p>
            <a:pPr marL="285750" indent="-285750">
              <a:lnSpc>
                <a:spcPct val="150000"/>
              </a:lnSpc>
              <a:buClr>
                <a:srgbClr val="2F57D9"/>
              </a:buClr>
              <a:buSzPct val="70000"/>
              <a:buFont typeface="Wingdings" panose="05000000000000000000" pitchFamily="2" charset="2"/>
              <a:buChar char="n"/>
            </a:pPr>
            <a:r>
              <a:rPr lang="en-US" altLang="zh-CN" sz="2000" dirty="0">
                <a:latin typeface="Calibri" panose="020F0502020204030204" pitchFamily="34" charset="0"/>
                <a:cs typeface="Calibri" panose="020F0502020204030204" pitchFamily="34" charset="0"/>
                <a:sym typeface="+mn-ea"/>
              </a:rPr>
              <a:t>-&gt; Ask a question again</a:t>
            </a:r>
            <a:endParaRPr lang="en-US" altLang="zh-CN" sz="2000" dirty="0">
              <a:solidFill>
                <a:schemeClr val="tx1"/>
              </a:solidFill>
              <a:latin typeface="Calibri" panose="020F0502020204030204" pitchFamily="34" charset="0"/>
              <a:cs typeface="Calibri" panose="020F0502020204030204" pitchFamily="34" charset="0"/>
            </a:endParaRPr>
          </a:p>
          <a:p>
            <a:pPr indent="0">
              <a:lnSpc>
                <a:spcPct val="150000"/>
              </a:lnSpc>
              <a:buClr>
                <a:srgbClr val="2F57D9"/>
              </a:buClr>
              <a:buSzPct val="70000"/>
              <a:buFont typeface="Wingdings" panose="05000000000000000000" pitchFamily="2" charset="2"/>
              <a:buNone/>
            </a:pPr>
            <a:r>
              <a:rPr lang="en-US" altLang="zh-CN" sz="2800" dirty="0">
                <a:solidFill>
                  <a:schemeClr val="tx1"/>
                </a:solidFill>
                <a:latin typeface="Calibri" panose="020F0502020204030204" pitchFamily="34" charset="0"/>
                <a:cs typeface="Calibri" panose="020F0502020204030204" pitchFamily="34" charset="0"/>
              </a:rPr>
              <a:t>“Let $A$, $B$, $C$, and $D$ be points on the hyperbola $\frac{x^2}{20}- \frac{y^2}{24} = 1$ such that $ABCD$ is a rhombus whose diagonals intersect at the origin. Find the greatest real number that is less than $BD^2$ for all such rhombi.”</a:t>
            </a:r>
          </a:p>
          <a:p>
            <a:pPr indent="0">
              <a:lnSpc>
                <a:spcPct val="150000"/>
              </a:lnSpc>
              <a:buClr>
                <a:srgbClr val="2F57D9"/>
              </a:buClr>
              <a:buSzPct val="70000"/>
              <a:buFont typeface="Wingdings" panose="05000000000000000000" pitchFamily="2" charset="2"/>
              <a:buNone/>
            </a:pPr>
            <a:endParaRPr lang="en-US" altLang="zh-CN" sz="2800" dirty="0">
              <a:solidFill>
                <a:schemeClr val="tx1"/>
              </a:solidFill>
              <a:latin typeface="Calibri" panose="020F0502020204030204" pitchFamily="34" charset="0"/>
              <a:cs typeface="Calibri" panose="020F0502020204030204" pitchFamily="34" charset="0"/>
            </a:endParaRPr>
          </a:p>
          <a:p>
            <a:pPr indent="0">
              <a:lnSpc>
                <a:spcPct val="150000"/>
              </a:lnSpc>
              <a:buClr>
                <a:srgbClr val="2F57D9"/>
              </a:buClr>
              <a:buSzPct val="70000"/>
              <a:buFont typeface="Wingdings" panose="05000000000000000000" pitchFamily="2" charset="2"/>
              <a:buNone/>
            </a:pPr>
            <a:r>
              <a:rPr lang="en-US" altLang="zh-CN" sz="2800" dirty="0">
                <a:solidFill>
                  <a:schemeClr val="tx1"/>
                </a:solidFill>
                <a:latin typeface="Calibri" panose="020F0502020204030204" pitchFamily="34" charset="0"/>
                <a:cs typeface="Calibri" panose="020F0502020204030204" pitchFamily="34" charset="0"/>
              </a:rPr>
              <a:t>Answer: 480</a:t>
            </a:r>
          </a:p>
        </p:txBody>
      </p:sp>
      <p:sp>
        <p:nvSpPr>
          <p:cNvPr id="11" name="圆角矩形 10"/>
          <p:cNvSpPr/>
          <p:nvPr/>
        </p:nvSpPr>
        <p:spPr>
          <a:xfrm>
            <a:off x="8618855" y="735965"/>
            <a:ext cx="2969260" cy="401320"/>
          </a:xfrm>
          <a:prstGeom prst="roundRect">
            <a:avLst/>
          </a:prstGeom>
          <a:solidFill>
            <a:srgbClr val="DEEBF7"/>
          </a:solidFill>
          <a:ln>
            <a:solidFill>
              <a:srgbClr val="DEEBF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Reasoner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E1. </a:t>
            </a:r>
            <a:r>
              <a:rPr lang="en-US" altLang="zh-CN" sz="1500" b="1" dirty="0">
                <a:latin typeface="Calibri" panose="020F0502020204030204" pitchFamily="34" charset="0"/>
                <a:cs typeface="Calibri" panose="020F0502020204030204" pitchFamily="34" charset="0"/>
                <a:sym typeface="+mn-ea"/>
              </a:rPr>
              <a:t>Environment Setup for Large Language Models						Large Language Model in Website</a:t>
            </a:r>
            <a:r>
              <a:rPr lang="en-US" altLang="zh-CN" sz="1500" dirty="0"/>
              <a:t>  </a:t>
            </a:r>
            <a:endParaRPr lang="zh-CN" altLang="en-US" sz="1500" dirty="0"/>
          </a:p>
        </p:txBody>
      </p:sp>
      <p:sp>
        <p:nvSpPr>
          <p:cNvPr id="8" name="文本框 4"/>
          <p:cNvSpPr txBox="1"/>
          <p:nvPr/>
        </p:nvSpPr>
        <p:spPr>
          <a:xfrm>
            <a:off x="720953" y="538793"/>
            <a:ext cx="4793456" cy="521970"/>
          </a:xfrm>
          <a:prstGeom prst="rect">
            <a:avLst/>
          </a:prstGeom>
          <a:noFill/>
        </p:spPr>
        <p:txBody>
          <a:bodyPr wrap="square" rtlCol="0">
            <a:spAutoFit/>
          </a:bodyPr>
          <a:lstStyle/>
          <a:p>
            <a:r>
              <a:rPr lang="en-US" altLang="zh-CN" sz="2800" b="1" dirty="0">
                <a:solidFill>
                  <a:srgbClr val="2F57D9"/>
                </a:solidFill>
                <a:latin typeface="Calibri" panose="020F0502020204030204" pitchFamily="34" charset="0"/>
                <a:cs typeface="Calibri" panose="020F0502020204030204" pitchFamily="34" charset="0"/>
              </a:rPr>
              <a:t>Task</a:t>
            </a:r>
            <a:endParaRPr lang="zh-CN" altLang="en-US" sz="2800" b="1" dirty="0">
              <a:solidFill>
                <a:srgbClr val="2F57D9"/>
              </a:solidFill>
              <a:latin typeface="Calibri" panose="020F0502020204030204" pitchFamily="34" charset="0"/>
              <a:cs typeface="Calibri" panose="020F0502020204030204" pitchFamily="34" charset="0"/>
            </a:endParaRPr>
          </a:p>
        </p:txBody>
      </p:sp>
      <p:sp>
        <p:nvSpPr>
          <p:cNvPr id="11" name="圆角矩形 10"/>
          <p:cNvSpPr/>
          <p:nvPr/>
        </p:nvSpPr>
        <p:spPr>
          <a:xfrm>
            <a:off x="8618855" y="735965"/>
            <a:ext cx="2969260" cy="401320"/>
          </a:xfrm>
          <a:prstGeom prst="roundRect">
            <a:avLst/>
          </a:prstGeom>
          <a:solidFill>
            <a:srgbClr val="DEEBF7"/>
          </a:solidFill>
          <a:ln>
            <a:solidFill>
              <a:srgbClr val="DEEBF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Reasoner</a:t>
            </a:r>
          </a:p>
        </p:txBody>
      </p:sp>
      <p:pic>
        <p:nvPicPr>
          <p:cNvPr id="4" name="图片 3"/>
          <p:cNvPicPr>
            <a:picLocks noChangeAspect="1"/>
          </p:cNvPicPr>
          <p:nvPr/>
        </p:nvPicPr>
        <p:blipFill>
          <a:blip r:embed="rId7"/>
          <a:stretch>
            <a:fillRect/>
          </a:stretch>
        </p:blipFill>
        <p:spPr>
          <a:xfrm>
            <a:off x="1388110" y="1399540"/>
            <a:ext cx="7747000" cy="2381250"/>
          </a:xfrm>
          <a:prstGeom prst="rect">
            <a:avLst/>
          </a:prstGeom>
        </p:spPr>
      </p:pic>
      <p:pic>
        <p:nvPicPr>
          <p:cNvPr id="3" name="图片 2"/>
          <p:cNvPicPr>
            <a:picLocks noChangeAspect="1"/>
          </p:cNvPicPr>
          <p:nvPr/>
        </p:nvPicPr>
        <p:blipFill>
          <a:blip r:embed="rId8"/>
          <a:stretch>
            <a:fillRect/>
          </a:stretch>
        </p:blipFill>
        <p:spPr>
          <a:xfrm>
            <a:off x="1388110" y="4622800"/>
            <a:ext cx="7581900" cy="1543050"/>
          </a:xfrm>
          <a:prstGeom prst="rect">
            <a:avLst/>
          </a:prstGeom>
        </p:spPr>
      </p:pic>
      <p:cxnSp>
        <p:nvCxnSpPr>
          <p:cNvPr id="5" name="直接连接符 4"/>
          <p:cNvCxnSpPr/>
          <p:nvPr/>
        </p:nvCxnSpPr>
        <p:spPr>
          <a:xfrm>
            <a:off x="1099185" y="4143375"/>
            <a:ext cx="9812020" cy="26670"/>
          </a:xfrm>
          <a:prstGeom prst="line">
            <a:avLst/>
          </a:prstGeom>
          <a:ln w="5080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lnRef>
          <a:fillRef idx="0">
            <a:srgbClr val="FFFFFF"/>
          </a:fillRef>
          <a:effectRef idx="0">
            <a:srgbClr val="FFFFFF"/>
          </a:effectRef>
          <a:fontRef idx="minor">
            <a:schemeClr val="tx1"/>
          </a:fontRef>
        </p:style>
      </p:cxnSp>
      <p:sp>
        <p:nvSpPr>
          <p:cNvPr id="12" name="圆角矩形 11"/>
          <p:cNvSpPr/>
          <p:nvPr>
            <p:custDataLst>
              <p:tags r:id="rId1"/>
            </p:custDataLst>
          </p:nvPr>
        </p:nvSpPr>
        <p:spPr>
          <a:xfrm>
            <a:off x="8424545" y="2950845"/>
            <a:ext cx="2533650" cy="956310"/>
          </a:xfrm>
          <a:prstGeom prst="round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800" b="1">
                <a:solidFill>
                  <a:schemeClr val="tx1"/>
                </a:solidFill>
              </a:rPr>
              <a:t>Without</a:t>
            </a:r>
          </a:p>
          <a:p>
            <a:pPr algn="ctr"/>
            <a:r>
              <a:rPr lang="en-US" altLang="zh-CN" sz="2800" b="1">
                <a:solidFill>
                  <a:schemeClr val="tx1"/>
                </a:solidFill>
              </a:rPr>
              <a:t>Thinking</a:t>
            </a:r>
          </a:p>
        </p:txBody>
      </p:sp>
      <p:sp>
        <p:nvSpPr>
          <p:cNvPr id="7" name="圆角矩形 6"/>
          <p:cNvSpPr/>
          <p:nvPr>
            <p:custDataLst>
              <p:tags r:id="rId2"/>
            </p:custDataLst>
          </p:nvPr>
        </p:nvSpPr>
        <p:spPr>
          <a:xfrm>
            <a:off x="8424545" y="5343525"/>
            <a:ext cx="2533650" cy="956310"/>
          </a:xfrm>
          <a:prstGeom prst="roundRect">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800" b="1">
                <a:solidFill>
                  <a:schemeClr val="tx1"/>
                </a:solidFill>
              </a:rPr>
              <a:t>With</a:t>
            </a:r>
          </a:p>
          <a:p>
            <a:pPr algn="ctr"/>
            <a:r>
              <a:rPr lang="en-US" altLang="zh-CN" sz="2800" b="1">
                <a:solidFill>
                  <a:schemeClr val="tx1"/>
                </a:solidFill>
              </a:rPr>
              <a:t>Thinking</a:t>
            </a:r>
          </a:p>
        </p:txBody>
      </p:sp>
      <p:sp>
        <p:nvSpPr>
          <p:cNvPr id="2" name="文本框 1"/>
          <p:cNvSpPr txBox="1"/>
          <p:nvPr>
            <p:custDataLst>
              <p:tags r:id="rId3"/>
            </p:custDataLst>
          </p:nvPr>
        </p:nvSpPr>
        <p:spPr>
          <a:xfrm>
            <a:off x="6906895" y="5777865"/>
            <a:ext cx="1367790" cy="521970"/>
          </a:xfrm>
          <a:prstGeom prst="rect">
            <a:avLst/>
          </a:prstGeom>
          <a:noFill/>
        </p:spPr>
        <p:txBody>
          <a:bodyPr wrap="square" rtlCol="0" anchor="t">
            <a:spAutoFit/>
          </a:bodyPr>
          <a:lstStyle/>
          <a:p>
            <a:pPr algn="ctr"/>
            <a:r>
              <a:rPr lang="zh-CN" altLang="en-US" sz="2800" b="1">
                <a:sym typeface="+mn-ea"/>
              </a:rPr>
              <a:t>✅</a:t>
            </a:r>
          </a:p>
        </p:txBody>
      </p:sp>
      <p:sp>
        <p:nvSpPr>
          <p:cNvPr id="9" name="文本框 8"/>
          <p:cNvSpPr txBox="1"/>
          <p:nvPr>
            <p:custDataLst>
              <p:tags r:id="rId4"/>
            </p:custDataLst>
          </p:nvPr>
        </p:nvSpPr>
        <p:spPr>
          <a:xfrm>
            <a:off x="6821805" y="3258820"/>
            <a:ext cx="1367790" cy="521970"/>
          </a:xfrm>
          <a:prstGeom prst="rect">
            <a:avLst/>
          </a:prstGeom>
          <a:noFill/>
        </p:spPr>
        <p:txBody>
          <a:bodyPr wrap="square" rtlCol="0" anchor="t">
            <a:spAutoFit/>
          </a:bodyPr>
          <a:lstStyle/>
          <a:p>
            <a:pPr algn="ctr"/>
            <a:r>
              <a:rPr lang="zh-CN" altLang="en-US" sz="2800" b="1">
                <a:sym typeface="+mn-ea"/>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E1. </a:t>
            </a:r>
            <a:r>
              <a:rPr lang="en-US" altLang="zh-CN" sz="1500" b="1" dirty="0">
                <a:latin typeface="Calibri" panose="020F0502020204030204" pitchFamily="34" charset="0"/>
                <a:cs typeface="Calibri" panose="020F0502020204030204" pitchFamily="34" charset="0"/>
                <a:sym typeface="+mn-ea"/>
              </a:rPr>
              <a:t>Environment Setup for Large Language Models						Large Language Model in Website</a:t>
            </a:r>
            <a:r>
              <a:rPr lang="en-US" altLang="zh-CN" sz="1500" dirty="0"/>
              <a:t>  </a:t>
            </a:r>
            <a:endParaRPr lang="zh-CN" altLang="en-US" sz="1500" dirty="0"/>
          </a:p>
        </p:txBody>
      </p:sp>
      <p:sp>
        <p:nvSpPr>
          <p:cNvPr id="8" name="文本框 4"/>
          <p:cNvSpPr txBox="1"/>
          <p:nvPr/>
        </p:nvSpPr>
        <p:spPr>
          <a:xfrm>
            <a:off x="720953" y="538793"/>
            <a:ext cx="4793456" cy="521970"/>
          </a:xfrm>
          <a:prstGeom prst="rect">
            <a:avLst/>
          </a:prstGeom>
          <a:noFill/>
        </p:spPr>
        <p:txBody>
          <a:bodyPr wrap="square" rtlCol="0">
            <a:spAutoFit/>
          </a:bodyPr>
          <a:lstStyle/>
          <a:p>
            <a:r>
              <a:rPr lang="en-US" altLang="zh-CN" sz="2800" b="1" dirty="0">
                <a:solidFill>
                  <a:srgbClr val="2F57D9"/>
                </a:solidFill>
                <a:latin typeface="Calibri" panose="020F0502020204030204" pitchFamily="34" charset="0"/>
                <a:cs typeface="Calibri" panose="020F0502020204030204" pitchFamily="34" charset="0"/>
              </a:rPr>
              <a:t>Task</a:t>
            </a:r>
            <a:endParaRPr lang="zh-CN" altLang="en-US" sz="2800" b="1" dirty="0">
              <a:solidFill>
                <a:srgbClr val="2F57D9"/>
              </a:solidFill>
              <a:latin typeface="Calibri" panose="020F0502020204030204" pitchFamily="34" charset="0"/>
              <a:cs typeface="Calibri" panose="020F0502020204030204" pitchFamily="34" charset="0"/>
            </a:endParaRPr>
          </a:p>
        </p:txBody>
      </p:sp>
      <p:pic>
        <p:nvPicPr>
          <p:cNvPr id="2" name="图片 1"/>
          <p:cNvPicPr>
            <a:picLocks noChangeAspect="1"/>
          </p:cNvPicPr>
          <p:nvPr/>
        </p:nvPicPr>
        <p:blipFill>
          <a:blip r:embed="rId3"/>
          <a:stretch>
            <a:fillRect/>
          </a:stretch>
        </p:blipFill>
        <p:spPr>
          <a:xfrm>
            <a:off x="1746250" y="2250440"/>
            <a:ext cx="8997950" cy="4132580"/>
          </a:xfrm>
          <a:prstGeom prst="rect">
            <a:avLst/>
          </a:prstGeom>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pic>
      <p:sp>
        <p:nvSpPr>
          <p:cNvPr id="11" name="圆角矩形 10"/>
          <p:cNvSpPr/>
          <p:nvPr/>
        </p:nvSpPr>
        <p:spPr>
          <a:xfrm>
            <a:off x="8618855" y="735965"/>
            <a:ext cx="2969260" cy="401320"/>
          </a:xfrm>
          <a:prstGeom prst="roundRect">
            <a:avLst/>
          </a:prstGeom>
          <a:solidFill>
            <a:srgbClr val="DEEBF7"/>
          </a:solidFill>
          <a:ln>
            <a:solidFill>
              <a:srgbClr val="DEEBF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Image Generate</a:t>
            </a:r>
          </a:p>
        </p:txBody>
      </p:sp>
      <p:sp>
        <p:nvSpPr>
          <p:cNvPr id="4" name="文本框 6"/>
          <p:cNvSpPr txBox="1"/>
          <p:nvPr/>
        </p:nvSpPr>
        <p:spPr>
          <a:xfrm>
            <a:off x="1005748" y="1137221"/>
            <a:ext cx="6524897" cy="1014730"/>
          </a:xfrm>
          <a:prstGeom prst="rect">
            <a:avLst/>
          </a:prstGeom>
          <a:noFill/>
        </p:spPr>
        <p:txBody>
          <a:bodyPr wrap="square" rtlCol="0">
            <a:spAutoFit/>
          </a:bodyPr>
          <a:lstStyle/>
          <a:p>
            <a:pPr marL="285750" indent="-285750">
              <a:lnSpc>
                <a:spcPct val="150000"/>
              </a:lnSpc>
              <a:buClr>
                <a:srgbClr val="2F57D9"/>
              </a:buClr>
              <a:buSzPct val="70000"/>
              <a:buFont typeface="Wingdings" panose="05000000000000000000" pitchFamily="2" charset="2"/>
              <a:buChar char="n"/>
            </a:pPr>
            <a:r>
              <a:rPr lang="en-US" altLang="zh-CN" sz="2000" dirty="0">
                <a:solidFill>
                  <a:schemeClr val="tx1"/>
                </a:solidFill>
                <a:latin typeface="Calibri" panose="020F0502020204030204" pitchFamily="34" charset="0"/>
                <a:cs typeface="Calibri" panose="020F0502020204030204" pitchFamily="34" charset="0"/>
              </a:rPr>
              <a:t>-&gt; </a:t>
            </a:r>
            <a:r>
              <a:rPr lang="en-US" altLang="zh-CN" sz="2000" dirty="0">
                <a:latin typeface="Calibri" panose="020F0502020204030204" pitchFamily="34" charset="0"/>
                <a:cs typeface="Calibri" panose="020F0502020204030204" pitchFamily="34" charset="0"/>
                <a:sym typeface="+mn-ea"/>
              </a:rPr>
              <a:t>Check “New” then</a:t>
            </a:r>
            <a:r>
              <a:rPr lang="en-US" altLang="zh-CN" sz="2000" dirty="0">
                <a:solidFill>
                  <a:schemeClr val="tx1"/>
                </a:solidFill>
                <a:latin typeface="Calibri" panose="020F0502020204030204" pitchFamily="34" charset="0"/>
                <a:cs typeface="Calibri" panose="020F0502020204030204" pitchFamily="34" charset="0"/>
              </a:rPr>
              <a:t> “Image Generation (</a:t>
            </a:r>
            <a:r>
              <a:rPr lang="zh-CN" altLang="en-US" sz="2000" dirty="0">
                <a:solidFill>
                  <a:schemeClr val="tx1"/>
                </a:solidFill>
                <a:latin typeface="Calibri" panose="020F0502020204030204" pitchFamily="34" charset="0"/>
                <a:cs typeface="Calibri" panose="020F0502020204030204" pitchFamily="34" charset="0"/>
              </a:rPr>
              <a:t>图像生成</a:t>
            </a:r>
            <a:r>
              <a:rPr lang="en-US" altLang="zh-CN" sz="2000" dirty="0">
                <a:solidFill>
                  <a:schemeClr val="tx1"/>
                </a:solidFill>
                <a:latin typeface="Calibri" panose="020F0502020204030204" pitchFamily="34" charset="0"/>
                <a:cs typeface="Calibri" panose="020F0502020204030204" pitchFamily="34" charset="0"/>
              </a:rPr>
              <a:t>)”</a:t>
            </a:r>
          </a:p>
          <a:p>
            <a:pPr marL="285750" indent="-285750">
              <a:lnSpc>
                <a:spcPct val="150000"/>
              </a:lnSpc>
              <a:buClr>
                <a:srgbClr val="2F57D9"/>
              </a:buClr>
              <a:buSzPct val="70000"/>
              <a:buFont typeface="Wingdings" panose="05000000000000000000" pitchFamily="2" charset="2"/>
              <a:buChar char="n"/>
            </a:pPr>
            <a:r>
              <a:rPr lang="en-US" altLang="zh-CN" sz="2000" dirty="0">
                <a:solidFill>
                  <a:schemeClr val="tx1"/>
                </a:solidFill>
                <a:latin typeface="Calibri" panose="020F0502020204030204" pitchFamily="34" charset="0"/>
                <a:cs typeface="Calibri" panose="020F0502020204030204" pitchFamily="34" charset="0"/>
              </a:rPr>
              <a:t>-&gt; Input “A globe wearing glasses”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Calibri" panose="020F0502020204030204" pitchFamily="34" charset="0"/>
                <a:cs typeface="Calibri" panose="020F0502020204030204" pitchFamily="34" charset="0"/>
                <a:sym typeface="+mn-ea"/>
              </a:rPr>
              <a:t>E1. </a:t>
            </a:r>
            <a:r>
              <a:rPr lang="en-US" altLang="zh-CN" sz="1500" b="1" dirty="0">
                <a:latin typeface="Calibri" panose="020F0502020204030204" pitchFamily="34" charset="0"/>
                <a:cs typeface="Calibri" panose="020F0502020204030204" pitchFamily="34" charset="0"/>
                <a:sym typeface="+mn-ea"/>
              </a:rPr>
              <a:t>Environment Setup for Large Language Models						Large Language Model in Website</a:t>
            </a:r>
            <a:r>
              <a:rPr lang="en-US" altLang="zh-CN" sz="1500" dirty="0"/>
              <a:t>  </a:t>
            </a:r>
            <a:endParaRPr lang="zh-CN" altLang="en-US" sz="1500" dirty="0"/>
          </a:p>
        </p:txBody>
      </p:sp>
      <p:sp>
        <p:nvSpPr>
          <p:cNvPr id="8" name="文本框 4"/>
          <p:cNvSpPr txBox="1"/>
          <p:nvPr/>
        </p:nvSpPr>
        <p:spPr>
          <a:xfrm>
            <a:off x="720953" y="538793"/>
            <a:ext cx="4793456" cy="521970"/>
          </a:xfrm>
          <a:prstGeom prst="rect">
            <a:avLst/>
          </a:prstGeom>
          <a:noFill/>
        </p:spPr>
        <p:txBody>
          <a:bodyPr wrap="square" rtlCol="0">
            <a:spAutoFit/>
          </a:bodyPr>
          <a:lstStyle/>
          <a:p>
            <a:r>
              <a:rPr lang="en-US" altLang="zh-CN" sz="2800" b="1" dirty="0">
                <a:solidFill>
                  <a:srgbClr val="2F57D9"/>
                </a:solidFill>
                <a:latin typeface="Calibri" panose="020F0502020204030204" pitchFamily="34" charset="0"/>
                <a:cs typeface="Calibri" panose="020F0502020204030204" pitchFamily="34" charset="0"/>
              </a:rPr>
              <a:t>Task</a:t>
            </a:r>
            <a:endParaRPr lang="zh-CN" altLang="en-US" sz="2800" b="1" dirty="0">
              <a:solidFill>
                <a:srgbClr val="2F57D9"/>
              </a:solidFill>
              <a:latin typeface="Calibri" panose="020F0502020204030204" pitchFamily="34" charset="0"/>
              <a:cs typeface="Calibri" panose="020F0502020204030204" pitchFamily="34" charset="0"/>
            </a:endParaRPr>
          </a:p>
        </p:txBody>
      </p:sp>
      <p:sp>
        <p:nvSpPr>
          <p:cNvPr id="9" name="文本框 6"/>
          <p:cNvSpPr txBox="1"/>
          <p:nvPr/>
        </p:nvSpPr>
        <p:spPr>
          <a:xfrm>
            <a:off x="1005840" y="1137285"/>
            <a:ext cx="7613015" cy="1014730"/>
          </a:xfrm>
          <a:prstGeom prst="rect">
            <a:avLst/>
          </a:prstGeom>
          <a:noFill/>
        </p:spPr>
        <p:txBody>
          <a:bodyPr wrap="square" rtlCol="0">
            <a:spAutoFit/>
          </a:bodyPr>
          <a:lstStyle/>
          <a:p>
            <a:pPr marL="285750" indent="-285750">
              <a:lnSpc>
                <a:spcPct val="150000"/>
              </a:lnSpc>
              <a:buClr>
                <a:srgbClr val="2F57D9"/>
              </a:buClr>
              <a:buSzPct val="70000"/>
              <a:buFont typeface="Wingdings" panose="05000000000000000000" pitchFamily="2" charset="2"/>
              <a:buChar char="n"/>
            </a:pPr>
            <a:r>
              <a:rPr lang="en-US" altLang="zh-CN" sz="2000" dirty="0">
                <a:solidFill>
                  <a:schemeClr val="tx1"/>
                </a:solidFill>
                <a:latin typeface="Calibri" panose="020F0502020204030204" pitchFamily="34" charset="0"/>
                <a:cs typeface="Calibri" panose="020F0502020204030204" pitchFamily="34" charset="0"/>
              </a:rPr>
              <a:t>-&gt; </a:t>
            </a:r>
            <a:r>
              <a:rPr lang="en-US" altLang="zh-CN" sz="2000" dirty="0">
                <a:latin typeface="Calibri" panose="020F0502020204030204" pitchFamily="34" charset="0"/>
                <a:cs typeface="Calibri" panose="020F0502020204030204" pitchFamily="34" charset="0"/>
                <a:sym typeface="+mn-ea"/>
              </a:rPr>
              <a:t>Check “New” then</a:t>
            </a:r>
            <a:r>
              <a:rPr lang="en-US" altLang="zh-CN" sz="2000" dirty="0">
                <a:solidFill>
                  <a:schemeClr val="tx1"/>
                </a:solidFill>
                <a:latin typeface="Calibri" panose="020F0502020204030204" pitchFamily="34" charset="0"/>
                <a:cs typeface="Calibri" panose="020F0502020204030204" pitchFamily="34" charset="0"/>
              </a:rPr>
              <a:t> “Deep Research (</a:t>
            </a:r>
            <a:r>
              <a:rPr lang="zh-CN" altLang="en-US" sz="2000" dirty="0">
                <a:solidFill>
                  <a:schemeClr val="tx1"/>
                </a:solidFill>
                <a:latin typeface="Calibri" panose="020F0502020204030204" pitchFamily="34" charset="0"/>
                <a:cs typeface="Calibri" panose="020F0502020204030204" pitchFamily="34" charset="0"/>
              </a:rPr>
              <a:t>深入研究</a:t>
            </a:r>
            <a:r>
              <a:rPr lang="en-US" altLang="zh-CN" sz="2000" dirty="0">
                <a:solidFill>
                  <a:schemeClr val="tx1"/>
                </a:solidFill>
                <a:latin typeface="Calibri" panose="020F0502020204030204" pitchFamily="34" charset="0"/>
                <a:cs typeface="Calibri" panose="020F0502020204030204" pitchFamily="34" charset="0"/>
              </a:rPr>
              <a:t>)”</a:t>
            </a:r>
          </a:p>
          <a:p>
            <a:pPr marL="285750" indent="-285750">
              <a:lnSpc>
                <a:spcPct val="150000"/>
              </a:lnSpc>
              <a:buClr>
                <a:srgbClr val="2F57D9"/>
              </a:buClr>
              <a:buSzPct val="70000"/>
              <a:buFont typeface="Wingdings" panose="05000000000000000000" pitchFamily="2" charset="2"/>
              <a:buChar char="n"/>
            </a:pPr>
            <a:r>
              <a:rPr lang="en-US" altLang="zh-CN" sz="2000" dirty="0">
                <a:solidFill>
                  <a:schemeClr val="tx1"/>
                </a:solidFill>
                <a:latin typeface="Calibri" panose="020F0502020204030204" pitchFamily="34" charset="0"/>
                <a:cs typeface="Calibri" panose="020F0502020204030204" pitchFamily="34" charset="0"/>
              </a:rPr>
              <a:t>-&gt; Input “What is Claude Code? How do you install and use it?”</a:t>
            </a:r>
          </a:p>
        </p:txBody>
      </p:sp>
      <p:pic>
        <p:nvPicPr>
          <p:cNvPr id="2" name="图片 1"/>
          <p:cNvPicPr>
            <a:picLocks noChangeAspect="1"/>
          </p:cNvPicPr>
          <p:nvPr/>
        </p:nvPicPr>
        <p:blipFill>
          <a:blip r:embed="rId3"/>
          <a:stretch>
            <a:fillRect/>
          </a:stretch>
        </p:blipFill>
        <p:spPr>
          <a:xfrm>
            <a:off x="1746250" y="2250440"/>
            <a:ext cx="8997950" cy="4132580"/>
          </a:xfrm>
          <a:prstGeom prst="rect">
            <a:avLst/>
          </a:prstGeom>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pic>
      <p:sp>
        <p:nvSpPr>
          <p:cNvPr id="11" name="圆角矩形 10"/>
          <p:cNvSpPr/>
          <p:nvPr/>
        </p:nvSpPr>
        <p:spPr>
          <a:xfrm>
            <a:off x="8618855" y="735965"/>
            <a:ext cx="2969260" cy="401320"/>
          </a:xfrm>
          <a:prstGeom prst="roundRect">
            <a:avLst/>
          </a:prstGeom>
          <a:solidFill>
            <a:srgbClr val="DEEBF7"/>
          </a:solidFill>
          <a:ln>
            <a:solidFill>
              <a:srgbClr val="DEEBF7"/>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solidFill>
                  <a:schemeClr val="tx1"/>
                </a:solidFill>
              </a:rPr>
              <a:t>Agent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083" name="think-cell Slide" r:id="rId4" imgW="7772400" imgH="10058400" progId="TCLayout.ActiveDocument.1">
                  <p:embed/>
                </p:oleObj>
              </mc:Choice>
              <mc:Fallback>
                <p:oleObj name="think-cell Slide" r:id="rId4" imgW="7772400" imgH="10058400" progId="TCLayout.ActiveDocument.1">
                  <p:embed/>
                  <p:pic>
                    <p:nvPicPr>
                      <p:cNvPr id="4" name="Object 3" hidden="1"/>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8" name="Picture 2" descr="Image result for sustech"/>
          <p:cNvPicPr>
            <a:picLocks noChangeAspect="1" noChangeArrowheads="1"/>
          </p:cNvPicPr>
          <p:nvPr/>
        </p:nvPicPr>
        <p:blipFill>
          <a:blip r:embed="rId6">
            <a:clrChange>
              <a:clrFrom>
                <a:srgbClr val="EC6C00"/>
              </a:clrFrom>
              <a:clrTo>
                <a:srgbClr val="EC6C00">
                  <a:alpha val="0"/>
                </a:srgbClr>
              </a:clrTo>
            </a:clrChange>
            <a:extLst>
              <a:ext uri="{28A0092B-C50C-407E-A947-70E740481C1C}">
                <a14:useLocalDpi xmlns:a14="http://schemas.microsoft.com/office/drawing/2010/main" val="0"/>
              </a:ext>
            </a:extLst>
          </a:blip>
          <a:srcRect/>
          <a:stretch>
            <a:fillRect/>
          </a:stretch>
        </p:blipFill>
        <p:spPr bwMode="auto">
          <a:xfrm>
            <a:off x="4057656" y="1387477"/>
            <a:ext cx="4014786" cy="4014786"/>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ctrTitle"/>
          </p:nvPr>
        </p:nvSpPr>
        <p:spPr>
          <a:xfrm>
            <a:off x="1524000" y="2714844"/>
            <a:ext cx="9144000" cy="1071563"/>
          </a:xfrm>
        </p:spPr>
        <p:txBody>
          <a:bodyPr vert="horz">
            <a:normAutofit fontScale="90000"/>
          </a:bodyPr>
          <a:lstStyle/>
          <a:p>
            <a:r>
              <a:rPr lang="en-US" altLang="zh-CN" sz="4800" dirty="0">
                <a:latin typeface="Calibri" panose="020F0502020204030204" pitchFamily="34" charset="0"/>
                <a:cs typeface="Calibri" panose="020F0502020204030204" pitchFamily="34" charset="0"/>
              </a:rPr>
              <a:t/>
            </a:r>
            <a:br>
              <a:rPr lang="en-US" altLang="zh-CN" sz="4800" dirty="0">
                <a:latin typeface="Calibri" panose="020F0502020204030204" pitchFamily="34" charset="0"/>
                <a:cs typeface="Calibri" panose="020F0502020204030204" pitchFamily="34" charset="0"/>
              </a:rPr>
            </a:br>
            <a:r>
              <a:rPr lang="en-US" altLang="zh-CN" sz="4800" dirty="0">
                <a:latin typeface="Calibri" panose="020F0502020204030204" pitchFamily="34" charset="0"/>
                <a:cs typeface="Calibri" panose="020F0502020204030204" pitchFamily="34" charset="0"/>
              </a:rPr>
              <a:t/>
            </a:r>
            <a:br>
              <a:rPr lang="en-US" altLang="zh-CN" sz="4800" dirty="0">
                <a:latin typeface="Calibri" panose="020F0502020204030204" pitchFamily="34" charset="0"/>
                <a:cs typeface="Calibri" panose="020F0502020204030204" pitchFamily="34" charset="0"/>
              </a:rPr>
            </a:br>
            <a:r>
              <a:rPr lang="en-US" altLang="zh-CN" sz="4800" dirty="0">
                <a:latin typeface="Calibri" panose="020F0502020204030204" pitchFamily="34" charset="0"/>
                <a:cs typeface="Calibri" panose="020F0502020204030204" pitchFamily="34" charset="0"/>
              </a:rPr>
              <a:t>End of E.1</a:t>
            </a:r>
            <a:endParaRPr lang="zh-CN" altLang="en-US" sz="4800" dirty="0">
              <a:latin typeface="Calibri" panose="020F0502020204030204" pitchFamily="34" charset="0"/>
              <a:cs typeface="Calibri" panose="020F0502020204030204" pitchFamily="34" charset="0"/>
            </a:endParaRPr>
          </a:p>
        </p:txBody>
      </p:sp>
      <p:pic>
        <p:nvPicPr>
          <p:cNvPr id="1026" name="Picture 2" descr="Image result for sustech"/>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8">
            <a:extLst>
              <a:ext uri="{FF2B5EF4-FFF2-40B4-BE49-F238E27FC236}">
                <a16:creationId xmlns="" xmlns:a16="http://schemas.microsoft.com/office/drawing/2014/main" id="{1D286877-C593-8142-862D-FC9A75C71DB4}"/>
              </a:ext>
            </a:extLst>
          </p:cNvPr>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a:t>Lecture </a:t>
            </a:r>
            <a:r>
              <a:rPr lang="en-US" altLang="zh-CN" sz="1500" smtClean="0"/>
              <a:t>1   </a:t>
            </a:r>
            <a:r>
              <a:rPr lang="en-US" altLang="zh-CN" sz="1500" dirty="0"/>
              <a:t>						  				                 </a:t>
            </a:r>
            <a:r>
              <a:rPr lang="en-US" altLang="zh-CN" sz="1500" dirty="0" smtClean="0"/>
              <a:t>2026/02/27</a:t>
            </a:r>
            <a:endParaRPr lang="zh-CN" altLang="en-US" sz="150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63.7,&quot;left&quot;:537.15,&quot;top&quot;:232.35,&quot;width&quot;:325.7}"/>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63.7,&quot;left&quot;:537.15,&quot;top&quot;:232.35,&quot;width&quot;:325.7}"/>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63.7,&quot;left&quot;:537.15,&quot;top&quot;:232.35,&quot;width&quot;:325.7}"/>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63.7,&quot;left&quot;:537.15,&quot;top&quot;:232.35,&quot;width&quot;:325.7}"/>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1221</Words>
  <Application>Microsoft Macintosh PowerPoint</Application>
  <PresentationFormat>Widescreen</PresentationFormat>
  <Paragraphs>234</Paragraphs>
  <Slides>30</Slides>
  <Notes>17</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41" baseType="lpstr">
      <vt:lpstr>Calibri</vt:lpstr>
      <vt:lpstr>Courier New</vt:lpstr>
      <vt:lpstr>Google Sans Text</vt:lpstr>
      <vt:lpstr>Lato-Bold</vt:lpstr>
      <vt:lpstr>Lato-Regular</vt:lpstr>
      <vt:lpstr>Wingdings</vt:lpstr>
      <vt:lpstr>等线</vt:lpstr>
      <vt:lpstr>等线 Light</vt:lpstr>
      <vt:lpstr>Arial</vt:lpstr>
      <vt:lpstr>Office 主题​​</vt:lpstr>
      <vt:lpstr>think-cell Slide</vt:lpstr>
      <vt:lpstr>  STA324 The Foundations and Applications of Large Language Models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End of E.1</vt:lpstr>
    </vt:vector>
  </TitlesOfParts>
  <LinksUpToDate>false</LinksUpToDate>
  <SharedDoc>false</SharedDoc>
  <HyperlinksChanged>false</HyperlinksChanged>
  <AppVersion>15.0040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MA409 Statistical Data Analysis (SAS) </dc:title>
  <dc:creator>宋 安琪</dc:creator>
  <cp:lastModifiedBy>yanglinyiucd@</cp:lastModifiedBy>
  <cp:revision>880</cp:revision>
  <cp:lastPrinted>2026-01-19T14:01:00Z</cp:lastPrinted>
  <dcterms:created xsi:type="dcterms:W3CDTF">2020-02-13T12:47:00Z</dcterms:created>
  <dcterms:modified xsi:type="dcterms:W3CDTF">2026-02-26T04:18:45Z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DA50DDD19A324525AC5D6FC76CD07863_12</vt:lpwstr>
  </property>
  <property fmtid="{D5CDD505-2E9C-101B-9397-08002B2CF9AE}" pid="3" name="KSOProductBuildVer">
    <vt:lpwstr>2052-12.1.0.25225</vt:lpwstr>
  </property>
</Properties>
</file>