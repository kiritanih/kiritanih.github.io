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3" r:id="rId3"/>
    <p:sldId id="280" r:id="rId4"/>
    <p:sldId id="281" r:id="rId5"/>
    <p:sldId id="282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7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69886" autoAdjust="0"/>
  </p:normalViewPr>
  <p:slideViewPr>
    <p:cSldViewPr snapToGrid="0">
      <p:cViewPr varScale="1">
        <p:scale>
          <a:sx n="161" d="100"/>
          <a:sy n="161" d="100"/>
        </p:scale>
        <p:origin x="24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16EE-64A5-4D2E-9F89-627F86D510A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3CEB2-05F9-47E5-B01A-38C44ADA4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66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在回归问题中，我们想要回答“多少”的问题。</a:t>
            </a:r>
            <a:r>
              <a:rPr lang="zh-CN" altLang="zh-CN" dirty="0"/>
              <a:t>如果您想预测房屋的售价（价格），或者棒球队可能获胜的次数，或者患者出院前住院的天数，那么您可能正在寻找回归模型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kumimoji="1" lang="en-US" altLang="zh-CN" dirty="0"/>
          </a:p>
          <a:p>
            <a:r>
              <a:rPr lang="zh-CN" altLang="zh-CN" dirty="0"/>
              <a:t>房屋的价格永远不会为负，并且变化通常可能与其基准价格相关。对价格的对数进行回归可能更有效。</a:t>
            </a:r>
            <a:endParaRPr lang="en-US" altLang="zh-CN" dirty="0"/>
          </a:p>
          <a:p>
            <a:endParaRPr kumimoji="1" lang="en-US" altLang="zh-CN" dirty="0"/>
          </a:p>
          <a:p>
            <a:r>
              <a:rPr lang="zh-CN" altLang="zh-CN" dirty="0"/>
              <a:t>患者住院的天数是一个离散的非负随机变量</a:t>
            </a:r>
            <a:r>
              <a:rPr lang="zh-CN" altLang="en-US" dirty="0"/>
              <a:t>，</a:t>
            </a:r>
            <a:r>
              <a:rPr lang="zh-CN" altLang="zh-CN" dirty="0"/>
              <a:t>这些复杂问题称为生存建模</a:t>
            </a:r>
            <a:endParaRPr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这节课，我们将考虑分类问题，也就是说，我们不关心多少，但关心是不是？是什么类？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228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这封电子邮件属于垃圾邮件文件夹还是收件箱？ </a:t>
            </a:r>
            <a:endParaRPr lang="en-US" altLang="zh-CN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该客户是否更有可能注册或不注册订阅服务？ </a:t>
            </a:r>
            <a:endParaRPr lang="en-US" altLang="zh-CN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这幅图像描绘的是驴、狗、猫还是公鸡？</a:t>
            </a:r>
            <a:endParaRPr lang="en-US" altLang="zh-CN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阿斯顿接下来最有可能看哪部电影？ </a:t>
            </a:r>
            <a:endParaRPr lang="en-US" altLang="zh-CN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您接下来要阅读本书的哪一部分？</a:t>
            </a:r>
            <a:endParaRPr lang="en-US" altLang="zh-CN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kumimoji="1" lang="en-US" altLang="zh-CN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kumimoji="1"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有时候正确的类别可能不止一个，比如，一篇新闻报道可能涵盖了娱乐、商业、航空航天，仅分类到其中一个可能不符合实际，这个问题叫做</a:t>
            </a:r>
            <a:r>
              <a:rPr kumimoji="1" lang="en-US" altLang="zh-CN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multi-label</a:t>
            </a:r>
            <a:r>
              <a:rPr kumimoji="1"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1" lang="en-US" altLang="zh-CN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classification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889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首先，让我们从一个简单的图像分类问题开始。这里，每个输入</a:t>
            </a:r>
            <a:r>
              <a:rPr lang="zh-CN" altLang="en-US" dirty="0"/>
              <a:t>是</a:t>
            </a:r>
            <a:r>
              <a:rPr lang="en-US" altLang="zh-CN" dirty="0"/>
              <a:t>2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的</a:t>
            </a:r>
            <a:r>
              <a:rPr lang="zh-CN" altLang="zh-CN" dirty="0"/>
              <a:t>灰度图像。我们可以用单个标量表示每个像素值。每个图像属于“猫”、“鸡”和“狗”类别之一。</a:t>
            </a:r>
            <a:endParaRPr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如何表达</a:t>
            </a:r>
            <a:r>
              <a:rPr kumimoji="1" lang="en-US" altLang="zh-CN" dirty="0"/>
              <a:t>labels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可以用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如果</a:t>
            </a:r>
            <a:r>
              <a:rPr kumimoji="1" lang="en-US" altLang="zh-CN" dirty="0"/>
              <a:t>label</a:t>
            </a:r>
            <a:r>
              <a:rPr kumimoji="1" lang="zh-CN" altLang="en-US" dirty="0"/>
              <a:t>之间存在天然的顺序，如</a:t>
            </a:r>
            <a:r>
              <a:rPr kumimoji="1" lang="en-US" altLang="zh-CN" dirty="0"/>
              <a:t>{baby, teenager, young adult, adult, older}.ordinal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regression</a:t>
            </a:r>
            <a:r>
              <a:rPr kumimoji="1" lang="zh-CN" altLang="en-US" dirty="0"/>
              <a:t>，有序回归，可以写</a:t>
            </a:r>
            <a:r>
              <a:rPr kumimoji="1" lang="en-US" altLang="zh-CN" dirty="0"/>
              <a:t>{1,2,3}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但一般来说，分类任务的标签之间没有自然顺序，统计学家们发明了一个简单的方式表达类别数据，</a:t>
            </a:r>
            <a:r>
              <a:rPr kumimoji="1" lang="en-US" altLang="zh-CN" dirty="0"/>
              <a:t>one-hot encoding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870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估计每个类别的条件概率，所以这个模型会有多个输出，每个类一个，分别代表对应的条件概率。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在这里我们介绍线性模型来实现分类，那我们就需要多个仿射函数（</a:t>
            </a:r>
            <a:r>
              <a:rPr kumimoji="1" lang="en-US" altLang="zh-CN" dirty="0"/>
              <a:t>Affine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</a:t>
            </a:r>
            <a:r>
              <a:rPr kumimoji="1" lang="zh-CN" altLang="en-US" dirty="0"/>
              <a:t>，最高次数为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的多项式函数）常数项为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的仿射函数为线性函数。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我们输入的特征是四维向量，输出是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个可能的类别。所以我们需要</a:t>
            </a:r>
            <a:r>
              <a:rPr kumimoji="1" lang="en-US" altLang="zh-CN" dirty="0"/>
              <a:t>3*4</a:t>
            </a:r>
            <a:r>
              <a:rPr kumimoji="1" lang="zh-CN" altLang="en-US" dirty="0"/>
              <a:t>的矩阵共</a:t>
            </a:r>
            <a:r>
              <a:rPr kumimoji="1" lang="en-US" altLang="zh-CN" dirty="0"/>
              <a:t>12</a:t>
            </a:r>
            <a:r>
              <a:rPr kumimoji="1" lang="zh-CN" altLang="en-US" dirty="0"/>
              <a:t>个标量来表示权重</a:t>
            </a:r>
            <a:r>
              <a:rPr kumimoji="1" lang="en-US" altLang="zh-CN" dirty="0"/>
              <a:t>w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个标量来表示</a:t>
            </a:r>
            <a:r>
              <a:rPr kumimoji="1" lang="en-US" altLang="zh-CN" dirty="0"/>
              <a:t>biases.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958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B0C5-B33B-1B36-CEB3-10718543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E1A785-3F4B-2EEE-CF7E-02C150795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D39B3E-8C09-09B3-09A3-CE0242CA7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对应的神经网络图在右边显式，我们构建了一个单层神经网络，每个输出值</a:t>
            </a:r>
            <a:r>
              <a:rPr kumimoji="1" lang="en-US" altLang="zh-CN" dirty="0"/>
              <a:t>o</a:t>
            </a:r>
            <a:r>
              <a:rPr kumimoji="1" lang="zh-CN" altLang="en-US" dirty="0"/>
              <a:t>都依赖于每个输入维度，这种网络我们称之为全连接层（</a:t>
            </a:r>
            <a:r>
              <a:rPr kumimoji="1" lang="en-US" altLang="zh-CN" dirty="0"/>
              <a:t>Full-connected layer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W x + b </a:t>
            </a:r>
            <a:r>
              <a:rPr kumimoji="1" lang="zh-CN" altLang="en-US" dirty="0"/>
              <a:t>分别的维度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我们可以看作向量化的回归问题（即回归预测得到了一个向量）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仍然存在两点问题：</a:t>
            </a:r>
            <a:endParaRPr kumimoji="1" lang="en-US" altLang="zh-CN" dirty="0"/>
          </a:p>
          <a:p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无法保证</a:t>
            </a:r>
            <a:r>
              <a:rPr kumimoji="1" lang="en-US" altLang="zh-CN" dirty="0" err="1"/>
              <a:t>o_i</a:t>
            </a:r>
            <a:r>
              <a:rPr kumimoji="1" lang="zh-CN" altLang="en-US" dirty="0"/>
              <a:t>加起来等于</a:t>
            </a:r>
            <a:r>
              <a:rPr kumimoji="1" lang="en-US" altLang="zh-CN" dirty="0"/>
              <a:t>1 </a:t>
            </a:r>
            <a:r>
              <a:rPr kumimoji="1" lang="zh-CN" altLang="en-US" dirty="0"/>
              <a:t>（概率的特征）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无法保证</a:t>
            </a:r>
            <a:r>
              <a:rPr kumimoji="1" lang="en-US" altLang="zh-CN" dirty="0" err="1"/>
              <a:t>o_i</a:t>
            </a:r>
            <a:r>
              <a:rPr kumimoji="1" lang="zh-CN" altLang="en-US" dirty="0"/>
              <a:t>为非负数或者不超过</a:t>
            </a:r>
            <a:r>
              <a:rPr kumimoji="1" lang="en-US" altLang="zh-CN" dirty="0"/>
              <a:t>1.</a:t>
            </a:r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举例来说，我们发现了房间数和购买欲望呈线性正相关，那现在给你一个大楼，你的预测概率甚至会超过</a:t>
            </a:r>
            <a:r>
              <a:rPr kumimoji="1" lang="en-US" altLang="zh-CN" dirty="0"/>
              <a:t>1.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所以我们需要一个机制来压缩输出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09802-86F8-834F-8F55-1E51219D8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542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3002-8F2A-D78D-AC14-D8F1C6ED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7FECAD-70F2-C060-74F1-41A5BB6B0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179297-59F0-82D1-DF5B-4A8F5672F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首先我们使用指数函数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78657-C192-866E-B42F-2FF4071BF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317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445A-1FCB-728E-6F7E-4046D988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CC1D19-33FA-70FA-4C82-16C4EB6EF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731F8F-C3CB-D0E7-F88A-C4EBD6721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首先我们使用指数函数作为变化，保证了单调性和非负的特性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然后通过标准化，我们可以实现求和为</a:t>
            </a:r>
            <a:r>
              <a:rPr kumimoji="1" lang="en-US" altLang="zh-CN" dirty="0"/>
              <a:t>1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我们发现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其实不会改变各个标签的相对大小排序，所以我们在预测标签取最大概率的时候其实可以不做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计算。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259D0E-6FEE-4E8E-490A-2A8259F41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32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CD10-0771-B69E-AEE5-3396FD46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220DD8-4CDB-63EA-4503-8089156ED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CDE81C-DBD9-ADC7-7B84-62C297891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吉布斯</a:t>
            </a:r>
            <a:r>
              <a:rPr lang="en-US" altLang="zh-CN" dirty="0"/>
              <a:t>1902</a:t>
            </a:r>
            <a:r>
              <a:rPr lang="zh-CN" altLang="en-US" dirty="0"/>
              <a:t>年</a:t>
            </a:r>
            <a:r>
              <a:rPr lang="zh-CN" altLang="zh-CN" dirty="0"/>
              <a:t>使用这个技巧来模拟气体分子能量状态的分布</a:t>
            </a:r>
            <a:endParaRPr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玻尔兹曼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b="0" i="0" dirty="0">
                <a:effectLst/>
                <a:latin typeface="Roboto" panose="02000000000000000000" pitchFamily="2" charset="0"/>
              </a:rPr>
              <a:t>E is the energy of a state, T is the temperature, and k is the Boltzmann constant</a:t>
            </a:r>
          </a:p>
          <a:p>
            <a:endParaRPr kumimoji="1" lang="en-US" altLang="zh-CN" b="0" i="0" dirty="0">
              <a:effectLst/>
              <a:latin typeface="Roboto" panose="02000000000000000000" pitchFamily="2" charset="0"/>
            </a:endParaRPr>
          </a:p>
          <a:p>
            <a:r>
              <a:rPr lang="zh-CN" altLang="zh-CN" dirty="0"/>
              <a:t>当统计学家谈论增加或降低统计系统的“温度”时，他们指的是改变为了有利于较低或较高的能量状态。</a:t>
            </a:r>
            <a:endParaRPr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在吉布斯的工作里面，能量等价于误差。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基于能量的模型也是用这个观点来描述深度学习的问题。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D79BFC-500D-9A06-572C-1AE6E11D5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6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E319C-DD0A-8B84-EF85-81D45BCF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7A3147-A4A9-29B6-BAED-795DD8D95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15762B-1C3E-55A3-AB43-B0C9F2326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通过矩阵乘加速了计算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X</a:t>
            </a:r>
            <a:r>
              <a:rPr kumimoji="1" lang="zh-CN" altLang="en-US" dirty="0"/>
              <a:t>每一行代表一个数据样本，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则是自动逐行计算</a:t>
            </a:r>
            <a:r>
              <a:rPr kumimoji="1" lang="en-US" altLang="zh-CN" dirty="0"/>
              <a:t>dim=0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27B3E-4B96-81BC-0355-37260F057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13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D9CA-90A5-7088-FE4D-AF863422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0F366D-38E7-8B46-6E87-20DDF296C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5B066E-5F79-52BB-B77B-1A78F084B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现在我们已经构建了从输入</a:t>
            </a:r>
            <a:r>
              <a:rPr kumimoji="1" lang="en-US" altLang="zh-CN" dirty="0"/>
              <a:t>x</a:t>
            </a:r>
            <a:r>
              <a:rPr kumimoji="1" lang="zh-CN" altLang="en-US" dirty="0"/>
              <a:t>到条件概率</a:t>
            </a:r>
            <a:r>
              <a:rPr kumimoji="1" lang="en-US" altLang="zh-CN" dirty="0"/>
              <a:t>O</a:t>
            </a:r>
            <a:r>
              <a:rPr kumimoji="1" lang="zh-CN" altLang="en-US" dirty="0"/>
              <a:t>的映射函数</a:t>
            </a:r>
            <a:r>
              <a:rPr kumimoji="1" lang="en-US" altLang="zh-CN" dirty="0"/>
              <a:t>,</a:t>
            </a:r>
            <a:r>
              <a:rPr kumimoji="1" lang="zh-CN" altLang="en-US" dirty="0"/>
              <a:t>需要考虑如何优化参数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我们依然会采用极大似然估计（类似</a:t>
            </a:r>
            <a:r>
              <a:rPr kumimoji="1" lang="en-US" altLang="zh-CN" dirty="0"/>
              <a:t>MSE loss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我们通常把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的输出解释为给样本</a:t>
            </a:r>
            <a:r>
              <a:rPr kumimoji="1" lang="en-US" altLang="zh-CN" dirty="0"/>
              <a:t>x</a:t>
            </a:r>
            <a:r>
              <a:rPr kumimoji="1" lang="zh-CN" altLang="en-US" dirty="0"/>
              <a:t>估计的条件概率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4C14F8-18CD-CD3A-E397-869D99B50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969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8AE3-882F-44E8-1EEA-C37705F1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14FD77-8382-8530-5451-B73317175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E94C64-5966-9EA6-F806-A0A5667C4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现在我们已经构建了从输入</a:t>
            </a:r>
            <a:r>
              <a:rPr kumimoji="1" lang="en-US" altLang="zh-CN" dirty="0"/>
              <a:t>x</a:t>
            </a:r>
            <a:r>
              <a:rPr kumimoji="1" lang="zh-CN" altLang="en-US" dirty="0"/>
              <a:t>到条件概率</a:t>
            </a:r>
            <a:r>
              <a:rPr kumimoji="1" lang="en-US" altLang="zh-CN" dirty="0"/>
              <a:t>O</a:t>
            </a:r>
            <a:r>
              <a:rPr kumimoji="1" lang="zh-CN" altLang="en-US" dirty="0"/>
              <a:t>的映射函数</a:t>
            </a:r>
            <a:r>
              <a:rPr kumimoji="1" lang="en-US" altLang="zh-CN" dirty="0"/>
              <a:t>,</a:t>
            </a:r>
            <a:r>
              <a:rPr kumimoji="1" lang="zh-CN" altLang="en-US" dirty="0"/>
              <a:t>需要考虑如何优化参数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我们依然会采用极大似然估计（类似</a:t>
            </a:r>
            <a:r>
              <a:rPr kumimoji="1" lang="en-US" altLang="zh-CN" dirty="0"/>
              <a:t>MSE loss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我们通常把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的输出解释为给样本</a:t>
            </a:r>
            <a:r>
              <a:rPr kumimoji="1" lang="en-US" altLang="zh-CN" dirty="0"/>
              <a:t>x</a:t>
            </a:r>
            <a:r>
              <a:rPr kumimoji="1" lang="zh-CN" altLang="en-US" dirty="0"/>
              <a:t>估计的条件概率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B3137-58EE-44C4-72C5-D2B6A6E5C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447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FB62-9BC6-13E9-FD72-25A96A3E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CB564F-D82B-587C-F591-45D54EDD5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FC0CD3-1A94-D22B-9809-AB76CEFC8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Loss </a:t>
            </a:r>
            <a:r>
              <a:rPr kumimoji="1" lang="zh-CN" altLang="en-US" dirty="0"/>
              <a:t>的下界</a:t>
            </a:r>
            <a:r>
              <a:rPr kumimoji="1" lang="en-US" altLang="zh-CN" dirty="0"/>
              <a:t>bound</a:t>
            </a:r>
            <a:r>
              <a:rPr kumimoji="1" lang="zh-CN" altLang="en-US" dirty="0"/>
              <a:t>是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，因为概率都小于</a:t>
            </a:r>
            <a:r>
              <a:rPr kumimoji="1" lang="en-US" altLang="zh-CN" dirty="0"/>
              <a:t>1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Loss</a:t>
            </a:r>
            <a:r>
              <a:rPr kumimoji="1" lang="zh-CN" altLang="en-US" dirty="0"/>
              <a:t>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当且仅当我们给正确的</a:t>
            </a:r>
            <a:r>
              <a:rPr kumimoji="1" lang="en-US" altLang="zh-CN" dirty="0"/>
              <a:t>label</a:t>
            </a:r>
            <a:r>
              <a:rPr kumimoji="1" lang="zh-CN" altLang="en-US" dirty="0"/>
              <a:t>概率为</a:t>
            </a:r>
            <a:r>
              <a:rPr kumimoji="1" lang="en-US" altLang="zh-CN" dirty="0"/>
              <a:t>100%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实际上，因为</a:t>
            </a:r>
            <a:r>
              <a:rPr kumimoji="1" lang="en-US" altLang="zh-CN" dirty="0"/>
              <a:t>w</a:t>
            </a:r>
            <a:r>
              <a:rPr kumimoji="1" lang="zh-CN" altLang="en-US" dirty="0"/>
              <a:t>一般都是有限值，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基本不可能为</a:t>
            </a:r>
            <a:r>
              <a:rPr kumimoji="1" lang="en-US" altLang="zh-CN" dirty="0"/>
              <a:t>0.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因为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值想要达到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，需要</a:t>
            </a:r>
            <a:r>
              <a:rPr kumimoji="1" lang="en-US" altLang="zh-CN" dirty="0"/>
              <a:t>logits </a:t>
            </a:r>
            <a:r>
              <a:rPr kumimoji="1" lang="en-US" altLang="zh-CN" dirty="0" err="1"/>
              <a:t>o_i</a:t>
            </a:r>
            <a:r>
              <a:rPr kumimoji="1" lang="zh-CN" altLang="en-US" dirty="0"/>
              <a:t>为无限大。或者其他</a:t>
            </a:r>
            <a:r>
              <a:rPr kumimoji="1" lang="en-US" altLang="zh-CN" dirty="0"/>
              <a:t>logits</a:t>
            </a:r>
            <a:r>
              <a:rPr kumimoji="1" lang="zh-CN" altLang="en-US" dirty="0"/>
              <a:t>无限小。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如果给一个概率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，会发生什么？</a:t>
            </a:r>
            <a:r>
              <a:rPr kumimoji="1" lang="en-US" altLang="zh-CN" dirty="0"/>
              <a:t>-log0 =</a:t>
            </a:r>
            <a:r>
              <a:rPr kumimoji="1" lang="zh-CN" altLang="en-US" dirty="0"/>
              <a:t>正无穷。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C5D806-73B7-5B50-DF1D-C0EECAE31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744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CBE6-F0B2-703A-913D-A243C55F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EAA4E3-5A5E-C49B-B3EB-8205C0B0F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C4A869-E6D0-8FE4-BA65-FFC37B8F4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Loss </a:t>
            </a:r>
            <a:r>
              <a:rPr kumimoji="1" lang="zh-CN" altLang="en-US" dirty="0"/>
              <a:t>的下界</a:t>
            </a:r>
            <a:r>
              <a:rPr kumimoji="1" lang="en-US" altLang="zh-CN" dirty="0"/>
              <a:t>bound</a:t>
            </a:r>
            <a:r>
              <a:rPr kumimoji="1" lang="zh-CN" altLang="en-US" dirty="0"/>
              <a:t>是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，因为概率都小于</a:t>
            </a:r>
            <a:r>
              <a:rPr kumimoji="1" lang="en-US" altLang="zh-CN" dirty="0"/>
              <a:t>1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Loss</a:t>
            </a:r>
            <a:r>
              <a:rPr kumimoji="1" lang="zh-CN" altLang="en-US" dirty="0"/>
              <a:t>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当且仅当我们给正确的</a:t>
            </a:r>
            <a:r>
              <a:rPr kumimoji="1" lang="en-US" altLang="zh-CN" dirty="0"/>
              <a:t>label</a:t>
            </a:r>
            <a:r>
              <a:rPr kumimoji="1" lang="zh-CN" altLang="en-US" dirty="0"/>
              <a:t>概率为</a:t>
            </a:r>
            <a:r>
              <a:rPr kumimoji="1" lang="en-US" altLang="zh-CN" dirty="0"/>
              <a:t>100%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实际上，因为</a:t>
            </a:r>
            <a:r>
              <a:rPr kumimoji="1" lang="en-US" altLang="zh-CN" dirty="0"/>
              <a:t>w</a:t>
            </a:r>
            <a:r>
              <a:rPr kumimoji="1" lang="zh-CN" altLang="en-US" dirty="0"/>
              <a:t>一般都是有限值，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基本不可能为</a:t>
            </a:r>
            <a:r>
              <a:rPr kumimoji="1" lang="en-US" altLang="zh-CN" dirty="0"/>
              <a:t>0.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因为</a:t>
            </a:r>
            <a:r>
              <a:rPr kumimoji="1" lang="en-US" altLang="zh-CN" dirty="0" err="1"/>
              <a:t>softmax</a:t>
            </a:r>
            <a:r>
              <a:rPr kumimoji="1" lang="zh-CN" altLang="en-US" dirty="0"/>
              <a:t>值想要达到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，需要</a:t>
            </a:r>
            <a:r>
              <a:rPr kumimoji="1" lang="en-US" altLang="zh-CN" dirty="0"/>
              <a:t>logits </a:t>
            </a:r>
            <a:r>
              <a:rPr kumimoji="1" lang="en-US" altLang="zh-CN" dirty="0" err="1"/>
              <a:t>o_i</a:t>
            </a:r>
            <a:r>
              <a:rPr kumimoji="1" lang="zh-CN" altLang="en-US" dirty="0"/>
              <a:t>为无限大。或者其他</a:t>
            </a:r>
            <a:r>
              <a:rPr kumimoji="1" lang="en-US" altLang="zh-CN" dirty="0"/>
              <a:t>logits</a:t>
            </a:r>
            <a:r>
              <a:rPr kumimoji="1" lang="zh-CN" altLang="en-US" dirty="0"/>
              <a:t>无限小。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如果给一个概率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，会发生什么？</a:t>
            </a:r>
            <a:r>
              <a:rPr kumimoji="1" lang="en-US" altLang="zh-CN" dirty="0"/>
              <a:t>-log0 =</a:t>
            </a:r>
            <a:r>
              <a:rPr kumimoji="1" lang="zh-CN" altLang="en-US" dirty="0"/>
              <a:t>正无穷。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956688-E2E2-A479-B469-584F83D8E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646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859F-5EB7-3F1D-2772-17545CF7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6EE7DF-A0F9-9F60-2281-C60ED4166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46363E-D425-7E86-87FB-5D93FE29C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也就是说这个导数是模型输出的概率值减去</a:t>
            </a:r>
            <a:r>
              <a:rPr kumimoji="1" lang="en-US" altLang="zh-CN" dirty="0"/>
              <a:t>one-hot label</a:t>
            </a:r>
            <a:r>
              <a:rPr kumimoji="1" lang="zh-CN" altLang="en-US" dirty="0"/>
              <a:t>向量</a:t>
            </a:r>
            <a:endParaRPr kumimoji="1" lang="en-US" altLang="zh-CN" dirty="0"/>
          </a:p>
          <a:p>
            <a:endParaRPr kumimoji="1" lang="en-US" altLang="zh-CN" dirty="0"/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在任何指数族模型中，对数似然的梯度正是由此项给出。</a:t>
            </a:r>
          </a:p>
          <a:p>
            <a:b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altLang="zh-CN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(0,0,1)   (0.1, 0.2, 0.7)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61940B-388F-77CD-0890-5A15D33A4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152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26B59-5471-8A70-989A-D23BCD7E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3A72BA-2171-405F-5919-AD37B63F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C12361-0D4D-DAC3-BC4F-2213E4495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也就是说这个导数是模型输出的概率值减去</a:t>
            </a:r>
            <a:r>
              <a:rPr kumimoji="1" lang="en-US" altLang="zh-CN" dirty="0"/>
              <a:t>one-hot label</a:t>
            </a:r>
            <a:r>
              <a:rPr kumimoji="1" lang="zh-CN" altLang="en-US" dirty="0"/>
              <a:t>向量</a:t>
            </a:r>
            <a:endParaRPr kumimoji="1" lang="en-US" altLang="zh-CN" dirty="0"/>
          </a:p>
          <a:p>
            <a:endParaRPr kumimoji="1" lang="en-US" altLang="zh-CN" dirty="0"/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在任何指数族模型中，对数似然的梯度正是由此项给出。</a:t>
            </a:r>
          </a:p>
          <a:p>
            <a:br>
              <a:rPr lang="zh-CN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altLang="zh-CN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(0,0,1)   (0.1, 0.2, 0.7)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B2DF4-318C-4408-6338-83F844732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397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4D7C-5423-14FC-1BA0-EA680CE1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7DCDF8-75E3-F91E-0245-FFE2F2161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0400C4-1DED-38B5-FBAF-F1CAD56FE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More complex models often require more data;</a:t>
            </a: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Relevant notions of complexity include both the number of parameters and the range of values that they are allowed to take</a:t>
            </a: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Keeping all else equal, more data almost always leads to better generalization;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AAF23D-FE90-9D0C-8760-D7A65B159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47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7249E-D4F9-9247-C081-9966F53F1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01392B-8101-8923-C1E9-098037FA8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5C9FDE-B5E2-2406-836F-90000E9D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892B1D-EC00-3B51-01B1-7BC56E41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522E5-C912-431C-09AA-4946AC23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72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7F9A6-5B12-B03A-10BA-DBD0BAAC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CACDA-4C3C-90D4-F7E2-2B9CFD65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EFF113-0792-E14D-62E6-E880D8B0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85184-E1F9-4E46-633D-C4D5CEC4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A9C71-7A15-9BBC-727D-44CE5474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59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91005-2AD3-3B09-5DB6-5CDFC664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04259-09AA-3BE1-F88E-A686E981F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5F007-AFEF-D03E-D771-878C6F6C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F83C-326C-4F68-071F-A6A9F69B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E9187-A68F-61A3-16B3-5E04B648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91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E1286-7B46-8D59-F979-187DB1D9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115C9-AA29-CC29-D01E-285A6BEAA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953CC6-795F-AE23-F582-CF2DC7769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97A927-1DA6-5102-C51C-D75A6C5F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927FF7-3057-BFDB-EA26-A1F7A375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7B26F-3708-BAB3-EB32-202B7C07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67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76C2B-AE18-6B1D-CE57-4E641CFE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B59674-FB46-A7AD-770F-2F981D9E9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4C712A-B2A6-3DEB-3B07-068F83B60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888BE6-9EB6-31BB-1657-BBBF4836F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E6F069-E382-040F-6B59-E056D054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810465-0845-8EBF-1DBD-10A934A6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65EA22-BA83-E8A1-3D7F-B1C3A3F1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C265EE-EB34-BBC9-ED33-635C9951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71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780D7-E72F-382A-D5B2-93120566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FA4AF9-F8BB-8E05-532D-7FDBEEFD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DACAE7-E205-F268-6D10-EE0D2B10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2E1DE9-0244-8C7F-E505-6B8E46F6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27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A23F03-9780-AABE-B00B-2826ED1B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097A11-39A1-F659-2E2A-3143D7C1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9F902-C6FB-00BB-9A07-6538D0C0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78DA8-D33F-5DCD-46C1-E44855203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DD9C6-8272-0002-5DC6-A460C97CC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709C14-E6DC-2D4C-D758-9D2FF20B8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36411C-3D7A-38DF-BE6D-5AB103B0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DC69C6-90DF-A443-1508-2F6105B8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C10F3E-8FFC-0F80-1FD5-0A4DF7C3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5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0C6DA-5DEC-5F10-2C1E-4D66FBD8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570F14-B4DA-C289-A74C-913AC4A7B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05C1E0-FED2-DF48-3E88-62B87F16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CDCCA7-4CC5-6F65-D051-B411C2CC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EEFD53-0FC1-9DCE-4FD6-8A76492D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CCF549-F214-6F1A-C878-2A53F4D27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91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37018-5CF8-0B91-CF3D-693D4C2D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BC94F7-31D9-2291-F3AC-442830E33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FA295-2E34-8514-F051-DD88A26B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E496C-E0FC-FCB5-CE36-F7A7929E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8B887D-6B49-07C8-C00C-804E2711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31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28B85B-5A6D-3787-D52E-13491BB7A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5DBCEF-8E1C-D5B5-0FF2-EF4A23169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29715-DB11-EF6B-5D04-A1BE71F1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E3078-E5FC-4F5C-0CC2-491C7946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A8FE2-67BD-3BFE-DBE6-A9D33F3D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62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305D7D-2F9B-8D78-BEA4-2260D33F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12A583-53DC-F90A-60A0-3E1EBB963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F26B9-BFAE-7C27-20D4-56F6331CB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1AC09-EEF7-424B-98BB-B07D76557C2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8C87F8-A83D-A52D-899C-B3B600E18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1728F8-AAF4-A45C-B3F1-D540ADD63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74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6BF0C-D55C-303A-D68D-6298E61D6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090" y="1447216"/>
            <a:ext cx="10599820" cy="2387600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STA326: Data Science Practice</a:t>
            </a:r>
            <a:endParaRPr lang="zh-CN" altLang="en-US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D967F9-583A-3669-58AF-FC2F71FBE4D4}"/>
              </a:ext>
            </a:extLst>
          </p:cNvPr>
          <p:cNvSpPr txBox="1"/>
          <p:nvPr/>
        </p:nvSpPr>
        <p:spPr>
          <a:xfrm>
            <a:off x="3563353" y="4480740"/>
            <a:ext cx="50652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Wei Hongxin</a:t>
            </a:r>
          </a:p>
          <a:p>
            <a:pPr algn="ctr"/>
            <a:r>
              <a:rPr lang="en-US" altLang="zh-CN" sz="2800"/>
              <a:t>2026 </a:t>
            </a:r>
            <a:r>
              <a:rPr lang="en-US" altLang="zh-CN" sz="2800" dirty="0"/>
              <a:t>Spring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486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306EEBB-E5E1-8949-2594-C175A8EA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Classification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A265F0-256E-E9AA-35A9-EA67A9509918}"/>
              </a:ext>
            </a:extLst>
          </p:cNvPr>
          <p:cNvSpPr txBox="1"/>
          <p:nvPr/>
        </p:nvSpPr>
        <p:spPr>
          <a:xfrm>
            <a:off x="1021080" y="2117408"/>
            <a:ext cx="6537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/>
              <a:t>Linear models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 err="1"/>
              <a:t>Softmax</a:t>
            </a:r>
            <a:endParaRPr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/>
              <a:t>Cross-entropy loss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4063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385A5-91B4-CE13-E3D2-CC33E9388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Recall: Linear regression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8AEF17-447E-E62C-01B3-163458916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077" y="1497723"/>
            <a:ext cx="2351690" cy="17637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0C30F9-E444-CBB7-1CDA-3488F98B6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077" y="3261490"/>
            <a:ext cx="2351690" cy="302645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BCBFC2-966D-0D32-969C-2AAB6C794A72}"/>
              </a:ext>
            </a:extLst>
          </p:cNvPr>
          <p:cNvSpPr/>
          <p:nvPr/>
        </p:nvSpPr>
        <p:spPr>
          <a:xfrm>
            <a:off x="1954924" y="5025257"/>
            <a:ext cx="1986456" cy="1262686"/>
          </a:xfrm>
          <a:prstGeom prst="rect">
            <a:avLst/>
          </a:prstGeom>
          <a:noFill/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8" name="Picture 4" descr="生存分析(1)_概念与原理| Lantary">
            <a:extLst>
              <a:ext uri="{FF2B5EF4-FFF2-40B4-BE49-F238E27FC236}">
                <a16:creationId xmlns:a16="http://schemas.microsoft.com/office/drawing/2014/main" id="{421DF51B-0BDD-1BD3-A727-6DD7868A2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875" y="2466960"/>
            <a:ext cx="5332038" cy="296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E9B845-8877-131E-9355-6ADB7132A44D}"/>
              </a:ext>
            </a:extLst>
          </p:cNvPr>
          <p:cNvSpPr txBox="1"/>
          <p:nvPr/>
        </p:nvSpPr>
        <p:spPr>
          <a:xfrm>
            <a:off x="1552903" y="6400800"/>
            <a:ext cx="279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House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Prediction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0A8A03-2B24-40FF-FED1-47B9C4033E90}"/>
              </a:ext>
            </a:extLst>
          </p:cNvPr>
          <p:cNvSpPr txBox="1"/>
          <p:nvPr/>
        </p:nvSpPr>
        <p:spPr>
          <a:xfrm>
            <a:off x="6851432" y="5989536"/>
            <a:ext cx="279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Survival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analysis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644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0EE9C-4F1B-C1FC-9B75-4EB4145D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Examples of classification</a:t>
            </a:r>
            <a:endParaRPr kumimoji="1" lang="zh-CN" altLang="en-US" dirty="0"/>
          </a:p>
        </p:txBody>
      </p:sp>
      <p:pic>
        <p:nvPicPr>
          <p:cNvPr id="2050" name="Picture 2" descr="How To Check Your Spam Folder In Gmail and Outlook">
            <a:extLst>
              <a:ext uri="{FF2B5EF4-FFF2-40B4-BE49-F238E27FC236}">
                <a16:creationId xmlns:a16="http://schemas.microsoft.com/office/drawing/2014/main" id="{33E2867E-C2FB-DD30-21F2-414C2BC34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56" y="1690688"/>
            <a:ext cx="4034441" cy="190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AA02109-424A-A206-90B3-EF552CB4A81D}"/>
              </a:ext>
            </a:extLst>
          </p:cNvPr>
          <p:cNvSpPr txBox="1"/>
          <p:nvPr/>
        </p:nvSpPr>
        <p:spPr>
          <a:xfrm>
            <a:off x="1466193" y="3689131"/>
            <a:ext cx="294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Spam detection</a:t>
            </a:r>
          </a:p>
        </p:txBody>
      </p:sp>
      <p:pic>
        <p:nvPicPr>
          <p:cNvPr id="2052" name="Picture 4" descr="Subscription Box Industry Trends And Opportunities For Businesses">
            <a:extLst>
              <a:ext uri="{FF2B5EF4-FFF2-40B4-BE49-F238E27FC236}">
                <a16:creationId xmlns:a16="http://schemas.microsoft.com/office/drawing/2014/main" id="{AECCDE3C-240E-7999-4155-B46162F6B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787" y="1673663"/>
            <a:ext cx="3393435" cy="190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6D78E6B-44AC-FDEA-2DE0-B767F5BB3894}"/>
              </a:ext>
            </a:extLst>
          </p:cNvPr>
          <p:cNvSpPr txBox="1"/>
          <p:nvPr/>
        </p:nvSpPr>
        <p:spPr>
          <a:xfrm>
            <a:off x="7065580" y="3689131"/>
            <a:ext cx="294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Subscription prediction</a:t>
            </a:r>
          </a:p>
        </p:txBody>
      </p:sp>
      <p:pic>
        <p:nvPicPr>
          <p:cNvPr id="2056" name="Picture 8" descr="动物分类矢量图图带标签的分阶方案向量例证. 插画包括有真菌, 传记, 茴香, 哺乳动物, 培训- 177790740">
            <a:extLst>
              <a:ext uri="{FF2B5EF4-FFF2-40B4-BE49-F238E27FC236}">
                <a16:creationId xmlns:a16="http://schemas.microsoft.com/office/drawing/2014/main" id="{E3BEABE4-56A0-92A9-83EF-496364BD7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886" y="4156582"/>
            <a:ext cx="2188779" cy="218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9C1598-CA7A-E412-006E-339BF4A6B746}"/>
              </a:ext>
            </a:extLst>
          </p:cNvPr>
          <p:cNvSpPr txBox="1"/>
          <p:nvPr/>
        </p:nvSpPr>
        <p:spPr>
          <a:xfrm>
            <a:off x="1589140" y="6443480"/>
            <a:ext cx="294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Image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classification</a:t>
            </a:r>
          </a:p>
        </p:txBody>
      </p:sp>
      <p:pic>
        <p:nvPicPr>
          <p:cNvPr id="2058" name="Picture 10" descr="The 100 Best Movies of All Time And Where You Can Watch Them">
            <a:extLst>
              <a:ext uri="{FF2B5EF4-FFF2-40B4-BE49-F238E27FC236}">
                <a16:creationId xmlns:a16="http://schemas.microsoft.com/office/drawing/2014/main" id="{C75427FC-F805-E0EC-2C14-09610ED61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185" y="4216750"/>
            <a:ext cx="3301654" cy="185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20D980-1091-8E0A-2DC9-9B58EC70115B}"/>
              </a:ext>
            </a:extLst>
          </p:cNvPr>
          <p:cNvSpPr txBox="1"/>
          <p:nvPr/>
        </p:nvSpPr>
        <p:spPr>
          <a:xfrm>
            <a:off x="7121369" y="6232218"/>
            <a:ext cx="294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Next movie</a:t>
            </a:r>
          </a:p>
        </p:txBody>
      </p:sp>
    </p:spTree>
    <p:extLst>
      <p:ext uri="{BB962C8B-B14F-4D97-AF65-F5344CB8AC3E}">
        <p14:creationId xmlns:p14="http://schemas.microsoft.com/office/powerpoint/2010/main" val="276098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5D153-11C2-7C04-BDFC-586706C2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Image classification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4E1D35C-CFEF-84B8-370E-791FF128F82C}"/>
              </a:ext>
            </a:extLst>
          </p:cNvPr>
          <p:cNvGrpSpPr/>
          <p:nvPr/>
        </p:nvGrpSpPr>
        <p:grpSpPr>
          <a:xfrm>
            <a:off x="1079938" y="3146534"/>
            <a:ext cx="819806" cy="756746"/>
            <a:chOff x="914400" y="2041633"/>
            <a:chExt cx="819806" cy="756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D0D9E9F-BB8A-BC7D-C167-D4511CE1201F}"/>
                    </a:ext>
                  </a:extLst>
                </p:cNvPr>
                <p:cNvSpPr/>
                <p:nvPr/>
              </p:nvSpPr>
              <p:spPr>
                <a:xfrm>
                  <a:off x="914400" y="2041633"/>
                  <a:ext cx="409903" cy="3783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D0D9E9F-BB8A-BC7D-C167-D4511CE120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" y="2041633"/>
                  <a:ext cx="409903" cy="3783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C26B98C-63E7-17CF-6C75-F7317A31FC8D}"/>
                    </a:ext>
                  </a:extLst>
                </p:cNvPr>
                <p:cNvSpPr/>
                <p:nvPr/>
              </p:nvSpPr>
              <p:spPr>
                <a:xfrm>
                  <a:off x="1324303" y="2041633"/>
                  <a:ext cx="409903" cy="3783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C26B98C-63E7-17CF-6C75-F7317A31FC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4303" y="2041633"/>
                  <a:ext cx="409903" cy="37837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74DD969-E553-2AB3-11E5-89A1500363A7}"/>
                    </a:ext>
                  </a:extLst>
                </p:cNvPr>
                <p:cNvSpPr/>
                <p:nvPr/>
              </p:nvSpPr>
              <p:spPr>
                <a:xfrm>
                  <a:off x="914400" y="2420006"/>
                  <a:ext cx="409903" cy="3783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74DD969-E553-2AB3-11E5-89A1500363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" y="2420006"/>
                  <a:ext cx="409903" cy="37837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D27A6BF2-FB75-02D7-C85B-7FA17F3E97DF}"/>
                    </a:ext>
                  </a:extLst>
                </p:cNvPr>
                <p:cNvSpPr/>
                <p:nvPr/>
              </p:nvSpPr>
              <p:spPr>
                <a:xfrm>
                  <a:off x="1324303" y="2420005"/>
                  <a:ext cx="409903" cy="37837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D27A6BF2-FB75-02D7-C85B-7FA17F3E97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4303" y="2420005"/>
                  <a:ext cx="409903" cy="3783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右箭头 8">
            <a:extLst>
              <a:ext uri="{FF2B5EF4-FFF2-40B4-BE49-F238E27FC236}">
                <a16:creationId xmlns:a16="http://schemas.microsoft.com/office/drawing/2014/main" id="{434A73D1-0173-7476-2CF7-CF105B49C670}"/>
              </a:ext>
            </a:extLst>
          </p:cNvPr>
          <p:cNvSpPr/>
          <p:nvPr/>
        </p:nvSpPr>
        <p:spPr>
          <a:xfrm>
            <a:off x="2309647" y="3442137"/>
            <a:ext cx="606972" cy="165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806B84-4B0B-CBFA-6AE0-D3C61CDB72B9}"/>
              </a:ext>
            </a:extLst>
          </p:cNvPr>
          <p:cNvSpPr txBox="1"/>
          <p:nvPr/>
        </p:nvSpPr>
        <p:spPr>
          <a:xfrm>
            <a:off x="3368129" y="2931678"/>
            <a:ext cx="733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Cat</a:t>
            </a:r>
            <a:endParaRPr kumimoji="1" lang="zh-CN" altLang="en-US" sz="2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2B260B-E2E3-CAEB-8ED9-9FF036E0C76F}"/>
              </a:ext>
            </a:extLst>
          </p:cNvPr>
          <p:cNvSpPr txBox="1"/>
          <p:nvPr/>
        </p:nvSpPr>
        <p:spPr>
          <a:xfrm>
            <a:off x="3168869" y="3355629"/>
            <a:ext cx="110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Chicken</a:t>
            </a:r>
            <a:endParaRPr kumimoji="1"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2025A8-DDD3-B624-00FD-F77C9398EE36}"/>
              </a:ext>
            </a:extLst>
          </p:cNvPr>
          <p:cNvSpPr txBox="1"/>
          <p:nvPr/>
        </p:nvSpPr>
        <p:spPr>
          <a:xfrm>
            <a:off x="3168869" y="3779580"/>
            <a:ext cx="110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Dog</a:t>
            </a:r>
            <a:endParaRPr kumimoji="1" lang="zh-CN" altLang="en-US" sz="20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9A5FAB-BCEC-867E-4099-9F8778F94F57}"/>
              </a:ext>
            </a:extLst>
          </p:cNvPr>
          <p:cNvSpPr txBox="1"/>
          <p:nvPr/>
        </p:nvSpPr>
        <p:spPr>
          <a:xfrm>
            <a:off x="2557955" y="4623929"/>
            <a:ext cx="2325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{Cat, Chicken, Dog}</a:t>
            </a:r>
            <a:endParaRPr kumimoji="1" lang="zh-CN" altLang="en-US" sz="2000" b="1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550E4F0-A350-48DB-DC26-CB3899FE931D}"/>
              </a:ext>
            </a:extLst>
          </p:cNvPr>
          <p:cNvGrpSpPr/>
          <p:nvPr/>
        </p:nvGrpSpPr>
        <p:grpSpPr>
          <a:xfrm>
            <a:off x="4989787" y="2931678"/>
            <a:ext cx="1210004" cy="2090082"/>
            <a:chOff x="4989787" y="2931678"/>
            <a:chExt cx="1210004" cy="209008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AF2D66D-5E61-3512-71EE-3D52CDC8B649}"/>
                </a:ext>
              </a:extLst>
            </p:cNvPr>
            <p:cNvSpPr txBox="1"/>
            <p:nvPr/>
          </p:nvSpPr>
          <p:spPr>
            <a:xfrm>
              <a:off x="5273566" y="2931678"/>
              <a:ext cx="5360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/>
                <a:t>1</a:t>
              </a:r>
              <a:endParaRPr kumimoji="1" lang="zh-CN" altLang="en-US" sz="2000" b="1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DE43798-2E63-25D9-1FD3-E9242F041E3D}"/>
                </a:ext>
              </a:extLst>
            </p:cNvPr>
            <p:cNvSpPr txBox="1"/>
            <p:nvPr/>
          </p:nvSpPr>
          <p:spPr>
            <a:xfrm>
              <a:off x="4989787" y="3355629"/>
              <a:ext cx="11035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/>
                <a:t>2</a:t>
              </a:r>
              <a:endParaRPr kumimoji="1" lang="zh-CN" altLang="en-US" sz="2000" b="1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452E964-245E-5693-C1E7-E6B86A14F746}"/>
                </a:ext>
              </a:extLst>
            </p:cNvPr>
            <p:cNvSpPr txBox="1"/>
            <p:nvPr/>
          </p:nvSpPr>
          <p:spPr>
            <a:xfrm>
              <a:off x="4989787" y="3779580"/>
              <a:ext cx="11035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/>
                <a:t>3</a:t>
              </a:r>
              <a:endParaRPr kumimoji="1" lang="zh-CN" altLang="en-US" sz="2000" b="1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DC15646-CE18-CAD6-2149-BD55568DA4C0}"/>
                </a:ext>
              </a:extLst>
            </p:cNvPr>
            <p:cNvSpPr txBox="1"/>
            <p:nvPr/>
          </p:nvSpPr>
          <p:spPr>
            <a:xfrm>
              <a:off x="4989787" y="4621650"/>
              <a:ext cx="12100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/>
                <a:t>{1, 2, 3}</a:t>
              </a:r>
              <a:endParaRPr kumimoji="1" lang="zh-CN" altLang="en-US" sz="2000" b="1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A3699425-E059-F3E3-9102-B63A508635F1}"/>
              </a:ext>
            </a:extLst>
          </p:cNvPr>
          <p:cNvSpPr txBox="1"/>
          <p:nvPr/>
        </p:nvSpPr>
        <p:spPr>
          <a:xfrm>
            <a:off x="7268387" y="1757185"/>
            <a:ext cx="250457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3A7F93-2350-B18D-0467-819AC85F7ADF}"/>
              </a:ext>
            </a:extLst>
          </p:cNvPr>
          <p:cNvSpPr txBox="1"/>
          <p:nvPr/>
        </p:nvSpPr>
        <p:spPr>
          <a:xfrm>
            <a:off x="7777656" y="2931678"/>
            <a:ext cx="110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(1, 0, 0)</a:t>
            </a:r>
            <a:endParaRPr kumimoji="1" lang="zh-CN" altLang="en-US" sz="20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5DF66C-65B1-8D18-4506-B7FA41D599D3}"/>
              </a:ext>
            </a:extLst>
          </p:cNvPr>
          <p:cNvSpPr txBox="1"/>
          <p:nvPr/>
        </p:nvSpPr>
        <p:spPr>
          <a:xfrm>
            <a:off x="7777656" y="3361086"/>
            <a:ext cx="110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(0, 1, 0)</a:t>
            </a:r>
            <a:endParaRPr kumimoji="1" lang="zh-CN" altLang="en-US" sz="20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75C2FE-97DF-7C9F-C527-E01057B06F3E}"/>
              </a:ext>
            </a:extLst>
          </p:cNvPr>
          <p:cNvSpPr txBox="1"/>
          <p:nvPr/>
        </p:nvSpPr>
        <p:spPr>
          <a:xfrm>
            <a:off x="7777656" y="3786350"/>
            <a:ext cx="110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(0, 0, 1)</a:t>
            </a:r>
            <a:endParaRPr kumimoji="1" lang="zh-CN" altLang="en-US" sz="20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B3CC96-C47F-21E7-DF45-0363365A9451}"/>
              </a:ext>
            </a:extLst>
          </p:cNvPr>
          <p:cNvSpPr txBox="1"/>
          <p:nvPr/>
        </p:nvSpPr>
        <p:spPr>
          <a:xfrm>
            <a:off x="6795924" y="4621650"/>
            <a:ext cx="3414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{(1, 0, 0), (0, 1, 0), (0, 0, 1)}</a:t>
            </a:r>
            <a:endParaRPr kumimoji="1" lang="zh-CN" altLang="en-US" sz="2000" b="1" dirty="0"/>
          </a:p>
        </p:txBody>
      </p:sp>
      <p:pic>
        <p:nvPicPr>
          <p:cNvPr id="27" name="图形 26" descr="十字架徽章 纯色填充">
            <a:extLst>
              <a:ext uri="{FF2B5EF4-FFF2-40B4-BE49-F238E27FC236}">
                <a16:creationId xmlns:a16="http://schemas.microsoft.com/office/drawing/2014/main" id="{E18F235C-EF9E-F428-9A3D-C8C59B8B0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37589" y="5155325"/>
            <a:ext cx="914400" cy="914400"/>
          </a:xfrm>
          <a:prstGeom prst="rect">
            <a:avLst/>
          </a:prstGeom>
        </p:spPr>
      </p:pic>
      <p:pic>
        <p:nvPicPr>
          <p:cNvPr id="29" name="图形 28" descr="徽章勾号 1 纯色填充">
            <a:extLst>
              <a:ext uri="{FF2B5EF4-FFF2-40B4-BE49-F238E27FC236}">
                <a16:creationId xmlns:a16="http://schemas.microsoft.com/office/drawing/2014/main" id="{DBE68B1E-2013-EE4E-3918-7A9B17CFAA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66842" y="5155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6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4E14D-2698-F4F1-8772-BB64BEC3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Linear Model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458B3-F7EE-0AEE-5D12-4A316617B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778" y="3008023"/>
            <a:ext cx="5295900" cy="1193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6DFB5D-6D62-4966-518C-33D08BA41BDB}"/>
                  </a:ext>
                </a:extLst>
              </p:cNvPr>
              <p:cNvSpPr txBox="1"/>
              <p:nvPr/>
            </p:nvSpPr>
            <p:spPr>
              <a:xfrm>
                <a:off x="838202" y="2617788"/>
                <a:ext cx="31294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6DFB5D-6D62-4966-518C-33D08BA4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2" y="2617788"/>
                <a:ext cx="312945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90256D2-BCA6-506B-784D-8EB41AFE74AA}"/>
                  </a:ext>
                </a:extLst>
              </p:cNvPr>
              <p:cNvSpPr txBox="1"/>
              <p:nvPr/>
            </p:nvSpPr>
            <p:spPr>
              <a:xfrm>
                <a:off x="838201" y="3235591"/>
                <a:ext cx="31294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90256D2-BCA6-506B-784D-8EB41AFE7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3235591"/>
                <a:ext cx="31294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ABDB5E5-7059-E7F7-215D-FF64A1D23342}"/>
                  </a:ext>
                </a:extLst>
              </p:cNvPr>
              <p:cNvSpPr txBox="1"/>
              <p:nvPr/>
            </p:nvSpPr>
            <p:spPr>
              <a:xfrm>
                <a:off x="838200" y="3853394"/>
                <a:ext cx="31294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ABDB5E5-7059-E7F7-215D-FF64A1D23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53394"/>
                <a:ext cx="312945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3B7B54A9-4043-0101-0714-E94F8AF68A3F}"/>
              </a:ext>
            </a:extLst>
          </p:cNvPr>
          <p:cNvSpPr txBox="1"/>
          <p:nvPr/>
        </p:nvSpPr>
        <p:spPr>
          <a:xfrm>
            <a:off x="924910" y="4432713"/>
            <a:ext cx="351218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i="0" dirty="0">
                <a:latin typeface="+mj-lt"/>
              </a:rPr>
              <a:t>Conditional</a:t>
            </a:r>
            <a:r>
              <a:rPr kumimoji="1" lang="en-US" altLang="zh-CN" b="0" i="0" dirty="0">
                <a:latin typeface="+mj-lt"/>
              </a:rPr>
              <a:t> probability of each class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53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CCCB-1C4E-D58E-B8A5-6E999A9A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58C8A-5DED-E40A-B6BF-0BA96693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Linear Model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071A3E-932D-A429-2A97-564E51DCD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2" y="2950667"/>
            <a:ext cx="5295900" cy="119380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880DC9-7D71-E36C-BBC7-31F3BA5E0F89}"/>
              </a:ext>
            </a:extLst>
          </p:cNvPr>
          <p:cNvGrpSpPr/>
          <p:nvPr/>
        </p:nvGrpSpPr>
        <p:grpSpPr>
          <a:xfrm>
            <a:off x="4359752" y="5205773"/>
            <a:ext cx="2706959" cy="986569"/>
            <a:chOff x="4798741" y="5519006"/>
            <a:chExt cx="2706959" cy="98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F6B9A69-BD0A-4FEA-734A-DDCC1F29137C}"/>
                    </a:ext>
                  </a:extLst>
                </p:cNvPr>
                <p:cNvSpPr txBox="1"/>
                <p:nvPr/>
              </p:nvSpPr>
              <p:spPr>
                <a:xfrm>
                  <a:off x="4798741" y="5519006"/>
                  <a:ext cx="2518318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1" i="0" smtClean="0">
                            <a:latin typeface="Cambria Math" panose="02040503050406030204" pitchFamily="18" charset="0"/>
                          </a:rPr>
                          <m:t>𝐨</m:t>
                        </m:r>
                        <m: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600" b="1" i="0" smtClean="0">
                            <a:latin typeface="Cambria Math" panose="02040503050406030204" pitchFamily="18" charset="0"/>
                          </a:rPr>
                          <m:t>𝐖𝐱</m:t>
                        </m:r>
                        <m: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b="1" i="0" smtClean="0">
                            <a:latin typeface="Cambria Math" panose="02040503050406030204" pitchFamily="18" charset="0"/>
                          </a:rPr>
                          <m:t>𝐛</m:t>
                        </m:r>
                      </m:oMath>
                    </m:oMathPara>
                  </a14:m>
                  <a:endParaRPr lang="en-US" altLang="zh-CN" sz="36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F6B9A69-BD0A-4FEA-734A-DDCC1F291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8741" y="5519006"/>
                  <a:ext cx="2518318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0F314A4-3EFA-0A15-34A1-D7590DEABBA9}"/>
                </a:ext>
              </a:extLst>
            </p:cNvPr>
            <p:cNvSpPr txBox="1"/>
            <p:nvPr/>
          </p:nvSpPr>
          <p:spPr>
            <a:xfrm>
              <a:off x="5537200" y="6136243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weights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44E5D83-CAA2-DB81-4C66-33D30CD5565C}"/>
                </a:ext>
              </a:extLst>
            </p:cNvPr>
            <p:cNvSpPr txBox="1"/>
            <p:nvPr/>
          </p:nvSpPr>
          <p:spPr>
            <a:xfrm>
              <a:off x="6731000" y="6136243"/>
              <a:ext cx="774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bias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A154318A-8250-7A0B-C1FE-77771122FA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83" r="2599"/>
          <a:stretch/>
        </p:blipFill>
        <p:spPr>
          <a:xfrm>
            <a:off x="5713232" y="2499947"/>
            <a:ext cx="5894568" cy="22098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ECF0BC1-6E7F-053C-05EA-4C726E3C912E}"/>
              </a:ext>
            </a:extLst>
          </p:cNvPr>
          <p:cNvSpPr txBox="1"/>
          <p:nvPr/>
        </p:nvSpPr>
        <p:spPr>
          <a:xfrm>
            <a:off x="838200" y="5298106"/>
            <a:ext cx="250457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full-connected layer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4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43AA1-D3A6-1622-33E4-291F3D80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F701D-EC3F-3086-6422-73F28278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Softmax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79DA26-5735-C1B4-DAD5-3160CE5A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32"/>
          <a:stretch/>
        </p:blipFill>
        <p:spPr>
          <a:xfrm>
            <a:off x="838200" y="2146039"/>
            <a:ext cx="3752461" cy="642931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DBD3E396-A5BA-EC1C-4F3F-7D7EA012C243}"/>
              </a:ext>
            </a:extLst>
          </p:cNvPr>
          <p:cNvSpPr/>
          <p:nvPr/>
        </p:nvSpPr>
        <p:spPr>
          <a:xfrm>
            <a:off x="5091404" y="2248676"/>
            <a:ext cx="852196" cy="437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00D73-7BDD-262F-9A4B-AB8A9019C414}"/>
              </a:ext>
            </a:extLst>
          </p:cNvPr>
          <p:cNvSpPr txBox="1"/>
          <p:nvPr/>
        </p:nvSpPr>
        <p:spPr>
          <a:xfrm>
            <a:off x="6507480" y="2248676"/>
            <a:ext cx="390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Monotonic + Nonnegative</a:t>
            </a:r>
            <a:endParaRPr lang="zh-CN" altLang="en-US" sz="2400" b="1" dirty="0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AFD18246-080D-1C48-A3A7-B260884DF496}"/>
              </a:ext>
            </a:extLst>
          </p:cNvPr>
          <p:cNvSpPr/>
          <p:nvPr/>
        </p:nvSpPr>
        <p:spPr>
          <a:xfrm>
            <a:off x="2485830" y="3244321"/>
            <a:ext cx="457200" cy="77719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14002C-3006-129C-7518-9EA53AC31F38}"/>
              </a:ext>
            </a:extLst>
          </p:cNvPr>
          <p:cNvSpPr txBox="1"/>
          <p:nvPr/>
        </p:nvSpPr>
        <p:spPr>
          <a:xfrm>
            <a:off x="2851590" y="3368040"/>
            <a:ext cx="136989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Normalize</a:t>
            </a:r>
            <a:endParaRPr lang="zh-CN" altLang="en-US" b="1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F1526A1-2B89-1337-81EC-C3BC4AFF1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5" y="4476863"/>
            <a:ext cx="6162675" cy="962025"/>
          </a:xfrm>
          <a:prstGeom prst="rect">
            <a:avLst/>
          </a:prstGeom>
        </p:spPr>
      </p:pic>
      <p:sp>
        <p:nvSpPr>
          <p:cNvPr id="21" name="箭头: 右 20">
            <a:extLst>
              <a:ext uri="{FF2B5EF4-FFF2-40B4-BE49-F238E27FC236}">
                <a16:creationId xmlns:a16="http://schemas.microsoft.com/office/drawing/2014/main" id="{B94F5C23-B815-227B-BFDF-E0692FFD8F8D}"/>
              </a:ext>
            </a:extLst>
          </p:cNvPr>
          <p:cNvSpPr/>
          <p:nvPr/>
        </p:nvSpPr>
        <p:spPr>
          <a:xfrm>
            <a:off x="6996404" y="4739047"/>
            <a:ext cx="852196" cy="437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582C56-2F6B-C38A-7C52-5D23380898F9}"/>
              </a:ext>
            </a:extLst>
          </p:cNvPr>
          <p:cNvSpPr txBox="1"/>
          <p:nvPr/>
        </p:nvSpPr>
        <p:spPr>
          <a:xfrm>
            <a:off x="8092440" y="4739047"/>
            <a:ext cx="2118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Sum to 1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3044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ACBAD-3E23-4241-262D-D38B02AD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A52DD-4AF6-6432-CBC4-C09FB6A6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Softmax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B95C3F-C363-E36E-7337-4A3980914E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32"/>
          <a:stretch/>
        </p:blipFill>
        <p:spPr>
          <a:xfrm>
            <a:off x="838200" y="2146039"/>
            <a:ext cx="3752461" cy="642931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37451F66-7741-0AF1-7830-BEDEA4BC5BB6}"/>
              </a:ext>
            </a:extLst>
          </p:cNvPr>
          <p:cNvSpPr/>
          <p:nvPr/>
        </p:nvSpPr>
        <p:spPr>
          <a:xfrm>
            <a:off x="5091404" y="2248676"/>
            <a:ext cx="852196" cy="437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C3BD78-8F0F-5592-6740-4FE798319387}"/>
              </a:ext>
            </a:extLst>
          </p:cNvPr>
          <p:cNvSpPr txBox="1"/>
          <p:nvPr/>
        </p:nvSpPr>
        <p:spPr>
          <a:xfrm>
            <a:off x="6507480" y="2248676"/>
            <a:ext cx="390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Monotonic + Nonnegative</a:t>
            </a:r>
            <a:endParaRPr lang="zh-CN" altLang="en-US" sz="2400" b="1" dirty="0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71F3D904-D849-2778-13F0-AFBB0709BEC7}"/>
              </a:ext>
            </a:extLst>
          </p:cNvPr>
          <p:cNvSpPr/>
          <p:nvPr/>
        </p:nvSpPr>
        <p:spPr>
          <a:xfrm>
            <a:off x="2485830" y="3244321"/>
            <a:ext cx="457200" cy="77719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63F95E-D66D-25E4-7E0D-317799EDD29C}"/>
              </a:ext>
            </a:extLst>
          </p:cNvPr>
          <p:cNvSpPr txBox="1"/>
          <p:nvPr/>
        </p:nvSpPr>
        <p:spPr>
          <a:xfrm>
            <a:off x="2851590" y="3368040"/>
            <a:ext cx="136989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Normalize</a:t>
            </a:r>
            <a:endParaRPr lang="zh-CN" altLang="en-US" b="1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42ECEDB-EF60-CD57-7EB6-BD97079E9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5" y="4476863"/>
            <a:ext cx="6162675" cy="962025"/>
          </a:xfrm>
          <a:prstGeom prst="rect">
            <a:avLst/>
          </a:prstGeom>
        </p:spPr>
      </p:pic>
      <p:sp>
        <p:nvSpPr>
          <p:cNvPr id="21" name="箭头: 右 20">
            <a:extLst>
              <a:ext uri="{FF2B5EF4-FFF2-40B4-BE49-F238E27FC236}">
                <a16:creationId xmlns:a16="http://schemas.microsoft.com/office/drawing/2014/main" id="{BBB3CE25-230E-6071-FDA9-2D61869FB998}"/>
              </a:ext>
            </a:extLst>
          </p:cNvPr>
          <p:cNvSpPr/>
          <p:nvPr/>
        </p:nvSpPr>
        <p:spPr>
          <a:xfrm>
            <a:off x="6996404" y="4739047"/>
            <a:ext cx="852196" cy="437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1D0323-5A4C-0D87-6990-602F9187C3FA}"/>
              </a:ext>
            </a:extLst>
          </p:cNvPr>
          <p:cNvSpPr txBox="1"/>
          <p:nvPr/>
        </p:nvSpPr>
        <p:spPr>
          <a:xfrm>
            <a:off x="8092440" y="4739047"/>
            <a:ext cx="2118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Sum to 1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2428E5-9304-3414-D017-FD6CA92A3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277" y="5812043"/>
            <a:ext cx="34766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2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CB40-7C74-4979-8636-83D2A478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5836E-904A-9F65-B837-9D31CC4B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History of </a:t>
            </a:r>
            <a:r>
              <a:rPr kumimoji="1" lang="en-US" altLang="zh-CN" dirty="0" err="1"/>
              <a:t>Softmax</a:t>
            </a:r>
            <a:endParaRPr kumimoji="1" lang="zh-CN" altLang="en-US" dirty="0"/>
          </a:p>
        </p:txBody>
      </p:sp>
      <p:pic>
        <p:nvPicPr>
          <p:cNvPr id="2050" name="Picture 2" descr="Ludwig Boltzmann - Wikipedia">
            <a:extLst>
              <a:ext uri="{FF2B5EF4-FFF2-40B4-BE49-F238E27FC236}">
                <a16:creationId xmlns:a16="http://schemas.microsoft.com/office/drawing/2014/main" id="{7971E4D6-002E-0956-5D75-DE4414FB8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943" y="1853293"/>
            <a:ext cx="2573655" cy="315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5067FCE-A79D-71FD-2C2C-85BD804E2FE3}"/>
              </a:ext>
            </a:extLst>
          </p:cNvPr>
          <p:cNvSpPr txBox="1"/>
          <p:nvPr/>
        </p:nvSpPr>
        <p:spPr>
          <a:xfrm>
            <a:off x="6991739" y="5202672"/>
            <a:ext cx="4362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i="0" dirty="0">
                <a:effectLst/>
                <a:latin typeface="Roboto" panose="02000000000000000000" pitchFamily="2" charset="0"/>
              </a:rPr>
              <a:t>Boltzmann</a:t>
            </a:r>
            <a:endParaRPr lang="en-US" altLang="zh-CN" b="1" i="0" dirty="0"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zh-CN" b="0" i="0" dirty="0">
                <a:effectLst/>
                <a:latin typeface="Roboto" panose="02000000000000000000" pitchFamily="2" charset="0"/>
              </a:rPr>
              <a:t>father of modern statistical physics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B9C2081-79C5-0A89-234D-24A190DD2045}"/>
                  </a:ext>
                </a:extLst>
              </p:cNvPr>
              <p:cNvSpPr txBox="1"/>
              <p:nvPr/>
            </p:nvSpPr>
            <p:spPr>
              <a:xfrm>
                <a:off x="560187" y="2492637"/>
                <a:ext cx="7090293" cy="2583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</a:p>
              <a:p>
                <a:r>
                  <a:rPr lang="en-US" altLang="zh-CN" sz="3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prevalence of a state of energy is proportional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60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sz="3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60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num>
                              <m:den>
                                <m:r>
                                  <a:rPr lang="en-US" altLang="zh-CN" sz="3600" i="1" dirty="0" err="1" smtClean="0">
                                    <a:latin typeface="Cambria Math" panose="02040503050406030204" pitchFamily="18" charset="0"/>
                                  </a:rPr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36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600" i="0" dirty="0">
                  <a:latin typeface="Roboto" panose="02000000000000000000" pitchFamily="2" charset="0"/>
                </a:endParaRPr>
              </a:p>
              <a:p>
                <a:r>
                  <a:rPr lang="en-US" altLang="zh-C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B9C2081-79C5-0A89-234D-24A190DD2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87" y="2492637"/>
                <a:ext cx="7090293" cy="2583464"/>
              </a:xfrm>
              <a:prstGeom prst="rect">
                <a:avLst/>
              </a:prstGeom>
              <a:blipFill>
                <a:blip r:embed="rId4"/>
                <a:stretch>
                  <a:fillRect l="-2666" t="-4009" r="-1032" b="-7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A85EF13E-FEEA-2217-8CD5-0E4EE02F7748}"/>
              </a:ext>
            </a:extLst>
          </p:cNvPr>
          <p:cNvSpPr txBox="1"/>
          <p:nvPr/>
        </p:nvSpPr>
        <p:spPr>
          <a:xfrm>
            <a:off x="228600" y="6432049"/>
            <a:ext cx="781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effectLst/>
                <a:latin typeface="Roboto" panose="02000000000000000000" pitchFamily="2" charset="0"/>
              </a:rPr>
              <a:t>Gibbs, J. W. (1902). </a:t>
            </a:r>
            <a:r>
              <a:rPr lang="en-US" altLang="zh-CN" b="0" i="1" dirty="0">
                <a:effectLst/>
                <a:latin typeface="Roboto" panose="02000000000000000000" pitchFamily="2" charset="0"/>
              </a:rPr>
              <a:t>Elementary Principles of Statistical </a:t>
            </a:r>
            <a:r>
              <a:rPr lang="en-US" altLang="zh-CN" b="0" i="1" dirty="0" err="1">
                <a:effectLst/>
                <a:latin typeface="Roboto" panose="02000000000000000000" pitchFamily="2" charset="0"/>
              </a:rPr>
              <a:t>Mhanics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. Scribner's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9859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4C09-4C25-C884-409B-8D5BA055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02982-C04B-16A0-1A17-0DC9095C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Vectorization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B6C608-5237-B51A-2EA2-17F9FE1A7E3F}"/>
                  </a:ext>
                </a:extLst>
              </p:cNvPr>
              <p:cNvSpPr txBox="1"/>
              <p:nvPr/>
            </p:nvSpPr>
            <p:spPr>
              <a:xfrm>
                <a:off x="1996440" y="2262723"/>
                <a:ext cx="3718560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For x in batch:</a:t>
                </a:r>
              </a:p>
              <a:p>
                <a:r>
                  <a:rPr lang="en-US" altLang="zh-CN" sz="24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 err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dirty="0" err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sz="2400" dirty="0"/>
                  <a:t>;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B6C608-5237-B51A-2EA2-17F9FE1A7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440" y="2262723"/>
                <a:ext cx="3718560" cy="830997"/>
              </a:xfrm>
              <a:prstGeom prst="rect">
                <a:avLst/>
              </a:prstGeom>
              <a:blipFill>
                <a:blip r:embed="rId3"/>
                <a:stretch>
                  <a:fillRect l="-2451" t="-4317" b="-151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右 4">
            <a:extLst>
              <a:ext uri="{FF2B5EF4-FFF2-40B4-BE49-F238E27FC236}">
                <a16:creationId xmlns:a16="http://schemas.microsoft.com/office/drawing/2014/main" id="{2319B050-7F1E-9F0A-A390-8FFD9D9FFF81}"/>
              </a:ext>
            </a:extLst>
          </p:cNvPr>
          <p:cNvSpPr/>
          <p:nvPr/>
        </p:nvSpPr>
        <p:spPr>
          <a:xfrm>
            <a:off x="6035040" y="2515493"/>
            <a:ext cx="102108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714C11-48EE-803D-89EA-4944FAACDBBF}"/>
              </a:ext>
            </a:extLst>
          </p:cNvPr>
          <p:cNvSpPr txBox="1"/>
          <p:nvPr/>
        </p:nvSpPr>
        <p:spPr>
          <a:xfrm>
            <a:off x="7452362" y="2479953"/>
            <a:ext cx="192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slow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1F34731-D131-1F59-01B4-D297302CEA17}"/>
                  </a:ext>
                </a:extLst>
              </p:cNvPr>
              <p:cNvSpPr txBox="1"/>
              <p:nvPr/>
            </p:nvSpPr>
            <p:spPr>
              <a:xfrm>
                <a:off x="838200" y="3764280"/>
                <a:ext cx="10515600" cy="2152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Given a minibatch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zh-CN" sz="2800" b="0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b="0" dirty="0">
                    <a:ea typeface="Cambria Math" panose="02040503050406030204" pitchFamily="18" charset="0"/>
                  </a:rPr>
                  <a:t> examples with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800" b="0" dirty="0">
                    <a:ea typeface="Cambria Math" panose="02040503050406030204" pitchFamily="18" charset="0"/>
                  </a:rPr>
                  <a:t> dimensions),</a:t>
                </a:r>
              </a:p>
              <a:p>
                <a:r>
                  <a:rPr lang="en-US" altLang="zh-CN" sz="2800" dirty="0">
                    <a:ea typeface="Cambria Math" panose="020405030504060302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800" b="0" dirty="0">
                    <a:ea typeface="Cambria Math" panose="02040503050406030204" pitchFamily="18" charset="0"/>
                  </a:rPr>
                  <a:t> labels,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𝑿𝑾</m:t>
                      </m:r>
                      <m:r>
                        <a:rPr lang="en-US" altLang="zh-CN" sz="28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zh-CN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1F34731-D131-1F59-01B4-D297302CE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64280"/>
                <a:ext cx="10515600" cy="2152641"/>
              </a:xfrm>
              <a:prstGeom prst="rect">
                <a:avLst/>
              </a:prstGeom>
              <a:blipFill>
                <a:blip r:embed="rId4"/>
                <a:stretch>
                  <a:fillRect l="-1217" t="-2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DE410354-9AC2-0AF3-BAFB-A6214BA93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305" y="99218"/>
            <a:ext cx="61531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7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CA1E-7C2E-9420-1208-B5FF6673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5F100-EABF-A288-F42C-323EAA6E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Loss function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D402DC-54C6-CAE9-9287-FDFE4DAD7CE7}"/>
                  </a:ext>
                </a:extLst>
              </p:cNvPr>
              <p:cNvSpPr txBox="1"/>
              <p:nvPr/>
            </p:nvSpPr>
            <p:spPr>
              <a:xfrm>
                <a:off x="1543313" y="1950719"/>
                <a:ext cx="18013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3200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b="1" i="1" dirty="0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D402DC-54C6-CAE9-9287-FDFE4DAD7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13" y="1950719"/>
                <a:ext cx="180132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右 5">
            <a:extLst>
              <a:ext uri="{FF2B5EF4-FFF2-40B4-BE49-F238E27FC236}">
                <a16:creationId xmlns:a16="http://schemas.microsoft.com/office/drawing/2014/main" id="{6FDD1662-5E7A-A6ED-0B90-4272FCF3AF17}"/>
              </a:ext>
            </a:extLst>
          </p:cNvPr>
          <p:cNvSpPr/>
          <p:nvPr/>
        </p:nvSpPr>
        <p:spPr>
          <a:xfrm>
            <a:off x="3847567" y="2073829"/>
            <a:ext cx="1341120" cy="246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2DA3D0-EE74-ECD5-59AC-5406E9E67D8A}"/>
              </a:ext>
            </a:extLst>
          </p:cNvPr>
          <p:cNvSpPr txBox="1"/>
          <p:nvPr/>
        </p:nvSpPr>
        <p:spPr>
          <a:xfrm>
            <a:off x="5691614" y="1949826"/>
            <a:ext cx="495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How to optimize the parameters?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4848FE1-62B4-33F8-7F18-134436E5BF64}"/>
                  </a:ext>
                </a:extLst>
              </p:cNvPr>
              <p:cNvSpPr txBox="1"/>
              <p:nvPr/>
            </p:nvSpPr>
            <p:spPr>
              <a:xfrm>
                <a:off x="4746371" y="2848128"/>
                <a:ext cx="29477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𝑐𝑎𝑡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4848FE1-62B4-33F8-7F18-134436E5B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71" y="2848128"/>
                <a:ext cx="29477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E72279C6-B2B5-0170-F077-EE737A31ED15}"/>
              </a:ext>
            </a:extLst>
          </p:cNvPr>
          <p:cNvSpPr txBox="1"/>
          <p:nvPr/>
        </p:nvSpPr>
        <p:spPr>
          <a:xfrm>
            <a:off x="1543313" y="2857358"/>
            <a:ext cx="3096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probability: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DA711A0-E740-B487-2E22-A1EB5A944EA7}"/>
                  </a:ext>
                </a:extLst>
              </p:cNvPr>
              <p:cNvSpPr txBox="1"/>
              <p:nvPr/>
            </p:nvSpPr>
            <p:spPr>
              <a:xfrm>
                <a:off x="1052770" y="3969390"/>
                <a:ext cx="9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For a dataset with features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400" dirty="0"/>
                  <a:t> and labels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2400" dirty="0"/>
                  <a:t>, the likelihood is: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DA711A0-E740-B487-2E22-A1EB5A944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70" y="3969390"/>
                <a:ext cx="9051350" cy="461665"/>
              </a:xfrm>
              <a:prstGeom prst="rect">
                <a:avLst/>
              </a:prstGeom>
              <a:blipFill>
                <a:blip r:embed="rId5"/>
                <a:stretch>
                  <a:fillRect l="-107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3751AA64-3AF3-688E-DD61-673F38FD9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6712" y="4690193"/>
            <a:ext cx="41243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31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EF1C-02AF-BDE6-7FA2-52E9952D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40F3F-DA33-0193-1395-F343AD96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Loss function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28B1EC-933A-C775-8D41-7F3DE65ED9B6}"/>
                  </a:ext>
                </a:extLst>
              </p:cNvPr>
              <p:cNvSpPr txBox="1"/>
              <p:nvPr/>
            </p:nvSpPr>
            <p:spPr>
              <a:xfrm>
                <a:off x="1543313" y="1950719"/>
                <a:ext cx="18013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3200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b="1" i="1" dirty="0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28B1EC-933A-C775-8D41-7F3DE65ED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13" y="1950719"/>
                <a:ext cx="180132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右 5">
            <a:extLst>
              <a:ext uri="{FF2B5EF4-FFF2-40B4-BE49-F238E27FC236}">
                <a16:creationId xmlns:a16="http://schemas.microsoft.com/office/drawing/2014/main" id="{23D460D0-D2A1-561E-3754-7B1F918BF097}"/>
              </a:ext>
            </a:extLst>
          </p:cNvPr>
          <p:cNvSpPr/>
          <p:nvPr/>
        </p:nvSpPr>
        <p:spPr>
          <a:xfrm>
            <a:off x="3847567" y="2073829"/>
            <a:ext cx="1341120" cy="246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75BA96-B884-E7AA-C017-533E154D3E59}"/>
              </a:ext>
            </a:extLst>
          </p:cNvPr>
          <p:cNvSpPr txBox="1"/>
          <p:nvPr/>
        </p:nvSpPr>
        <p:spPr>
          <a:xfrm>
            <a:off x="5691614" y="1949826"/>
            <a:ext cx="495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How to optimize the parameters?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01495D-2943-E992-211E-6BFB588E2AB0}"/>
                  </a:ext>
                </a:extLst>
              </p:cNvPr>
              <p:cNvSpPr txBox="1"/>
              <p:nvPr/>
            </p:nvSpPr>
            <p:spPr>
              <a:xfrm>
                <a:off x="4746371" y="2848128"/>
                <a:ext cx="29477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𝑐𝑎𝑡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601495D-2943-E992-211E-6BFB588E2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71" y="2848128"/>
                <a:ext cx="29477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57059A4E-5002-54B8-7829-09094762DF8F}"/>
              </a:ext>
            </a:extLst>
          </p:cNvPr>
          <p:cNvSpPr txBox="1"/>
          <p:nvPr/>
        </p:nvSpPr>
        <p:spPr>
          <a:xfrm>
            <a:off x="1543313" y="2857358"/>
            <a:ext cx="3096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probability: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2867EFF-00A6-ECA1-D7FF-A1AF47BE84B3}"/>
                  </a:ext>
                </a:extLst>
              </p:cNvPr>
              <p:cNvSpPr txBox="1"/>
              <p:nvPr/>
            </p:nvSpPr>
            <p:spPr>
              <a:xfrm>
                <a:off x="1052770" y="3969390"/>
                <a:ext cx="9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For a dataset with features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400" dirty="0"/>
                  <a:t> and labels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2400" dirty="0"/>
                  <a:t>, the likelihood is: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2867EFF-00A6-ECA1-D7FF-A1AF47BE8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70" y="3969390"/>
                <a:ext cx="9051350" cy="461665"/>
              </a:xfrm>
              <a:prstGeom prst="rect">
                <a:avLst/>
              </a:prstGeom>
              <a:blipFill>
                <a:blip r:embed="rId5"/>
                <a:stretch>
                  <a:fillRect l="-107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3973A701-CF2A-6573-4434-229835BC0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6712" y="4690193"/>
            <a:ext cx="41243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165D0-A915-17A8-29C2-BB5977A5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1E921-C36E-FA4A-C2DB-BF4D5133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Loss function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013A652-5771-E275-68F1-21D98CBDA182}"/>
                  </a:ext>
                </a:extLst>
              </p:cNvPr>
              <p:cNvSpPr txBox="1"/>
              <p:nvPr/>
            </p:nvSpPr>
            <p:spPr>
              <a:xfrm>
                <a:off x="838200" y="1708072"/>
                <a:ext cx="9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For a dataset with features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400" dirty="0"/>
                  <a:t> and labels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2400" dirty="0"/>
                  <a:t>, the likelihood is: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013A652-5771-E275-68F1-21D98CBDA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08072"/>
                <a:ext cx="9051350" cy="461665"/>
              </a:xfrm>
              <a:prstGeom prst="rect">
                <a:avLst/>
              </a:prstGeom>
              <a:blipFill>
                <a:blip r:embed="rId3"/>
                <a:stretch>
                  <a:fillRect l="-1078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E3002BB7-79A2-E041-5C02-9856B629E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142" y="2428875"/>
            <a:ext cx="4124325" cy="10001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30A3A7C-7870-195E-8A5E-B80E6E1CC543}"/>
              </a:ext>
            </a:extLst>
          </p:cNvPr>
          <p:cNvSpPr txBox="1"/>
          <p:nvPr/>
        </p:nvSpPr>
        <p:spPr>
          <a:xfrm>
            <a:off x="838200" y="3596640"/>
            <a:ext cx="1010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We take the negative logarithm to minimize the negative log-likelihood: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19962D-C9BF-B8F9-F250-51DF26D52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7372" y="4075689"/>
            <a:ext cx="8105775" cy="1085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BE85E4-B4CD-064E-793F-8BFDF20FA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8841" y="5334952"/>
            <a:ext cx="3590925" cy="1143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98BA718-F894-A92E-E5D5-A849A7C5EA24}"/>
              </a:ext>
            </a:extLst>
          </p:cNvPr>
          <p:cNvSpPr txBox="1"/>
          <p:nvPr/>
        </p:nvSpPr>
        <p:spPr>
          <a:xfrm>
            <a:off x="8637263" y="5779591"/>
            <a:ext cx="250457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 loss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45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52146-007F-3EA3-B14B-BC8D7F6B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CA4FB-4F3F-D65A-FCB7-BCAFEA73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Softmax</a:t>
            </a:r>
            <a:r>
              <a:rPr kumimoji="1" lang="en-US" altLang="zh-CN" dirty="0"/>
              <a:t> and CE loss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6462FA-B4DA-70F8-7ABB-9F8EF6270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" y="1809863"/>
            <a:ext cx="6162675" cy="9620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C53933-92E6-F741-732B-AA1B447C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75" y="1809863"/>
            <a:ext cx="3590925" cy="1143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8C8CFD-D35E-AB50-5712-90CA1712F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3197225"/>
            <a:ext cx="63055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9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4EB4F-7593-FA7C-823B-C0018497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F8EB9-E3EC-F409-FAC5-D9FBB85C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Softmax</a:t>
            </a:r>
            <a:r>
              <a:rPr kumimoji="1" lang="en-US" altLang="zh-CN" dirty="0"/>
              <a:t> and CE loss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0A129D-FCEE-F7F2-3036-D3F689428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" y="1781175"/>
            <a:ext cx="6305550" cy="3295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D37696-E83F-C374-C0C0-FDA1CEF8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67312"/>
            <a:ext cx="7419975" cy="11906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C20796D-B62C-598C-D195-9D1E81AD97DE}"/>
              </a:ext>
            </a:extLst>
          </p:cNvPr>
          <p:cNvSpPr txBox="1"/>
          <p:nvPr/>
        </p:nvSpPr>
        <p:spPr>
          <a:xfrm>
            <a:off x="8863459" y="5610224"/>
            <a:ext cx="319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How about MSE?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93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9DFD-27E5-18D1-FB6C-BF73767F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97B417-E734-CEB5-333F-95718D4D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Entropy, CE loss and KL divergence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EBBFE6-26AB-E202-A9C8-DA764783C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118" y="2089020"/>
            <a:ext cx="5209903" cy="12273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7884C6-EC94-7A4D-230C-9C5F2F722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141" y="3538866"/>
            <a:ext cx="6307859" cy="9334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14F2F0-5B1D-E30D-14A1-13AE149AD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141" y="4942020"/>
            <a:ext cx="6307859" cy="10716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F396608-5ECA-DA3F-59B6-695C085C6BC8}"/>
              </a:ext>
            </a:extLst>
          </p:cNvPr>
          <p:cNvSpPr txBox="1"/>
          <p:nvPr/>
        </p:nvSpPr>
        <p:spPr>
          <a:xfrm>
            <a:off x="1130963" y="2273602"/>
            <a:ext cx="1849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Entropy:</a:t>
            </a:r>
            <a:endParaRPr lang="zh-CN" altLang="en-US" sz="28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AA3BA3-56EB-4D33-F945-C15163A76CFA}"/>
              </a:ext>
            </a:extLst>
          </p:cNvPr>
          <p:cNvSpPr txBox="1"/>
          <p:nvPr/>
        </p:nvSpPr>
        <p:spPr>
          <a:xfrm>
            <a:off x="469201" y="3743981"/>
            <a:ext cx="2540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Cross-entropy:</a:t>
            </a:r>
            <a:endParaRPr lang="zh-CN" altLang="en-US" sz="28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E81C6B-111B-ED1D-7D3F-0B8D87923672}"/>
              </a:ext>
            </a:extLst>
          </p:cNvPr>
          <p:cNvSpPr txBox="1"/>
          <p:nvPr/>
        </p:nvSpPr>
        <p:spPr>
          <a:xfrm>
            <a:off x="648916" y="5157865"/>
            <a:ext cx="2804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KL divergence:</a:t>
            </a:r>
            <a:endParaRPr lang="zh-CN" altLang="en-US" sz="28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AF8AE7-03EE-01B9-75C9-BA9597A1318D}"/>
              </a:ext>
            </a:extLst>
          </p:cNvPr>
          <p:cNvSpPr txBox="1"/>
          <p:nvPr/>
        </p:nvSpPr>
        <p:spPr>
          <a:xfrm>
            <a:off x="1130963" y="6105024"/>
            <a:ext cx="93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What’s the relationship between KL divergence and CE loss?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644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7A9C-53CC-A2BE-9033-9F23A9E0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053FEB8-9A18-FBB8-7D0D-F3617131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35E462-158A-2B43-8555-A157072C6E98}"/>
              </a:ext>
            </a:extLst>
          </p:cNvPr>
          <p:cNvSpPr txBox="1"/>
          <p:nvPr/>
        </p:nvSpPr>
        <p:spPr>
          <a:xfrm>
            <a:off x="1021080" y="2117408"/>
            <a:ext cx="6537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/>
              <a:t>Linear models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 err="1"/>
              <a:t>Softmax</a:t>
            </a:r>
            <a:endParaRPr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/>
              <a:t>Cross-entropy loss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8282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1585</Words>
  <Application>Microsoft Macintosh PowerPoint</Application>
  <PresentationFormat>宽屏</PresentationFormat>
  <Paragraphs>217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等线 Light</vt:lpstr>
      <vt:lpstr>NimbusRomNo9L-Regu</vt:lpstr>
      <vt:lpstr>Arial</vt:lpstr>
      <vt:lpstr>Cambria Math</vt:lpstr>
      <vt:lpstr>Roboto</vt:lpstr>
      <vt:lpstr>Times New Roman</vt:lpstr>
      <vt:lpstr>Office 主题​​</vt:lpstr>
      <vt:lpstr>STA326: Data Science Practice</vt:lpstr>
      <vt:lpstr>Linear Classification</vt:lpstr>
      <vt:lpstr>Recall: Linear regression</vt:lpstr>
      <vt:lpstr>Examples of classification</vt:lpstr>
      <vt:lpstr>Image classification</vt:lpstr>
      <vt:lpstr>Linear Model</vt:lpstr>
      <vt:lpstr>Linear Model</vt:lpstr>
      <vt:lpstr>Softmax</vt:lpstr>
      <vt:lpstr>Softmax</vt:lpstr>
      <vt:lpstr>History of Softmax</vt:lpstr>
      <vt:lpstr>Vectorization</vt:lpstr>
      <vt:lpstr>Loss function</vt:lpstr>
      <vt:lpstr>Loss function</vt:lpstr>
      <vt:lpstr>Loss function</vt:lpstr>
      <vt:lpstr>Softmax and CE loss</vt:lpstr>
      <vt:lpstr>Softmax and CE loss</vt:lpstr>
      <vt:lpstr>Entropy, CE loss and KL divergence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鸿鑫 魏</dc:creator>
  <cp:lastModifiedBy>鸿鑫 魏</cp:lastModifiedBy>
  <cp:revision>426</cp:revision>
  <dcterms:created xsi:type="dcterms:W3CDTF">2025-02-14T06:47:06Z</dcterms:created>
  <dcterms:modified xsi:type="dcterms:W3CDTF">2026-03-04T05:32:47Z</dcterms:modified>
</cp:coreProperties>
</file>