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3" r:id="rId3"/>
    <p:sldId id="265" r:id="rId4"/>
    <p:sldId id="266" r:id="rId5"/>
    <p:sldId id="267" r:id="rId6"/>
    <p:sldId id="268" r:id="rId7"/>
    <p:sldId id="269" r:id="rId8"/>
    <p:sldId id="270" r:id="rId9"/>
    <p:sldId id="271" r:id="rId10"/>
    <p:sldId id="272" r:id="rId11"/>
    <p:sldId id="273" r:id="rId12"/>
    <p:sldId id="274" r:id="rId13"/>
    <p:sldId id="275" r:id="rId14"/>
    <p:sldId id="276" r:id="rId15"/>
    <p:sldId id="280" r:id="rId16"/>
    <p:sldId id="278" r:id="rId17"/>
    <p:sldId id="277" r:id="rId18"/>
    <p:sldId id="27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767" autoAdjust="0"/>
  </p:normalViewPr>
  <p:slideViewPr>
    <p:cSldViewPr snapToGrid="0">
      <p:cViewPr varScale="1">
        <p:scale>
          <a:sx n="99" d="100"/>
          <a:sy n="99" d="100"/>
        </p:scale>
        <p:origin x="16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616EE-64A5-4D2E-9F89-627F86D510AB}" type="datetimeFigureOut">
              <a:rPr lang="zh-CN" altLang="en-US" smtClean="0"/>
              <a:t>2026/2/25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63CEB2-05F9-47E5-B01A-38C44ADA4304}" type="slidenum">
              <a:rPr lang="zh-CN" altLang="en-US" smtClean="0"/>
              <a:t>‹#›</a:t>
            </a:fld>
            <a:endParaRPr lang="zh-CN" altLang="en-US"/>
          </a:p>
        </p:txBody>
      </p:sp>
    </p:spTree>
    <p:extLst>
      <p:ext uri="{BB962C8B-B14F-4D97-AF65-F5344CB8AC3E}">
        <p14:creationId xmlns:p14="http://schemas.microsoft.com/office/powerpoint/2010/main" val="3877669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黑色素瘤是最危险的皮肤癌但如果检测早的话是可以治愈的，图中第一行是恶意肿瘤，第二行是良性痣</a:t>
            </a:r>
            <a:endParaRPr lang="en-US" altLang="zh-CN" dirty="0"/>
          </a:p>
          <a:p>
            <a:r>
              <a:rPr lang="zh-CN" altLang="en-US" dirty="0"/>
              <a:t>视觉上区分这两类图片显然很有挑战性，没有经过训练几乎无法区分，</a:t>
            </a:r>
            <a:r>
              <a:rPr lang="zh-CN" altLang="zh-CN" dirty="0"/>
              <a:t>并且几乎不可能手动编写可以成功分类的算法。</a:t>
            </a:r>
            <a:endParaRPr lang="en-US" altLang="zh-CN" dirty="0"/>
          </a:p>
          <a:p>
            <a:endParaRPr lang="en-US" altLang="zh-CN" dirty="0"/>
          </a:p>
          <a:p>
            <a:r>
              <a:rPr lang="en-US" altLang="zh-CN" dirty="0"/>
              <a:t>Biopsy, </a:t>
            </a:r>
            <a:r>
              <a:rPr lang="zh-CN" altLang="en-US" dirty="0"/>
              <a:t>活检化验</a:t>
            </a:r>
            <a:endParaRPr lang="en-US" altLang="zh-CN" dirty="0"/>
          </a:p>
          <a:p>
            <a:endParaRPr lang="en-US" altLang="zh-CN" dirty="0"/>
          </a:p>
          <a:p>
            <a:r>
              <a:rPr lang="zh-CN" altLang="en-US" dirty="0"/>
              <a:t>通过这个训练集来决定</a:t>
            </a:r>
            <a:r>
              <a:rPr lang="en-US" altLang="zh-CN" dirty="0"/>
              <a:t>2500</a:t>
            </a:r>
            <a:r>
              <a:rPr lang="zh-CN" altLang="en-US" dirty="0"/>
              <a:t>万可调参数的值，我们叫做权重 </a:t>
            </a:r>
            <a:r>
              <a:rPr lang="en-US" altLang="zh-CN" dirty="0"/>
              <a:t>weight</a:t>
            </a:r>
            <a:r>
              <a:rPr lang="zh-CN" altLang="en-US" dirty="0"/>
              <a:t>，这个设置参数值的过程我们叫做</a:t>
            </a:r>
            <a:r>
              <a:rPr lang="en-US" altLang="zh-CN" dirty="0"/>
              <a:t>learning </a:t>
            </a:r>
            <a:r>
              <a:rPr lang="zh-CN" altLang="en-US" dirty="0"/>
              <a:t>或者</a:t>
            </a:r>
            <a:r>
              <a:rPr lang="en-US" altLang="zh-CN" dirty="0"/>
              <a:t>training</a:t>
            </a:r>
          </a:p>
          <a:p>
            <a:endParaRPr lang="en-US" altLang="zh-CN" dirty="0"/>
          </a:p>
          <a:p>
            <a:r>
              <a:rPr lang="zh-CN" altLang="zh-CN" dirty="0"/>
              <a:t>目标 是让经过训练的网络仅根据图像，无需耗时的活检</a:t>
            </a:r>
            <a:r>
              <a:rPr lang="zh-CN" altLang="en-US" dirty="0"/>
              <a:t>化验就能决定是否有害</a:t>
            </a:r>
            <a:endParaRPr lang="en-US" altLang="zh-CN" dirty="0"/>
          </a:p>
          <a:p>
            <a:endParaRPr lang="en-US" altLang="zh-CN" dirty="0"/>
          </a:p>
          <a:p>
            <a:r>
              <a:rPr lang="zh-CN" altLang="en-US" dirty="0"/>
              <a:t>这是一个典型的监督学习问题，（每个样本都有正确的标签）</a:t>
            </a:r>
            <a:endParaRPr lang="en-US" altLang="zh-CN" dirty="0"/>
          </a:p>
          <a:p>
            <a:endParaRPr lang="en-US" altLang="zh-CN" dirty="0"/>
          </a:p>
          <a:p>
            <a:r>
              <a:rPr lang="zh-CN" altLang="en-US" dirty="0"/>
              <a:t>这是一个分类问题 （每个输入都会被分配一个离散值）</a:t>
            </a:r>
            <a:endParaRPr lang="en-US" altLang="zh-CN" dirty="0"/>
          </a:p>
          <a:p>
            <a:endParaRPr lang="en-US" altLang="zh-CN" dirty="0"/>
          </a:p>
          <a:p>
            <a:r>
              <a:rPr lang="zh-CN" altLang="en-US" dirty="0"/>
              <a:t>如果输出是连续值，那就是回归问题</a:t>
            </a:r>
            <a:endParaRPr lang="en-US" altLang="zh-CN" dirty="0"/>
          </a:p>
          <a:p>
            <a:endParaRPr lang="en-US" altLang="zh-CN" dirty="0"/>
          </a:p>
          <a:p>
            <a:r>
              <a:rPr lang="zh-CN" altLang="en-US" dirty="0"/>
              <a:t>首先在一个</a:t>
            </a:r>
            <a:r>
              <a:rPr lang="en-US" altLang="zh-CN" dirty="0"/>
              <a:t>128</a:t>
            </a:r>
            <a:r>
              <a:rPr lang="zh-CN" altLang="en-US" dirty="0"/>
              <a:t>万张自然图像上训练，然后在病变图像上微调，，我们叫做迁移学习</a:t>
            </a:r>
            <a:endParaRPr lang="en-US" altLang="zh-CN" dirty="0"/>
          </a:p>
          <a:p>
            <a:endParaRPr lang="en-US" altLang="zh-CN" dirty="0"/>
          </a:p>
          <a:p>
            <a:r>
              <a:rPr lang="zh-CN" altLang="en-US" dirty="0"/>
              <a:t>先</a:t>
            </a:r>
            <a:r>
              <a:rPr lang="zh-CN" altLang="zh-CN" dirty="0"/>
              <a:t>从大数据集中学习自然图像的一般属性，然后专门针对病变分类的具体问题。</a:t>
            </a:r>
            <a:endParaRPr lang="en-US" altLang="zh-CN" dirty="0"/>
          </a:p>
          <a:p>
            <a:endParaRPr lang="en-US" altLang="zh-CN" dirty="0"/>
          </a:p>
          <a:p>
            <a:r>
              <a:rPr lang="zh-CN" altLang="en-US" dirty="0"/>
              <a:t>效果超过了很多专业皮肤科医生。</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4263CEB2-05F9-47E5-B01A-38C44ADA4304}" type="slidenum">
              <a:rPr lang="zh-CN" altLang="en-US" smtClean="0"/>
              <a:t>3</a:t>
            </a:fld>
            <a:endParaRPr lang="zh-CN" altLang="en-US"/>
          </a:p>
        </p:txBody>
      </p:sp>
    </p:spTree>
    <p:extLst>
      <p:ext uri="{BB962C8B-B14F-4D97-AF65-F5344CB8AC3E}">
        <p14:creationId xmlns:p14="http://schemas.microsoft.com/office/powerpoint/2010/main" val="567343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前面的例子说明了如何</a:t>
            </a:r>
            <a:r>
              <a:rPr lang="zh-CN" altLang="zh-CN" dirty="0"/>
              <a:t>将输入（皮肤图像）转换为输出（病变分类）。我们现在来看一个例子，其中训练数据仅由一组样本图像组成，训练网络的目标是创建同类的新图像。</a:t>
            </a:r>
            <a:endParaRPr lang="en-US" altLang="zh-CN" dirty="0"/>
          </a:p>
          <a:p>
            <a:endParaRPr lang="en-US" altLang="zh-CN" dirty="0"/>
          </a:p>
          <a:p>
            <a:r>
              <a:rPr lang="zh-CN" altLang="en-US" dirty="0"/>
              <a:t>这是一种典型的无监督学习，因为没有标签</a:t>
            </a:r>
            <a:endParaRPr lang="en-US" altLang="zh-CN" dirty="0"/>
          </a:p>
          <a:p>
            <a:endParaRPr lang="en-US" altLang="zh-CN" dirty="0"/>
          </a:p>
          <a:p>
            <a:r>
              <a:rPr lang="zh-CN" altLang="zh-CN" dirty="0"/>
              <a:t>由深度神经网络生成的合成图像的示例，该网络在一组人脸图像上进行训练</a:t>
            </a:r>
            <a:endParaRPr lang="en-US" altLang="zh-CN" dirty="0"/>
          </a:p>
          <a:p>
            <a:endParaRPr lang="en-US" altLang="zh-CN" dirty="0"/>
          </a:p>
          <a:p>
            <a:pPr algn="l"/>
            <a:r>
              <a:rPr lang="zh-CN" altLang="en-US" b="0" i="0" dirty="0">
                <a:solidFill>
                  <a:srgbClr val="1F1F1F"/>
                </a:solidFill>
                <a:effectLst/>
                <a:latin typeface="Arial" panose="020B0604020202020204" pitchFamily="34" charset="0"/>
              </a:rPr>
              <a:t>这是生成模型的一个例子，因为它可以生成新的输出，与用于训练模型的示例不同但共享相同的统计特性。</a:t>
            </a:r>
            <a:endParaRPr lang="en-US" altLang="zh-CN" b="0" i="0" dirty="0">
              <a:solidFill>
                <a:srgbClr val="1F1F1F"/>
              </a:solidFill>
              <a:effectLst/>
              <a:latin typeface="Arial" panose="020B0604020202020204" pitchFamily="34" charset="0"/>
            </a:endParaRPr>
          </a:p>
          <a:p>
            <a:pPr algn="l"/>
            <a:endParaRPr lang="en-US" altLang="zh-CN" b="0" i="0" dirty="0">
              <a:solidFill>
                <a:srgbClr val="1F1F1F"/>
              </a:solidFill>
              <a:effectLst/>
              <a:latin typeface="Arial" panose="020B0604020202020204" pitchFamily="34" charset="0"/>
            </a:endParaRPr>
          </a:p>
          <a:p>
            <a:pPr algn="l"/>
            <a:r>
              <a:rPr lang="zh-CN" altLang="zh-CN" dirty="0"/>
              <a:t>这种方法的一个变体允许生成图像 依赖于已知的输入文本字符串作为提示，以便图像内容反映 文本输入的语义</a:t>
            </a:r>
            <a:endParaRPr lang="en-US" altLang="zh-CN" dirty="0"/>
          </a:p>
          <a:p>
            <a:pPr algn="l"/>
            <a:endParaRPr lang="en-US" altLang="zh-CN" b="0" i="0" dirty="0">
              <a:solidFill>
                <a:srgbClr val="1F1F1F"/>
              </a:solidFill>
              <a:effectLst/>
              <a:latin typeface="Arial" panose="020B0604020202020204" pitchFamily="34" charset="0"/>
            </a:endParaRPr>
          </a:p>
          <a:p>
            <a:r>
              <a:rPr lang="en-US" altLang="zh-CN" sz="1800" dirty="0">
                <a:solidFill>
                  <a:srgbClr val="000000"/>
                </a:solidFill>
                <a:effectLst/>
                <a:latin typeface="NimbusRomNo9L-Regu"/>
              </a:rPr>
              <a:t>Generative AI describe deep learning models that generate outputs in the form of images, video, audio, text, candidate </a:t>
            </a:r>
            <a:endParaRPr lang="en-US" altLang="zh-CN" dirty="0"/>
          </a:p>
          <a:p>
            <a:r>
              <a:rPr lang="en-US" altLang="zh-CN" sz="1800" dirty="0">
                <a:solidFill>
                  <a:srgbClr val="000000"/>
                </a:solidFill>
                <a:effectLst/>
                <a:latin typeface="NimbusRomNo9L-Regu"/>
              </a:rPr>
              <a:t>drug molecules, or other modalities.</a:t>
            </a:r>
          </a:p>
          <a:p>
            <a:endParaRPr lang="en-US" altLang="zh-CN" sz="1800" b="0" i="0" dirty="0">
              <a:solidFill>
                <a:srgbClr val="000000"/>
              </a:solidFill>
              <a:effectLst/>
              <a:latin typeface="NimbusRomNo9L-Regu"/>
            </a:endParaRPr>
          </a:p>
        </p:txBody>
      </p:sp>
      <p:sp>
        <p:nvSpPr>
          <p:cNvPr id="4" name="灯片编号占位符 3"/>
          <p:cNvSpPr>
            <a:spLocks noGrp="1"/>
          </p:cNvSpPr>
          <p:nvPr>
            <p:ph type="sldNum" sz="quarter" idx="5"/>
          </p:nvPr>
        </p:nvSpPr>
        <p:spPr/>
        <p:txBody>
          <a:bodyPr/>
          <a:lstStyle/>
          <a:p>
            <a:fld id="{4263CEB2-05F9-47E5-B01A-38C44ADA4304}" type="slidenum">
              <a:rPr lang="zh-CN" altLang="en-US" smtClean="0"/>
              <a:t>4</a:t>
            </a:fld>
            <a:endParaRPr lang="zh-CN" altLang="en-US"/>
          </a:p>
        </p:txBody>
      </p:sp>
    </p:spTree>
    <p:extLst>
      <p:ext uri="{BB962C8B-B14F-4D97-AF65-F5344CB8AC3E}">
        <p14:creationId xmlns:p14="http://schemas.microsoft.com/office/powerpoint/2010/main" val="2583774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EFA32-9F8D-A434-8390-25CAABA8FB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9C9471-AFCC-6373-DA32-73D31C2D71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5ED24F-D813-556C-C374-185768C4311B}"/>
              </a:ext>
            </a:extLst>
          </p:cNvPr>
          <p:cNvSpPr>
            <a:spLocks noGrp="1"/>
          </p:cNvSpPr>
          <p:nvPr>
            <p:ph type="body" idx="1"/>
          </p:nvPr>
        </p:nvSpPr>
        <p:spPr/>
        <p:txBody>
          <a:bodyPr/>
          <a:lstStyle/>
          <a:p>
            <a:r>
              <a:rPr lang="zh-CN" altLang="en-US" sz="1800" b="0" i="0" dirty="0">
                <a:solidFill>
                  <a:srgbClr val="000000"/>
                </a:solidFill>
                <a:effectLst/>
                <a:latin typeface="NimbusRomNo9L-Regu"/>
              </a:rPr>
              <a:t>多项式拟合到小型数据集</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监督学习，给定输入变量的值预测一个目标变量</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zh-CN" sz="2800" dirty="0"/>
              <a:t>准确对以前未见过的输入进行预测</a:t>
            </a:r>
            <a:r>
              <a:rPr lang="zh-CN" altLang="en-US" sz="2800" dirty="0"/>
              <a:t>的能力</a:t>
            </a:r>
            <a:r>
              <a:rPr lang="zh-CN" altLang="zh-CN" sz="2800" dirty="0"/>
              <a:t>是机器学习的一个关键目标 称为泛化。</a:t>
            </a:r>
            <a:endParaRPr lang="en-US" altLang="zh-CN" sz="2800" dirty="0"/>
          </a:p>
          <a:p>
            <a:endParaRPr lang="en-US" altLang="zh-CN" sz="2800" b="0" i="0" dirty="0">
              <a:solidFill>
                <a:srgbClr val="000000"/>
              </a:solidFill>
              <a:effectLst/>
              <a:latin typeface="NimbusRomNo9L-Regu"/>
            </a:endParaRPr>
          </a:p>
          <a:p>
            <a:r>
              <a:rPr lang="en-US" altLang="zh-CN" sz="2800" b="0" i="0" dirty="0">
                <a:solidFill>
                  <a:srgbClr val="000000"/>
                </a:solidFill>
                <a:effectLst/>
                <a:latin typeface="NimbusRomNo9L-Regu"/>
              </a:rPr>
              <a:t>Sin(2 pi x) </a:t>
            </a:r>
          </a:p>
          <a:p>
            <a:endParaRPr lang="en-US" altLang="zh-CN" sz="2800" b="0" i="0" dirty="0">
              <a:solidFill>
                <a:srgbClr val="000000"/>
              </a:solidFill>
              <a:effectLst/>
              <a:latin typeface="NimbusRomNo9L-Regu"/>
            </a:endParaRPr>
          </a:p>
          <a:p>
            <a:r>
              <a:rPr lang="en-US" altLang="zh-CN" sz="2800" b="0" i="0" dirty="0">
                <a:solidFill>
                  <a:srgbClr val="000000"/>
                </a:solidFill>
                <a:effectLst/>
                <a:latin typeface="NimbusRomNo9L-Regu"/>
              </a:rPr>
              <a:t>[0,1] </a:t>
            </a:r>
            <a:r>
              <a:rPr lang="zh-CN" altLang="en-US" sz="2800" b="0" i="0" dirty="0">
                <a:solidFill>
                  <a:srgbClr val="000000"/>
                </a:solidFill>
                <a:effectLst/>
                <a:latin typeface="NimbusRomNo9L-Regu"/>
              </a:rPr>
              <a:t>均匀采样了</a:t>
            </a:r>
            <a:r>
              <a:rPr lang="en-US" altLang="zh-CN" sz="2800" b="0" i="0" dirty="0">
                <a:solidFill>
                  <a:srgbClr val="000000"/>
                </a:solidFill>
                <a:effectLst/>
                <a:latin typeface="NimbusRomNo9L-Regu"/>
              </a:rPr>
              <a:t>10</a:t>
            </a:r>
            <a:r>
              <a:rPr lang="zh-CN" altLang="en-US" sz="2800" b="0" i="0" dirty="0">
                <a:solidFill>
                  <a:srgbClr val="000000"/>
                </a:solidFill>
                <a:effectLst/>
                <a:latin typeface="NimbusRomNo9L-Regu"/>
              </a:rPr>
              <a:t>个</a:t>
            </a:r>
            <a:r>
              <a:rPr lang="en-US" altLang="zh-CN" sz="2800" b="0" i="0" dirty="0">
                <a:solidFill>
                  <a:srgbClr val="000000"/>
                </a:solidFill>
                <a:effectLst/>
                <a:latin typeface="NimbusRomNo9L-Regu"/>
              </a:rPr>
              <a:t>x</a:t>
            </a:r>
            <a:r>
              <a:rPr lang="zh-CN" altLang="en-US" sz="2800" b="0" i="0" dirty="0">
                <a:solidFill>
                  <a:srgbClr val="000000"/>
                </a:solidFill>
                <a:effectLst/>
                <a:latin typeface="NimbusRomNo9L-Regu"/>
              </a:rPr>
              <a:t>，</a:t>
            </a:r>
            <a:r>
              <a:rPr lang="en-US" altLang="zh-CN" sz="2800" b="0" i="0" dirty="0">
                <a:solidFill>
                  <a:srgbClr val="000000"/>
                </a:solidFill>
                <a:effectLst/>
                <a:latin typeface="NimbusRomNo9L-Regu"/>
              </a:rPr>
              <a:t>t</a:t>
            </a:r>
            <a:r>
              <a:rPr lang="zh-CN" altLang="en-US" sz="2800" b="0" i="0" dirty="0">
                <a:solidFill>
                  <a:srgbClr val="000000"/>
                </a:solidFill>
                <a:effectLst/>
                <a:latin typeface="NimbusRomNo9L-Regu"/>
              </a:rPr>
              <a:t>是算出来值以后添加一个高斯噪音</a:t>
            </a:r>
            <a:endParaRPr lang="en-US" altLang="zh-CN" sz="2800" b="0" i="0" dirty="0">
              <a:solidFill>
                <a:srgbClr val="000000"/>
              </a:solidFill>
              <a:effectLst/>
              <a:latin typeface="NimbusRomNo9L-Regu"/>
            </a:endParaRPr>
          </a:p>
          <a:p>
            <a:endParaRPr lang="en-US" altLang="zh-CN" sz="2800" b="0" i="0" dirty="0">
              <a:solidFill>
                <a:srgbClr val="000000"/>
              </a:solidFill>
              <a:effectLst/>
              <a:latin typeface="NimbusRomNo9L-Regu"/>
            </a:endParaRPr>
          </a:p>
          <a:p>
            <a:r>
              <a:rPr lang="zh-CN" altLang="en-US" sz="2800" b="0" i="0" dirty="0">
                <a:solidFill>
                  <a:srgbClr val="000000"/>
                </a:solidFill>
                <a:effectLst/>
                <a:latin typeface="NimbusRomNo9L-Regu"/>
              </a:rPr>
              <a:t>我们通过这种方式模拟了现实数据的重要属性，虽然背后都有特定的规律，但个体观察一般存在随机噪音</a:t>
            </a:r>
            <a:endParaRPr lang="en-US" altLang="zh-CN" sz="2800" b="0" i="0" dirty="0">
              <a:solidFill>
                <a:srgbClr val="000000"/>
              </a:solidFill>
              <a:effectLst/>
              <a:latin typeface="NimbusRomNo9L-Regu"/>
            </a:endParaRPr>
          </a:p>
          <a:p>
            <a:endParaRPr lang="en-US" altLang="zh-CN" sz="2800" b="0" i="0" dirty="0">
              <a:solidFill>
                <a:srgbClr val="000000"/>
              </a:solidFill>
              <a:effectLst/>
              <a:latin typeface="NimbusRomNo9L-Regu"/>
            </a:endParaRPr>
          </a:p>
          <a:p>
            <a:r>
              <a:rPr lang="zh-CN" altLang="en-US" sz="2800" b="0" i="0" dirty="0">
                <a:solidFill>
                  <a:srgbClr val="000000"/>
                </a:solidFill>
                <a:effectLst/>
                <a:latin typeface="NimbusRomNo9L-Regu"/>
              </a:rPr>
              <a:t>在实际应用中，我们的目标是通过给定的有限数据集，探索数据中的底层规律或模式、</a:t>
            </a:r>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579E2F80-5B83-4150-2BD7-205FFE6AEDFA}"/>
              </a:ext>
            </a:extLst>
          </p:cNvPr>
          <p:cNvSpPr>
            <a:spLocks noGrp="1"/>
          </p:cNvSpPr>
          <p:nvPr>
            <p:ph type="sldNum" sz="quarter" idx="5"/>
          </p:nvPr>
        </p:nvSpPr>
        <p:spPr/>
        <p:txBody>
          <a:bodyPr/>
          <a:lstStyle/>
          <a:p>
            <a:fld id="{4263CEB2-05F9-47E5-B01A-38C44ADA4304}" type="slidenum">
              <a:rPr lang="zh-CN" altLang="en-US" smtClean="0"/>
              <a:t>5</a:t>
            </a:fld>
            <a:endParaRPr lang="zh-CN" altLang="en-US"/>
          </a:p>
        </p:txBody>
      </p:sp>
    </p:spTree>
    <p:extLst>
      <p:ext uri="{BB962C8B-B14F-4D97-AF65-F5344CB8AC3E}">
        <p14:creationId xmlns:p14="http://schemas.microsoft.com/office/powerpoint/2010/main" val="1908862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28FA9-A559-E324-3A3D-0CFE591808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C03FF5-0976-BB5C-5161-BDF97A2292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17A8BF-08B9-5D8D-7825-863E527E59B0}"/>
              </a:ext>
            </a:extLst>
          </p:cNvPr>
          <p:cNvSpPr>
            <a:spLocks noGrp="1"/>
          </p:cNvSpPr>
          <p:nvPr>
            <p:ph type="body" idx="1"/>
          </p:nvPr>
        </p:nvSpPr>
        <p:spPr/>
        <p:txBody>
          <a:bodyPr/>
          <a:lstStyle/>
          <a:p>
            <a:r>
              <a:rPr lang="zh-CN" altLang="en-US" sz="1800" b="0" i="0" dirty="0">
                <a:solidFill>
                  <a:srgbClr val="000000"/>
                </a:solidFill>
                <a:effectLst/>
                <a:latin typeface="NimbusRomNo9L-Regu"/>
              </a:rPr>
              <a:t>这个问题很难，他像一个归纳问题，需要从一个有限的数据集泛化到整个函数。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观测数据是有噪音的，所以给定一个</a:t>
            </a:r>
            <a:r>
              <a:rPr lang="en-US" altLang="zh-CN" sz="1800" b="0" i="0" dirty="0">
                <a:solidFill>
                  <a:srgbClr val="000000"/>
                </a:solidFill>
                <a:effectLst/>
                <a:latin typeface="NimbusRomNo9L-Regu"/>
              </a:rPr>
              <a:t>x</a:t>
            </a:r>
            <a:r>
              <a:rPr lang="zh-CN" altLang="en-US" sz="1800" b="0" i="0" dirty="0">
                <a:solidFill>
                  <a:srgbClr val="000000"/>
                </a:solidFill>
                <a:effectLst/>
                <a:latin typeface="NimbusRomNo9L-Regu"/>
              </a:rPr>
              <a:t>，对应的</a:t>
            </a:r>
            <a:r>
              <a:rPr lang="en-US" altLang="zh-CN" sz="1800" b="0" i="0" dirty="0">
                <a:solidFill>
                  <a:srgbClr val="000000"/>
                </a:solidFill>
                <a:effectLst/>
                <a:latin typeface="NimbusRomNo9L-Regu"/>
              </a:rPr>
              <a:t>t</a:t>
            </a:r>
            <a:r>
              <a:rPr lang="zh-CN" altLang="en-US" sz="1800" b="0" i="0" dirty="0">
                <a:solidFill>
                  <a:srgbClr val="000000"/>
                </a:solidFill>
                <a:effectLst/>
                <a:latin typeface="NimbusRomNo9L-Regu"/>
              </a:rPr>
              <a:t>具体的值存在不确定性</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概率论提供了一个准确可凉画的框架来表达这种不确定性</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决策理论可以让我们利用这个概率表达来根据合适的目标选择最优的预测。</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机器学习的核心就在于如何从数据中学习概率。</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首先考虑一个曲线拟合的简单方法，我们用这个多项式函数来拟合数据</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是这个多项式的阶数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虽然这个多项式函数</a:t>
            </a:r>
            <a:r>
              <a:rPr lang="en-US" altLang="zh-CN" sz="1800" b="0" i="0" dirty="0">
                <a:solidFill>
                  <a:srgbClr val="000000"/>
                </a:solidFill>
                <a:effectLst/>
                <a:latin typeface="NimbusRomNo9L-Regu"/>
              </a:rPr>
              <a:t> y(x, w)</a:t>
            </a:r>
            <a:r>
              <a:rPr lang="zh-CN" altLang="en-US" sz="1800" b="0" i="0" dirty="0">
                <a:solidFill>
                  <a:srgbClr val="000000"/>
                </a:solidFill>
                <a:effectLst/>
                <a:latin typeface="NimbusRomNo9L-Regu"/>
              </a:rPr>
              <a:t>是</a:t>
            </a:r>
            <a:r>
              <a:rPr lang="en-US" altLang="zh-CN" sz="1800" b="0" i="0" dirty="0">
                <a:solidFill>
                  <a:srgbClr val="000000"/>
                </a:solidFill>
                <a:effectLst/>
                <a:latin typeface="NimbusRomNo9L-Regu"/>
              </a:rPr>
              <a:t>x</a:t>
            </a:r>
            <a:r>
              <a:rPr lang="zh-CN" altLang="en-US" sz="1800" b="0" i="0" dirty="0">
                <a:solidFill>
                  <a:srgbClr val="000000"/>
                </a:solidFill>
                <a:effectLst/>
                <a:latin typeface="NimbusRomNo9L-Regu"/>
              </a:rPr>
              <a:t>的非线性函数，但他是</a:t>
            </a:r>
            <a:r>
              <a:rPr lang="en-US" altLang="zh-CN" sz="1800" b="0" i="0" dirty="0">
                <a:solidFill>
                  <a:srgbClr val="000000"/>
                </a:solidFill>
                <a:effectLst/>
                <a:latin typeface="NimbusRomNo9L-Regu"/>
              </a:rPr>
              <a:t>w</a:t>
            </a:r>
            <a:r>
              <a:rPr lang="zh-CN" altLang="en-US" sz="1800" b="0" i="0" dirty="0">
                <a:solidFill>
                  <a:srgbClr val="000000"/>
                </a:solidFill>
                <a:effectLst/>
                <a:latin typeface="NimbusRomNo9L-Regu"/>
              </a:rPr>
              <a:t>的线性函数。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在未知参数上呈线性的函数我们称为线性模型</a:t>
            </a:r>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73AFF21D-F88C-248A-6D39-FFE037DC13F0}"/>
              </a:ext>
            </a:extLst>
          </p:cNvPr>
          <p:cNvSpPr>
            <a:spLocks noGrp="1"/>
          </p:cNvSpPr>
          <p:nvPr>
            <p:ph type="sldNum" sz="quarter" idx="5"/>
          </p:nvPr>
        </p:nvSpPr>
        <p:spPr/>
        <p:txBody>
          <a:bodyPr/>
          <a:lstStyle/>
          <a:p>
            <a:fld id="{4263CEB2-05F9-47E5-B01A-38C44ADA4304}" type="slidenum">
              <a:rPr lang="zh-CN" altLang="en-US" smtClean="0"/>
              <a:t>6</a:t>
            </a:fld>
            <a:endParaRPr lang="zh-CN" altLang="en-US"/>
          </a:p>
        </p:txBody>
      </p:sp>
    </p:spTree>
    <p:extLst>
      <p:ext uri="{BB962C8B-B14F-4D97-AF65-F5344CB8AC3E}">
        <p14:creationId xmlns:p14="http://schemas.microsoft.com/office/powerpoint/2010/main" val="2767521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D792B-932A-33B2-2536-5FDE3EE79D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2C56D4-924E-A136-D2C5-0F0754DFF7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200543-4407-6BCB-0041-888325D779F3}"/>
              </a:ext>
            </a:extLst>
          </p:cNvPr>
          <p:cNvSpPr>
            <a:spLocks noGrp="1"/>
          </p:cNvSpPr>
          <p:nvPr>
            <p:ph type="body" idx="1"/>
          </p:nvPr>
        </p:nvSpPr>
        <p:spPr/>
        <p:txBody>
          <a:bodyPr/>
          <a:lstStyle/>
          <a:p>
            <a:r>
              <a:rPr lang="zh-CN" altLang="en-US" sz="1800" b="0" i="0" dirty="0">
                <a:solidFill>
                  <a:srgbClr val="000000"/>
                </a:solidFill>
                <a:effectLst/>
                <a:latin typeface="NimbusRomNo9L-Regu"/>
              </a:rPr>
              <a:t>我们需要通过在数据上拟合这个多项式得到这些系数的值</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我们通过最小化一个误差函数来实现，误差函数衡量给定</a:t>
            </a:r>
            <a:r>
              <a:rPr lang="en-US" altLang="zh-CN" sz="1800" b="0" i="0" dirty="0">
                <a:solidFill>
                  <a:srgbClr val="000000"/>
                </a:solidFill>
                <a:effectLst/>
                <a:latin typeface="NimbusRomNo9L-Regu"/>
              </a:rPr>
              <a:t>w</a:t>
            </a:r>
            <a:r>
              <a:rPr lang="zh-CN" altLang="en-US" sz="1800" b="0" i="0" dirty="0">
                <a:solidFill>
                  <a:srgbClr val="000000"/>
                </a:solidFill>
                <a:effectLst/>
                <a:latin typeface="NimbusRomNo9L-Regu"/>
              </a:rPr>
              <a:t>的</a:t>
            </a:r>
            <a:r>
              <a:rPr lang="en-US" altLang="zh-CN" sz="1800" b="0" i="0" dirty="0">
                <a:solidFill>
                  <a:srgbClr val="000000"/>
                </a:solidFill>
                <a:effectLst/>
                <a:latin typeface="NimbusRomNo9L-Regu"/>
              </a:rPr>
              <a:t>y(</a:t>
            </a:r>
            <a:r>
              <a:rPr lang="en-US" altLang="zh-CN" sz="1800" b="0" i="0" dirty="0" err="1">
                <a:solidFill>
                  <a:srgbClr val="000000"/>
                </a:solidFill>
                <a:effectLst/>
                <a:latin typeface="NimbusRomNo9L-Regu"/>
              </a:rPr>
              <a:t>x,w</a:t>
            </a:r>
            <a:r>
              <a:rPr lang="en-US" altLang="zh-CN" sz="1800" b="0" i="0" dirty="0">
                <a:solidFill>
                  <a:srgbClr val="000000"/>
                </a:solidFill>
                <a:effectLst/>
                <a:latin typeface="NimbusRomNo9L-Regu"/>
              </a:rPr>
              <a:t>)</a:t>
            </a:r>
            <a:r>
              <a:rPr lang="zh-CN" altLang="en-US" sz="1800" b="0" i="0" dirty="0">
                <a:solidFill>
                  <a:srgbClr val="000000"/>
                </a:solidFill>
                <a:effectLst/>
                <a:latin typeface="NimbusRomNo9L-Regu"/>
              </a:rPr>
              <a:t>与训练集样本之间的不匹配程度。</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均方误差，这个</a:t>
            </a:r>
            <a:r>
              <a:rPr lang="en-US" altLang="zh-CN" sz="1800" b="0" i="0" dirty="0">
                <a:solidFill>
                  <a:srgbClr val="000000"/>
                </a:solidFill>
                <a:effectLst/>
                <a:latin typeface="NimbusRomNo9L-Regu"/>
              </a:rPr>
              <a:t>1/2</a:t>
            </a:r>
            <a:r>
              <a:rPr lang="zh-CN" altLang="en-US" sz="1800" b="0" i="0" dirty="0">
                <a:solidFill>
                  <a:srgbClr val="000000"/>
                </a:solidFill>
                <a:effectLst/>
                <a:latin typeface="NimbusRomNo9L-Regu"/>
              </a:rPr>
              <a:t>我们为了后面方便先加进来，后面我们会通过概率论来推导这个误差函数。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首先，这是一个非负数值，当且仅当完美匹配每个数据点的时候为</a:t>
            </a:r>
            <a:r>
              <a:rPr lang="en-US" altLang="zh-CN" sz="1800" b="0" i="0" dirty="0">
                <a:solidFill>
                  <a:srgbClr val="000000"/>
                </a:solidFill>
                <a:effectLst/>
                <a:latin typeface="NimbusRomNo9L-Regu"/>
              </a:rPr>
              <a:t>0</a:t>
            </a: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我们只需要选择一个合适的</a:t>
            </a:r>
            <a:r>
              <a:rPr lang="en-US" altLang="zh-CN" sz="1800" b="0" i="0" dirty="0">
                <a:solidFill>
                  <a:srgbClr val="000000"/>
                </a:solidFill>
                <a:effectLst/>
                <a:latin typeface="NimbusRomNo9L-Regu"/>
              </a:rPr>
              <a:t>w</a:t>
            </a:r>
            <a:r>
              <a:rPr lang="zh-CN" altLang="en-US" sz="1800" b="0" i="0" dirty="0">
                <a:solidFill>
                  <a:srgbClr val="000000"/>
                </a:solidFill>
                <a:effectLst/>
                <a:latin typeface="NimbusRomNo9L-Regu"/>
              </a:rPr>
              <a:t>使误差函数尽可能小，就可以解决这个曲线拟合问题</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这个误差函数对</a:t>
            </a:r>
            <a:r>
              <a:rPr lang="en-US" altLang="zh-CN" sz="1800" b="0" i="0" dirty="0">
                <a:solidFill>
                  <a:srgbClr val="000000"/>
                </a:solidFill>
                <a:effectLst/>
                <a:latin typeface="NimbusRomNo9L-Regu"/>
              </a:rPr>
              <a:t>w</a:t>
            </a:r>
            <a:r>
              <a:rPr lang="zh-CN" altLang="en-US" sz="1800" b="0" i="0" dirty="0">
                <a:solidFill>
                  <a:srgbClr val="000000"/>
                </a:solidFill>
                <a:effectLst/>
                <a:latin typeface="NimbusRomNo9L-Regu"/>
              </a:rPr>
              <a:t>是一个二次函数，所以他的导数是线性的，有唯一解。</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问题：这里的误差和我们想要实现的目标存在什么关系？最优模型的未来预测误差取决于什么？</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B455E114-AD2A-5DEF-3918-C6C974222AEF}"/>
              </a:ext>
            </a:extLst>
          </p:cNvPr>
          <p:cNvSpPr>
            <a:spLocks noGrp="1"/>
          </p:cNvSpPr>
          <p:nvPr>
            <p:ph type="sldNum" sz="quarter" idx="5"/>
          </p:nvPr>
        </p:nvSpPr>
        <p:spPr/>
        <p:txBody>
          <a:bodyPr/>
          <a:lstStyle/>
          <a:p>
            <a:fld id="{4263CEB2-05F9-47E5-B01A-38C44ADA4304}" type="slidenum">
              <a:rPr lang="zh-CN" altLang="en-US" smtClean="0"/>
              <a:t>7</a:t>
            </a:fld>
            <a:endParaRPr lang="zh-CN" altLang="en-US"/>
          </a:p>
        </p:txBody>
      </p:sp>
    </p:spTree>
    <p:extLst>
      <p:ext uri="{BB962C8B-B14F-4D97-AF65-F5344CB8AC3E}">
        <p14:creationId xmlns:p14="http://schemas.microsoft.com/office/powerpoint/2010/main" val="3334638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71904-0829-7891-7238-9982E12A6F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26EC2D-2609-24CD-8F91-4EFA9A1C3F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ED2896-F736-4CBF-01E4-CF87623A5FC2}"/>
              </a:ext>
            </a:extLst>
          </p:cNvPr>
          <p:cNvSpPr>
            <a:spLocks noGrp="1"/>
          </p:cNvSpPr>
          <p:nvPr>
            <p:ph type="body" idx="1"/>
          </p:nvPr>
        </p:nvSpPr>
        <p:spPr/>
        <p:txBody>
          <a:bodyPr/>
          <a:lstStyle/>
          <a:p>
            <a:r>
              <a:rPr lang="zh-CN" altLang="en-US" sz="1800" b="0" i="0" dirty="0">
                <a:solidFill>
                  <a:srgbClr val="000000"/>
                </a:solidFill>
                <a:effectLst/>
                <a:latin typeface="NimbusRomNo9L-Regu"/>
              </a:rPr>
              <a:t>如何决定多项式的阶数</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还是一个问题，这在后面我们可以通过模型比较或者模型选择来实现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A3C7BA0F-8D61-6A9A-FF5E-68239D42FAC0}"/>
              </a:ext>
            </a:extLst>
          </p:cNvPr>
          <p:cNvSpPr>
            <a:spLocks noGrp="1"/>
          </p:cNvSpPr>
          <p:nvPr>
            <p:ph type="sldNum" sz="quarter" idx="5"/>
          </p:nvPr>
        </p:nvSpPr>
        <p:spPr/>
        <p:txBody>
          <a:bodyPr/>
          <a:lstStyle/>
          <a:p>
            <a:fld id="{4263CEB2-05F9-47E5-B01A-38C44ADA4304}" type="slidenum">
              <a:rPr lang="zh-CN" altLang="en-US" smtClean="0"/>
              <a:t>8</a:t>
            </a:fld>
            <a:endParaRPr lang="zh-CN" altLang="en-US"/>
          </a:p>
        </p:txBody>
      </p:sp>
    </p:spTree>
    <p:extLst>
      <p:ext uri="{BB962C8B-B14F-4D97-AF65-F5344CB8AC3E}">
        <p14:creationId xmlns:p14="http://schemas.microsoft.com/office/powerpoint/2010/main" val="842653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FA88-513C-D893-F2D1-415A952B02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6CA2FF-E538-0561-7E6B-037C7F6B7B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690DA9-A3CA-F27E-87E4-3532C2B1A692}"/>
              </a:ext>
            </a:extLst>
          </p:cNvPr>
          <p:cNvSpPr>
            <a:spLocks noGrp="1"/>
          </p:cNvSpPr>
          <p:nvPr>
            <p:ph type="body" idx="1"/>
          </p:nvPr>
        </p:nvSpPr>
        <p:spPr/>
        <p:txBody>
          <a:bodyPr/>
          <a:lstStyle/>
          <a:p>
            <a:r>
              <a:rPr lang="zh-CN" altLang="en-US" sz="1800" b="0" i="0" dirty="0">
                <a:solidFill>
                  <a:srgbClr val="000000"/>
                </a:solidFill>
                <a:effectLst/>
                <a:latin typeface="NimbusRomNo9L-Regu"/>
              </a:rPr>
              <a:t>这里我们画了四个不同的</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值最后得到的拟合函数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0</a:t>
            </a:r>
            <a:r>
              <a:rPr lang="zh-CN" altLang="en-US" sz="1800" b="0" i="0" dirty="0">
                <a:solidFill>
                  <a:srgbClr val="000000"/>
                </a:solidFill>
                <a:effectLst/>
                <a:latin typeface="NimbusRomNo9L-Regu"/>
              </a:rPr>
              <a:t>和</a:t>
            </a:r>
            <a:r>
              <a:rPr lang="en-US" altLang="zh-CN" sz="1800" b="0" i="0" dirty="0">
                <a:solidFill>
                  <a:srgbClr val="000000"/>
                </a:solidFill>
                <a:effectLst/>
                <a:latin typeface="NimbusRomNo9L-Regu"/>
              </a:rPr>
              <a:t>1</a:t>
            </a:r>
            <a:r>
              <a:rPr lang="zh-CN" altLang="en-US" sz="1800" b="0" i="0" dirty="0">
                <a:solidFill>
                  <a:srgbClr val="000000"/>
                </a:solidFill>
                <a:effectLst/>
                <a:latin typeface="NimbusRomNo9L-Regu"/>
              </a:rPr>
              <a:t>过于简单很难拟合数据，</a:t>
            </a:r>
            <a:r>
              <a:rPr lang="en-US" altLang="zh-CN" sz="1800" b="0" i="0" dirty="0">
                <a:solidFill>
                  <a:srgbClr val="000000"/>
                </a:solidFill>
                <a:effectLst/>
                <a:latin typeface="NimbusRomNo9L-Regu"/>
              </a:rPr>
              <a:t>3</a:t>
            </a:r>
            <a:r>
              <a:rPr lang="zh-CN" altLang="en-US" sz="1800" b="0" i="0" dirty="0">
                <a:solidFill>
                  <a:srgbClr val="000000"/>
                </a:solidFill>
                <a:effectLst/>
                <a:latin typeface="NimbusRomNo9L-Regu"/>
              </a:rPr>
              <a:t>阶多项式拟合的不错</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9</a:t>
            </a:r>
            <a:r>
              <a:rPr lang="zh-CN" altLang="en-US" sz="1800" b="0" i="0" dirty="0">
                <a:solidFill>
                  <a:srgbClr val="000000"/>
                </a:solidFill>
                <a:effectLst/>
                <a:latin typeface="NimbusRomNo9L-Regu"/>
              </a:rPr>
              <a:t>阶的时候我们对数据的拟合很好，拟合的函数都精确地通过了每一个数据点，误差为</a:t>
            </a:r>
            <a:r>
              <a:rPr lang="en-US" altLang="zh-CN" sz="1800" b="0" i="0" dirty="0">
                <a:solidFill>
                  <a:srgbClr val="000000"/>
                </a:solidFill>
                <a:effectLst/>
                <a:latin typeface="NimbusRomNo9L-Regu"/>
              </a:rPr>
              <a:t>0</a:t>
            </a: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但我们可以发现这个拟合曲线发生了剧烈的震荡，并没有很好的拟合数据背后的真实函数。我们称之为过拟合</a:t>
            </a:r>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19631B47-222B-6785-81A1-CC66F0009C17}"/>
              </a:ext>
            </a:extLst>
          </p:cNvPr>
          <p:cNvSpPr>
            <a:spLocks noGrp="1"/>
          </p:cNvSpPr>
          <p:nvPr>
            <p:ph type="sldNum" sz="quarter" idx="5"/>
          </p:nvPr>
        </p:nvSpPr>
        <p:spPr/>
        <p:txBody>
          <a:bodyPr/>
          <a:lstStyle/>
          <a:p>
            <a:fld id="{4263CEB2-05F9-47E5-B01A-38C44ADA4304}" type="slidenum">
              <a:rPr lang="zh-CN" altLang="en-US" smtClean="0"/>
              <a:t>9</a:t>
            </a:fld>
            <a:endParaRPr lang="zh-CN" altLang="en-US"/>
          </a:p>
        </p:txBody>
      </p:sp>
    </p:spTree>
    <p:extLst>
      <p:ext uri="{BB962C8B-B14F-4D97-AF65-F5344CB8AC3E}">
        <p14:creationId xmlns:p14="http://schemas.microsoft.com/office/powerpoint/2010/main" val="1053867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265FC-99B3-1763-991E-B26936396C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128067-7E1B-20B0-117D-CCAD45DABD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CE6030-D25C-9BB3-C656-6DC898139B8A}"/>
              </a:ext>
            </a:extLst>
          </p:cNvPr>
          <p:cNvSpPr>
            <a:spLocks noGrp="1"/>
          </p:cNvSpPr>
          <p:nvPr>
            <p:ph type="body" idx="1"/>
          </p:nvPr>
        </p:nvSpPr>
        <p:spPr/>
        <p:txBody>
          <a:bodyPr/>
          <a:lstStyle/>
          <a:p>
            <a:r>
              <a:rPr lang="zh-CN" altLang="en-US" sz="1800" b="0" i="0" dirty="0">
                <a:solidFill>
                  <a:srgbClr val="000000"/>
                </a:solidFill>
                <a:effectLst/>
                <a:latin typeface="NimbusRomNo9L-Regu"/>
              </a:rPr>
              <a:t>我们的目标是要通过精确的预测实现有效的泛化到新样本。我们要量化这个泛化性能，所以我们构造一个额外的数据集叫做测试集</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我们通过相同的方式生成</a:t>
            </a:r>
            <a:r>
              <a:rPr lang="en-US" altLang="zh-CN" sz="1800" b="0" i="0" dirty="0">
                <a:solidFill>
                  <a:srgbClr val="000000"/>
                </a:solidFill>
                <a:effectLst/>
                <a:latin typeface="NimbusRomNo9L-Regu"/>
              </a:rPr>
              <a:t>100</a:t>
            </a:r>
            <a:r>
              <a:rPr lang="zh-CN" altLang="en-US" sz="1800" b="0" i="0" dirty="0">
                <a:solidFill>
                  <a:srgbClr val="000000"/>
                </a:solidFill>
                <a:effectLst/>
                <a:latin typeface="NimbusRomNo9L-Regu"/>
              </a:rPr>
              <a:t>个数据点。</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给每个</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值，我们计算对应的误差函数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但这样有个问题，不同大小的测试数据集之间没法比较，</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所以这时候有了一个新的均方根误差函数，叫</a:t>
            </a:r>
            <a:r>
              <a:rPr lang="en-US" altLang="zh-CN" sz="1800" b="0" i="0" dirty="0">
                <a:solidFill>
                  <a:srgbClr val="000000"/>
                </a:solidFill>
                <a:effectLst/>
                <a:latin typeface="NimbusRomNo9L-Regu"/>
              </a:rPr>
              <a:t>RMS</a:t>
            </a: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同时加上了根号，保证这个误差和目标变量</a:t>
            </a:r>
            <a:r>
              <a:rPr lang="en-US" altLang="zh-CN" sz="1800" b="0" i="0" dirty="0">
                <a:solidFill>
                  <a:srgbClr val="000000"/>
                </a:solidFill>
                <a:effectLst/>
                <a:latin typeface="NimbusRomNo9L-Regu"/>
              </a:rPr>
              <a:t>t</a:t>
            </a:r>
            <a:r>
              <a:rPr lang="zh-CN" altLang="en-US" sz="1800" b="0" i="0" dirty="0">
                <a:solidFill>
                  <a:srgbClr val="000000"/>
                </a:solidFill>
                <a:effectLst/>
                <a:latin typeface="NimbusRomNo9L-Regu"/>
              </a:rPr>
              <a:t>在一个量级上。</a:t>
            </a:r>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A8CB59ED-EED9-3C1A-AED6-F90835686B13}"/>
              </a:ext>
            </a:extLst>
          </p:cNvPr>
          <p:cNvSpPr>
            <a:spLocks noGrp="1"/>
          </p:cNvSpPr>
          <p:nvPr>
            <p:ph type="sldNum" sz="quarter" idx="5"/>
          </p:nvPr>
        </p:nvSpPr>
        <p:spPr/>
        <p:txBody>
          <a:bodyPr/>
          <a:lstStyle/>
          <a:p>
            <a:fld id="{4263CEB2-05F9-47E5-B01A-38C44ADA4304}" type="slidenum">
              <a:rPr lang="zh-CN" altLang="en-US" smtClean="0"/>
              <a:t>10</a:t>
            </a:fld>
            <a:endParaRPr lang="zh-CN" altLang="en-US"/>
          </a:p>
        </p:txBody>
      </p:sp>
    </p:spTree>
    <p:extLst>
      <p:ext uri="{BB962C8B-B14F-4D97-AF65-F5344CB8AC3E}">
        <p14:creationId xmlns:p14="http://schemas.microsoft.com/office/powerpoint/2010/main" val="2163716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68854-8F4C-1907-524B-02FEBA1293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3B1DD5-6AA9-F289-995A-A9726AE6BF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AE32C5-D007-0BC9-B9C1-00CB53670C92}"/>
              </a:ext>
            </a:extLst>
          </p:cNvPr>
          <p:cNvSpPr>
            <a:spLocks noGrp="1"/>
          </p:cNvSpPr>
          <p:nvPr>
            <p:ph type="body" idx="1"/>
          </p:nvPr>
        </p:nvSpPr>
        <p:spPr/>
        <p:txBody>
          <a:bodyPr/>
          <a:lstStyle/>
          <a:p>
            <a:r>
              <a:rPr lang="zh-CN" altLang="en-US" sz="1800" b="0" i="0" dirty="0">
                <a:solidFill>
                  <a:srgbClr val="000000"/>
                </a:solidFill>
                <a:effectLst/>
                <a:latin typeface="NimbusRomNo9L-Regu"/>
              </a:rPr>
              <a:t>测试集误差衡量了我们预测新输入变量上的目标变量有多好</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我们可以看到小的</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值对应的训练误差和测试误差都比较大，这是因为对应的多项式不够灵活，无法表达真实函数的震荡变化</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3-8</a:t>
            </a:r>
            <a:r>
              <a:rPr lang="zh-CN" altLang="en-US" sz="1800" b="0" i="0" dirty="0">
                <a:solidFill>
                  <a:srgbClr val="000000"/>
                </a:solidFill>
                <a:effectLst/>
                <a:latin typeface="NimbusRomNo9L-Regu"/>
              </a:rPr>
              <a:t>之间的模型给的测试误差小，说明可以有效表达背后的生成函数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M=9</a:t>
            </a:r>
            <a:r>
              <a:rPr lang="zh-CN" altLang="en-US" sz="1800" b="0" i="0" dirty="0">
                <a:solidFill>
                  <a:srgbClr val="000000"/>
                </a:solidFill>
                <a:effectLst/>
                <a:latin typeface="NimbusRomNo9L-Regu"/>
              </a:rPr>
              <a:t>的时候训练集误差直接降低到了</a:t>
            </a:r>
            <a:r>
              <a:rPr lang="en-US" altLang="zh-CN" sz="1800" b="0" i="0" dirty="0">
                <a:solidFill>
                  <a:srgbClr val="000000"/>
                </a:solidFill>
                <a:effectLst/>
                <a:latin typeface="NimbusRomNo9L-Regu"/>
              </a:rPr>
              <a:t>0</a:t>
            </a:r>
            <a:r>
              <a:rPr lang="zh-CN" altLang="en-US" sz="1800" b="0" i="0" dirty="0">
                <a:solidFill>
                  <a:srgbClr val="000000"/>
                </a:solidFill>
                <a:effectLst/>
                <a:latin typeface="NimbusRomNo9L-Regu"/>
              </a:rPr>
              <a:t>，但测试集升高了很多</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这看起来好像很矛盾，因为高阶的多项式已经包含了低阶的多项式作为特例。那直观上来说，</a:t>
            </a:r>
            <a:r>
              <a:rPr lang="en-US" altLang="zh-CN" sz="1800" b="0" i="0" dirty="0">
                <a:solidFill>
                  <a:srgbClr val="000000"/>
                </a:solidFill>
                <a:effectLst/>
                <a:latin typeface="NimbusRomNo9L-Regu"/>
              </a:rPr>
              <a:t>M=9</a:t>
            </a:r>
            <a:r>
              <a:rPr lang="zh-CN" altLang="en-US" sz="1800" b="0" i="0" dirty="0">
                <a:solidFill>
                  <a:srgbClr val="000000"/>
                </a:solidFill>
                <a:effectLst/>
                <a:latin typeface="NimbusRomNo9L-Regu"/>
              </a:rPr>
              <a:t>应该至少和</a:t>
            </a:r>
            <a:r>
              <a:rPr lang="en-US" altLang="zh-CN" sz="1800" b="0" i="0" dirty="0">
                <a:solidFill>
                  <a:srgbClr val="000000"/>
                </a:solidFill>
                <a:effectLst/>
                <a:latin typeface="NimbusRomNo9L-Regu"/>
              </a:rPr>
              <a:t>3</a:t>
            </a:r>
            <a:r>
              <a:rPr lang="zh-CN" altLang="en-US" sz="1800" b="0" i="0" dirty="0">
                <a:solidFill>
                  <a:srgbClr val="000000"/>
                </a:solidFill>
                <a:effectLst/>
                <a:latin typeface="NimbusRomNo9L-Regu"/>
              </a:rPr>
              <a:t>一样好</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如果我们对</a:t>
            </a:r>
            <a:r>
              <a:rPr lang="en-US" altLang="zh-CN" sz="1800" b="0" i="0" dirty="0">
                <a:solidFill>
                  <a:srgbClr val="000000"/>
                </a:solidFill>
                <a:effectLst/>
                <a:latin typeface="NimbusRomNo9L-Regu"/>
              </a:rPr>
              <a:t>sin(2pi x)</a:t>
            </a:r>
            <a:r>
              <a:rPr lang="zh-CN" altLang="en-US" sz="1800" b="0" i="0" dirty="0">
                <a:solidFill>
                  <a:srgbClr val="000000"/>
                </a:solidFill>
                <a:effectLst/>
                <a:latin typeface="NimbusRomNo9L-Regu"/>
              </a:rPr>
              <a:t>做一个多项式展开，我们会发现它包含了所有的阶数，所以我们应该看到的结果是</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越大，拟合效果越好</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现在我们做一个简单的分析，我们把每个阶数对应的</a:t>
            </a:r>
            <a:r>
              <a:rPr lang="en-US" altLang="zh-CN" sz="1800" b="0" i="0" dirty="0">
                <a:solidFill>
                  <a:srgbClr val="000000"/>
                </a:solidFill>
                <a:effectLst/>
                <a:latin typeface="NimbusRomNo9L-Regu"/>
              </a:rPr>
              <a:t>w</a:t>
            </a:r>
            <a:r>
              <a:rPr lang="zh-CN" altLang="en-US" sz="1800" b="0" i="0" dirty="0">
                <a:solidFill>
                  <a:srgbClr val="000000"/>
                </a:solidFill>
                <a:effectLst/>
                <a:latin typeface="NimbusRomNo9L-Regu"/>
              </a:rPr>
              <a:t>最优值打印出来看一下，我们发现</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越大，系数量级越大，尤其是出现了一些很大的正数和负数，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所以他可以很好的拟合每个值，但这样的函数会震荡非常厉害。</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也就是说，这是因为大</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值带来的更灵活的多项式拟合了观测值中的随机噪声。</a:t>
            </a:r>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629AEA28-16B0-2AB5-E9FC-E331A8DBD7F1}"/>
              </a:ext>
            </a:extLst>
          </p:cNvPr>
          <p:cNvSpPr>
            <a:spLocks noGrp="1"/>
          </p:cNvSpPr>
          <p:nvPr>
            <p:ph type="sldNum" sz="quarter" idx="5"/>
          </p:nvPr>
        </p:nvSpPr>
        <p:spPr/>
        <p:txBody>
          <a:bodyPr/>
          <a:lstStyle/>
          <a:p>
            <a:fld id="{4263CEB2-05F9-47E5-B01A-38C44ADA4304}" type="slidenum">
              <a:rPr lang="zh-CN" altLang="en-US" smtClean="0"/>
              <a:t>11</a:t>
            </a:fld>
            <a:endParaRPr lang="zh-CN" altLang="en-US"/>
          </a:p>
        </p:txBody>
      </p:sp>
    </p:spTree>
    <p:extLst>
      <p:ext uri="{BB962C8B-B14F-4D97-AF65-F5344CB8AC3E}">
        <p14:creationId xmlns:p14="http://schemas.microsoft.com/office/powerpoint/2010/main" val="4040699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D8F07-D3D2-1758-B661-7450C2C617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239DC0-35DE-14EB-3BA9-F59A8CAEC3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9E4AA0-4E5A-31BB-BAF6-27CEA3CE4BF0}"/>
              </a:ext>
            </a:extLst>
          </p:cNvPr>
          <p:cNvSpPr>
            <a:spLocks noGrp="1"/>
          </p:cNvSpPr>
          <p:nvPr>
            <p:ph type="body" idx="1"/>
          </p:nvPr>
        </p:nvSpPr>
        <p:spPr/>
        <p:txBody>
          <a:bodyPr/>
          <a:lstStyle/>
          <a:p>
            <a:r>
              <a:rPr lang="zh-CN" altLang="en-US" sz="1800" b="0" i="0" dirty="0">
                <a:solidFill>
                  <a:srgbClr val="000000"/>
                </a:solidFill>
                <a:effectLst/>
                <a:latin typeface="NimbusRomNo9L-Regu"/>
              </a:rPr>
              <a:t>我们进一步分析这个问题，这次我们加入更多的训练数据，从</a:t>
            </a:r>
            <a:r>
              <a:rPr lang="en-US" altLang="zh-CN" sz="1800" b="0" i="0" dirty="0">
                <a:solidFill>
                  <a:srgbClr val="000000"/>
                </a:solidFill>
                <a:effectLst/>
                <a:latin typeface="NimbusRomNo9L-Regu"/>
              </a:rPr>
              <a:t>15</a:t>
            </a:r>
            <a:r>
              <a:rPr lang="zh-CN" altLang="en-US" sz="1800" b="0" i="0" dirty="0">
                <a:solidFill>
                  <a:srgbClr val="000000"/>
                </a:solidFill>
                <a:effectLst/>
                <a:latin typeface="NimbusRomNo9L-Regu"/>
              </a:rPr>
              <a:t>提高到了</a:t>
            </a:r>
            <a:r>
              <a:rPr lang="en-US" altLang="zh-CN" sz="1800" b="0" i="0" dirty="0">
                <a:solidFill>
                  <a:srgbClr val="000000"/>
                </a:solidFill>
                <a:effectLst/>
                <a:latin typeface="NimbusRomNo9L-Regu"/>
              </a:rPr>
              <a:t>100</a:t>
            </a:r>
            <a:r>
              <a:rPr lang="zh-CN" altLang="en-US" sz="1800" b="0" i="0" dirty="0">
                <a:solidFill>
                  <a:srgbClr val="000000"/>
                </a:solidFill>
                <a:effectLst/>
                <a:latin typeface="NimbusRomNo9L-Regu"/>
              </a:rPr>
              <a:t>，</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我们发现固定模型复杂度以后，提高数据量就可以缓解过拟合的问题</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也就是说，更大的数据集，我们才能用更大的模型。</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在经典统计学里面有个经验，数据点的数量不能少于模型中可学习参数的常数倍（比如</a:t>
            </a:r>
            <a:r>
              <a:rPr lang="en-US" altLang="zh-CN" sz="1800" b="0" i="0" dirty="0">
                <a:solidFill>
                  <a:srgbClr val="000000"/>
                </a:solidFill>
                <a:effectLst/>
                <a:latin typeface="NimbusRomNo9L-Regu"/>
              </a:rPr>
              <a:t>5</a:t>
            </a:r>
            <a:r>
              <a:rPr lang="zh-CN" altLang="en-US" sz="1800" b="0" i="0" dirty="0">
                <a:solidFill>
                  <a:srgbClr val="000000"/>
                </a:solidFill>
                <a:effectLst/>
                <a:latin typeface="NimbusRomNo9L-Regu"/>
              </a:rPr>
              <a:t>倍或者</a:t>
            </a:r>
            <a:r>
              <a:rPr lang="en-US" altLang="zh-CN" sz="1800" b="0" i="0" dirty="0">
                <a:solidFill>
                  <a:srgbClr val="000000"/>
                </a:solidFill>
                <a:effectLst/>
                <a:latin typeface="NimbusRomNo9L-Regu"/>
              </a:rPr>
              <a:t>10</a:t>
            </a:r>
            <a:r>
              <a:rPr lang="zh-CN" altLang="en-US" sz="1800" b="0" i="0" dirty="0">
                <a:solidFill>
                  <a:srgbClr val="000000"/>
                </a:solidFill>
                <a:effectLst/>
                <a:latin typeface="NimbusRomNo9L-Regu"/>
              </a:rPr>
              <a:t>倍）</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不过，我们后面可以在深度学习中看到，深度学习里面经常使用远超过训练集大小的参数规模实现了惊艳的表现。</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A2B11C5A-37BF-1E62-7EC5-47251E2C68EF}"/>
              </a:ext>
            </a:extLst>
          </p:cNvPr>
          <p:cNvSpPr>
            <a:spLocks noGrp="1"/>
          </p:cNvSpPr>
          <p:nvPr>
            <p:ph type="sldNum" sz="quarter" idx="5"/>
          </p:nvPr>
        </p:nvSpPr>
        <p:spPr/>
        <p:txBody>
          <a:bodyPr/>
          <a:lstStyle/>
          <a:p>
            <a:fld id="{4263CEB2-05F9-47E5-B01A-38C44ADA4304}" type="slidenum">
              <a:rPr lang="zh-CN" altLang="en-US" smtClean="0"/>
              <a:t>12</a:t>
            </a:fld>
            <a:endParaRPr lang="zh-CN" altLang="en-US"/>
          </a:p>
        </p:txBody>
      </p:sp>
    </p:spTree>
    <p:extLst>
      <p:ext uri="{BB962C8B-B14F-4D97-AF65-F5344CB8AC3E}">
        <p14:creationId xmlns:p14="http://schemas.microsoft.com/office/powerpoint/2010/main" val="771501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DF6AE-EF23-250D-57B5-AD485F79D8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541748-E017-0305-E282-4A2323E079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860112-4E14-4AE0-7F55-33FAD87B22F3}"/>
              </a:ext>
            </a:extLst>
          </p:cNvPr>
          <p:cNvSpPr>
            <a:spLocks noGrp="1"/>
          </p:cNvSpPr>
          <p:nvPr>
            <p:ph type="body" idx="1"/>
          </p:nvPr>
        </p:nvSpPr>
        <p:spPr/>
        <p:txBody>
          <a:bodyPr/>
          <a:lstStyle/>
          <a:p>
            <a:r>
              <a:rPr lang="zh-CN" altLang="en-US" sz="1800" b="0" i="0" dirty="0">
                <a:solidFill>
                  <a:srgbClr val="000000"/>
                </a:solidFill>
                <a:effectLst/>
                <a:latin typeface="NimbusRomNo9L-Regu"/>
              </a:rPr>
              <a:t>要根据训练集大小限制模型参数规模，这个一般是无法接受的。</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更合理的是我们应该根据问题的复杂度，来选择模型的复杂度。</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除了限制模型参数，常用来控制过拟合现象的一个方法是正则项，</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在误差函数后面添加一个惩罚项来避免系数值过大。</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我们通过系数</a:t>
            </a:r>
            <a:r>
              <a:rPr lang="en-US" altLang="zh-CN" sz="1800" b="0" i="0" dirty="0">
                <a:solidFill>
                  <a:srgbClr val="000000"/>
                </a:solidFill>
                <a:effectLst/>
                <a:latin typeface="NimbusRomNo9L-Regu"/>
              </a:rPr>
              <a:t>lambda</a:t>
            </a:r>
            <a:r>
              <a:rPr lang="zh-CN" altLang="en-US" sz="1800" b="0" i="0" dirty="0">
                <a:solidFill>
                  <a:srgbClr val="000000"/>
                </a:solidFill>
                <a:effectLst/>
                <a:latin typeface="NimbusRomNo9L-Regu"/>
              </a:rPr>
              <a:t>控制正则项的力度</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在神经网络中我们也把这个称之为</a:t>
            </a:r>
            <a:r>
              <a:rPr lang="en-US" altLang="zh-CN" sz="1800" b="0" i="0" dirty="0">
                <a:solidFill>
                  <a:srgbClr val="000000"/>
                </a:solidFill>
                <a:effectLst/>
                <a:latin typeface="NimbusRomNo9L-Regu"/>
              </a:rPr>
              <a:t>weight decay</a:t>
            </a:r>
          </a:p>
        </p:txBody>
      </p:sp>
      <p:sp>
        <p:nvSpPr>
          <p:cNvPr id="4" name="灯片编号占位符 3">
            <a:extLst>
              <a:ext uri="{FF2B5EF4-FFF2-40B4-BE49-F238E27FC236}">
                <a16:creationId xmlns:a16="http://schemas.microsoft.com/office/drawing/2014/main" id="{4DD4F4A3-5122-F3D5-5A2F-68DA5290CE68}"/>
              </a:ext>
            </a:extLst>
          </p:cNvPr>
          <p:cNvSpPr>
            <a:spLocks noGrp="1"/>
          </p:cNvSpPr>
          <p:nvPr>
            <p:ph type="sldNum" sz="quarter" idx="5"/>
          </p:nvPr>
        </p:nvSpPr>
        <p:spPr/>
        <p:txBody>
          <a:bodyPr/>
          <a:lstStyle/>
          <a:p>
            <a:fld id="{4263CEB2-05F9-47E5-B01A-38C44ADA4304}" type="slidenum">
              <a:rPr lang="zh-CN" altLang="en-US" smtClean="0"/>
              <a:t>13</a:t>
            </a:fld>
            <a:endParaRPr lang="zh-CN" altLang="en-US"/>
          </a:p>
        </p:txBody>
      </p:sp>
    </p:spTree>
    <p:extLst>
      <p:ext uri="{BB962C8B-B14F-4D97-AF65-F5344CB8AC3E}">
        <p14:creationId xmlns:p14="http://schemas.microsoft.com/office/powerpoint/2010/main" val="620173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6F04B-6478-98C7-1E83-D33D17B9C2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F7EC27-6C4A-0201-086F-969187FE9B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147638-5054-3A64-08A7-C8AB9DE37C4B}"/>
              </a:ext>
            </a:extLst>
          </p:cNvPr>
          <p:cNvSpPr>
            <a:spLocks noGrp="1"/>
          </p:cNvSpPr>
          <p:nvPr>
            <p:ph type="body" idx="1"/>
          </p:nvPr>
        </p:nvSpPr>
        <p:spPr/>
        <p:txBody>
          <a:bodyPr/>
          <a:lstStyle/>
          <a:p>
            <a:r>
              <a:rPr lang="zh-CN" altLang="en-US" sz="1800" b="0" i="0" dirty="0">
                <a:solidFill>
                  <a:srgbClr val="000000"/>
                </a:solidFill>
                <a:effectLst/>
                <a:latin typeface="NimbusRomNo9L-Regu"/>
              </a:rPr>
              <a:t>不能把</a:t>
            </a:r>
            <a:r>
              <a:rPr lang="en-US" altLang="zh-CN" sz="1800" b="0" i="0" dirty="0">
                <a:solidFill>
                  <a:srgbClr val="000000"/>
                </a:solidFill>
                <a:effectLst/>
                <a:latin typeface="NimbusRomNo9L-Regu"/>
              </a:rPr>
              <a:t>lambda</a:t>
            </a:r>
            <a:r>
              <a:rPr lang="zh-CN" altLang="en-US" sz="1800" b="0" i="0" dirty="0">
                <a:solidFill>
                  <a:srgbClr val="000000"/>
                </a:solidFill>
                <a:effectLst/>
                <a:latin typeface="NimbusRomNo9L-Regu"/>
              </a:rPr>
              <a:t>当做参数进行训练更新，为什么？</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因为优化误差会导致</a:t>
            </a:r>
            <a:r>
              <a:rPr lang="en-US" altLang="zh-CN" sz="1800" b="0" i="0" dirty="0">
                <a:solidFill>
                  <a:srgbClr val="000000"/>
                </a:solidFill>
                <a:effectLst/>
                <a:latin typeface="NimbusRomNo9L-Regu"/>
              </a:rPr>
              <a:t>lambda=0</a:t>
            </a:r>
            <a:r>
              <a:rPr lang="zh-CN" altLang="en-US" sz="1800" b="0" i="0" dirty="0">
                <a:solidFill>
                  <a:srgbClr val="000000"/>
                </a:solidFill>
                <a:effectLst/>
                <a:latin typeface="NimbusRomNo9L-Regu"/>
              </a:rPr>
              <a:t>，然后正则项无效。</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优化</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会导致什么？</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很大，从而过拟合（</a:t>
            </a:r>
            <a:r>
              <a:rPr lang="en-US" altLang="zh-CN" sz="1800" b="0" i="0" dirty="0">
                <a:solidFill>
                  <a:srgbClr val="000000"/>
                </a:solidFill>
                <a:effectLst/>
                <a:latin typeface="NimbusRomNo9L-Regu"/>
              </a:rPr>
              <a:t>M</a:t>
            </a:r>
            <a:r>
              <a:rPr lang="zh-CN" altLang="en-US" sz="1800" b="0" i="0" dirty="0">
                <a:solidFill>
                  <a:srgbClr val="000000"/>
                </a:solidFill>
                <a:effectLst/>
                <a:latin typeface="NimbusRomNo9L-Regu"/>
              </a:rPr>
              <a:t>不是连续值）</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选择在验证集上误差最小的模型</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那是不是不需要额外的测试集了？</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如果</a:t>
            </a:r>
            <a:r>
              <a:rPr lang="en-US" altLang="zh-CN" sz="1800" b="0" i="0" dirty="0">
                <a:solidFill>
                  <a:srgbClr val="000000"/>
                </a:solidFill>
                <a:effectLst/>
                <a:latin typeface="NimbusRomNo9L-Regu"/>
              </a:rPr>
              <a:t>validation set</a:t>
            </a:r>
            <a:r>
              <a:rPr lang="zh-CN" altLang="en-US" sz="1800" b="0" i="0" dirty="0">
                <a:solidFill>
                  <a:srgbClr val="000000"/>
                </a:solidFill>
                <a:effectLst/>
                <a:latin typeface="NimbusRomNo9L-Regu"/>
              </a:rPr>
              <a:t>很小，会导致预测表现的估计不准确</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zh-CN" altLang="en-US" sz="1800" b="0" i="0" dirty="0">
                <a:solidFill>
                  <a:srgbClr val="000000"/>
                </a:solidFill>
                <a:effectLst/>
                <a:latin typeface="NimbusRomNo9L-Regu"/>
              </a:rPr>
              <a:t>交叉验证 （时间不够则课后了解）</a:t>
            </a:r>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p:txBody>
      </p:sp>
      <p:sp>
        <p:nvSpPr>
          <p:cNvPr id="4" name="灯片编号占位符 3">
            <a:extLst>
              <a:ext uri="{FF2B5EF4-FFF2-40B4-BE49-F238E27FC236}">
                <a16:creationId xmlns:a16="http://schemas.microsoft.com/office/drawing/2014/main" id="{B8B11137-61D8-0800-2CFE-63FBD28D828F}"/>
              </a:ext>
            </a:extLst>
          </p:cNvPr>
          <p:cNvSpPr>
            <a:spLocks noGrp="1"/>
          </p:cNvSpPr>
          <p:nvPr>
            <p:ph type="sldNum" sz="quarter" idx="5"/>
          </p:nvPr>
        </p:nvSpPr>
        <p:spPr/>
        <p:txBody>
          <a:bodyPr/>
          <a:lstStyle/>
          <a:p>
            <a:fld id="{4263CEB2-05F9-47E5-B01A-38C44ADA4304}" type="slidenum">
              <a:rPr lang="zh-CN" altLang="en-US" smtClean="0"/>
              <a:t>14</a:t>
            </a:fld>
            <a:endParaRPr lang="zh-CN" altLang="en-US"/>
          </a:p>
        </p:txBody>
      </p:sp>
    </p:spTree>
    <p:extLst>
      <p:ext uri="{BB962C8B-B14F-4D97-AF65-F5344CB8AC3E}">
        <p14:creationId xmlns:p14="http://schemas.microsoft.com/office/powerpoint/2010/main" val="2029367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Hint: you cannot increase the data but you can decrease it.</a:t>
            </a:r>
            <a:endParaRPr lang="zh-CN" altLang="en-US" dirty="0"/>
          </a:p>
        </p:txBody>
      </p:sp>
      <p:sp>
        <p:nvSpPr>
          <p:cNvPr id="4" name="灯片编号占位符 3"/>
          <p:cNvSpPr>
            <a:spLocks noGrp="1"/>
          </p:cNvSpPr>
          <p:nvPr>
            <p:ph type="sldNum" sz="quarter" idx="5"/>
          </p:nvPr>
        </p:nvSpPr>
        <p:spPr/>
        <p:txBody>
          <a:bodyPr/>
          <a:lstStyle/>
          <a:p>
            <a:fld id="{4263CEB2-05F9-47E5-B01A-38C44ADA4304}" type="slidenum">
              <a:rPr lang="zh-CN" altLang="en-US" smtClean="0"/>
              <a:t>15</a:t>
            </a:fld>
            <a:endParaRPr lang="zh-CN" altLang="en-US"/>
          </a:p>
        </p:txBody>
      </p:sp>
    </p:spTree>
    <p:extLst>
      <p:ext uri="{BB962C8B-B14F-4D97-AF65-F5344CB8AC3E}">
        <p14:creationId xmlns:p14="http://schemas.microsoft.com/office/powerpoint/2010/main" val="2573884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solidFill>
                  <a:srgbClr val="000000"/>
                </a:solidFill>
                <a:effectLst/>
                <a:latin typeface="NimbusRomNo9L-Regu"/>
              </a:rPr>
              <a:t>前面，我们介绍一个例子，通过多项式函数来拟合一个合成数据集，</a:t>
            </a:r>
            <a:endParaRPr lang="en-US" altLang="zh-CN" sz="1200" b="0" i="0" dirty="0">
              <a:solidFill>
                <a:srgbClr val="000000"/>
              </a:solidFill>
              <a:effectLst/>
              <a:latin typeface="NimbusRomNo9L-Regu"/>
            </a:endParaRPr>
          </a:p>
          <a:p>
            <a:endParaRPr lang="en-US" altLang="zh-CN" sz="1200" b="0" i="0" dirty="0">
              <a:solidFill>
                <a:srgbClr val="000000"/>
              </a:solidFill>
              <a:effectLst/>
              <a:latin typeface="NimbusRomNo9L-Regu"/>
            </a:endParaRPr>
          </a:p>
          <a:p>
            <a:r>
              <a:rPr lang="zh-CN" altLang="en-US" sz="1200" b="0" i="0" dirty="0">
                <a:solidFill>
                  <a:srgbClr val="000000"/>
                </a:solidFill>
                <a:effectLst/>
                <a:latin typeface="NimbusRomNo9L-Regu"/>
              </a:rPr>
              <a:t>这里面展示了很多机器学习的核心概念</a:t>
            </a:r>
            <a:endParaRPr lang="en-US" altLang="zh-CN" sz="1200" b="0" i="0" dirty="0">
              <a:solidFill>
                <a:srgbClr val="000000"/>
              </a:solidFill>
              <a:effectLst/>
              <a:latin typeface="NimbusRomNo9L-Regu"/>
            </a:endParaRPr>
          </a:p>
          <a:p>
            <a:endParaRPr lang="en-US" altLang="zh-CN" sz="1200" b="0" i="0" dirty="0">
              <a:solidFill>
                <a:srgbClr val="000000"/>
              </a:solidFill>
              <a:effectLst/>
              <a:latin typeface="NimbusRomNo9L-Regu"/>
            </a:endParaRPr>
          </a:p>
          <a:p>
            <a:r>
              <a:rPr lang="zh-CN" altLang="en-US" sz="1200" b="0" i="0" dirty="0">
                <a:solidFill>
                  <a:srgbClr val="000000"/>
                </a:solidFill>
                <a:effectLst/>
                <a:latin typeface="NimbusRomNo9L-Regu"/>
              </a:rPr>
              <a:t>在后面的课程中，我们将会进一步详细的介绍每一个概念具体的内容。</a:t>
            </a:r>
            <a:endParaRPr lang="en-US" altLang="zh-CN" sz="1200" b="0" i="0" dirty="0">
              <a:solidFill>
                <a:srgbClr val="000000"/>
              </a:solidFill>
              <a:effectLst/>
              <a:latin typeface="NimbusRomNo9L-Regu"/>
            </a:endParaRPr>
          </a:p>
          <a:p>
            <a:endParaRPr lang="en-US" altLang="zh-CN" sz="1200" b="0" i="0" dirty="0">
              <a:solidFill>
                <a:srgbClr val="000000"/>
              </a:solidFill>
              <a:effectLst/>
              <a:latin typeface="NimbusRomNo9L-Regu"/>
            </a:endParaRPr>
          </a:p>
          <a:p>
            <a:r>
              <a:rPr lang="zh-CN" altLang="en-US" sz="1200" b="0" i="0" dirty="0">
                <a:solidFill>
                  <a:srgbClr val="000000"/>
                </a:solidFill>
                <a:effectLst/>
                <a:latin typeface="NimbusRomNo9L-Regu"/>
              </a:rPr>
              <a:t>现实的情况更加复杂，数据量级更大，模型参数更多，输入的变量维度也更大，比如一张</a:t>
            </a:r>
            <a:r>
              <a:rPr lang="en-US" altLang="zh-CN" sz="1200" b="0" i="0" dirty="0">
                <a:solidFill>
                  <a:srgbClr val="000000"/>
                </a:solidFill>
                <a:effectLst/>
                <a:latin typeface="NimbusRomNo9L-Regu"/>
              </a:rPr>
              <a:t>1080P</a:t>
            </a:r>
            <a:r>
              <a:rPr lang="zh-CN" altLang="en-US" sz="1200" b="0" i="0" dirty="0">
                <a:solidFill>
                  <a:srgbClr val="000000"/>
                </a:solidFill>
                <a:effectLst/>
                <a:latin typeface="NimbusRomNo9L-Regu"/>
              </a:rPr>
              <a:t>的图片就有多少个维度</a:t>
            </a:r>
            <a:endParaRPr lang="en-US" altLang="zh-CN" sz="1200" b="0" i="0" dirty="0">
              <a:solidFill>
                <a:srgbClr val="000000"/>
              </a:solidFill>
              <a:effectLst/>
              <a:latin typeface="NimbusRomNo9L-Regu"/>
            </a:endParaRPr>
          </a:p>
          <a:p>
            <a:endParaRPr lang="en-US" altLang="zh-CN" sz="1200" b="0" i="0" dirty="0">
              <a:solidFill>
                <a:srgbClr val="000000"/>
              </a:solidFill>
              <a:effectLst/>
              <a:latin typeface="NimbusRomNo9L-Regu"/>
            </a:endParaRPr>
          </a:p>
          <a:p>
            <a:r>
              <a:rPr lang="zh-CN" altLang="en-US" sz="1200" b="0" i="0" dirty="0">
                <a:solidFill>
                  <a:srgbClr val="000000"/>
                </a:solidFill>
                <a:effectLst/>
                <a:latin typeface="NimbusRomNo9L-Regu"/>
              </a:rPr>
              <a:t>这个可学习的函数，从输入映射到输出，就是神经网络</a:t>
            </a:r>
            <a:endParaRPr lang="en-US" altLang="zh-CN" sz="1200" b="0" i="0" dirty="0">
              <a:solidFill>
                <a:srgbClr val="000000"/>
              </a:solidFill>
              <a:effectLst/>
              <a:latin typeface="NimbusRomNo9L-Regu"/>
            </a:endParaRPr>
          </a:p>
          <a:p>
            <a:endParaRPr lang="en-US" altLang="zh-CN" sz="1200" b="0" i="0" dirty="0">
              <a:solidFill>
                <a:srgbClr val="000000"/>
              </a:solidFill>
              <a:effectLst/>
              <a:latin typeface="NimbusRomNo9L-Regu"/>
            </a:endParaRPr>
          </a:p>
          <a:p>
            <a:r>
              <a:rPr lang="zh-CN" altLang="en-US" sz="1200" b="0" i="0" dirty="0">
                <a:solidFill>
                  <a:srgbClr val="000000"/>
                </a:solidFill>
                <a:effectLst/>
                <a:latin typeface="NimbusRomNo9L-Regu"/>
              </a:rPr>
              <a:t>误差函数也会变成高度非线性函数</a:t>
            </a:r>
            <a:endParaRPr lang="en-US" altLang="zh-CN" sz="1200" b="0" i="0" dirty="0">
              <a:solidFill>
                <a:srgbClr val="000000"/>
              </a:solidFill>
              <a:effectLst/>
              <a:latin typeface="NimbusRomNo9L-Regu"/>
            </a:endParaRPr>
          </a:p>
          <a:p>
            <a:endParaRPr lang="en-US" altLang="zh-CN" sz="1200" b="0" i="0" dirty="0">
              <a:solidFill>
                <a:srgbClr val="000000"/>
              </a:solidFill>
              <a:effectLst/>
              <a:latin typeface="NimbusRomNo9L-Regu"/>
            </a:endParaRPr>
          </a:p>
          <a:p>
            <a:r>
              <a:rPr lang="zh-CN" altLang="en-US" sz="1200" b="0" i="0" dirty="0">
                <a:solidFill>
                  <a:srgbClr val="000000"/>
                </a:solidFill>
                <a:effectLst/>
                <a:latin typeface="NimbusRomNo9L-Regu"/>
              </a:rPr>
              <a:t>无法得到闭式解，必须通过优化方式来找到最优解。</a:t>
            </a:r>
            <a:endParaRPr lang="en-US" altLang="zh-CN" sz="1200" b="0" i="0" dirty="0">
              <a:solidFill>
                <a:srgbClr val="000000"/>
              </a:solidFill>
              <a:effectLst/>
              <a:latin typeface="NimbusRomNo9L-Regu"/>
            </a:endParaRPr>
          </a:p>
          <a:p>
            <a:endParaRPr lang="en-US" altLang="zh-CN" sz="1200" b="0" i="0" dirty="0">
              <a:solidFill>
                <a:srgbClr val="000000"/>
              </a:solidFill>
              <a:effectLst/>
              <a:latin typeface="NimbusRomNo9L-Regu"/>
            </a:endParaRPr>
          </a:p>
          <a:p>
            <a:r>
              <a:rPr lang="zh-CN" altLang="en-US" sz="1200" b="0" i="0" dirty="0">
                <a:solidFill>
                  <a:srgbClr val="000000"/>
                </a:solidFill>
                <a:effectLst/>
                <a:latin typeface="NimbusRomNo9L-Regu"/>
              </a:rPr>
              <a:t>需要特殊的计算硬件和超乎想象的计算成本</a:t>
            </a:r>
            <a:endParaRPr lang="en-US" altLang="zh-CN" sz="1200" b="0" i="0" dirty="0">
              <a:solidFill>
                <a:srgbClr val="000000"/>
              </a:solidFill>
              <a:effectLst/>
              <a:latin typeface="NimbusRomNo9L-Regu"/>
            </a:endParaRPr>
          </a:p>
          <a:p>
            <a:endParaRPr lang="zh-CN" altLang="en-US" dirty="0"/>
          </a:p>
        </p:txBody>
      </p:sp>
      <p:sp>
        <p:nvSpPr>
          <p:cNvPr id="4" name="灯片编号占位符 3"/>
          <p:cNvSpPr>
            <a:spLocks noGrp="1"/>
          </p:cNvSpPr>
          <p:nvPr>
            <p:ph type="sldNum" sz="quarter" idx="5"/>
          </p:nvPr>
        </p:nvSpPr>
        <p:spPr/>
        <p:txBody>
          <a:bodyPr/>
          <a:lstStyle/>
          <a:p>
            <a:fld id="{4263CEB2-05F9-47E5-B01A-38C44ADA4304}" type="slidenum">
              <a:rPr lang="zh-CN" altLang="en-US" smtClean="0"/>
              <a:t>16</a:t>
            </a:fld>
            <a:endParaRPr lang="zh-CN" altLang="en-US"/>
          </a:p>
        </p:txBody>
      </p:sp>
    </p:spTree>
    <p:extLst>
      <p:ext uri="{BB962C8B-B14F-4D97-AF65-F5344CB8AC3E}">
        <p14:creationId xmlns:p14="http://schemas.microsoft.com/office/powerpoint/2010/main" val="3665265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44D7C-5423-14FC-1BA0-EA680CE182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7DCDF8-75E3-F91E-0245-FFE2F2161E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0400C4-1DED-38B5-FBAF-F1CAD56FEEAE}"/>
              </a:ext>
            </a:extLst>
          </p:cNvPr>
          <p:cNvSpPr>
            <a:spLocks noGrp="1"/>
          </p:cNvSpPr>
          <p:nvPr>
            <p:ph type="body" idx="1"/>
          </p:nvPr>
        </p:nvSpPr>
        <p:spPr/>
        <p:txBody>
          <a:bodyPr/>
          <a:lstStyle/>
          <a:p>
            <a:r>
              <a:rPr lang="en-US" altLang="zh-CN" sz="1800" b="0" i="0" dirty="0">
                <a:solidFill>
                  <a:srgbClr val="000000"/>
                </a:solidFill>
                <a:effectLst/>
                <a:latin typeface="NimbusRomNo9L-Regu"/>
              </a:rPr>
              <a:t>More complex models often require more data;</a:t>
            </a: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Relevant notions of complexity include both the number of parameters and the range of values that they are allowed to take</a:t>
            </a: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Keeping all else equal, more data almost always leads to better generalization;</a:t>
            </a:r>
          </a:p>
        </p:txBody>
      </p:sp>
      <p:sp>
        <p:nvSpPr>
          <p:cNvPr id="4" name="灯片编号占位符 3">
            <a:extLst>
              <a:ext uri="{FF2B5EF4-FFF2-40B4-BE49-F238E27FC236}">
                <a16:creationId xmlns:a16="http://schemas.microsoft.com/office/drawing/2014/main" id="{19AAF23D-FE90-9D0C-8760-D7A65B15941C}"/>
              </a:ext>
            </a:extLst>
          </p:cNvPr>
          <p:cNvSpPr>
            <a:spLocks noGrp="1"/>
          </p:cNvSpPr>
          <p:nvPr>
            <p:ph type="sldNum" sz="quarter" idx="5"/>
          </p:nvPr>
        </p:nvSpPr>
        <p:spPr/>
        <p:txBody>
          <a:bodyPr/>
          <a:lstStyle/>
          <a:p>
            <a:fld id="{4263CEB2-05F9-47E5-B01A-38C44ADA4304}" type="slidenum">
              <a:rPr lang="zh-CN" altLang="en-US" smtClean="0"/>
              <a:t>17</a:t>
            </a:fld>
            <a:endParaRPr lang="zh-CN" altLang="en-US"/>
          </a:p>
        </p:txBody>
      </p:sp>
    </p:spTree>
    <p:extLst>
      <p:ext uri="{BB962C8B-B14F-4D97-AF65-F5344CB8AC3E}">
        <p14:creationId xmlns:p14="http://schemas.microsoft.com/office/powerpoint/2010/main" val="100147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7249E-D4F9-9247-C081-9966F53F1C0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401392B-8101-8923-C1E9-098037FA83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35C9FDE-B5E2-2406-836F-90000E9DEDAD}"/>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59892B1D-EC00-3B51-01B1-7BC56E413E2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F522E5-C912-431C-09AA-4946AC23FA36}"/>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2420728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77F9A6-5B12-B03A-10BA-DBD0BAAC83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AECACDA-4C3C-90D4-F7E2-2B9CFD6569D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EFF113-0792-E14D-62E6-E880D8B0DC05}"/>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70B85184-E1F9-4E46-633D-C4D5CEC4411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BA9C71-7A15-9BBC-727D-44CE54749F27}"/>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3233591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91005-2AD3-3B09-5DB6-5CDFC664935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604259-09AA-3BE1-F88E-A686E981FB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DD5F007-AFEF-D03E-D771-878C6F6C1C61}"/>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27D7F83C-326C-4F68-071F-A6A9F69BB7A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AE9187-A68F-61A3-16B3-5E04B648C056}"/>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1912912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3E1286-7B46-8D59-F979-187DB1D923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C8115C9-AA29-CC29-D01E-285A6BEAA76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0953CC6-795F-AE23-F582-CF2DC7769D6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C97A927-1DA6-5102-C51C-D75A6C5F049D}"/>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6" name="页脚占位符 5">
            <a:extLst>
              <a:ext uri="{FF2B5EF4-FFF2-40B4-BE49-F238E27FC236}">
                <a16:creationId xmlns:a16="http://schemas.microsoft.com/office/drawing/2014/main" id="{37927FF7-3057-BFDB-EA26-A1F7A375CCE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617B26F-3708-BAB3-EB32-202B7C075847}"/>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1050673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276C2B-AE18-6B1D-CE57-4E641CFEF0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FB59674-FB46-A7AD-770F-2F981D9E9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64C712A-B2A6-3DEB-3B07-068F83B6025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1888BE6-9EB6-31BB-1657-BBBF4836F7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FE6F069-E382-040F-6B59-E056D0545CB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2810465-0845-8EBF-1DBD-10A934A63ACB}"/>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8" name="页脚占位符 7">
            <a:extLst>
              <a:ext uri="{FF2B5EF4-FFF2-40B4-BE49-F238E27FC236}">
                <a16:creationId xmlns:a16="http://schemas.microsoft.com/office/drawing/2014/main" id="{BA65EA22-BA83-E8A1-3D7F-B1C3A3F1708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5C265EE-EB34-BBC9-ED33-635C9951E54C}"/>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2755712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6780D7-E72F-382A-D5B2-93120566934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2FA4AF9-F8BB-8E05-532D-7FDBEEFD9AC7}"/>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4" name="页脚占位符 3">
            <a:extLst>
              <a:ext uri="{FF2B5EF4-FFF2-40B4-BE49-F238E27FC236}">
                <a16:creationId xmlns:a16="http://schemas.microsoft.com/office/drawing/2014/main" id="{B3DACAE7-E205-F268-6D10-EE0D2B10412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32E1DE9-0244-8C7F-E505-6B8E46F60BA7}"/>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858270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5A23F03-9780-AABE-B00B-2826ED1B2C1F}"/>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3" name="页脚占位符 2">
            <a:extLst>
              <a:ext uri="{FF2B5EF4-FFF2-40B4-BE49-F238E27FC236}">
                <a16:creationId xmlns:a16="http://schemas.microsoft.com/office/drawing/2014/main" id="{A8097A11-39A1-F659-2E2A-3143D7C1EEB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299F902-C6FB-00BB-9A07-6538D0C05052}"/>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3760823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178DA8-D33F-5DCD-46C1-E44855203C1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4FDD9C6-8272-0002-5DC6-A460C97CCB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E709C14-E6DC-2D4C-D758-9D2FF20B8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36411C-3D7A-38DF-BE6D-5AB103B05110}"/>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6" name="页脚占位符 5">
            <a:extLst>
              <a:ext uri="{FF2B5EF4-FFF2-40B4-BE49-F238E27FC236}">
                <a16:creationId xmlns:a16="http://schemas.microsoft.com/office/drawing/2014/main" id="{ACDC69C6-90DF-A443-1508-2F6105B8FB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DC10F3E-8FFC-0F80-1FD5-0A4DF7C3773D}"/>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1695651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20C6DA-5DEC-5F10-2C1E-4D66FBD8F4B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B570F14-B4DA-C289-A74C-913AC4A7BB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805C1E0-FED2-DF48-3E88-62B87F1669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ECDCCA7-4CC5-6F65-D051-B411C2CCC966}"/>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6" name="页脚占位符 5">
            <a:extLst>
              <a:ext uri="{FF2B5EF4-FFF2-40B4-BE49-F238E27FC236}">
                <a16:creationId xmlns:a16="http://schemas.microsoft.com/office/drawing/2014/main" id="{11EEFD53-0FC1-9DCE-4FD6-8A76492DCB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CCF549-F214-6F1A-C878-2A53F4D2731F}"/>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1412910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837018-5CF8-0B91-CF3D-693D4C2DB9D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BBC94F7-31D9-2291-F3AC-442830E3304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CFA295-2E34-8514-F051-DD88A26B94F7}"/>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AFBE496C-E0FC-FCB5-CE36-F7A7929E44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8B887D-6B49-07C8-C00C-804E2711C730}"/>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3459310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128B85B-5A6D-3787-D52E-13491BB7A20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F5DBCEF-8E1C-D5B5-0FF2-EF4A2316990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329715-DB11-EF6B-5D04-A1BE71F11615}"/>
              </a:ext>
            </a:extLst>
          </p:cNvPr>
          <p:cNvSpPr>
            <a:spLocks noGrp="1"/>
          </p:cNvSpPr>
          <p:nvPr>
            <p:ph type="dt" sz="half" idx="10"/>
          </p:nvPr>
        </p:nvSpPr>
        <p:spPr/>
        <p:txBody>
          <a:bodyPr/>
          <a:lstStyle/>
          <a:p>
            <a:fld id="{1491AC09-EEF7-424B-98BB-B07D76557C25}"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691E3078-E5FC-4F5C-0CC2-491C7946F8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FA8FE2-67BD-3BFE-DBE6-A9D33F3DE844}"/>
              </a:ext>
            </a:extLst>
          </p:cNvPr>
          <p:cNvSpPr>
            <a:spLocks noGrp="1"/>
          </p:cNvSpPr>
          <p:nvPr>
            <p:ph type="sldNum" sz="quarter" idx="12"/>
          </p:nvPr>
        </p:nvSpPr>
        <p:spPr/>
        <p:txBody>
          <a:body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3809623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6305D7D-2F9B-8D78-BEA4-2260D33F24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C12A583-53DC-F90A-60A0-3E1EBB9638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09F26B9-BFAE-7C27-20D4-56F6331CB3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91AC09-EEF7-424B-98BB-B07D76557C25}" type="datetimeFigureOut">
              <a:rPr lang="zh-CN" altLang="en-US" smtClean="0"/>
              <a:t>2026/2/25</a:t>
            </a:fld>
            <a:endParaRPr lang="zh-CN" altLang="en-US"/>
          </a:p>
        </p:txBody>
      </p:sp>
      <p:sp>
        <p:nvSpPr>
          <p:cNvPr id="5" name="页脚占位符 4">
            <a:extLst>
              <a:ext uri="{FF2B5EF4-FFF2-40B4-BE49-F238E27FC236}">
                <a16:creationId xmlns:a16="http://schemas.microsoft.com/office/drawing/2014/main" id="{878C87F8-A83D-A52D-899C-B3B600E18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A1728F8-AAF4-A45C-B3F1-D540ADD63B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F6451F-484E-4DB8-B481-4BC6FEEE69D2}" type="slidenum">
              <a:rPr lang="zh-CN" altLang="en-US" smtClean="0"/>
              <a:t>‹#›</a:t>
            </a:fld>
            <a:endParaRPr lang="zh-CN" altLang="en-US"/>
          </a:p>
        </p:txBody>
      </p:sp>
    </p:spTree>
    <p:extLst>
      <p:ext uri="{BB962C8B-B14F-4D97-AF65-F5344CB8AC3E}">
        <p14:creationId xmlns:p14="http://schemas.microsoft.com/office/powerpoint/2010/main" val="33247411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enerated.photo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6BF0C-D55C-303A-D68D-6298E61D686E}"/>
              </a:ext>
            </a:extLst>
          </p:cNvPr>
          <p:cNvSpPr>
            <a:spLocks noGrp="1"/>
          </p:cNvSpPr>
          <p:nvPr>
            <p:ph type="ctrTitle"/>
          </p:nvPr>
        </p:nvSpPr>
        <p:spPr>
          <a:xfrm>
            <a:off x="796090" y="1447216"/>
            <a:ext cx="10599820" cy="2387600"/>
          </a:xfrm>
        </p:spPr>
        <p:txBody>
          <a:bodyPr>
            <a:normAutofit/>
          </a:bodyPr>
          <a:lstStyle/>
          <a:p>
            <a:r>
              <a:rPr lang="en-US" altLang="zh-CN" sz="5400" b="1" dirty="0">
                <a:solidFill>
                  <a:srgbClr val="FF0000"/>
                </a:solidFill>
                <a:latin typeface="Times New Roman" panose="02020603050405020304" pitchFamily="18" charset="0"/>
                <a:cs typeface="Times New Roman" panose="02020603050405020304" pitchFamily="18" charset="0"/>
              </a:rPr>
              <a:t>STA326: Data Science Practice</a:t>
            </a:r>
            <a:endParaRPr lang="zh-CN" altLang="en-US" sz="5400" b="1" dirty="0">
              <a:solidFill>
                <a:srgbClr val="FF0000"/>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E9D967F9-583A-3669-58AF-FC2F71FBE4D4}"/>
              </a:ext>
            </a:extLst>
          </p:cNvPr>
          <p:cNvSpPr txBox="1"/>
          <p:nvPr/>
        </p:nvSpPr>
        <p:spPr>
          <a:xfrm>
            <a:off x="3563353" y="4480740"/>
            <a:ext cx="5065294" cy="954107"/>
          </a:xfrm>
          <a:prstGeom prst="rect">
            <a:avLst/>
          </a:prstGeom>
          <a:noFill/>
        </p:spPr>
        <p:txBody>
          <a:bodyPr wrap="square" rtlCol="0">
            <a:spAutoFit/>
          </a:bodyPr>
          <a:lstStyle/>
          <a:p>
            <a:pPr algn="ctr"/>
            <a:r>
              <a:rPr lang="en-US" altLang="zh-CN" sz="2800" dirty="0"/>
              <a:t>Wei Hongxin</a:t>
            </a:r>
          </a:p>
          <a:p>
            <a:pPr algn="ctr"/>
            <a:r>
              <a:rPr lang="en-US" altLang="zh-CN" sz="2800"/>
              <a:t>2026 </a:t>
            </a:r>
            <a:r>
              <a:rPr lang="en-US" altLang="zh-CN" sz="2800" dirty="0"/>
              <a:t>Spring</a:t>
            </a:r>
            <a:endParaRPr lang="zh-CN" altLang="en-US" sz="2800" dirty="0"/>
          </a:p>
        </p:txBody>
      </p:sp>
    </p:spTree>
    <p:extLst>
      <p:ext uri="{BB962C8B-B14F-4D97-AF65-F5344CB8AC3E}">
        <p14:creationId xmlns:p14="http://schemas.microsoft.com/office/powerpoint/2010/main" val="3274860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B3FB60-92CD-5321-30CC-644E08E207BC}"/>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Outlines</a:t>
            </a:r>
            <a:endParaRPr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664F5747-8133-30D0-B5BF-79F41B3CD888}"/>
              </a:ext>
            </a:extLst>
          </p:cNvPr>
          <p:cNvSpPr>
            <a:spLocks noGrp="1"/>
          </p:cNvSpPr>
          <p:nvPr>
            <p:ph idx="1"/>
          </p:nvPr>
        </p:nvSpPr>
        <p:spPr>
          <a:xfrm>
            <a:off x="838200" y="1690688"/>
            <a:ext cx="10808368" cy="5032375"/>
          </a:xfrm>
        </p:spPr>
        <p:txBody>
          <a:bodyPr>
            <a:normAutofit fontScale="55000" lnSpcReduction="20000"/>
          </a:bodyPr>
          <a:lstStyle/>
          <a:p>
            <a:pPr>
              <a:lnSpc>
                <a:spcPct val="170000"/>
              </a:lnSpc>
              <a:buFont typeface="Wingdings" panose="05000000000000000000" pitchFamily="2" charset="2"/>
              <a:buChar char="Ø"/>
            </a:pPr>
            <a:r>
              <a:rPr lang="en-US" altLang="zh-CN" sz="3600" dirty="0">
                <a:latin typeface="Times New Roman" panose="02020603050405020304" pitchFamily="18" charset="0"/>
                <a:cs typeface="Times New Roman" panose="02020603050405020304" pitchFamily="18" charset="0"/>
              </a:rPr>
              <a:t>Examples of Deep Learning</a:t>
            </a:r>
          </a:p>
          <a:p>
            <a:pPr lvl="1">
              <a:lnSpc>
                <a:spcPct val="170000"/>
              </a:lnSpc>
            </a:pPr>
            <a:r>
              <a:rPr lang="en-US" altLang="zh-CN" sz="2900" dirty="0">
                <a:latin typeface="Times New Roman" panose="02020603050405020304" pitchFamily="18" charset="0"/>
                <a:cs typeface="Times New Roman" panose="02020603050405020304" pitchFamily="18" charset="0"/>
              </a:rPr>
              <a:t>Medical diagnosis</a:t>
            </a:r>
          </a:p>
          <a:p>
            <a:pPr lvl="1">
              <a:lnSpc>
                <a:spcPct val="170000"/>
              </a:lnSpc>
            </a:pPr>
            <a:r>
              <a:rPr lang="en-US" altLang="zh-CN" sz="2900" dirty="0">
                <a:latin typeface="Times New Roman" panose="02020603050405020304" pitchFamily="18" charset="0"/>
                <a:cs typeface="Times New Roman" panose="02020603050405020304" pitchFamily="18" charset="0"/>
              </a:rPr>
              <a:t>Image synthesis</a:t>
            </a:r>
          </a:p>
          <a:p>
            <a:pPr>
              <a:lnSpc>
                <a:spcPct val="170000"/>
              </a:lnSpc>
              <a:buFont typeface="Wingdings" panose="05000000000000000000" pitchFamily="2" charset="2"/>
              <a:buChar char="Ø"/>
            </a:pPr>
            <a:r>
              <a:rPr lang="en-US" altLang="zh-CN" sz="3600" dirty="0">
                <a:latin typeface="Times New Roman" panose="02020603050405020304" pitchFamily="18" charset="0"/>
                <a:cs typeface="Times New Roman" panose="02020603050405020304" pitchFamily="18" charset="0"/>
              </a:rPr>
              <a:t>A tutorial example</a:t>
            </a:r>
          </a:p>
          <a:p>
            <a:pPr lvl="1">
              <a:lnSpc>
                <a:spcPct val="170000"/>
              </a:lnSpc>
            </a:pPr>
            <a:r>
              <a:rPr lang="en-US" altLang="zh-CN" sz="2900" dirty="0">
                <a:latin typeface="Times New Roman" panose="02020603050405020304" pitchFamily="18" charset="0"/>
                <a:cs typeface="Times New Roman" panose="02020603050405020304" pitchFamily="18" charset="0"/>
              </a:rPr>
              <a:t>Synthetic data</a:t>
            </a:r>
          </a:p>
          <a:p>
            <a:pPr lvl="1">
              <a:lnSpc>
                <a:spcPct val="170000"/>
              </a:lnSpc>
            </a:pPr>
            <a:r>
              <a:rPr lang="en-US" altLang="zh-CN" sz="2900" dirty="0">
                <a:latin typeface="Times New Roman" panose="02020603050405020304" pitchFamily="18" charset="0"/>
                <a:cs typeface="Times New Roman" panose="02020603050405020304" pitchFamily="18" charset="0"/>
              </a:rPr>
              <a:t>Linear models</a:t>
            </a:r>
          </a:p>
          <a:p>
            <a:pPr lvl="1">
              <a:lnSpc>
                <a:spcPct val="170000"/>
              </a:lnSpc>
            </a:pPr>
            <a:r>
              <a:rPr lang="en-US" altLang="zh-CN" sz="2900" dirty="0">
                <a:latin typeface="Times New Roman" panose="02020603050405020304" pitchFamily="18" charset="0"/>
                <a:cs typeface="Times New Roman" panose="02020603050405020304" pitchFamily="18" charset="0"/>
              </a:rPr>
              <a:t>Error function</a:t>
            </a:r>
          </a:p>
          <a:p>
            <a:pPr lvl="1">
              <a:lnSpc>
                <a:spcPct val="170000"/>
              </a:lnSpc>
            </a:pPr>
            <a:r>
              <a:rPr lang="en-US" altLang="zh-CN" sz="2900" dirty="0">
                <a:latin typeface="Times New Roman" panose="02020603050405020304" pitchFamily="18" charset="0"/>
                <a:cs typeface="Times New Roman" panose="02020603050405020304" pitchFamily="18" charset="0"/>
              </a:rPr>
              <a:t>Model complexity</a:t>
            </a:r>
          </a:p>
          <a:p>
            <a:pPr lvl="1">
              <a:lnSpc>
                <a:spcPct val="170000"/>
              </a:lnSpc>
            </a:pPr>
            <a:r>
              <a:rPr lang="en-US" altLang="zh-CN" sz="2900" dirty="0">
                <a:latin typeface="Times New Roman" panose="02020603050405020304" pitchFamily="18" charset="0"/>
                <a:cs typeface="Times New Roman" panose="02020603050405020304" pitchFamily="18" charset="0"/>
              </a:rPr>
              <a:t>Regularization</a:t>
            </a:r>
          </a:p>
          <a:p>
            <a:pPr lvl="1">
              <a:lnSpc>
                <a:spcPct val="170000"/>
              </a:lnSpc>
            </a:pPr>
            <a:r>
              <a:rPr lang="en-US" altLang="zh-CN" sz="2900" dirty="0">
                <a:latin typeface="Times New Roman" panose="02020603050405020304" pitchFamily="18" charset="0"/>
                <a:cs typeface="Times New Roman" panose="02020603050405020304" pitchFamily="18" charset="0"/>
              </a:rPr>
              <a:t>Model selection</a:t>
            </a:r>
          </a:p>
          <a:p>
            <a:pPr>
              <a:lnSpc>
                <a:spcPct val="170000"/>
              </a:lnSpc>
            </a:pPr>
            <a:endParaRPr lang="zh-CN" altLang="en-US"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BA1D1593-3637-1416-9C17-D591E8A445DC}"/>
              </a:ext>
            </a:extLst>
          </p:cNvPr>
          <p:cNvSpPr txBox="1"/>
          <p:nvPr/>
        </p:nvSpPr>
        <p:spPr>
          <a:xfrm>
            <a:off x="3057995" y="4601981"/>
            <a:ext cx="2158584" cy="369332"/>
          </a:xfrm>
          <a:prstGeom prst="rect">
            <a:avLst/>
          </a:prstGeom>
          <a:noFill/>
        </p:spPr>
        <p:txBody>
          <a:bodyPr wrap="square" rtlCol="0">
            <a:spAutoFit/>
          </a:bodyPr>
          <a:lstStyle/>
          <a:p>
            <a:r>
              <a:rPr kumimoji="1" lang="en-US" altLang="zh-CN" dirty="0">
                <a:solidFill>
                  <a:srgbClr val="FF0000"/>
                </a:solidFill>
              </a:rPr>
              <a:t>Core: Why MAE?</a:t>
            </a:r>
            <a:endParaRPr kumimoji="1" lang="zh-CN" altLang="en-US" dirty="0">
              <a:solidFill>
                <a:srgbClr val="FF0000"/>
              </a:solidFill>
            </a:endParaRPr>
          </a:p>
        </p:txBody>
      </p:sp>
    </p:spTree>
    <p:extLst>
      <p:ext uri="{BB962C8B-B14F-4D97-AF65-F5344CB8AC3E}">
        <p14:creationId xmlns:p14="http://schemas.microsoft.com/office/powerpoint/2010/main" val="840636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88911D-8ACB-50F8-1E23-47ED1CCA58D7}"/>
              </a:ext>
            </a:extLst>
          </p:cNvPr>
          <p:cNvSpPr>
            <a:spLocks noGrp="1"/>
          </p:cNvSpPr>
          <p:nvPr>
            <p:ph type="title"/>
          </p:nvPr>
        </p:nvSpPr>
        <p:spPr/>
        <p:txBody>
          <a:bodyPr/>
          <a:lstStyle/>
          <a:p>
            <a:r>
              <a:rPr lang="en-US" altLang="zh-CN" dirty="0"/>
              <a:t>Classification - Medical diagnosis</a:t>
            </a:r>
            <a:endParaRPr lang="zh-CN" altLang="en-US" dirty="0"/>
          </a:p>
        </p:txBody>
      </p:sp>
      <p:pic>
        <p:nvPicPr>
          <p:cNvPr id="5" name="图片 4">
            <a:extLst>
              <a:ext uri="{FF2B5EF4-FFF2-40B4-BE49-F238E27FC236}">
                <a16:creationId xmlns:a16="http://schemas.microsoft.com/office/drawing/2014/main" id="{D1ABAEF2-B332-130C-DFB9-2008E198E0D5}"/>
              </a:ext>
            </a:extLst>
          </p:cNvPr>
          <p:cNvPicPr>
            <a:picLocks noChangeAspect="1"/>
          </p:cNvPicPr>
          <p:nvPr/>
        </p:nvPicPr>
        <p:blipFill>
          <a:blip r:embed="rId3"/>
          <a:stretch>
            <a:fillRect/>
          </a:stretch>
        </p:blipFill>
        <p:spPr>
          <a:xfrm>
            <a:off x="838200" y="2924371"/>
            <a:ext cx="4762500" cy="2476500"/>
          </a:xfrm>
          <a:prstGeom prst="rect">
            <a:avLst/>
          </a:prstGeom>
        </p:spPr>
      </p:pic>
      <p:sp>
        <p:nvSpPr>
          <p:cNvPr id="8" name="文本框 7">
            <a:extLst>
              <a:ext uri="{FF2B5EF4-FFF2-40B4-BE49-F238E27FC236}">
                <a16:creationId xmlns:a16="http://schemas.microsoft.com/office/drawing/2014/main" id="{58F8D0F9-FAB4-36EC-E5B2-A4B03D522645}"/>
              </a:ext>
            </a:extLst>
          </p:cNvPr>
          <p:cNvSpPr txBox="1"/>
          <p:nvPr/>
        </p:nvSpPr>
        <p:spPr>
          <a:xfrm>
            <a:off x="1008647" y="1959602"/>
            <a:ext cx="1708485" cy="707886"/>
          </a:xfrm>
          <a:prstGeom prst="rect">
            <a:avLst/>
          </a:prstGeom>
          <a:noFill/>
        </p:spPr>
        <p:txBody>
          <a:bodyPr wrap="square" rtlCol="0">
            <a:spAutoFit/>
          </a:bodyPr>
          <a:lstStyle/>
          <a:p>
            <a:pPr algn="ctr"/>
            <a:r>
              <a:rPr lang="en-US" altLang="zh-CN" sz="2000" dirty="0">
                <a:solidFill>
                  <a:srgbClr val="000000"/>
                </a:solidFill>
                <a:effectLst/>
                <a:latin typeface="Times New Roman" panose="02020603050405020304" pitchFamily="18" charset="0"/>
                <a:cs typeface="Times New Roman" panose="02020603050405020304" pitchFamily="18" charset="0"/>
              </a:rPr>
              <a:t>Melanoma</a:t>
            </a:r>
            <a:endParaRPr lang="zh-CN" altLang="en-US" sz="2000" dirty="0">
              <a:latin typeface="Times New Roman" panose="02020603050405020304" pitchFamily="18" charset="0"/>
              <a:cs typeface="Times New Roman" panose="02020603050405020304" pitchFamily="18" charset="0"/>
            </a:endParaRPr>
          </a:p>
          <a:p>
            <a:pPr algn="ctr"/>
            <a:r>
              <a:rPr lang="zh-CN" altLang="en-US" sz="2000" dirty="0">
                <a:latin typeface="宋体" panose="02010600030101010101" pitchFamily="2" charset="-122"/>
                <a:ea typeface="宋体" panose="02010600030101010101" pitchFamily="2" charset="-122"/>
                <a:cs typeface="Times New Roman" panose="02020603050405020304" pitchFamily="18" charset="0"/>
              </a:rPr>
              <a:t>黑色素瘤</a:t>
            </a:r>
          </a:p>
        </p:txBody>
      </p:sp>
      <p:sp>
        <p:nvSpPr>
          <p:cNvPr id="10" name="文本框 9">
            <a:extLst>
              <a:ext uri="{FF2B5EF4-FFF2-40B4-BE49-F238E27FC236}">
                <a16:creationId xmlns:a16="http://schemas.microsoft.com/office/drawing/2014/main" id="{C7BD75DD-10C1-4D05-4364-22E4F90790FD}"/>
              </a:ext>
            </a:extLst>
          </p:cNvPr>
          <p:cNvSpPr txBox="1"/>
          <p:nvPr/>
        </p:nvSpPr>
        <p:spPr>
          <a:xfrm>
            <a:off x="509337" y="6271936"/>
            <a:ext cx="7166810" cy="338554"/>
          </a:xfrm>
          <a:prstGeom prst="rect">
            <a:avLst/>
          </a:prstGeom>
          <a:noFill/>
        </p:spPr>
        <p:txBody>
          <a:bodyPr wrap="square">
            <a:spAutoFit/>
          </a:bodyPr>
          <a:lstStyle/>
          <a:p>
            <a:pPr algn="l">
              <a:spcAft>
                <a:spcPts val="1200"/>
              </a:spcAft>
            </a:pPr>
            <a:r>
              <a:rPr lang="en-US" altLang="zh-CN" sz="1600" i="1" dirty="0">
                <a:solidFill>
                  <a:srgbClr val="222222"/>
                </a:solidFill>
                <a:effectLst/>
                <a:latin typeface="Times New Roman" panose="02020603050405020304" pitchFamily="18" charset="0"/>
                <a:cs typeface="Times New Roman" panose="02020603050405020304" pitchFamily="18" charset="0"/>
              </a:rPr>
              <a:t>Dermatologist-level classification of skin cancer with deep neural networks, 2017</a:t>
            </a:r>
          </a:p>
        </p:txBody>
      </p:sp>
      <p:sp>
        <p:nvSpPr>
          <p:cNvPr id="11" name="文本框 10">
            <a:extLst>
              <a:ext uri="{FF2B5EF4-FFF2-40B4-BE49-F238E27FC236}">
                <a16:creationId xmlns:a16="http://schemas.microsoft.com/office/drawing/2014/main" id="{F39085B7-A83D-E95C-340B-AC46D3ED3570}"/>
              </a:ext>
            </a:extLst>
          </p:cNvPr>
          <p:cNvSpPr txBox="1"/>
          <p:nvPr/>
        </p:nvSpPr>
        <p:spPr>
          <a:xfrm>
            <a:off x="6609347" y="1918786"/>
            <a:ext cx="4756484" cy="369332"/>
          </a:xfrm>
          <a:prstGeom prst="rect">
            <a:avLst/>
          </a:prstGeom>
          <a:noFill/>
        </p:spPr>
        <p:txBody>
          <a:bodyPr wrap="square" rtlCol="0">
            <a:spAutoFit/>
          </a:bodyPr>
          <a:lstStyle/>
          <a:p>
            <a:r>
              <a:rPr lang="en-US" altLang="zh-CN" dirty="0"/>
              <a:t>Build a training set (Labelled by biopsy test)</a:t>
            </a:r>
            <a:endParaRPr lang="zh-CN" altLang="en-US" dirty="0"/>
          </a:p>
        </p:txBody>
      </p:sp>
      <p:pic>
        <p:nvPicPr>
          <p:cNvPr id="1026" name="Picture 2" descr="神经网络入门- 阮一峰的网络日志">
            <a:extLst>
              <a:ext uri="{FF2B5EF4-FFF2-40B4-BE49-F238E27FC236}">
                <a16:creationId xmlns:a16="http://schemas.microsoft.com/office/drawing/2014/main" id="{74901BB1-3756-EA40-5FFE-0853DE4B35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3965" y="3341714"/>
            <a:ext cx="3352802" cy="2162557"/>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D83107D9-1CA0-E3C9-1312-3F473C44E7A9}"/>
              </a:ext>
            </a:extLst>
          </p:cNvPr>
          <p:cNvSpPr txBox="1"/>
          <p:nvPr/>
        </p:nvSpPr>
        <p:spPr>
          <a:xfrm>
            <a:off x="10371220" y="4099826"/>
            <a:ext cx="1505951" cy="646331"/>
          </a:xfrm>
          <a:prstGeom prst="rect">
            <a:avLst/>
          </a:prstGeom>
          <a:noFill/>
        </p:spPr>
        <p:txBody>
          <a:bodyPr wrap="square" rtlCol="0">
            <a:spAutoFit/>
          </a:bodyPr>
          <a:lstStyle/>
          <a:p>
            <a:pPr algn="ctr"/>
            <a:r>
              <a:rPr lang="en-US" altLang="zh-CN" dirty="0"/>
              <a:t>25M parameters</a:t>
            </a:r>
            <a:endParaRPr lang="zh-CN" altLang="en-US" dirty="0"/>
          </a:p>
        </p:txBody>
      </p:sp>
      <p:sp>
        <p:nvSpPr>
          <p:cNvPr id="13" name="箭头: 下 12">
            <a:extLst>
              <a:ext uri="{FF2B5EF4-FFF2-40B4-BE49-F238E27FC236}">
                <a16:creationId xmlns:a16="http://schemas.microsoft.com/office/drawing/2014/main" id="{556F9678-0DC1-9E6D-0B20-E558B826F099}"/>
              </a:ext>
            </a:extLst>
          </p:cNvPr>
          <p:cNvSpPr/>
          <p:nvPr/>
        </p:nvSpPr>
        <p:spPr>
          <a:xfrm>
            <a:off x="8361947" y="2383310"/>
            <a:ext cx="421105" cy="70788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2838B579-A4BC-4863-6EE8-84A6DECDA58D}"/>
              </a:ext>
            </a:extLst>
          </p:cNvPr>
          <p:cNvSpPr txBox="1"/>
          <p:nvPr/>
        </p:nvSpPr>
        <p:spPr>
          <a:xfrm>
            <a:off x="8987589" y="2482822"/>
            <a:ext cx="1116933" cy="369332"/>
          </a:xfrm>
          <a:prstGeom prst="rect">
            <a:avLst/>
          </a:prstGeom>
          <a:noFill/>
        </p:spPr>
        <p:txBody>
          <a:bodyPr wrap="square" rtlCol="0">
            <a:spAutoFit/>
          </a:bodyPr>
          <a:lstStyle/>
          <a:p>
            <a:r>
              <a:rPr lang="en-US" altLang="zh-CN" dirty="0"/>
              <a:t>Learning</a:t>
            </a:r>
            <a:endParaRPr lang="zh-CN" altLang="en-US" dirty="0"/>
          </a:p>
        </p:txBody>
      </p:sp>
      <p:sp>
        <p:nvSpPr>
          <p:cNvPr id="15" name="文本框 14">
            <a:extLst>
              <a:ext uri="{FF2B5EF4-FFF2-40B4-BE49-F238E27FC236}">
                <a16:creationId xmlns:a16="http://schemas.microsoft.com/office/drawing/2014/main" id="{05449821-B0C2-F43E-5D63-E5FB058533A2}"/>
              </a:ext>
            </a:extLst>
          </p:cNvPr>
          <p:cNvSpPr txBox="1"/>
          <p:nvPr/>
        </p:nvSpPr>
        <p:spPr>
          <a:xfrm>
            <a:off x="6843965" y="2522355"/>
            <a:ext cx="1287379" cy="369332"/>
          </a:xfrm>
          <a:prstGeom prst="rect">
            <a:avLst/>
          </a:prstGeom>
          <a:noFill/>
        </p:spPr>
        <p:txBody>
          <a:bodyPr wrap="square" rtlCol="0">
            <a:spAutoFit/>
          </a:bodyPr>
          <a:lstStyle/>
          <a:p>
            <a:r>
              <a:rPr lang="en-US" altLang="zh-CN" dirty="0"/>
              <a:t>12,9000</a:t>
            </a:r>
            <a:endParaRPr lang="zh-CN" altLang="en-US" dirty="0"/>
          </a:p>
        </p:txBody>
      </p:sp>
      <p:sp>
        <p:nvSpPr>
          <p:cNvPr id="16" name="文本框 15">
            <a:extLst>
              <a:ext uri="{FF2B5EF4-FFF2-40B4-BE49-F238E27FC236}">
                <a16:creationId xmlns:a16="http://schemas.microsoft.com/office/drawing/2014/main" id="{3ADD6618-4F2D-FACA-4846-2085C6A2CE9C}"/>
              </a:ext>
            </a:extLst>
          </p:cNvPr>
          <p:cNvSpPr txBox="1"/>
          <p:nvPr/>
        </p:nvSpPr>
        <p:spPr>
          <a:xfrm>
            <a:off x="1008647" y="5799221"/>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Supervised learning</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5BCA217E-4EE3-A7DE-6D57-3DB7FA7926DB}"/>
              </a:ext>
            </a:extLst>
          </p:cNvPr>
          <p:cNvSpPr txBox="1"/>
          <p:nvPr/>
        </p:nvSpPr>
        <p:spPr>
          <a:xfrm>
            <a:off x="4553953" y="5799204"/>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Classification</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F5E9026A-47D3-1E07-FC6A-086BD3F60B78}"/>
              </a:ext>
            </a:extLst>
          </p:cNvPr>
          <p:cNvSpPr txBox="1"/>
          <p:nvPr/>
        </p:nvSpPr>
        <p:spPr>
          <a:xfrm>
            <a:off x="7816516" y="5799204"/>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Transfer Learning</a:t>
            </a:r>
            <a:endParaRPr lang="zh-CN"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32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P spid="14" grpId="0"/>
      <p:bldP spid="15" grpId="0"/>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35885-9BEE-BDFF-55CD-FA2D42AA018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2EE864-C6F4-CFBC-E7FD-AF677C42ED44}"/>
              </a:ext>
            </a:extLst>
          </p:cNvPr>
          <p:cNvSpPr>
            <a:spLocks noGrp="1"/>
          </p:cNvSpPr>
          <p:nvPr>
            <p:ph type="title"/>
          </p:nvPr>
        </p:nvSpPr>
        <p:spPr/>
        <p:txBody>
          <a:bodyPr/>
          <a:lstStyle/>
          <a:p>
            <a:r>
              <a:rPr lang="en-US" altLang="zh-CN" dirty="0"/>
              <a:t>Generation - Image synthesis</a:t>
            </a:r>
            <a:endParaRPr lang="zh-CN" altLang="en-US" dirty="0"/>
          </a:p>
        </p:txBody>
      </p:sp>
      <p:pic>
        <p:nvPicPr>
          <p:cNvPr id="5" name="图片 4">
            <a:extLst>
              <a:ext uri="{FF2B5EF4-FFF2-40B4-BE49-F238E27FC236}">
                <a16:creationId xmlns:a16="http://schemas.microsoft.com/office/drawing/2014/main" id="{BD6633C9-E842-C31D-B71A-5044ED6AFF42}"/>
              </a:ext>
            </a:extLst>
          </p:cNvPr>
          <p:cNvPicPr>
            <a:picLocks noChangeAspect="1"/>
          </p:cNvPicPr>
          <p:nvPr/>
        </p:nvPicPr>
        <p:blipFill>
          <a:blip r:embed="rId3"/>
          <a:stretch>
            <a:fillRect/>
          </a:stretch>
        </p:blipFill>
        <p:spPr>
          <a:xfrm>
            <a:off x="849284" y="1913864"/>
            <a:ext cx="6748549" cy="3904612"/>
          </a:xfrm>
          <a:prstGeom prst="rect">
            <a:avLst/>
          </a:prstGeom>
        </p:spPr>
      </p:pic>
      <p:sp>
        <p:nvSpPr>
          <p:cNvPr id="6" name="文本框 5">
            <a:extLst>
              <a:ext uri="{FF2B5EF4-FFF2-40B4-BE49-F238E27FC236}">
                <a16:creationId xmlns:a16="http://schemas.microsoft.com/office/drawing/2014/main" id="{3797BAEC-DFB8-881A-A3D3-4C83E1357D5C}"/>
              </a:ext>
            </a:extLst>
          </p:cNvPr>
          <p:cNvSpPr txBox="1"/>
          <p:nvPr/>
        </p:nvSpPr>
        <p:spPr>
          <a:xfrm>
            <a:off x="1014153" y="6041652"/>
            <a:ext cx="5602778" cy="369332"/>
          </a:xfrm>
          <a:prstGeom prst="rect">
            <a:avLst/>
          </a:prstGeom>
          <a:noFill/>
        </p:spPr>
        <p:txBody>
          <a:bodyPr wrap="square" rtlCol="0">
            <a:spAutoFit/>
          </a:bodyPr>
          <a:lstStyle/>
          <a:p>
            <a:r>
              <a:rPr lang="en-US" altLang="zh-CN">
                <a:hlinkClick r:id="rId4"/>
              </a:rPr>
              <a:t>Generated Photos | Unique, worry-free model photos</a:t>
            </a:r>
            <a:endParaRPr lang="zh-CN" altLang="en-US" dirty="0"/>
          </a:p>
        </p:txBody>
      </p:sp>
      <p:sp>
        <p:nvSpPr>
          <p:cNvPr id="8" name="文本框 7">
            <a:extLst>
              <a:ext uri="{FF2B5EF4-FFF2-40B4-BE49-F238E27FC236}">
                <a16:creationId xmlns:a16="http://schemas.microsoft.com/office/drawing/2014/main" id="{DB816DDD-6DDF-EFDB-1205-330235B9A60D}"/>
              </a:ext>
            </a:extLst>
          </p:cNvPr>
          <p:cNvSpPr txBox="1"/>
          <p:nvPr/>
        </p:nvSpPr>
        <p:spPr>
          <a:xfrm>
            <a:off x="8704848" y="3990518"/>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Generative Model</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28081521-73B7-88C0-A667-03C87DE06D78}"/>
              </a:ext>
            </a:extLst>
          </p:cNvPr>
          <p:cNvSpPr txBox="1"/>
          <p:nvPr/>
        </p:nvSpPr>
        <p:spPr>
          <a:xfrm>
            <a:off x="8704848" y="2655937"/>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Unsupervised Learning</a:t>
            </a:r>
            <a:endParaRPr lang="zh-CN" alt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164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59FF6-F354-DE05-5270-DC5AFB95FE7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4DD81A-BBB7-DB21-58B6-E07DF1FDA989}"/>
              </a:ext>
            </a:extLst>
          </p:cNvPr>
          <p:cNvSpPr>
            <a:spLocks noGrp="1"/>
          </p:cNvSpPr>
          <p:nvPr>
            <p:ph type="title"/>
          </p:nvPr>
        </p:nvSpPr>
        <p:spPr>
          <a:xfrm>
            <a:off x="838200" y="376742"/>
            <a:ext cx="10515600" cy="1325563"/>
          </a:xfrm>
        </p:spPr>
        <p:txBody>
          <a:bodyPr/>
          <a:lstStyle/>
          <a:p>
            <a:r>
              <a:rPr lang="en-US" altLang="zh-CN" dirty="0"/>
              <a:t>A tutorial example</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125D4BF-F421-141C-01EE-B99DCC3517BD}"/>
                  </a:ext>
                </a:extLst>
              </p:cNvPr>
              <p:cNvSpPr txBox="1"/>
              <p:nvPr/>
            </p:nvSpPr>
            <p:spPr>
              <a:xfrm>
                <a:off x="838200" y="1799651"/>
                <a:ext cx="7351295"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Input variable </a:t>
                </a:r>
                <a14:m>
                  <m:oMath xmlns:m="http://schemas.openxmlformats.org/officeDocument/2006/math">
                    <m:r>
                      <a:rPr lang="en-US" altLang="zh-CN" sz="2400" i="1" dirty="0" smtClean="0">
                        <a:latin typeface="Cambria Math" panose="02040503050406030204" pitchFamily="18" charset="0"/>
                      </a:rPr>
                      <m:t>𝑥</m:t>
                    </m:r>
                  </m:oMath>
                </a14:m>
                <a:r>
                  <a:rPr lang="en-US" altLang="zh-CN" sz="2400" dirty="0">
                    <a:latin typeface="Times New Roman" panose="02020603050405020304" pitchFamily="18" charset="0"/>
                    <a:cs typeface="Times New Roman" panose="02020603050405020304" pitchFamily="18" charset="0"/>
                  </a:rPr>
                  <a:t>, Target variable </a:t>
                </a:r>
                <a14:m>
                  <m:oMath xmlns:m="http://schemas.openxmlformats.org/officeDocument/2006/math">
                    <m:r>
                      <a:rPr lang="en-US" altLang="zh-CN" sz="2400" i="1" dirty="0" smtClean="0">
                        <a:latin typeface="Cambria Math" panose="02040503050406030204" pitchFamily="18" charset="0"/>
                      </a:rPr>
                      <m:t>𝑡</m:t>
                    </m:r>
                  </m:oMath>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4125D4BF-F421-141C-01EE-B99DCC3517BD}"/>
                  </a:ext>
                </a:extLst>
              </p:cNvPr>
              <p:cNvSpPr txBox="1">
                <a:spLocks noRot="1" noChangeAspect="1" noMove="1" noResize="1" noEditPoints="1" noAdjustHandles="1" noChangeArrowheads="1" noChangeShapeType="1" noTextEdit="1"/>
              </p:cNvSpPr>
              <p:nvPr/>
            </p:nvSpPr>
            <p:spPr>
              <a:xfrm>
                <a:off x="838200" y="1799651"/>
                <a:ext cx="7351295" cy="461665"/>
              </a:xfrm>
              <a:prstGeom prst="rect">
                <a:avLst/>
              </a:prstGeom>
              <a:blipFill>
                <a:blip r:embed="rId3"/>
                <a:stretch>
                  <a:fillRect l="-1328"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CB92968-F48C-C4FE-6492-F589243DC56B}"/>
                  </a:ext>
                </a:extLst>
              </p:cNvPr>
              <p:cNvSpPr txBox="1"/>
              <p:nvPr/>
            </p:nvSpPr>
            <p:spPr>
              <a:xfrm>
                <a:off x="838200" y="2489301"/>
                <a:ext cx="7928810" cy="1180323"/>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Given a training set: </a:t>
                </a:r>
                <a14:m>
                  <m:oMath xmlns:m="http://schemas.openxmlformats.org/officeDocument/2006/math">
                    <m:sSubSup>
                      <m:sSubSupPr>
                        <m:ctrlPr>
                          <a:rPr lang="en-US" altLang="zh-CN" sz="2400" b="0" i="1" dirty="0" smtClean="0">
                            <a:latin typeface="Cambria Math" panose="02040503050406030204" pitchFamily="18" charset="0"/>
                          </a:rPr>
                        </m:ctrlPr>
                      </m:sSubSupPr>
                      <m:e>
                        <m:d>
                          <m:dPr>
                            <m:begChr m:val="{"/>
                            <m:endChr m:val="}"/>
                            <m:ctrlPr>
                              <a:rPr lang="en-US" altLang="zh-CN" sz="2400" i="1" dirty="0" smtClean="0">
                                <a:latin typeface="Cambria Math" panose="02040503050406030204" pitchFamily="18" charset="0"/>
                              </a:rPr>
                            </m:ctrlPr>
                          </m:dPr>
                          <m:e>
                            <m:d>
                              <m:dPr>
                                <m:ctrlPr>
                                  <a:rPr lang="en-US" altLang="zh-CN" sz="2400" i="1" dirty="0" smtClean="0">
                                    <a:latin typeface="Cambria Math" panose="02040503050406030204" pitchFamily="18" charset="0"/>
                                  </a:rPr>
                                </m:ctrlPr>
                              </m:dPr>
                              <m:e>
                                <m:sSub>
                                  <m:sSubPr>
                                    <m:ctrlPr>
                                      <a:rPr lang="en-US" altLang="zh-CN" sz="2400" i="1" dirty="0" err="1" smtClean="0">
                                        <a:latin typeface="Cambria Math" panose="02040503050406030204" pitchFamily="18" charset="0"/>
                                      </a:rPr>
                                    </m:ctrlPr>
                                  </m:sSubPr>
                                  <m:e>
                                    <m:r>
                                      <a:rPr lang="en-US" altLang="zh-CN" sz="2400" i="1" dirty="0" err="1" smtClean="0">
                                        <a:latin typeface="Cambria Math" panose="02040503050406030204" pitchFamily="18" charset="0"/>
                                      </a:rPr>
                                      <m:t>𝑥</m:t>
                                    </m:r>
                                  </m:e>
                                  <m:sub>
                                    <m:r>
                                      <a:rPr lang="en-US" altLang="zh-CN" sz="2400" i="1" dirty="0" err="1" smtClean="0">
                                        <a:latin typeface="Cambria Math" panose="02040503050406030204" pitchFamily="18" charset="0"/>
                                      </a:rPr>
                                      <m:t>𝑖</m:t>
                                    </m:r>
                                  </m:sub>
                                </m:sSub>
                                <m:r>
                                  <a:rPr lang="en-US" altLang="zh-CN" sz="2400" i="1" dirty="0" smtClean="0">
                                    <a:latin typeface="Cambria Math" panose="02040503050406030204" pitchFamily="18" charset="0"/>
                                  </a:rPr>
                                  <m:t>, </m:t>
                                </m:r>
                                <m:sSub>
                                  <m:sSubPr>
                                    <m:ctrlPr>
                                      <a:rPr lang="en-US" altLang="zh-CN" sz="2400" i="1" dirty="0" err="1" smtClean="0">
                                        <a:latin typeface="Cambria Math" panose="02040503050406030204" pitchFamily="18" charset="0"/>
                                      </a:rPr>
                                    </m:ctrlPr>
                                  </m:sSubPr>
                                  <m:e>
                                    <m:r>
                                      <a:rPr lang="en-US" altLang="zh-CN" sz="2400" i="1" dirty="0" err="1" smtClean="0">
                                        <a:latin typeface="Cambria Math" panose="02040503050406030204" pitchFamily="18" charset="0"/>
                                      </a:rPr>
                                      <m:t>𝑡</m:t>
                                    </m:r>
                                  </m:e>
                                  <m:sub>
                                    <m:r>
                                      <a:rPr lang="en-US" altLang="zh-CN" sz="2400" i="1" dirty="0" err="1" smtClean="0">
                                        <a:latin typeface="Cambria Math" panose="02040503050406030204" pitchFamily="18" charset="0"/>
                                      </a:rPr>
                                      <m:t>𝑖</m:t>
                                    </m:r>
                                  </m:sub>
                                </m:sSub>
                              </m:e>
                            </m:d>
                          </m:e>
                        </m:d>
                      </m:e>
                      <m:sub>
                        <m:d>
                          <m:dPr>
                            <m:begChr m:val="{"/>
                            <m:endChr m:val="}"/>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𝑖</m:t>
                            </m:r>
                            <m:r>
                              <a:rPr lang="en-US" altLang="zh-CN" sz="2400" b="0" i="1" dirty="0" smtClean="0">
                                <a:latin typeface="Cambria Math" panose="02040503050406030204" pitchFamily="18" charset="0"/>
                              </a:rPr>
                              <m:t>=1</m:t>
                            </m:r>
                          </m:e>
                        </m:d>
                      </m:sub>
                      <m:sup>
                        <m:r>
                          <a:rPr lang="en-US" altLang="zh-CN" sz="2400" b="0" i="1" dirty="0" smtClean="0">
                            <a:latin typeface="Cambria Math" panose="02040503050406030204" pitchFamily="18" charset="0"/>
                          </a:rPr>
                          <m:t>𝑁</m:t>
                        </m:r>
                      </m:sup>
                    </m:sSubSup>
                  </m:oMath>
                </a14:m>
                <a:endParaRPr lang="en-US" altLang="zh-CN" sz="2400" b="0" dirty="0">
                  <a:latin typeface="Times New Roman" panose="02020603050405020304" pitchFamily="18" charset="0"/>
                  <a:cs typeface="Times New Roman" panose="02020603050405020304" pitchFamily="18" charset="0"/>
                </a:endParaRPr>
              </a:p>
              <a:p>
                <a:endParaRPr lang="en-US" altLang="zh-CN" dirty="0"/>
              </a:p>
              <a:p>
                <a:r>
                  <a:rPr lang="en-US" altLang="zh-CN" sz="2400" dirty="0">
                    <a:latin typeface="Times New Roman" panose="02020603050405020304" pitchFamily="18" charset="0"/>
                    <a:cs typeface="Times New Roman" panose="02020603050405020304" pitchFamily="18" charset="0"/>
                  </a:rPr>
                  <a:t>Goal: predict the value of </a:t>
                </a:r>
                <a14:m>
                  <m:oMath xmlns:m="http://schemas.openxmlformats.org/officeDocument/2006/math">
                    <m:r>
                      <a:rPr lang="en-US" altLang="zh-CN" sz="2400" i="1" dirty="0"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 for some new value of </a:t>
                </a:r>
                <a14:m>
                  <m:oMath xmlns:m="http://schemas.openxmlformats.org/officeDocument/2006/math">
                    <m:r>
                      <a:rPr lang="en-US" altLang="zh-CN" sz="2400" b="0" i="1" smtClean="0">
                        <a:latin typeface="Cambria Math" panose="02040503050406030204" pitchFamily="18" charset="0"/>
                      </a:rPr>
                      <m:t>𝑥</m:t>
                    </m:r>
                  </m:oMath>
                </a14:m>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0CB92968-F48C-C4FE-6492-F589243DC56B}"/>
                  </a:ext>
                </a:extLst>
              </p:cNvPr>
              <p:cNvSpPr txBox="1">
                <a:spLocks noRot="1" noChangeAspect="1" noMove="1" noResize="1" noEditPoints="1" noAdjustHandles="1" noChangeArrowheads="1" noChangeShapeType="1" noTextEdit="1"/>
              </p:cNvSpPr>
              <p:nvPr/>
            </p:nvSpPr>
            <p:spPr>
              <a:xfrm>
                <a:off x="838200" y="2489301"/>
                <a:ext cx="7928810" cy="1180323"/>
              </a:xfrm>
              <a:prstGeom prst="rect">
                <a:avLst/>
              </a:prstGeom>
              <a:blipFill>
                <a:blip r:embed="rId4"/>
                <a:stretch>
                  <a:fillRect l="-1231" t="-2062" b="-10825"/>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512BC270-A143-5179-61DA-E14E442BE8B0}"/>
              </a:ext>
            </a:extLst>
          </p:cNvPr>
          <p:cNvSpPr txBox="1"/>
          <p:nvPr/>
        </p:nvSpPr>
        <p:spPr>
          <a:xfrm>
            <a:off x="8434137" y="2489301"/>
            <a:ext cx="216568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Generalization</a:t>
            </a:r>
            <a:endParaRPr lang="zh-CN" altLang="en-US" dirty="0">
              <a:solidFill>
                <a:srgbClr val="FF0000"/>
              </a:solidFill>
            </a:endParaRPr>
          </a:p>
        </p:txBody>
      </p:sp>
      <p:pic>
        <p:nvPicPr>
          <p:cNvPr id="11" name="图片 10">
            <a:extLst>
              <a:ext uri="{FF2B5EF4-FFF2-40B4-BE49-F238E27FC236}">
                <a16:creationId xmlns:a16="http://schemas.microsoft.com/office/drawing/2014/main" id="{66B62D6A-724B-FD8E-9EDD-AA3026C998FB}"/>
              </a:ext>
            </a:extLst>
          </p:cNvPr>
          <p:cNvPicPr>
            <a:picLocks noChangeAspect="1"/>
          </p:cNvPicPr>
          <p:nvPr/>
        </p:nvPicPr>
        <p:blipFill>
          <a:blip r:embed="rId5"/>
          <a:stretch>
            <a:fillRect/>
          </a:stretch>
        </p:blipFill>
        <p:spPr>
          <a:xfrm>
            <a:off x="3744828" y="3897609"/>
            <a:ext cx="4533900" cy="2771775"/>
          </a:xfrm>
          <a:prstGeom prst="rect">
            <a:avLst/>
          </a:prstGeom>
        </p:spPr>
      </p:pic>
    </p:spTree>
    <p:extLst>
      <p:ext uri="{BB962C8B-B14F-4D97-AF65-F5344CB8AC3E}">
        <p14:creationId xmlns:p14="http://schemas.microsoft.com/office/powerpoint/2010/main" val="144786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AAB9F-216F-65AD-72B7-8CB7D3F7F6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A8824D6-7D9E-25D3-C87C-3B83A65A485C}"/>
              </a:ext>
            </a:extLst>
          </p:cNvPr>
          <p:cNvSpPr>
            <a:spLocks noGrp="1"/>
          </p:cNvSpPr>
          <p:nvPr>
            <p:ph type="title"/>
          </p:nvPr>
        </p:nvSpPr>
        <p:spPr>
          <a:xfrm>
            <a:off x="838200" y="376742"/>
            <a:ext cx="10515600" cy="1325563"/>
          </a:xfrm>
        </p:spPr>
        <p:txBody>
          <a:bodyPr/>
          <a:lstStyle/>
          <a:p>
            <a:r>
              <a:rPr lang="en-US" altLang="zh-CN" dirty="0"/>
              <a:t>Linear models</a:t>
            </a:r>
            <a:endParaRPr lang="zh-CN" altLang="en-US" dirty="0"/>
          </a:p>
        </p:txBody>
      </p:sp>
      <p:pic>
        <p:nvPicPr>
          <p:cNvPr id="6" name="图片 5">
            <a:extLst>
              <a:ext uri="{FF2B5EF4-FFF2-40B4-BE49-F238E27FC236}">
                <a16:creationId xmlns:a16="http://schemas.microsoft.com/office/drawing/2014/main" id="{A899DFEE-5555-105F-BC8A-D8124762D075}"/>
              </a:ext>
            </a:extLst>
          </p:cNvPr>
          <p:cNvPicPr>
            <a:picLocks noChangeAspect="1"/>
          </p:cNvPicPr>
          <p:nvPr/>
        </p:nvPicPr>
        <p:blipFill>
          <a:blip r:embed="rId3"/>
          <a:stretch>
            <a:fillRect/>
          </a:stretch>
        </p:blipFill>
        <p:spPr>
          <a:xfrm>
            <a:off x="1517151" y="1600450"/>
            <a:ext cx="8797830" cy="1433195"/>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B73C207-081A-BD16-9D61-0A0148F2B491}"/>
                  </a:ext>
                </a:extLst>
              </p:cNvPr>
              <p:cNvSpPr txBox="1"/>
              <p:nvPr/>
            </p:nvSpPr>
            <p:spPr>
              <a:xfrm>
                <a:off x="4126832" y="3302683"/>
                <a:ext cx="4451684" cy="1846659"/>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M: the order of the polynomial</a:t>
                </a:r>
              </a:p>
              <a:p>
                <a:endParaRPr lang="en-US" altLang="zh-CN"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CN" sz="2400" b="1" i="1" dirty="0" smtClean="0">
                          <a:latin typeface="Cambria Math" panose="02040503050406030204" pitchFamily="18" charset="0"/>
                          <a:cs typeface="Times New Roman" panose="02020603050405020304" pitchFamily="18" charset="0"/>
                        </a:rPr>
                        <m:t>𝒘</m:t>
                      </m:r>
                      <m:r>
                        <a:rPr lang="en-US" altLang="zh-CN" sz="2400" i="1" dirty="0" smtClean="0">
                          <a:latin typeface="Cambria Math" panose="02040503050406030204" pitchFamily="18" charset="0"/>
                          <a:cs typeface="Times New Roman" panose="02020603050405020304" pitchFamily="18" charset="0"/>
                        </a:rPr>
                        <m:t>=</m:t>
                      </m:r>
                      <m:d>
                        <m:dPr>
                          <m:begChr m:val="{"/>
                          <m:endChr m:val="}"/>
                          <m:ctrlPr>
                            <a:rPr lang="en-US" altLang="zh-CN" sz="2400" i="1" dirty="0" smtClean="0">
                              <a:latin typeface="Cambria Math" panose="02040503050406030204" pitchFamily="18" charset="0"/>
                              <a:cs typeface="Times New Roman" panose="02020603050405020304" pitchFamily="18" charset="0"/>
                            </a:rPr>
                          </m:ctrlPr>
                        </m:dPr>
                        <m:e>
                          <m:sSub>
                            <m:sSubPr>
                              <m:ctrlPr>
                                <a:rPr lang="en-US" altLang="zh-CN" sz="2400" i="1" dirty="0" smtClean="0">
                                  <a:latin typeface="Cambria Math" panose="02040503050406030204" pitchFamily="18" charset="0"/>
                                  <a:cs typeface="Times New Roman" panose="02020603050405020304" pitchFamily="18" charset="0"/>
                                </a:rPr>
                              </m:ctrlPr>
                            </m:sSubPr>
                            <m:e>
                              <m:r>
                                <a:rPr lang="en-US" altLang="zh-CN" sz="2400" i="1" dirty="0" smtClean="0">
                                  <a:latin typeface="Cambria Math" panose="02040503050406030204" pitchFamily="18" charset="0"/>
                                  <a:cs typeface="Times New Roman" panose="02020603050405020304" pitchFamily="18" charset="0"/>
                                </a:rPr>
                                <m:t>𝑤</m:t>
                              </m:r>
                            </m:e>
                            <m:sub>
                              <m:r>
                                <a:rPr lang="en-US" altLang="zh-CN" sz="2400" i="1" dirty="0" smtClean="0">
                                  <a:latin typeface="Cambria Math" panose="02040503050406030204" pitchFamily="18" charset="0"/>
                                  <a:cs typeface="Times New Roman" panose="02020603050405020304" pitchFamily="18" charset="0"/>
                                </a:rPr>
                                <m:t>0</m:t>
                              </m:r>
                            </m:sub>
                          </m:sSub>
                          <m:r>
                            <a:rPr lang="en-US" altLang="zh-CN" sz="2400" i="1" dirty="0" smtClean="0">
                              <a:latin typeface="Cambria Math" panose="02040503050406030204" pitchFamily="18" charset="0"/>
                              <a:cs typeface="Times New Roman" panose="02020603050405020304" pitchFamily="18" charset="0"/>
                            </a:rPr>
                            <m:t>, </m:t>
                          </m:r>
                          <m:r>
                            <a:rPr lang="en-US" altLang="zh-CN" sz="2400" b="0" i="1" dirty="0" smtClean="0">
                              <a:latin typeface="Cambria Math" panose="02040503050406030204" pitchFamily="18" charset="0"/>
                              <a:cs typeface="Times New Roman" panose="02020603050405020304" pitchFamily="18" charset="0"/>
                            </a:rPr>
                            <m:t>…,</m:t>
                          </m:r>
                          <m:r>
                            <a:rPr lang="en-US" altLang="zh-CN" sz="2400" i="1" dirty="0" smtClean="0">
                              <a:latin typeface="Cambria Math" panose="02040503050406030204" pitchFamily="18" charset="0"/>
                              <a:cs typeface="Times New Roman" panose="02020603050405020304" pitchFamily="18" charset="0"/>
                            </a:rPr>
                            <m:t> </m:t>
                          </m:r>
                          <m:sSub>
                            <m:sSubPr>
                              <m:ctrlPr>
                                <a:rPr lang="en-US" altLang="zh-CN" sz="2400" i="1" dirty="0" err="1" smtClean="0">
                                  <a:latin typeface="Cambria Math" panose="02040503050406030204" pitchFamily="18" charset="0"/>
                                  <a:cs typeface="Times New Roman" panose="02020603050405020304" pitchFamily="18" charset="0"/>
                                </a:rPr>
                              </m:ctrlPr>
                            </m:sSubPr>
                            <m:e>
                              <m:r>
                                <a:rPr lang="en-US" altLang="zh-CN" sz="2400" i="1" dirty="0" err="1" smtClean="0">
                                  <a:latin typeface="Cambria Math" panose="02040503050406030204" pitchFamily="18" charset="0"/>
                                  <a:cs typeface="Times New Roman" panose="02020603050405020304" pitchFamily="18" charset="0"/>
                                </a:rPr>
                                <m:t>𝑤</m:t>
                              </m:r>
                            </m:e>
                            <m:sub>
                              <m:r>
                                <a:rPr lang="en-US" altLang="zh-CN" sz="2400" i="1" dirty="0" err="1" smtClean="0">
                                  <a:latin typeface="Cambria Math" panose="02040503050406030204" pitchFamily="18" charset="0"/>
                                  <a:cs typeface="Times New Roman" panose="02020603050405020304" pitchFamily="18" charset="0"/>
                                </a:rPr>
                                <m:t>𝑀</m:t>
                              </m:r>
                            </m:sub>
                          </m:sSub>
                        </m:e>
                      </m:d>
                    </m:oMath>
                  </m:oMathPara>
                </a14:m>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zh-CN" altLang="en-US" dirty="0"/>
              </a:p>
            </p:txBody>
          </p:sp>
        </mc:Choice>
        <mc:Fallback xmlns="">
          <p:sp>
            <p:nvSpPr>
              <p:cNvPr id="8" name="文本框 7">
                <a:extLst>
                  <a:ext uri="{FF2B5EF4-FFF2-40B4-BE49-F238E27FC236}">
                    <a16:creationId xmlns:a16="http://schemas.microsoft.com/office/drawing/2014/main" id="{EB73C207-081A-BD16-9D61-0A0148F2B491}"/>
                  </a:ext>
                </a:extLst>
              </p:cNvPr>
              <p:cNvSpPr txBox="1">
                <a:spLocks noRot="1" noChangeAspect="1" noMove="1" noResize="1" noEditPoints="1" noAdjustHandles="1" noChangeArrowheads="1" noChangeShapeType="1" noTextEdit="1"/>
              </p:cNvSpPr>
              <p:nvPr/>
            </p:nvSpPr>
            <p:spPr>
              <a:xfrm>
                <a:off x="4126832" y="3302683"/>
                <a:ext cx="4451684" cy="1846659"/>
              </a:xfrm>
              <a:prstGeom prst="rect">
                <a:avLst/>
              </a:prstGeom>
              <a:blipFill>
                <a:blip r:embed="rId4"/>
                <a:stretch>
                  <a:fillRect l="-2192" t="-2640"/>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FA57C07B-60FA-FC27-44B6-0E6B6A00EABB}"/>
              </a:ext>
            </a:extLst>
          </p:cNvPr>
          <p:cNvSpPr txBox="1"/>
          <p:nvPr/>
        </p:nvSpPr>
        <p:spPr>
          <a:xfrm>
            <a:off x="4415590" y="5418380"/>
            <a:ext cx="216568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Linear Models</a:t>
            </a:r>
            <a:endParaRPr lang="zh-CN" altLang="en-US" dirty="0">
              <a:solidFill>
                <a:srgbClr val="FF0000"/>
              </a:solidFill>
            </a:endParaRPr>
          </a:p>
        </p:txBody>
      </p:sp>
    </p:spTree>
    <p:extLst>
      <p:ext uri="{BB962C8B-B14F-4D97-AF65-F5344CB8AC3E}">
        <p14:creationId xmlns:p14="http://schemas.microsoft.com/office/powerpoint/2010/main" val="38037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EC448-B4C5-3E7E-ADFB-4C3BAD04DE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3BDC149-AE2B-EAD4-D077-857AC77BA11D}"/>
              </a:ext>
            </a:extLst>
          </p:cNvPr>
          <p:cNvSpPr>
            <a:spLocks noGrp="1"/>
          </p:cNvSpPr>
          <p:nvPr>
            <p:ph type="title"/>
          </p:nvPr>
        </p:nvSpPr>
        <p:spPr>
          <a:xfrm>
            <a:off x="838200" y="376742"/>
            <a:ext cx="10515600" cy="1325563"/>
          </a:xfrm>
        </p:spPr>
        <p:txBody>
          <a:bodyPr/>
          <a:lstStyle/>
          <a:p>
            <a:r>
              <a:rPr lang="en-US" altLang="zh-CN" dirty="0"/>
              <a:t>Error function</a:t>
            </a:r>
            <a:endParaRPr lang="zh-CN" altLang="en-US" dirty="0"/>
          </a:p>
        </p:txBody>
      </p:sp>
      <p:pic>
        <p:nvPicPr>
          <p:cNvPr id="4" name="图片 3">
            <a:extLst>
              <a:ext uri="{FF2B5EF4-FFF2-40B4-BE49-F238E27FC236}">
                <a16:creationId xmlns:a16="http://schemas.microsoft.com/office/drawing/2014/main" id="{DA79A3C0-997A-D392-0FD2-3F0773ED5ACA}"/>
              </a:ext>
            </a:extLst>
          </p:cNvPr>
          <p:cNvPicPr>
            <a:picLocks noChangeAspect="1"/>
          </p:cNvPicPr>
          <p:nvPr/>
        </p:nvPicPr>
        <p:blipFill>
          <a:blip r:embed="rId3"/>
          <a:stretch>
            <a:fillRect/>
          </a:stretch>
        </p:blipFill>
        <p:spPr>
          <a:xfrm>
            <a:off x="1072550" y="3116428"/>
            <a:ext cx="4554407" cy="1156868"/>
          </a:xfrm>
          <a:prstGeom prst="rect">
            <a:avLst/>
          </a:prstGeom>
        </p:spPr>
      </p:pic>
      <p:pic>
        <p:nvPicPr>
          <p:cNvPr id="7" name="图片 6">
            <a:extLst>
              <a:ext uri="{FF2B5EF4-FFF2-40B4-BE49-F238E27FC236}">
                <a16:creationId xmlns:a16="http://schemas.microsoft.com/office/drawing/2014/main" id="{D70A37DF-421A-17AF-1D03-EC0E73ED20FC}"/>
              </a:ext>
            </a:extLst>
          </p:cNvPr>
          <p:cNvPicPr>
            <a:picLocks noChangeAspect="1"/>
          </p:cNvPicPr>
          <p:nvPr/>
        </p:nvPicPr>
        <p:blipFill>
          <a:blip r:embed="rId4"/>
          <a:stretch>
            <a:fillRect/>
          </a:stretch>
        </p:blipFill>
        <p:spPr>
          <a:xfrm>
            <a:off x="5842600" y="1558201"/>
            <a:ext cx="5276850" cy="4181475"/>
          </a:xfrm>
          <a:prstGeom prst="rect">
            <a:avLst/>
          </a:prstGeom>
        </p:spPr>
      </p:pic>
      <p:cxnSp>
        <p:nvCxnSpPr>
          <p:cNvPr id="11" name="直接箭头连接符 10">
            <a:extLst>
              <a:ext uri="{FF2B5EF4-FFF2-40B4-BE49-F238E27FC236}">
                <a16:creationId xmlns:a16="http://schemas.microsoft.com/office/drawing/2014/main" id="{206C0FE4-2B03-960E-C2C7-3B6BDA6B1FE5}"/>
              </a:ext>
            </a:extLst>
          </p:cNvPr>
          <p:cNvCxnSpPr>
            <a:cxnSpLocks/>
            <a:stCxn id="4" idx="2"/>
          </p:cNvCxnSpPr>
          <p:nvPr/>
        </p:nvCxnSpPr>
        <p:spPr>
          <a:xfrm>
            <a:off x="3349754" y="4273296"/>
            <a:ext cx="0" cy="7318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30A85E8-C3D9-84FD-0DB2-D4E67BB7B0DA}"/>
                  </a:ext>
                </a:extLst>
              </p:cNvPr>
              <p:cNvSpPr txBox="1"/>
              <p:nvPr/>
            </p:nvSpPr>
            <p:spPr>
              <a:xfrm>
                <a:off x="3151782" y="5100278"/>
                <a:ext cx="395942" cy="369332"/>
              </a:xfrm>
              <a:prstGeom prst="rect">
                <a:avLst/>
              </a:prstGeom>
              <a:noFill/>
            </p:spPr>
            <p:txBody>
              <a:bodyPr wrap="none" lIns="0" tIns="0" rIns="0" bIns="0" rtlCol="0">
                <a:spAutoFit/>
              </a:bodyPr>
              <a:lstStyle/>
              <a:p>
                <a14:m>
                  <m:oMath xmlns:m="http://schemas.openxmlformats.org/officeDocument/2006/math">
                    <m:r>
                      <a:rPr lang="en-US" altLang="zh-CN" sz="2400" b="1" i="1" smtClean="0">
                        <a:latin typeface="Cambria Math" panose="02040503050406030204" pitchFamily="18" charset="0"/>
                      </a:rPr>
                      <m:t>𝒘</m:t>
                    </m:r>
                  </m:oMath>
                </a14:m>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030A85E8-C3D9-84FD-0DB2-D4E67BB7B0DA}"/>
                  </a:ext>
                </a:extLst>
              </p:cNvPr>
              <p:cNvSpPr txBox="1">
                <a:spLocks noRot="1" noChangeAspect="1" noMove="1" noResize="1" noEditPoints="1" noAdjustHandles="1" noChangeArrowheads="1" noChangeShapeType="1" noTextEdit="1"/>
              </p:cNvSpPr>
              <p:nvPr/>
            </p:nvSpPr>
            <p:spPr>
              <a:xfrm>
                <a:off x="3151782" y="5100278"/>
                <a:ext cx="395942" cy="369332"/>
              </a:xfrm>
              <a:prstGeom prst="rect">
                <a:avLst/>
              </a:prstGeom>
              <a:blipFill>
                <a:blip r:embed="rId5"/>
                <a:stretch>
                  <a:fillRect l="-20000" t="-26667" r="-46154" b="-50000"/>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E725E08B-A737-D2E1-5CB0-16BBFDCEE814}"/>
              </a:ext>
            </a:extLst>
          </p:cNvPr>
          <p:cNvSpPr txBox="1"/>
          <p:nvPr/>
        </p:nvSpPr>
        <p:spPr>
          <a:xfrm>
            <a:off x="1424823" y="5100278"/>
            <a:ext cx="1159042" cy="369332"/>
          </a:xfrm>
          <a:prstGeom prst="rect">
            <a:avLst/>
          </a:prstGeom>
          <a:noFill/>
        </p:spPr>
        <p:txBody>
          <a:bodyPr wrap="square" rtlCol="0">
            <a:spAutoFit/>
          </a:bodyPr>
          <a:lstStyle/>
          <a:p>
            <a:pPr algn="ctr"/>
            <a:r>
              <a:rPr lang="en-US" altLang="zh-CN" dirty="0"/>
              <a:t>Optimum</a:t>
            </a:r>
            <a:endParaRPr lang="zh-CN" altLang="en-US" dirty="0"/>
          </a:p>
        </p:txBody>
      </p:sp>
    </p:spTree>
    <p:extLst>
      <p:ext uri="{BB962C8B-B14F-4D97-AF65-F5344CB8AC3E}">
        <p14:creationId xmlns:p14="http://schemas.microsoft.com/office/powerpoint/2010/main" val="104570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DAC0F-041A-A04E-0138-5382DB3736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E08050C-B883-7049-A0B2-12519E0A1DC8}"/>
              </a:ext>
            </a:extLst>
          </p:cNvPr>
          <p:cNvSpPr>
            <a:spLocks noGrp="1"/>
          </p:cNvSpPr>
          <p:nvPr>
            <p:ph type="title"/>
          </p:nvPr>
        </p:nvSpPr>
        <p:spPr>
          <a:xfrm>
            <a:off x="838200" y="376742"/>
            <a:ext cx="10515600" cy="1325563"/>
          </a:xfrm>
        </p:spPr>
        <p:txBody>
          <a:bodyPr/>
          <a:lstStyle/>
          <a:p>
            <a:r>
              <a:rPr lang="en-US" altLang="zh-CN" dirty="0"/>
              <a:t>Model Complexity</a:t>
            </a:r>
            <a:endParaRPr lang="zh-CN" altLang="en-US" dirty="0"/>
          </a:p>
        </p:txBody>
      </p:sp>
      <p:grpSp>
        <p:nvGrpSpPr>
          <p:cNvPr id="15" name="组合 14">
            <a:extLst>
              <a:ext uri="{FF2B5EF4-FFF2-40B4-BE49-F238E27FC236}">
                <a16:creationId xmlns:a16="http://schemas.microsoft.com/office/drawing/2014/main" id="{F96EE753-0D56-0DC4-9FE6-CBB28ACFE501}"/>
              </a:ext>
            </a:extLst>
          </p:cNvPr>
          <p:cNvGrpSpPr/>
          <p:nvPr/>
        </p:nvGrpSpPr>
        <p:grpSpPr>
          <a:xfrm>
            <a:off x="1425690" y="2557715"/>
            <a:ext cx="9340620" cy="1742570"/>
            <a:chOff x="1589341" y="1074507"/>
            <a:chExt cx="9340620" cy="1742570"/>
          </a:xfrm>
        </p:grpSpPr>
        <p:pic>
          <p:nvPicPr>
            <p:cNvPr id="3" name="图片 2">
              <a:extLst>
                <a:ext uri="{FF2B5EF4-FFF2-40B4-BE49-F238E27FC236}">
                  <a16:creationId xmlns:a16="http://schemas.microsoft.com/office/drawing/2014/main" id="{8D933C97-C160-B4B7-7960-BDAA130901F5}"/>
                </a:ext>
              </a:extLst>
            </p:cNvPr>
            <p:cNvPicPr>
              <a:picLocks noChangeAspect="1"/>
            </p:cNvPicPr>
            <p:nvPr/>
          </p:nvPicPr>
          <p:blipFill>
            <a:blip r:embed="rId3"/>
            <a:stretch>
              <a:fillRect/>
            </a:stretch>
          </p:blipFill>
          <p:spPr>
            <a:xfrm>
              <a:off x="1589341" y="1383882"/>
              <a:ext cx="8797830" cy="1433195"/>
            </a:xfrm>
            <a:prstGeom prst="rect">
              <a:avLst/>
            </a:prstGeom>
          </p:spPr>
        </p:pic>
        <p:sp>
          <p:nvSpPr>
            <p:cNvPr id="5" name="矩形 4">
              <a:extLst>
                <a:ext uri="{FF2B5EF4-FFF2-40B4-BE49-F238E27FC236}">
                  <a16:creationId xmlns:a16="http://schemas.microsoft.com/office/drawing/2014/main" id="{94BDE42C-445E-C7D5-6063-9524FDF698F8}"/>
                </a:ext>
              </a:extLst>
            </p:cNvPr>
            <p:cNvSpPr/>
            <p:nvPr/>
          </p:nvSpPr>
          <p:spPr>
            <a:xfrm>
              <a:off x="8782179" y="1372100"/>
              <a:ext cx="614485" cy="41123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6BB001DF-33F7-2BED-25A1-9CEEF452B48D}"/>
                </a:ext>
              </a:extLst>
            </p:cNvPr>
            <p:cNvCxnSpPr/>
            <p:nvPr/>
          </p:nvCxnSpPr>
          <p:spPr>
            <a:xfrm flipV="1">
              <a:off x="9394758" y="1435471"/>
              <a:ext cx="721894" cy="1018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EACC73BF-E5FF-A420-3F17-5CD9EE7B1042}"/>
                </a:ext>
              </a:extLst>
            </p:cNvPr>
            <p:cNvSpPr txBox="1"/>
            <p:nvPr/>
          </p:nvSpPr>
          <p:spPr>
            <a:xfrm>
              <a:off x="10114745" y="1074507"/>
              <a:ext cx="815216" cy="400110"/>
            </a:xfrm>
            <a:prstGeom prst="rect">
              <a:avLst/>
            </a:prstGeom>
            <a:noFill/>
          </p:spPr>
          <p:txBody>
            <a:bodyPr wrap="square" rtlCol="0">
              <a:spAutoFit/>
            </a:bodyPr>
            <a:lstStyle/>
            <a:p>
              <a:r>
                <a:rPr lang="en-US" altLang="zh-CN" sz="2000" b="1" dirty="0"/>
                <a:t>How</a:t>
              </a:r>
              <a:r>
                <a:rPr lang="zh-CN" altLang="en-US" sz="2000" b="1" dirty="0"/>
                <a:t>？</a:t>
              </a:r>
            </a:p>
          </p:txBody>
        </p:sp>
      </p:grpSp>
    </p:spTree>
    <p:extLst>
      <p:ext uri="{BB962C8B-B14F-4D97-AF65-F5344CB8AC3E}">
        <p14:creationId xmlns:p14="http://schemas.microsoft.com/office/powerpoint/2010/main" val="1171854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9299-1DF7-9EF5-9833-5DD4153608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C625B38-D7D1-C19F-7C39-BE9820315250}"/>
              </a:ext>
            </a:extLst>
          </p:cNvPr>
          <p:cNvSpPr>
            <a:spLocks noGrp="1"/>
          </p:cNvSpPr>
          <p:nvPr>
            <p:ph type="title"/>
          </p:nvPr>
        </p:nvSpPr>
        <p:spPr>
          <a:xfrm>
            <a:off x="838200" y="376742"/>
            <a:ext cx="10515600" cy="1325563"/>
          </a:xfrm>
        </p:spPr>
        <p:txBody>
          <a:bodyPr/>
          <a:lstStyle/>
          <a:p>
            <a:r>
              <a:rPr lang="en-US" altLang="zh-CN" dirty="0"/>
              <a:t>Model Complexity</a:t>
            </a:r>
            <a:endParaRPr lang="zh-CN" altLang="en-US" dirty="0"/>
          </a:p>
        </p:txBody>
      </p:sp>
      <p:pic>
        <p:nvPicPr>
          <p:cNvPr id="12" name="图片 11">
            <a:extLst>
              <a:ext uri="{FF2B5EF4-FFF2-40B4-BE49-F238E27FC236}">
                <a16:creationId xmlns:a16="http://schemas.microsoft.com/office/drawing/2014/main" id="{C832D53E-0CFB-936E-554B-EB6BE67A3EC6}"/>
              </a:ext>
            </a:extLst>
          </p:cNvPr>
          <p:cNvPicPr>
            <a:picLocks noChangeAspect="1"/>
          </p:cNvPicPr>
          <p:nvPr/>
        </p:nvPicPr>
        <p:blipFill>
          <a:blip r:embed="rId3"/>
          <a:stretch>
            <a:fillRect/>
          </a:stretch>
        </p:blipFill>
        <p:spPr>
          <a:xfrm>
            <a:off x="494547" y="1702305"/>
            <a:ext cx="7277852" cy="5016494"/>
          </a:xfrm>
          <a:prstGeom prst="rect">
            <a:avLst/>
          </a:prstGeom>
        </p:spPr>
      </p:pic>
      <p:sp>
        <p:nvSpPr>
          <p:cNvPr id="4" name="文本框 3">
            <a:extLst>
              <a:ext uri="{FF2B5EF4-FFF2-40B4-BE49-F238E27FC236}">
                <a16:creationId xmlns:a16="http://schemas.microsoft.com/office/drawing/2014/main" id="{0F899190-3834-D4F1-A0BB-72CBD7B058D8}"/>
              </a:ext>
            </a:extLst>
          </p:cNvPr>
          <p:cNvSpPr txBox="1"/>
          <p:nvPr/>
        </p:nvSpPr>
        <p:spPr>
          <a:xfrm>
            <a:off x="8889331" y="3429000"/>
            <a:ext cx="216568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Overfitting</a:t>
            </a:r>
            <a:endParaRPr lang="zh-CN" altLang="en-US" dirty="0">
              <a:solidFill>
                <a:srgbClr val="FF0000"/>
              </a:solidFill>
            </a:endParaRPr>
          </a:p>
        </p:txBody>
      </p:sp>
    </p:spTree>
    <p:extLst>
      <p:ext uri="{BB962C8B-B14F-4D97-AF65-F5344CB8AC3E}">
        <p14:creationId xmlns:p14="http://schemas.microsoft.com/office/powerpoint/2010/main" val="100798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4D86D-1ADB-54F9-2486-DFC700B424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36D2FBC-B388-2403-7668-55C00F583A1D}"/>
              </a:ext>
            </a:extLst>
          </p:cNvPr>
          <p:cNvSpPr>
            <a:spLocks noGrp="1"/>
          </p:cNvSpPr>
          <p:nvPr>
            <p:ph type="title"/>
          </p:nvPr>
        </p:nvSpPr>
        <p:spPr>
          <a:xfrm>
            <a:off x="838200" y="376742"/>
            <a:ext cx="10515600" cy="1325563"/>
          </a:xfrm>
        </p:spPr>
        <p:txBody>
          <a:bodyPr/>
          <a:lstStyle/>
          <a:p>
            <a:r>
              <a:rPr lang="en-US" altLang="zh-CN" dirty="0"/>
              <a:t>Model Complexity</a:t>
            </a:r>
            <a:endParaRPr lang="zh-CN" altLang="en-US" dirty="0"/>
          </a:p>
        </p:txBody>
      </p:sp>
      <p:pic>
        <p:nvPicPr>
          <p:cNvPr id="12" name="图片 11">
            <a:extLst>
              <a:ext uri="{FF2B5EF4-FFF2-40B4-BE49-F238E27FC236}">
                <a16:creationId xmlns:a16="http://schemas.microsoft.com/office/drawing/2014/main" id="{6989B6A4-D813-9F31-9F30-1AB0EA468D1B}"/>
              </a:ext>
            </a:extLst>
          </p:cNvPr>
          <p:cNvPicPr>
            <a:picLocks noChangeAspect="1"/>
          </p:cNvPicPr>
          <p:nvPr/>
        </p:nvPicPr>
        <p:blipFill>
          <a:blip r:embed="rId3"/>
          <a:stretch>
            <a:fillRect/>
          </a:stretch>
        </p:blipFill>
        <p:spPr>
          <a:xfrm>
            <a:off x="494547" y="1702305"/>
            <a:ext cx="7277852" cy="5016494"/>
          </a:xfrm>
          <a:prstGeom prst="rect">
            <a:avLst/>
          </a:prstGeom>
        </p:spPr>
      </p:pic>
      <p:sp>
        <p:nvSpPr>
          <p:cNvPr id="3" name="文本框 2">
            <a:extLst>
              <a:ext uri="{FF2B5EF4-FFF2-40B4-BE49-F238E27FC236}">
                <a16:creationId xmlns:a16="http://schemas.microsoft.com/office/drawing/2014/main" id="{F456F02D-B2A8-8C1E-D4CE-ECE3BB2F1164}"/>
              </a:ext>
            </a:extLst>
          </p:cNvPr>
          <p:cNvSpPr txBox="1"/>
          <p:nvPr/>
        </p:nvSpPr>
        <p:spPr>
          <a:xfrm>
            <a:off x="8954867" y="1514003"/>
            <a:ext cx="216568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Test set</a:t>
            </a:r>
            <a:endParaRPr lang="zh-CN" altLang="en-US" dirty="0">
              <a:solidFill>
                <a:srgbClr val="FF0000"/>
              </a:solidFill>
            </a:endParaRPr>
          </a:p>
        </p:txBody>
      </p:sp>
      <p:pic>
        <p:nvPicPr>
          <p:cNvPr id="5" name="图片 4">
            <a:extLst>
              <a:ext uri="{FF2B5EF4-FFF2-40B4-BE49-F238E27FC236}">
                <a16:creationId xmlns:a16="http://schemas.microsoft.com/office/drawing/2014/main" id="{E1557095-4AD9-45AD-4F74-C8A84C741A44}"/>
              </a:ext>
            </a:extLst>
          </p:cNvPr>
          <p:cNvPicPr>
            <a:picLocks noChangeAspect="1"/>
          </p:cNvPicPr>
          <p:nvPr/>
        </p:nvPicPr>
        <p:blipFill>
          <a:blip r:embed="rId4"/>
          <a:stretch>
            <a:fillRect/>
          </a:stretch>
        </p:blipFill>
        <p:spPr>
          <a:xfrm>
            <a:off x="8116052" y="2834003"/>
            <a:ext cx="3843315" cy="976243"/>
          </a:xfrm>
          <a:prstGeom prst="rect">
            <a:avLst/>
          </a:prstGeom>
        </p:spPr>
      </p:pic>
      <p:cxnSp>
        <p:nvCxnSpPr>
          <p:cNvPr id="7" name="直接箭头连接符 6">
            <a:extLst>
              <a:ext uri="{FF2B5EF4-FFF2-40B4-BE49-F238E27FC236}">
                <a16:creationId xmlns:a16="http://schemas.microsoft.com/office/drawing/2014/main" id="{C9462B2F-098B-BD3D-BF34-DE401235AFD7}"/>
              </a:ext>
            </a:extLst>
          </p:cNvPr>
          <p:cNvCxnSpPr>
            <a:stCxn id="3" idx="2"/>
            <a:endCxn id="5" idx="0"/>
          </p:cNvCxnSpPr>
          <p:nvPr/>
        </p:nvCxnSpPr>
        <p:spPr>
          <a:xfrm>
            <a:off x="10037709" y="1883335"/>
            <a:ext cx="1" cy="950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 name="图片 8">
            <a:extLst>
              <a:ext uri="{FF2B5EF4-FFF2-40B4-BE49-F238E27FC236}">
                <a16:creationId xmlns:a16="http://schemas.microsoft.com/office/drawing/2014/main" id="{EDC946FA-4C63-9828-3725-DDA4A5AE844D}"/>
              </a:ext>
            </a:extLst>
          </p:cNvPr>
          <p:cNvPicPr>
            <a:picLocks noChangeAspect="1"/>
          </p:cNvPicPr>
          <p:nvPr/>
        </p:nvPicPr>
        <p:blipFill>
          <a:blip r:embed="rId5"/>
          <a:stretch>
            <a:fillRect/>
          </a:stretch>
        </p:blipFill>
        <p:spPr>
          <a:xfrm>
            <a:off x="8116051" y="4370865"/>
            <a:ext cx="3843316" cy="1142157"/>
          </a:xfrm>
          <a:prstGeom prst="rect">
            <a:avLst/>
          </a:prstGeom>
        </p:spPr>
      </p:pic>
      <p:sp>
        <p:nvSpPr>
          <p:cNvPr id="10" name="文本框 9">
            <a:extLst>
              <a:ext uri="{FF2B5EF4-FFF2-40B4-BE49-F238E27FC236}">
                <a16:creationId xmlns:a16="http://schemas.microsoft.com/office/drawing/2014/main" id="{16323B7A-04A3-03EB-9C9F-20AAD8300F9A}"/>
              </a:ext>
            </a:extLst>
          </p:cNvPr>
          <p:cNvSpPr txBox="1"/>
          <p:nvPr/>
        </p:nvSpPr>
        <p:spPr>
          <a:xfrm>
            <a:off x="8690183" y="5513022"/>
            <a:ext cx="2863493" cy="369332"/>
          </a:xfrm>
          <a:prstGeom prst="rect">
            <a:avLst/>
          </a:prstGeom>
          <a:noFill/>
        </p:spPr>
        <p:txBody>
          <a:bodyPr wrap="square" rtlCol="0">
            <a:spAutoFit/>
          </a:bodyPr>
          <a:lstStyle/>
          <a:p>
            <a:r>
              <a:rPr lang="en-US" altLang="zh-CN" dirty="0"/>
              <a:t>Root-mean-Square (RMS) </a:t>
            </a:r>
            <a:endParaRPr lang="zh-CN" altLang="en-US" dirty="0"/>
          </a:p>
        </p:txBody>
      </p:sp>
    </p:spTree>
    <p:extLst>
      <p:ext uri="{BB962C8B-B14F-4D97-AF65-F5344CB8AC3E}">
        <p14:creationId xmlns:p14="http://schemas.microsoft.com/office/powerpoint/2010/main" val="147460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920A6-9E3F-E35B-1EC5-2EB8934272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05E9F4-B078-7FE5-9367-DB3FE8567601}"/>
              </a:ext>
            </a:extLst>
          </p:cNvPr>
          <p:cNvSpPr>
            <a:spLocks noGrp="1"/>
          </p:cNvSpPr>
          <p:nvPr>
            <p:ph type="title"/>
          </p:nvPr>
        </p:nvSpPr>
        <p:spPr>
          <a:xfrm>
            <a:off x="838200" y="376742"/>
            <a:ext cx="10515600" cy="1325563"/>
          </a:xfrm>
        </p:spPr>
        <p:txBody>
          <a:bodyPr/>
          <a:lstStyle/>
          <a:p>
            <a:r>
              <a:rPr lang="en-US" altLang="zh-CN" dirty="0"/>
              <a:t>Model Complexity</a:t>
            </a:r>
            <a:endParaRPr lang="zh-CN" altLang="en-US" dirty="0"/>
          </a:p>
        </p:txBody>
      </p:sp>
      <p:pic>
        <p:nvPicPr>
          <p:cNvPr id="6" name="图片 5">
            <a:extLst>
              <a:ext uri="{FF2B5EF4-FFF2-40B4-BE49-F238E27FC236}">
                <a16:creationId xmlns:a16="http://schemas.microsoft.com/office/drawing/2014/main" id="{0313DA15-4F9A-F63E-ECF2-699325C00332}"/>
              </a:ext>
            </a:extLst>
          </p:cNvPr>
          <p:cNvPicPr>
            <a:picLocks noChangeAspect="1"/>
          </p:cNvPicPr>
          <p:nvPr/>
        </p:nvPicPr>
        <p:blipFill>
          <a:blip r:embed="rId3"/>
          <a:stretch>
            <a:fillRect/>
          </a:stretch>
        </p:blipFill>
        <p:spPr>
          <a:xfrm>
            <a:off x="144379" y="2334125"/>
            <a:ext cx="6432438" cy="3131859"/>
          </a:xfrm>
          <a:prstGeom prst="rect">
            <a:avLst/>
          </a:prstGeom>
        </p:spPr>
      </p:pic>
      <p:sp>
        <p:nvSpPr>
          <p:cNvPr id="8" name="文本框 7">
            <a:extLst>
              <a:ext uri="{FF2B5EF4-FFF2-40B4-BE49-F238E27FC236}">
                <a16:creationId xmlns:a16="http://schemas.microsoft.com/office/drawing/2014/main" id="{5844DAD1-BB51-570C-5103-E6580D359CCC}"/>
              </a:ext>
            </a:extLst>
          </p:cNvPr>
          <p:cNvSpPr txBox="1"/>
          <p:nvPr/>
        </p:nvSpPr>
        <p:spPr>
          <a:xfrm>
            <a:off x="1549845" y="5659930"/>
            <a:ext cx="3621506"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RMS errors with various values of M</a:t>
            </a:r>
            <a:endParaRPr lang="zh-CN" altLang="en-US" dirty="0">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9DC8B7AB-1698-3A80-FAD4-B17B9785205E}"/>
              </a:ext>
            </a:extLst>
          </p:cNvPr>
          <p:cNvPicPr>
            <a:picLocks noChangeAspect="1"/>
          </p:cNvPicPr>
          <p:nvPr/>
        </p:nvPicPr>
        <p:blipFill>
          <a:blip r:embed="rId4"/>
          <a:stretch>
            <a:fillRect/>
          </a:stretch>
        </p:blipFill>
        <p:spPr>
          <a:xfrm>
            <a:off x="6386012" y="2124539"/>
            <a:ext cx="5080084" cy="3551029"/>
          </a:xfrm>
          <a:prstGeom prst="rect">
            <a:avLst/>
          </a:prstGeom>
        </p:spPr>
      </p:pic>
    </p:spTree>
    <p:extLst>
      <p:ext uri="{BB962C8B-B14F-4D97-AF65-F5344CB8AC3E}">
        <p14:creationId xmlns:p14="http://schemas.microsoft.com/office/powerpoint/2010/main" val="428694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B13F-647B-C744-BF5D-78A88E993B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0B80401-83D0-8845-11F3-E28E88BCA8BD}"/>
              </a:ext>
            </a:extLst>
          </p:cNvPr>
          <p:cNvSpPr>
            <a:spLocks noGrp="1"/>
          </p:cNvSpPr>
          <p:nvPr>
            <p:ph type="title"/>
          </p:nvPr>
        </p:nvSpPr>
        <p:spPr>
          <a:xfrm>
            <a:off x="838200" y="376742"/>
            <a:ext cx="10515600" cy="1325563"/>
          </a:xfrm>
        </p:spPr>
        <p:txBody>
          <a:bodyPr/>
          <a:lstStyle/>
          <a:p>
            <a:r>
              <a:rPr lang="en-US" altLang="zh-CN" dirty="0"/>
              <a:t>Model Complexity</a:t>
            </a:r>
            <a:endParaRPr lang="zh-CN" altLang="en-US" dirty="0"/>
          </a:p>
        </p:txBody>
      </p:sp>
      <p:pic>
        <p:nvPicPr>
          <p:cNvPr id="4" name="图片 3">
            <a:extLst>
              <a:ext uri="{FF2B5EF4-FFF2-40B4-BE49-F238E27FC236}">
                <a16:creationId xmlns:a16="http://schemas.microsoft.com/office/drawing/2014/main" id="{C9ACBF8C-099D-40E2-EF67-B1F4AB6C6EEC}"/>
              </a:ext>
            </a:extLst>
          </p:cNvPr>
          <p:cNvPicPr>
            <a:picLocks noChangeAspect="1"/>
          </p:cNvPicPr>
          <p:nvPr/>
        </p:nvPicPr>
        <p:blipFill>
          <a:blip r:embed="rId3"/>
          <a:stretch>
            <a:fillRect/>
          </a:stretch>
        </p:blipFill>
        <p:spPr>
          <a:xfrm>
            <a:off x="998119" y="2002005"/>
            <a:ext cx="9810750" cy="3648075"/>
          </a:xfrm>
          <a:prstGeom prst="rect">
            <a:avLst/>
          </a:prstGeom>
        </p:spPr>
      </p:pic>
    </p:spTree>
    <p:extLst>
      <p:ext uri="{BB962C8B-B14F-4D97-AF65-F5344CB8AC3E}">
        <p14:creationId xmlns:p14="http://schemas.microsoft.com/office/powerpoint/2010/main" val="454557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6F8F7-9FF3-48E0-636D-C9222566D4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37FD1A-3729-CF46-0E5C-EBEA2459A1A2}"/>
              </a:ext>
            </a:extLst>
          </p:cNvPr>
          <p:cNvSpPr>
            <a:spLocks noGrp="1"/>
          </p:cNvSpPr>
          <p:nvPr>
            <p:ph type="title"/>
          </p:nvPr>
        </p:nvSpPr>
        <p:spPr>
          <a:xfrm>
            <a:off x="838200" y="376742"/>
            <a:ext cx="10515600" cy="1325563"/>
          </a:xfrm>
        </p:spPr>
        <p:txBody>
          <a:bodyPr/>
          <a:lstStyle/>
          <a:p>
            <a:r>
              <a:rPr lang="en-US" altLang="zh-CN" dirty="0"/>
              <a:t>Regularization</a:t>
            </a:r>
            <a:endParaRPr lang="zh-CN" altLang="en-US" dirty="0"/>
          </a:p>
        </p:txBody>
      </p:sp>
      <p:pic>
        <p:nvPicPr>
          <p:cNvPr id="5" name="图片 4">
            <a:extLst>
              <a:ext uri="{FF2B5EF4-FFF2-40B4-BE49-F238E27FC236}">
                <a16:creationId xmlns:a16="http://schemas.microsoft.com/office/drawing/2014/main" id="{5BA43B2E-0CB3-A9AC-77D8-0B7859EA5F6A}"/>
              </a:ext>
            </a:extLst>
          </p:cNvPr>
          <p:cNvPicPr>
            <a:picLocks noChangeAspect="1"/>
          </p:cNvPicPr>
          <p:nvPr/>
        </p:nvPicPr>
        <p:blipFill>
          <a:blip r:embed="rId3"/>
          <a:stretch>
            <a:fillRect/>
          </a:stretch>
        </p:blipFill>
        <p:spPr>
          <a:xfrm>
            <a:off x="838200" y="1845163"/>
            <a:ext cx="6226641" cy="1321229"/>
          </a:xfrm>
          <a:prstGeom prst="rect">
            <a:avLst/>
          </a:prstGeom>
        </p:spPr>
      </p:pic>
      <p:pic>
        <p:nvPicPr>
          <p:cNvPr id="9" name="图片 8">
            <a:extLst>
              <a:ext uri="{FF2B5EF4-FFF2-40B4-BE49-F238E27FC236}">
                <a16:creationId xmlns:a16="http://schemas.microsoft.com/office/drawing/2014/main" id="{9AA1DB77-C014-9639-0037-9C66883B7718}"/>
              </a:ext>
            </a:extLst>
          </p:cNvPr>
          <p:cNvPicPr>
            <a:picLocks noChangeAspect="1"/>
          </p:cNvPicPr>
          <p:nvPr/>
        </p:nvPicPr>
        <p:blipFill>
          <a:blip r:embed="rId4"/>
          <a:stretch>
            <a:fillRect/>
          </a:stretch>
        </p:blipFill>
        <p:spPr>
          <a:xfrm>
            <a:off x="1373605" y="3485638"/>
            <a:ext cx="4248150" cy="390525"/>
          </a:xfrm>
          <a:prstGeom prst="rect">
            <a:avLst/>
          </a:prstGeom>
        </p:spPr>
      </p:pic>
      <p:sp>
        <p:nvSpPr>
          <p:cNvPr id="10" name="文本框 9">
            <a:extLst>
              <a:ext uri="{FF2B5EF4-FFF2-40B4-BE49-F238E27FC236}">
                <a16:creationId xmlns:a16="http://schemas.microsoft.com/office/drawing/2014/main" id="{75956D75-88EC-A875-9F46-02B3644F3D94}"/>
              </a:ext>
            </a:extLst>
          </p:cNvPr>
          <p:cNvSpPr txBox="1"/>
          <p:nvPr/>
        </p:nvSpPr>
        <p:spPr>
          <a:xfrm>
            <a:off x="9065776" y="2912646"/>
            <a:ext cx="216568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Weight Decay</a:t>
            </a:r>
            <a:endParaRPr lang="zh-CN" altLang="en-US" dirty="0">
              <a:solidFill>
                <a:srgbClr val="FF0000"/>
              </a:solidFill>
            </a:endParaRPr>
          </a:p>
        </p:txBody>
      </p:sp>
      <p:pic>
        <p:nvPicPr>
          <p:cNvPr id="12" name="图片 11">
            <a:extLst>
              <a:ext uri="{FF2B5EF4-FFF2-40B4-BE49-F238E27FC236}">
                <a16:creationId xmlns:a16="http://schemas.microsoft.com/office/drawing/2014/main" id="{8E857986-677F-70F1-9C13-15303B6304D9}"/>
              </a:ext>
            </a:extLst>
          </p:cNvPr>
          <p:cNvPicPr>
            <a:picLocks noChangeAspect="1"/>
          </p:cNvPicPr>
          <p:nvPr/>
        </p:nvPicPr>
        <p:blipFill>
          <a:blip r:embed="rId5"/>
          <a:stretch>
            <a:fillRect/>
          </a:stretch>
        </p:blipFill>
        <p:spPr>
          <a:xfrm>
            <a:off x="282592" y="4354207"/>
            <a:ext cx="7353599" cy="2113267"/>
          </a:xfrm>
          <a:prstGeom prst="rect">
            <a:avLst/>
          </a:prstGeom>
        </p:spPr>
      </p:pic>
      <p:pic>
        <p:nvPicPr>
          <p:cNvPr id="13" name="图片 12">
            <a:extLst>
              <a:ext uri="{FF2B5EF4-FFF2-40B4-BE49-F238E27FC236}">
                <a16:creationId xmlns:a16="http://schemas.microsoft.com/office/drawing/2014/main" id="{49777680-80F7-2B21-DE14-5C1D6899447F}"/>
              </a:ext>
            </a:extLst>
          </p:cNvPr>
          <p:cNvPicPr>
            <a:picLocks noChangeAspect="1"/>
          </p:cNvPicPr>
          <p:nvPr/>
        </p:nvPicPr>
        <p:blipFill>
          <a:blip r:embed="rId6"/>
          <a:stretch>
            <a:fillRect/>
          </a:stretch>
        </p:blipFill>
        <p:spPr>
          <a:xfrm>
            <a:off x="7551820" y="4354207"/>
            <a:ext cx="4248150" cy="1913919"/>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9ABF75C-449A-862C-851B-2A994A84913F}"/>
                  </a:ext>
                </a:extLst>
              </p:cNvPr>
              <p:cNvSpPr txBox="1"/>
              <p:nvPr/>
            </p:nvSpPr>
            <p:spPr>
              <a:xfrm>
                <a:off x="8777930" y="6279343"/>
                <a:ext cx="2453530" cy="369332"/>
              </a:xfrm>
              <a:prstGeom prst="rect">
                <a:avLst/>
              </a:prstGeom>
              <a:noFill/>
            </p:spPr>
            <p:txBody>
              <a:bodyPr wrap="square" rtlCol="0">
                <a:spAutoFit/>
              </a:bodyPr>
              <a:lstStyle/>
              <a:p>
                <a:pPr algn="ctr"/>
                <a:r>
                  <a:rPr lang="en-US" altLang="zh-CN" dirty="0"/>
                  <a:t>RMS with various </a:t>
                </a:r>
                <a14:m>
                  <m:oMath xmlns:m="http://schemas.openxmlformats.org/officeDocument/2006/math">
                    <m:r>
                      <m:rPr>
                        <m:sty m:val="p"/>
                      </m:rPr>
                      <a:rPr lang="en-US" altLang="zh-CN" b="0" i="0" smtClean="0">
                        <a:latin typeface="Cambria Math" panose="02040503050406030204" pitchFamily="18" charset="0"/>
                      </a:rPr>
                      <m:t>ln</m:t>
                    </m:r>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λ</m:t>
                    </m:r>
                    <m:r>
                      <a:rPr lang="en-US" altLang="zh-CN" b="0" i="1" smtClean="0">
                        <a:latin typeface="Cambria Math" panose="02040503050406030204" pitchFamily="18" charset="0"/>
                      </a:rPr>
                      <m:t>)</m:t>
                    </m:r>
                  </m:oMath>
                </a14:m>
                <a:endParaRPr lang="zh-CN" altLang="en-US" dirty="0"/>
              </a:p>
            </p:txBody>
          </p:sp>
        </mc:Choice>
        <mc:Fallback xmlns="">
          <p:sp>
            <p:nvSpPr>
              <p:cNvPr id="14" name="文本框 13">
                <a:extLst>
                  <a:ext uri="{FF2B5EF4-FFF2-40B4-BE49-F238E27FC236}">
                    <a16:creationId xmlns:a16="http://schemas.microsoft.com/office/drawing/2014/main" id="{69ABF75C-449A-862C-851B-2A994A84913F}"/>
                  </a:ext>
                </a:extLst>
              </p:cNvPr>
              <p:cNvSpPr txBox="1">
                <a:spLocks noRot="1" noChangeAspect="1" noMove="1" noResize="1" noEditPoints="1" noAdjustHandles="1" noChangeArrowheads="1" noChangeShapeType="1" noTextEdit="1"/>
              </p:cNvSpPr>
              <p:nvPr/>
            </p:nvSpPr>
            <p:spPr>
              <a:xfrm>
                <a:off x="8777930" y="6279343"/>
                <a:ext cx="2453530" cy="369332"/>
              </a:xfrm>
              <a:prstGeom prst="rect">
                <a:avLst/>
              </a:prstGeom>
              <a:blipFill>
                <a:blip r:embed="rId7"/>
                <a:stretch>
                  <a:fillRect l="-1493" t="-8197" r="-249"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86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625FF-7F98-7BBC-5790-8EADAEF0018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6B6D4E-6ED1-2EED-BECB-520CCF633DA3}"/>
              </a:ext>
            </a:extLst>
          </p:cNvPr>
          <p:cNvSpPr>
            <a:spLocks noGrp="1"/>
          </p:cNvSpPr>
          <p:nvPr>
            <p:ph type="title"/>
          </p:nvPr>
        </p:nvSpPr>
        <p:spPr>
          <a:xfrm>
            <a:off x="838200" y="376742"/>
            <a:ext cx="10515600" cy="1325563"/>
          </a:xfrm>
        </p:spPr>
        <p:txBody>
          <a:bodyPr/>
          <a:lstStyle/>
          <a:p>
            <a:r>
              <a:rPr lang="en-US" altLang="zh-CN" dirty="0"/>
              <a:t>Model selection</a:t>
            </a:r>
            <a:endParaRPr lang="zh-CN" altLang="en-US" dirty="0"/>
          </a:p>
        </p:txBody>
      </p:sp>
      <p:pic>
        <p:nvPicPr>
          <p:cNvPr id="7" name="图片 6">
            <a:extLst>
              <a:ext uri="{FF2B5EF4-FFF2-40B4-BE49-F238E27FC236}">
                <a16:creationId xmlns:a16="http://schemas.microsoft.com/office/drawing/2014/main" id="{21F865E2-BCE4-79DE-0AA3-B724E3B41760}"/>
              </a:ext>
            </a:extLst>
          </p:cNvPr>
          <p:cNvPicPr>
            <a:picLocks noChangeAspect="1"/>
          </p:cNvPicPr>
          <p:nvPr/>
        </p:nvPicPr>
        <p:blipFill>
          <a:blip r:embed="rId3"/>
          <a:stretch>
            <a:fillRect/>
          </a:stretch>
        </p:blipFill>
        <p:spPr>
          <a:xfrm>
            <a:off x="1102895" y="1833131"/>
            <a:ext cx="6226641" cy="1321229"/>
          </a:xfrm>
          <a:prstGeom prst="rect">
            <a:avLst/>
          </a:prstGeom>
        </p:spPr>
      </p:pic>
      <p:sp>
        <p:nvSpPr>
          <p:cNvPr id="8" name="矩形 7">
            <a:extLst>
              <a:ext uri="{FF2B5EF4-FFF2-40B4-BE49-F238E27FC236}">
                <a16:creationId xmlns:a16="http://schemas.microsoft.com/office/drawing/2014/main" id="{5C145CC9-568C-4181-CC56-FA6F9993AF12}"/>
              </a:ext>
            </a:extLst>
          </p:cNvPr>
          <p:cNvSpPr/>
          <p:nvPr/>
        </p:nvSpPr>
        <p:spPr>
          <a:xfrm>
            <a:off x="6096000" y="1928553"/>
            <a:ext cx="354676" cy="56526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13" name="直接箭头连接符 12">
            <a:extLst>
              <a:ext uri="{FF2B5EF4-FFF2-40B4-BE49-F238E27FC236}">
                <a16:creationId xmlns:a16="http://schemas.microsoft.com/office/drawing/2014/main" id="{A9203671-A8F9-6499-58B5-5EFFCFD7351B}"/>
              </a:ext>
            </a:extLst>
          </p:cNvPr>
          <p:cNvCxnSpPr>
            <a:stCxn id="8" idx="3"/>
          </p:cNvCxnSpPr>
          <p:nvPr/>
        </p:nvCxnSpPr>
        <p:spPr>
          <a:xfrm flipV="1">
            <a:off x="6450676" y="1928553"/>
            <a:ext cx="984840" cy="2826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AECB4917-506D-6C00-34DE-8ADD3BAF2AA6}"/>
              </a:ext>
            </a:extLst>
          </p:cNvPr>
          <p:cNvSpPr txBox="1"/>
          <p:nvPr/>
        </p:nvSpPr>
        <p:spPr>
          <a:xfrm>
            <a:off x="7435516" y="1528011"/>
            <a:ext cx="2947737" cy="369332"/>
          </a:xfrm>
          <a:prstGeom prst="rect">
            <a:avLst/>
          </a:prstGeom>
          <a:noFill/>
        </p:spPr>
        <p:txBody>
          <a:bodyPr wrap="square" rtlCol="0">
            <a:spAutoFit/>
          </a:bodyPr>
          <a:lstStyle/>
          <a:p>
            <a:r>
              <a:rPr lang="en-US" altLang="zh-CN" dirty="0"/>
              <a:t>How to pick the best value?</a:t>
            </a:r>
            <a:endParaRPr lang="zh-CN" altLang="en-US" dirty="0"/>
          </a:p>
        </p:txBody>
      </p:sp>
      <p:grpSp>
        <p:nvGrpSpPr>
          <p:cNvPr id="15" name="组合 14">
            <a:extLst>
              <a:ext uri="{FF2B5EF4-FFF2-40B4-BE49-F238E27FC236}">
                <a16:creationId xmlns:a16="http://schemas.microsoft.com/office/drawing/2014/main" id="{58E6B6A8-BBD5-660C-D4C5-BAC663495609}"/>
              </a:ext>
            </a:extLst>
          </p:cNvPr>
          <p:cNvGrpSpPr/>
          <p:nvPr/>
        </p:nvGrpSpPr>
        <p:grpSpPr>
          <a:xfrm>
            <a:off x="1042633" y="3048612"/>
            <a:ext cx="9340620" cy="1742570"/>
            <a:chOff x="1589341" y="1074507"/>
            <a:chExt cx="9340620" cy="1742570"/>
          </a:xfrm>
        </p:grpSpPr>
        <p:pic>
          <p:nvPicPr>
            <p:cNvPr id="16" name="图片 15">
              <a:extLst>
                <a:ext uri="{FF2B5EF4-FFF2-40B4-BE49-F238E27FC236}">
                  <a16:creationId xmlns:a16="http://schemas.microsoft.com/office/drawing/2014/main" id="{576CF206-E091-A93C-7B5B-40F84D4717F2}"/>
                </a:ext>
              </a:extLst>
            </p:cNvPr>
            <p:cNvPicPr>
              <a:picLocks noChangeAspect="1"/>
            </p:cNvPicPr>
            <p:nvPr/>
          </p:nvPicPr>
          <p:blipFill>
            <a:blip r:embed="rId4"/>
            <a:stretch>
              <a:fillRect/>
            </a:stretch>
          </p:blipFill>
          <p:spPr>
            <a:xfrm>
              <a:off x="1589341" y="1383882"/>
              <a:ext cx="8797830" cy="1433195"/>
            </a:xfrm>
            <a:prstGeom prst="rect">
              <a:avLst/>
            </a:prstGeom>
          </p:spPr>
        </p:pic>
        <p:sp>
          <p:nvSpPr>
            <p:cNvPr id="17" name="矩形 16">
              <a:extLst>
                <a:ext uri="{FF2B5EF4-FFF2-40B4-BE49-F238E27FC236}">
                  <a16:creationId xmlns:a16="http://schemas.microsoft.com/office/drawing/2014/main" id="{DF82823B-CC3E-D952-7706-511ABC3D8B84}"/>
                </a:ext>
              </a:extLst>
            </p:cNvPr>
            <p:cNvSpPr/>
            <p:nvPr/>
          </p:nvSpPr>
          <p:spPr>
            <a:xfrm>
              <a:off x="8782179" y="1372100"/>
              <a:ext cx="614485" cy="41123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18" name="直接箭头连接符 17">
              <a:extLst>
                <a:ext uri="{FF2B5EF4-FFF2-40B4-BE49-F238E27FC236}">
                  <a16:creationId xmlns:a16="http://schemas.microsoft.com/office/drawing/2014/main" id="{518B0D65-0661-A3A6-75D8-F28A8CB9331E}"/>
                </a:ext>
              </a:extLst>
            </p:cNvPr>
            <p:cNvCxnSpPr/>
            <p:nvPr/>
          </p:nvCxnSpPr>
          <p:spPr>
            <a:xfrm flipV="1">
              <a:off x="9394758" y="1435471"/>
              <a:ext cx="721894" cy="1018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文本框 18">
              <a:extLst>
                <a:ext uri="{FF2B5EF4-FFF2-40B4-BE49-F238E27FC236}">
                  <a16:creationId xmlns:a16="http://schemas.microsoft.com/office/drawing/2014/main" id="{1B4A9384-A811-E78F-5705-B252C39E238D}"/>
                </a:ext>
              </a:extLst>
            </p:cNvPr>
            <p:cNvSpPr txBox="1"/>
            <p:nvPr/>
          </p:nvSpPr>
          <p:spPr>
            <a:xfrm>
              <a:off x="10114745" y="1074507"/>
              <a:ext cx="815216" cy="400110"/>
            </a:xfrm>
            <a:prstGeom prst="rect">
              <a:avLst/>
            </a:prstGeom>
            <a:noFill/>
          </p:spPr>
          <p:txBody>
            <a:bodyPr wrap="square" rtlCol="0">
              <a:spAutoFit/>
            </a:bodyPr>
            <a:lstStyle/>
            <a:p>
              <a:r>
                <a:rPr lang="en-US" altLang="zh-CN" sz="2000" b="1" dirty="0"/>
                <a:t>How</a:t>
              </a:r>
              <a:r>
                <a:rPr lang="zh-CN" altLang="en-US" sz="2000" b="1" dirty="0"/>
                <a:t>？</a:t>
              </a:r>
            </a:p>
          </p:txBody>
        </p:sp>
      </p:grpSp>
      <p:sp>
        <p:nvSpPr>
          <p:cNvPr id="21" name="文本框 20">
            <a:extLst>
              <a:ext uri="{FF2B5EF4-FFF2-40B4-BE49-F238E27FC236}">
                <a16:creationId xmlns:a16="http://schemas.microsoft.com/office/drawing/2014/main" id="{C13DA6DA-6423-EB5D-9B08-08C86C630A12}"/>
              </a:ext>
            </a:extLst>
          </p:cNvPr>
          <p:cNvSpPr txBox="1"/>
          <p:nvPr/>
        </p:nvSpPr>
        <p:spPr>
          <a:xfrm>
            <a:off x="1475874" y="5234741"/>
            <a:ext cx="216568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Validation set</a:t>
            </a:r>
            <a:endParaRPr lang="zh-CN" altLang="en-US" dirty="0">
              <a:solidFill>
                <a:srgbClr val="FF0000"/>
              </a:solidFill>
            </a:endParaRPr>
          </a:p>
        </p:txBody>
      </p:sp>
      <p:sp>
        <p:nvSpPr>
          <p:cNvPr id="22" name="文本框 21">
            <a:extLst>
              <a:ext uri="{FF2B5EF4-FFF2-40B4-BE49-F238E27FC236}">
                <a16:creationId xmlns:a16="http://schemas.microsoft.com/office/drawing/2014/main" id="{48467651-02E8-DBE1-F763-C5EBABDB1B2C}"/>
              </a:ext>
            </a:extLst>
          </p:cNvPr>
          <p:cNvSpPr txBox="1"/>
          <p:nvPr/>
        </p:nvSpPr>
        <p:spPr>
          <a:xfrm>
            <a:off x="1323473" y="6095642"/>
            <a:ext cx="9745579" cy="369332"/>
          </a:xfrm>
          <a:prstGeom prst="rect">
            <a:avLst/>
          </a:prstGeom>
          <a:noFill/>
        </p:spPr>
        <p:txBody>
          <a:bodyPr wrap="square" rtlCol="0">
            <a:spAutoFit/>
          </a:bodyPr>
          <a:lstStyle/>
          <a:p>
            <a:r>
              <a:rPr lang="en-US" altLang="zh-CN" i="1" dirty="0"/>
              <a:t>Open question: why do we need both test and validation sets? If we only have limited data?</a:t>
            </a:r>
            <a:endParaRPr lang="zh-CN" altLang="en-US" i="1" dirty="0"/>
          </a:p>
        </p:txBody>
      </p:sp>
    </p:spTree>
    <p:extLst>
      <p:ext uri="{BB962C8B-B14F-4D97-AF65-F5344CB8AC3E}">
        <p14:creationId xmlns:p14="http://schemas.microsoft.com/office/powerpoint/2010/main" val="153050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89A368-9D3B-7BEE-CA06-E0F025A1F01B}"/>
              </a:ext>
            </a:extLst>
          </p:cNvPr>
          <p:cNvSpPr>
            <a:spLocks noGrp="1"/>
          </p:cNvSpPr>
          <p:nvPr>
            <p:ph type="title"/>
          </p:nvPr>
        </p:nvSpPr>
        <p:spPr/>
        <p:txBody>
          <a:bodyPr/>
          <a:lstStyle/>
          <a:p>
            <a:r>
              <a:rPr lang="en-US" altLang="zh-CN" dirty="0"/>
              <a:t>Thinking…</a:t>
            </a:r>
            <a:endParaRPr lang="zh-CN" altLang="en-US" dirty="0"/>
          </a:p>
        </p:txBody>
      </p:sp>
      <p:sp>
        <p:nvSpPr>
          <p:cNvPr id="3" name="内容占位符 2">
            <a:extLst>
              <a:ext uri="{FF2B5EF4-FFF2-40B4-BE49-F238E27FC236}">
                <a16:creationId xmlns:a16="http://schemas.microsoft.com/office/drawing/2014/main" id="{F87436E8-AEF3-1545-9F08-07706526E08C}"/>
              </a:ext>
            </a:extLst>
          </p:cNvPr>
          <p:cNvSpPr>
            <a:spLocks noGrp="1"/>
          </p:cNvSpPr>
          <p:nvPr>
            <p:ph idx="1"/>
          </p:nvPr>
        </p:nvSpPr>
        <p:spPr>
          <a:xfrm>
            <a:off x="838200" y="1825625"/>
            <a:ext cx="11161734" cy="4351338"/>
          </a:xfrm>
        </p:spPr>
        <p:txBody>
          <a:bodyPr/>
          <a:lstStyle/>
          <a:p>
            <a:r>
              <a:rPr lang="en-US" altLang="zh-CN" dirty="0">
                <a:latin typeface="Times New Roman" panose="02020603050405020304" pitchFamily="18" charset="0"/>
                <a:cs typeface="Times New Roman" panose="02020603050405020304" pitchFamily="18" charset="0"/>
              </a:rPr>
              <a:t>Can you ever expect to see zero training error? When can we get zero?</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Your manager gives you a difficult dataset on which your current algorithm performs poorly. How would you justify to him that you need more data?</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When can we expect the generalization? What is the hypothesis?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840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内容占位符 4" descr="图表, 折线图&#10;&#10;AI 生成的内容可能不正确。">
            <a:extLst>
              <a:ext uri="{FF2B5EF4-FFF2-40B4-BE49-F238E27FC236}">
                <a16:creationId xmlns:a16="http://schemas.microsoft.com/office/drawing/2014/main" id="{EE03AEC3-2207-4494-0E1D-44BAD0DB4D29}"/>
              </a:ext>
            </a:extLst>
          </p:cNvPr>
          <p:cNvPicPr>
            <a:picLocks noGrp="1" noChangeAspect="1"/>
          </p:cNvPicPr>
          <p:nvPr>
            <p:ph idx="1"/>
          </p:nvPr>
        </p:nvPicPr>
        <p:blipFill>
          <a:blip r:embed="rId3"/>
          <a:stretch>
            <a:fillRect/>
          </a:stretch>
        </p:blipFill>
        <p:spPr>
          <a:xfrm>
            <a:off x="1537501" y="255426"/>
            <a:ext cx="9116998" cy="5971633"/>
          </a:xfrm>
          <a:prstGeom prst="rect">
            <a:avLst/>
          </a:prstGeom>
        </p:spPr>
      </p:pic>
    </p:spTree>
    <p:extLst>
      <p:ext uri="{BB962C8B-B14F-4D97-AF65-F5344CB8AC3E}">
        <p14:creationId xmlns:p14="http://schemas.microsoft.com/office/powerpoint/2010/main" val="3263425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87A9C-53CC-A2BE-9033-9F23A9E0F45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F053FEB8-9A18-FBB8-7D0D-F36171317FE3}"/>
              </a:ext>
            </a:extLst>
          </p:cNvPr>
          <p:cNvSpPr>
            <a:spLocks noGrp="1"/>
          </p:cNvSpPr>
          <p:nvPr>
            <p:ph type="title"/>
          </p:nvPr>
        </p:nvSpPr>
        <p:spPr/>
        <p:txBody>
          <a:bodyPr/>
          <a:lstStyle/>
          <a:p>
            <a:r>
              <a:rPr lang="en-US" altLang="zh-CN" dirty="0"/>
              <a:t>Conclusion</a:t>
            </a:r>
            <a:endParaRPr lang="zh-CN" altLang="en-US" dirty="0"/>
          </a:p>
        </p:txBody>
      </p:sp>
      <p:sp>
        <p:nvSpPr>
          <p:cNvPr id="5" name="文本框 4">
            <a:extLst>
              <a:ext uri="{FF2B5EF4-FFF2-40B4-BE49-F238E27FC236}">
                <a16:creationId xmlns:a16="http://schemas.microsoft.com/office/drawing/2014/main" id="{C213272A-98C9-844D-8369-B6BF318E92E8}"/>
              </a:ext>
            </a:extLst>
          </p:cNvPr>
          <p:cNvSpPr txBox="1"/>
          <p:nvPr/>
        </p:nvSpPr>
        <p:spPr>
          <a:xfrm>
            <a:off x="1056773" y="1864895"/>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Supervised learning</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B8AAA7C0-022B-4083-710E-E0C57AD4C3BA}"/>
              </a:ext>
            </a:extLst>
          </p:cNvPr>
          <p:cNvSpPr txBox="1"/>
          <p:nvPr/>
        </p:nvSpPr>
        <p:spPr>
          <a:xfrm>
            <a:off x="4602079" y="1864878"/>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Classification</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5BC41A2C-CE66-09AB-3D59-9A5F465D287E}"/>
              </a:ext>
            </a:extLst>
          </p:cNvPr>
          <p:cNvSpPr txBox="1"/>
          <p:nvPr/>
        </p:nvSpPr>
        <p:spPr>
          <a:xfrm>
            <a:off x="7864642" y="1864878"/>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Transfer Learning</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9104111F-4BF5-B4D6-F8A8-00F88851BB5C}"/>
              </a:ext>
            </a:extLst>
          </p:cNvPr>
          <p:cNvSpPr txBox="1"/>
          <p:nvPr/>
        </p:nvSpPr>
        <p:spPr>
          <a:xfrm>
            <a:off x="4602079" y="2952760"/>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Generative Model</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A1D3CCD0-F6FF-A486-2542-37ADB32F75A4}"/>
              </a:ext>
            </a:extLst>
          </p:cNvPr>
          <p:cNvSpPr txBox="1"/>
          <p:nvPr/>
        </p:nvSpPr>
        <p:spPr>
          <a:xfrm>
            <a:off x="1056773" y="2968758"/>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latin typeface="Times New Roman" panose="02020603050405020304" pitchFamily="18" charset="0"/>
                <a:cs typeface="Times New Roman" panose="02020603050405020304" pitchFamily="18" charset="0"/>
              </a:rPr>
              <a:t>Unsupervised Learning</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74D1F757-3A9C-7B42-2448-B85F9AE0542C}"/>
              </a:ext>
            </a:extLst>
          </p:cNvPr>
          <p:cNvSpPr txBox="1"/>
          <p:nvPr/>
        </p:nvSpPr>
        <p:spPr>
          <a:xfrm>
            <a:off x="7864642" y="2968758"/>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Generalization</a:t>
            </a:r>
            <a:endParaRPr lang="zh-CN" altLang="en-US" dirty="0">
              <a:solidFill>
                <a:srgbClr val="FF0000"/>
              </a:solidFill>
            </a:endParaRPr>
          </a:p>
        </p:txBody>
      </p:sp>
      <p:sp>
        <p:nvSpPr>
          <p:cNvPr id="20" name="文本框 19">
            <a:extLst>
              <a:ext uri="{FF2B5EF4-FFF2-40B4-BE49-F238E27FC236}">
                <a16:creationId xmlns:a16="http://schemas.microsoft.com/office/drawing/2014/main" id="{BAFA27B3-5BF2-0BA4-36BC-1333DC4376BC}"/>
              </a:ext>
            </a:extLst>
          </p:cNvPr>
          <p:cNvSpPr txBox="1"/>
          <p:nvPr/>
        </p:nvSpPr>
        <p:spPr>
          <a:xfrm>
            <a:off x="1056773" y="3887955"/>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Linear Models</a:t>
            </a:r>
            <a:endParaRPr lang="zh-CN" altLang="en-US" dirty="0">
              <a:solidFill>
                <a:srgbClr val="FF0000"/>
              </a:solidFill>
            </a:endParaRPr>
          </a:p>
        </p:txBody>
      </p:sp>
      <p:sp>
        <p:nvSpPr>
          <p:cNvPr id="23" name="文本框 22">
            <a:extLst>
              <a:ext uri="{FF2B5EF4-FFF2-40B4-BE49-F238E27FC236}">
                <a16:creationId xmlns:a16="http://schemas.microsoft.com/office/drawing/2014/main" id="{AE295ACB-6B1F-CEB8-A437-AA5FC862589D}"/>
              </a:ext>
            </a:extLst>
          </p:cNvPr>
          <p:cNvSpPr txBox="1"/>
          <p:nvPr/>
        </p:nvSpPr>
        <p:spPr>
          <a:xfrm>
            <a:off x="4602079" y="3887955"/>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Overfitting</a:t>
            </a:r>
            <a:endParaRPr lang="zh-CN" altLang="en-US" dirty="0">
              <a:solidFill>
                <a:srgbClr val="FF0000"/>
              </a:solidFill>
            </a:endParaRPr>
          </a:p>
        </p:txBody>
      </p:sp>
      <p:sp>
        <p:nvSpPr>
          <p:cNvPr id="24" name="文本框 23">
            <a:extLst>
              <a:ext uri="{FF2B5EF4-FFF2-40B4-BE49-F238E27FC236}">
                <a16:creationId xmlns:a16="http://schemas.microsoft.com/office/drawing/2014/main" id="{C042EBED-F81B-6E0A-24A7-D7505282B905}"/>
              </a:ext>
            </a:extLst>
          </p:cNvPr>
          <p:cNvSpPr txBox="1"/>
          <p:nvPr/>
        </p:nvSpPr>
        <p:spPr>
          <a:xfrm>
            <a:off x="7864642" y="3887955"/>
            <a:ext cx="250457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Test set</a:t>
            </a:r>
            <a:endParaRPr lang="zh-CN" altLang="en-US" dirty="0">
              <a:solidFill>
                <a:srgbClr val="FF0000"/>
              </a:solidFill>
            </a:endParaRPr>
          </a:p>
        </p:txBody>
      </p:sp>
      <p:sp>
        <p:nvSpPr>
          <p:cNvPr id="25" name="文本框 24">
            <a:extLst>
              <a:ext uri="{FF2B5EF4-FFF2-40B4-BE49-F238E27FC236}">
                <a16:creationId xmlns:a16="http://schemas.microsoft.com/office/drawing/2014/main" id="{8DBCE9D7-E48E-A39E-B432-A1DBE2C2D8CA}"/>
              </a:ext>
            </a:extLst>
          </p:cNvPr>
          <p:cNvSpPr txBox="1"/>
          <p:nvPr/>
        </p:nvSpPr>
        <p:spPr>
          <a:xfrm>
            <a:off x="1056772" y="4958015"/>
            <a:ext cx="250457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Weight Decay</a:t>
            </a:r>
            <a:endParaRPr lang="zh-CN" altLang="en-US" dirty="0">
              <a:solidFill>
                <a:srgbClr val="FF0000"/>
              </a:solidFill>
            </a:endParaRPr>
          </a:p>
        </p:txBody>
      </p:sp>
      <p:sp>
        <p:nvSpPr>
          <p:cNvPr id="26" name="文本框 25">
            <a:extLst>
              <a:ext uri="{FF2B5EF4-FFF2-40B4-BE49-F238E27FC236}">
                <a16:creationId xmlns:a16="http://schemas.microsoft.com/office/drawing/2014/main" id="{A8D91636-F625-DEF7-D51D-9FDF2053E2B6}"/>
              </a:ext>
            </a:extLst>
          </p:cNvPr>
          <p:cNvSpPr txBox="1"/>
          <p:nvPr/>
        </p:nvSpPr>
        <p:spPr>
          <a:xfrm>
            <a:off x="4602078" y="4958015"/>
            <a:ext cx="250457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dirty="0">
                <a:solidFill>
                  <a:srgbClr val="FF0000"/>
                </a:solidFill>
              </a:rPr>
              <a:t>Validation set</a:t>
            </a:r>
            <a:endParaRPr lang="zh-CN" altLang="en-US" dirty="0">
              <a:solidFill>
                <a:srgbClr val="FF0000"/>
              </a:solidFill>
            </a:endParaRPr>
          </a:p>
        </p:txBody>
      </p:sp>
    </p:spTree>
    <p:extLst>
      <p:ext uri="{BB962C8B-B14F-4D97-AF65-F5344CB8AC3E}">
        <p14:creationId xmlns:p14="http://schemas.microsoft.com/office/powerpoint/2010/main" val="418282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2" grpId="0" animBg="1"/>
      <p:bldP spid="20" grpId="0" animBg="1"/>
      <p:bldP spid="23" grpId="0" animBg="1"/>
      <p:bldP spid="24" grpId="0" animBg="1"/>
      <p:bldP spid="25"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856C93-B547-22A3-75FC-B207EB95DF02}"/>
              </a:ext>
            </a:extLst>
          </p:cNvPr>
          <p:cNvSpPr>
            <a:spLocks noGrp="1"/>
          </p:cNvSpPr>
          <p:nvPr>
            <p:ph type="title"/>
          </p:nvPr>
        </p:nvSpPr>
        <p:spPr/>
        <p:txBody>
          <a:bodyPr/>
          <a:lstStyle/>
          <a:p>
            <a:r>
              <a:rPr lang="en-US" altLang="zh-CN" dirty="0"/>
              <a:t>After class</a:t>
            </a:r>
            <a:endParaRPr lang="zh-CN" altLang="en-US" dirty="0"/>
          </a:p>
        </p:txBody>
      </p:sp>
      <p:sp>
        <p:nvSpPr>
          <p:cNvPr id="3" name="内容占位符 2">
            <a:extLst>
              <a:ext uri="{FF2B5EF4-FFF2-40B4-BE49-F238E27FC236}">
                <a16:creationId xmlns:a16="http://schemas.microsoft.com/office/drawing/2014/main" id="{B833A78F-800C-28F4-B918-4DC219EC7B5C}"/>
              </a:ext>
            </a:extLst>
          </p:cNvPr>
          <p:cNvSpPr>
            <a:spLocks noGrp="1"/>
          </p:cNvSpPr>
          <p:nvPr>
            <p:ph idx="1"/>
          </p:nvPr>
        </p:nvSpPr>
        <p:spPr/>
        <p:txBody>
          <a:bodyPr/>
          <a:lstStyle/>
          <a:p>
            <a:r>
              <a:rPr lang="en-US" altLang="zh-CN" dirty="0"/>
              <a:t>Reading: </a:t>
            </a:r>
            <a:r>
              <a:rPr lang="en-US" altLang="zh-CN" u="sng" dirty="0"/>
              <a:t>Deep Learning, Foundation and Concepts</a:t>
            </a:r>
          </a:p>
          <a:p>
            <a:pPr lvl="1"/>
            <a:r>
              <a:rPr lang="en-US" altLang="zh-CN" dirty="0"/>
              <a:t>Chapter 1.3:</a:t>
            </a:r>
            <a:r>
              <a:rPr lang="zh-CN" altLang="en-US" dirty="0"/>
              <a:t> </a:t>
            </a:r>
            <a:r>
              <a:rPr lang="en-US" altLang="zh-CN" dirty="0"/>
              <a:t>History of Machine Learning</a:t>
            </a:r>
          </a:p>
          <a:p>
            <a:pPr lvl="1"/>
            <a:r>
              <a:rPr lang="en-US" altLang="zh-CN" dirty="0"/>
              <a:t>Chapter 2-3: Probability and Standard Distribution</a:t>
            </a:r>
            <a:endParaRPr lang="zh-CN" altLang="en-US" dirty="0"/>
          </a:p>
        </p:txBody>
      </p:sp>
    </p:spTree>
    <p:extLst>
      <p:ext uri="{BB962C8B-B14F-4D97-AF65-F5344CB8AC3E}">
        <p14:creationId xmlns:p14="http://schemas.microsoft.com/office/powerpoint/2010/main" val="30643540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629</TotalTime>
  <Words>2160</Words>
  <Application>Microsoft Macintosh PowerPoint</Application>
  <PresentationFormat>宽屏</PresentationFormat>
  <Paragraphs>266</Paragraphs>
  <Slides>18</Slides>
  <Notes>15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等线</vt:lpstr>
      <vt:lpstr>等线 Light</vt:lpstr>
      <vt:lpstr>宋体</vt:lpstr>
      <vt:lpstr>NimbusRomNo9L-Regu</vt:lpstr>
      <vt:lpstr>Arial</vt:lpstr>
      <vt:lpstr>Cambria Math</vt:lpstr>
      <vt:lpstr>Times New Roman</vt:lpstr>
      <vt:lpstr>Wingdings</vt:lpstr>
      <vt:lpstr>Office 主题​​</vt:lpstr>
      <vt:lpstr>STA326: Data Science Practice</vt:lpstr>
      <vt:lpstr>Outlines</vt:lpstr>
      <vt:lpstr>Classification - Medical diagnosis</vt:lpstr>
      <vt:lpstr>Generation - Image synthesis</vt:lpstr>
      <vt:lpstr>A tutorial example</vt:lpstr>
      <vt:lpstr>Linear models</vt:lpstr>
      <vt:lpstr>Error function</vt:lpstr>
      <vt:lpstr>Model Complexity</vt:lpstr>
      <vt:lpstr>Model Complexity</vt:lpstr>
      <vt:lpstr>Model Complexity</vt:lpstr>
      <vt:lpstr>Model Complexity</vt:lpstr>
      <vt:lpstr>Model Complexity</vt:lpstr>
      <vt:lpstr>Regularization</vt:lpstr>
      <vt:lpstr>Model selection</vt:lpstr>
      <vt:lpstr>Thinking…</vt:lpstr>
      <vt:lpstr>PowerPoint 演示文稿</vt:lpstr>
      <vt:lpstr>Conclusion</vt:lpstr>
      <vt:lpstr>After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鸿鑫 魏</dc:creator>
  <cp:lastModifiedBy>鸿鑫 魏</cp:lastModifiedBy>
  <cp:revision>297</cp:revision>
  <dcterms:created xsi:type="dcterms:W3CDTF">2025-02-14T06:47:06Z</dcterms:created>
  <dcterms:modified xsi:type="dcterms:W3CDTF">2026-02-25T05:33:59Z</dcterms:modified>
</cp:coreProperties>
</file>