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62" r:id="rId3"/>
    <p:sldId id="263" r:id="rId4"/>
    <p:sldId id="265" r:id="rId5"/>
    <p:sldId id="264" r:id="rId6"/>
    <p:sldId id="279" r:id="rId7"/>
    <p:sldId id="266" r:id="rId8"/>
    <p:sldId id="280" r:id="rId9"/>
    <p:sldId id="281" r:id="rId10"/>
    <p:sldId id="269" r:id="rId11"/>
    <p:sldId id="268" r:id="rId12"/>
    <p:sldId id="270" r:id="rId13"/>
    <p:sldId id="271" r:id="rId14"/>
    <p:sldId id="272" r:id="rId15"/>
    <p:sldId id="273" r:id="rId16"/>
    <p:sldId id="274" r:id="rId17"/>
    <p:sldId id="276" r:id="rId18"/>
    <p:sldId id="275" r:id="rId19"/>
    <p:sldId id="277" r:id="rId20"/>
    <p:sldId id="278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5" autoAdjust="0"/>
    <p:restoredTop sz="94683"/>
  </p:normalViewPr>
  <p:slideViewPr>
    <p:cSldViewPr snapToGrid="0">
      <p:cViewPr varScale="1">
        <p:scale>
          <a:sx n="197" d="100"/>
          <a:sy n="197" d="100"/>
        </p:scale>
        <p:origin x="152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616EE-64A5-4D2E-9F89-627F86D510AB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63CEB2-05F9-47E5-B01A-38C44ADA43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7669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0e6f89538c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0e6f89538c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134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3CEB2-05F9-47E5-B01A-38C44ADA430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471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17249E-D4F9-9247-C081-9966F53F1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401392B-8101-8923-C1E9-098037FA83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5C9FDE-B5E2-2406-836F-90000E9DE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1AC09-EEF7-424B-98BB-B07D76557C25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892B1D-EC00-3B51-01B1-7BC56E413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F522E5-C912-431C-09AA-4946AC23F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6451F-484E-4DB8-B481-4BC6FEEE69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0728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77F9A6-5B12-B03A-10BA-DBD0BAAC8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ECACDA-4C3C-90D4-F7E2-2B9CFD656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EFF113-0792-E14D-62E6-E880D8B0D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1AC09-EEF7-424B-98BB-B07D76557C25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B85184-E1F9-4E46-633D-C4D5CEC44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BA9C71-7A15-9BBC-727D-44CE54749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6451F-484E-4DB8-B481-4BC6FEEE69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591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C91005-2AD3-3B09-5DB6-5CDFC664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604259-09AA-3BE1-F88E-A686E981F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D5F007-AFEF-D03E-D771-878C6F6C1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1AC09-EEF7-424B-98BB-B07D76557C25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D7F83C-326C-4F68-071F-A6A9F69BB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AE9187-A68F-61A3-16B3-5E04B648C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6451F-484E-4DB8-B481-4BC6FEEE69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2912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3E1286-7B46-8D59-F979-187DB1D92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8115C9-AA29-CC29-D01E-285A6BEAA7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953CC6-795F-AE23-F582-CF2DC7769D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97A927-1DA6-5102-C51C-D75A6C5F0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1AC09-EEF7-424B-98BB-B07D76557C25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927FF7-3057-BFDB-EA26-A1F7A375C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17B26F-3708-BAB3-EB32-202B7C075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6451F-484E-4DB8-B481-4BC6FEEE69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0673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276C2B-AE18-6B1D-CE57-4E641CFEF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B59674-FB46-A7AD-770F-2F981D9E9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64C712A-B2A6-3DEB-3B07-068F83B60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1888BE6-9EB6-31BB-1657-BBBF4836F7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FE6F069-E382-040F-6B59-E056D0545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2810465-0845-8EBF-1DBD-10A934A63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1AC09-EEF7-424B-98BB-B07D76557C25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A65EA22-BA83-E8A1-3D7F-B1C3A3F17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5C265EE-EB34-BBC9-ED33-635C9951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6451F-484E-4DB8-B481-4BC6FEEE69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5712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6780D7-E72F-382A-D5B2-931205669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2FA4AF9-F8BB-8E05-532D-7FDBEEFD9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1AC09-EEF7-424B-98BB-B07D76557C25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3DACAE7-E205-F268-6D10-EE0D2B104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32E1DE9-0244-8C7F-E505-6B8E46F60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6451F-484E-4DB8-B481-4BC6FEEE69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270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5A23F03-9780-AABE-B00B-2826ED1B2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1AC09-EEF7-424B-98BB-B07D76557C25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8097A11-39A1-F659-2E2A-3143D7C1E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99F902-C6FB-00BB-9A07-6538D0C05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6451F-484E-4DB8-B481-4BC6FEEE69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823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178DA8-D33F-5DCD-46C1-E44855203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DD9C6-8272-0002-5DC6-A460C97CC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709C14-E6DC-2D4C-D758-9D2FF20B8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36411C-3D7A-38DF-BE6D-5AB103B05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1AC09-EEF7-424B-98BB-B07D76557C25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DC69C6-90DF-A443-1508-2F6105B8F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C10F3E-8FFC-0F80-1FD5-0A4DF7C37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6451F-484E-4DB8-B481-4BC6FEEE69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651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20C6DA-5DEC-5F10-2C1E-4D66FBD8F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B570F14-B4DA-C289-A74C-913AC4A7BB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805C1E0-FED2-DF48-3E88-62B87F166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CDCCA7-4CC5-6F65-D051-B411C2CCC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1AC09-EEF7-424B-98BB-B07D76557C25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EEFD53-0FC1-9DCE-4FD6-8A76492DC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CCF549-F214-6F1A-C878-2A53F4D27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6451F-484E-4DB8-B481-4BC6FEEE69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910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837018-5CF8-0B91-CF3D-693D4C2DB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BBC94F7-31D9-2291-F3AC-442830E33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CFA295-2E34-8514-F051-DD88A26B9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1AC09-EEF7-424B-98BB-B07D76557C25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BE496C-E0FC-FCB5-CE36-F7A7929E4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8B887D-6B49-07C8-C00C-804E2711C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6451F-484E-4DB8-B481-4BC6FEEE69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310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128B85B-5A6D-3787-D52E-13491BB7A2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F5DBCEF-8E1C-D5B5-0FF2-EF4A231699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329715-DB11-EF6B-5D04-A1BE71F11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1AC09-EEF7-424B-98BB-B07D76557C25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1E3078-E5FC-4F5C-0CC2-491C7946F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FA8FE2-67BD-3BFE-DBE6-A9D33F3DE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6451F-484E-4DB8-B481-4BC6FEEE69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623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 and body">
  <p:cSld name="Title and subtitle and 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415600" y="1662433"/>
            <a:ext cx="11360800" cy="455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Roboto Light"/>
              <a:buChar char="➔"/>
              <a:defRPr sz="213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Clr>
                <a:srgbClr val="C53045"/>
              </a:buClr>
              <a:buSzPts val="1200"/>
              <a:buFont typeface="Roboto Light"/>
              <a:buChar char="ㅁ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Light"/>
              <a:buChar char="一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Light"/>
              <a:buChar char="一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Light"/>
              <a:buChar char="一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Light"/>
              <a:buChar char="一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Light"/>
              <a:buChar char="一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Light"/>
              <a:buChar char="一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Light"/>
              <a:buChar char="一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415600" y="293233"/>
            <a:ext cx="11360800" cy="609398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0368C"/>
              </a:buClr>
              <a:buSzPts val="2800"/>
              <a:buFont typeface="Oswald"/>
              <a:buNone/>
              <a:defRPr>
                <a:solidFill>
                  <a:srgbClr val="30368C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81D61"/>
              </a:buClr>
              <a:buSzPts val="2800"/>
              <a:buNone/>
              <a:defRPr>
                <a:solidFill>
                  <a:srgbClr val="181D6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81D61"/>
              </a:buClr>
              <a:buSzPts val="2800"/>
              <a:buNone/>
              <a:defRPr>
                <a:solidFill>
                  <a:srgbClr val="181D6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81D61"/>
              </a:buClr>
              <a:buSzPts val="2800"/>
              <a:buNone/>
              <a:defRPr>
                <a:solidFill>
                  <a:srgbClr val="181D6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81D61"/>
              </a:buClr>
              <a:buSzPts val="2800"/>
              <a:buNone/>
              <a:defRPr>
                <a:solidFill>
                  <a:srgbClr val="181D6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81D61"/>
              </a:buClr>
              <a:buSzPts val="2800"/>
              <a:buNone/>
              <a:defRPr>
                <a:solidFill>
                  <a:srgbClr val="181D6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81D61"/>
              </a:buClr>
              <a:buSzPts val="2800"/>
              <a:buNone/>
              <a:defRPr>
                <a:solidFill>
                  <a:srgbClr val="181D6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81D61"/>
              </a:buClr>
              <a:buSzPts val="2800"/>
              <a:buNone/>
              <a:defRPr>
                <a:solidFill>
                  <a:srgbClr val="181D6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81D61"/>
              </a:buClr>
              <a:buSzPts val="2800"/>
              <a:buNone/>
              <a:defRPr>
                <a:solidFill>
                  <a:srgbClr val="181D61"/>
                </a:solidFill>
              </a:defRPr>
            </a:lvl9pPr>
          </a:lstStyle>
          <a:p>
            <a:endParaRPr/>
          </a:p>
        </p:txBody>
      </p:sp>
      <p:cxnSp>
        <p:nvCxnSpPr>
          <p:cNvPr id="32" name="Google Shape;32;p5"/>
          <p:cNvCxnSpPr/>
          <p:nvPr/>
        </p:nvCxnSpPr>
        <p:spPr>
          <a:xfrm>
            <a:off x="454133" y="1366733"/>
            <a:ext cx="11353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Google Shape;33;p5"/>
          <p:cNvSpPr txBox="1">
            <a:spLocks noGrp="1"/>
          </p:cNvSpPr>
          <p:nvPr>
            <p:ph type="title" idx="2"/>
          </p:nvPr>
        </p:nvSpPr>
        <p:spPr>
          <a:xfrm>
            <a:off x="415600" y="893000"/>
            <a:ext cx="11360800" cy="3323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53045"/>
              </a:buClr>
              <a:buSzPts val="1800"/>
              <a:buFont typeface="Roboto Light"/>
              <a:buNone/>
              <a:defRPr sz="2400">
                <a:solidFill>
                  <a:srgbClr val="C53045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81D61"/>
              </a:buClr>
              <a:buSzPts val="1800"/>
              <a:buFont typeface="Roboto Light"/>
              <a:buNone/>
              <a:defRPr sz="2400">
                <a:solidFill>
                  <a:srgbClr val="181D6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81D61"/>
              </a:buClr>
              <a:buSzPts val="1800"/>
              <a:buFont typeface="Roboto Light"/>
              <a:buNone/>
              <a:defRPr sz="2400">
                <a:solidFill>
                  <a:srgbClr val="181D6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81D61"/>
              </a:buClr>
              <a:buSzPts val="1800"/>
              <a:buFont typeface="Roboto Light"/>
              <a:buNone/>
              <a:defRPr sz="2400">
                <a:solidFill>
                  <a:srgbClr val="181D6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81D61"/>
              </a:buClr>
              <a:buSzPts val="1800"/>
              <a:buFont typeface="Roboto Light"/>
              <a:buNone/>
              <a:defRPr sz="2400">
                <a:solidFill>
                  <a:srgbClr val="181D6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81D61"/>
              </a:buClr>
              <a:buSzPts val="1800"/>
              <a:buFont typeface="Roboto Light"/>
              <a:buNone/>
              <a:defRPr sz="2400">
                <a:solidFill>
                  <a:srgbClr val="181D6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81D61"/>
              </a:buClr>
              <a:buSzPts val="1800"/>
              <a:buFont typeface="Roboto Light"/>
              <a:buNone/>
              <a:defRPr sz="2400">
                <a:solidFill>
                  <a:srgbClr val="181D6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81D61"/>
              </a:buClr>
              <a:buSzPts val="1800"/>
              <a:buFont typeface="Roboto Light"/>
              <a:buNone/>
              <a:defRPr sz="2400">
                <a:solidFill>
                  <a:srgbClr val="181D6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81D61"/>
              </a:buClr>
              <a:buSzPts val="1800"/>
              <a:buFont typeface="Roboto Light"/>
              <a:buNone/>
              <a:defRPr sz="2400">
                <a:solidFill>
                  <a:srgbClr val="181D6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76041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6305D7D-2F9B-8D78-BEA4-2260D33F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12A583-53DC-F90A-60A0-3E1EBB963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9F26B9-BFAE-7C27-20D4-56F6331CB3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91AC09-EEF7-424B-98BB-B07D76557C25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8C87F8-A83D-A52D-899C-B3B600E18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1728F8-AAF4-A45C-B3F1-D540ADD63B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F6451F-484E-4DB8-B481-4BC6FEEE69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4741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76BF0C-D55C-303A-D68D-6298E61D68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090" y="1447216"/>
            <a:ext cx="10599820" cy="2387600"/>
          </a:xfrm>
        </p:spPr>
        <p:txBody>
          <a:bodyPr>
            <a:normAutofit/>
          </a:bodyPr>
          <a:lstStyle/>
          <a:p>
            <a:r>
              <a:rPr lang="en-US" altLang="zh-CN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STA326: Data Science Practice</a:t>
            </a:r>
            <a:endParaRPr lang="zh-CN" altLang="en-US" sz="5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D967F9-583A-3669-58AF-FC2F71FBE4D4}"/>
              </a:ext>
            </a:extLst>
          </p:cNvPr>
          <p:cNvSpPr txBox="1"/>
          <p:nvPr/>
        </p:nvSpPr>
        <p:spPr>
          <a:xfrm>
            <a:off x="3563353" y="4480740"/>
            <a:ext cx="50652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Wei Hongxin</a:t>
            </a:r>
          </a:p>
          <a:p>
            <a:pPr algn="ctr"/>
            <a:r>
              <a:rPr lang="en-US" altLang="zh-CN" sz="2800" dirty="0"/>
              <a:t>2026 Spring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274860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415600" y="1502399"/>
            <a:ext cx="11360800" cy="49924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203195" indent="0">
              <a:lnSpc>
                <a:spcPct val="125000"/>
              </a:lnSpc>
              <a:buClr>
                <a:schemeClr val="accent2"/>
              </a:buClr>
              <a:buSzPts val="1200"/>
              <a:buNone/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魏鸿鑫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195" indent="0">
              <a:lnSpc>
                <a:spcPct val="125000"/>
              </a:lnSpc>
              <a:buClr>
                <a:schemeClr val="accent2"/>
              </a:buClr>
              <a:buSzPts val="1200"/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at Stat-DS </a:t>
            </a:r>
          </a:p>
          <a:p>
            <a:pPr marL="203195" indent="0">
              <a:lnSpc>
                <a:spcPct val="125000"/>
              </a:lnSpc>
              <a:buClr>
                <a:schemeClr val="accent2"/>
              </a:buClr>
              <a:buSzPts val="1200"/>
              <a:buNone/>
            </a:pPr>
            <a:r>
              <a:rPr 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interests: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machine learning,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its applications in data optimization and privacy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88945" indent="-285750">
              <a:lnSpc>
                <a:spcPct val="125000"/>
              </a:lnSpc>
              <a:buClr>
                <a:schemeClr val="accent2"/>
              </a:buClr>
              <a:buSzPts val="1200"/>
              <a:buFont typeface="Wingdings" panose="05000000000000000000" pitchFamily="2" charset="2"/>
              <a:buChar char="n"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Ph.D.,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Nanyang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Technological University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2020 – 2023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88945" indent="-285750">
              <a:lnSpc>
                <a:spcPct val="125000"/>
              </a:lnSpc>
              <a:buClr>
                <a:schemeClr val="accent2"/>
              </a:buClr>
              <a:buSzPts val="1200"/>
              <a:buFont typeface="Wingdings" panose="05000000000000000000" pitchFamily="2" charset="2"/>
              <a:buChar char="n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Visiting Scholar</a:t>
            </a: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Wisconsin Madison, 2022</a:t>
            </a:r>
          </a:p>
          <a:p>
            <a:pPr marL="488945" indent="-285750">
              <a:lnSpc>
                <a:spcPct val="125000"/>
              </a:lnSpc>
              <a:buClr>
                <a:srgbClr val="ED7D31"/>
              </a:buClr>
              <a:buSzPts val="1200"/>
              <a:buFont typeface="Wingdings" panose="05000000000000000000" pitchFamily="2" charset="2"/>
              <a:buChar char="n"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Roboto Light"/>
              </a:rPr>
              <a:t>Research Assistant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Roboto Light"/>
              </a:rPr>
              <a:t>, The IIIS at Tsinghua University, 2017-2018</a:t>
            </a:r>
          </a:p>
          <a:p>
            <a:pPr marL="488945" indent="-285750">
              <a:lnSpc>
                <a:spcPct val="125000"/>
              </a:lnSpc>
              <a:buClr>
                <a:srgbClr val="ED7D31"/>
              </a:buClr>
              <a:buSzPts val="1200"/>
              <a:buFont typeface="Wingdings" panose="05000000000000000000" pitchFamily="2" charset="2"/>
              <a:buChar char="n"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Roboto Light"/>
              </a:rPr>
              <a:t>Bachelor, </a:t>
            </a:r>
            <a:r>
              <a:rPr lang="en-US" altLang="zh-CN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Roboto Light"/>
              </a:rPr>
              <a:t>uazhong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Roboto Light"/>
              </a:rPr>
              <a:t> University of Science and Technology, 2012-2016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Roboto Light"/>
            </a:endParaRPr>
          </a:p>
          <a:p>
            <a:pPr indent="-389457">
              <a:lnSpc>
                <a:spcPct val="125000"/>
              </a:lnSpc>
              <a:buSzPts val="1000"/>
            </a:pPr>
            <a:endParaRPr lang="en-US" sz="186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415600" y="576749"/>
            <a:ext cx="11360800" cy="609398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are we?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Google Shape;74;p14"/>
          <p:cNvSpPr txBox="1">
            <a:spLocks noGrp="1"/>
          </p:cNvSpPr>
          <p:nvPr>
            <p:ph type="title" idx="2"/>
          </p:nvPr>
        </p:nvSpPr>
        <p:spPr>
          <a:xfrm>
            <a:off x="2244400" y="1699117"/>
            <a:ext cx="4324842" cy="332399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r>
              <a:rPr lang="en-US" u="sng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https://hongxin001.github.io/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qr code with a few black squares&#10;&#10;Description automatically generated">
            <a:extLst>
              <a:ext uri="{FF2B5EF4-FFF2-40B4-BE49-F238E27FC236}">
                <a16:creationId xmlns:a16="http://schemas.microsoft.com/office/drawing/2014/main" id="{F35AE0D7-2B0E-F0F2-10F9-E14A1B3DA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297" y="140612"/>
            <a:ext cx="2169576" cy="216957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F212063-B1E4-5F23-E618-28C18367C08B}"/>
              </a:ext>
            </a:extLst>
          </p:cNvPr>
          <p:cNvSpPr txBox="1"/>
          <p:nvPr/>
        </p:nvSpPr>
        <p:spPr>
          <a:xfrm>
            <a:off x="596074" y="4648140"/>
            <a:ext cx="4733916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Teaching Assistant </a:t>
            </a:r>
          </a:p>
          <a:p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Wang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Shuoyuan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王朔远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Yang Hanjie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杨汉杰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Wang Boyuan (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王伯元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C1D888D-8239-D138-023E-734DC14F0015}"/>
              </a:ext>
            </a:extLst>
          </p:cNvPr>
          <p:cNvSpPr txBox="1"/>
          <p:nvPr/>
        </p:nvSpPr>
        <p:spPr>
          <a:xfrm>
            <a:off x="5743643" y="4648140"/>
            <a:ext cx="473391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Instructor</a:t>
            </a:r>
          </a:p>
          <a:p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Song Anqi (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宋安琪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085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B3FB60-92CD-5321-30CC-644E08E20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4F5747-8133-30D0-B5BF-79F41B3CD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Objective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Timelines of STA326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STA326 assignments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Project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636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0E5D7-7348-0DDE-81D0-833E22086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CBBDED-475A-E1C8-D888-E1B9D94A5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078" y="1659507"/>
            <a:ext cx="6793759" cy="1325563"/>
          </a:xfrm>
        </p:spPr>
        <p:txBody>
          <a:bodyPr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Practice? 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8C085368-B51F-E426-F46D-21900B89B49A}"/>
              </a:ext>
            </a:extLst>
          </p:cNvPr>
          <p:cNvSpPr txBox="1">
            <a:spLocks/>
          </p:cNvSpPr>
          <p:nvPr/>
        </p:nvSpPr>
        <p:spPr>
          <a:xfrm>
            <a:off x="1595303" y="4210776"/>
            <a:ext cx="613043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Practice!</a:t>
            </a:r>
            <a:endParaRPr lang="zh-CN" alt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63F8800-7E39-70CC-E165-30D34BC90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7996" y="1223867"/>
            <a:ext cx="2196842" cy="219684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2A727C9-95F4-53D1-4AB9-35D22B468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7996" y="3800361"/>
            <a:ext cx="2247291" cy="214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793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C442E-0C13-12D8-042D-7FEA5AD7C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576B3A-B2C1-E231-86F6-B66FC46A9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Objective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BCA7BC6-8A73-D10F-AD33-034223229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0989"/>
            <a:ext cx="10515600" cy="42759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machine learning algorithms to real-world tasks</a:t>
            </a:r>
            <a:endParaRPr lang="en-US" altLang="zh-CN" sz="3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 a strong model for a given dataset.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to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loss/optimizer/neural network/regularization?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to augment/generate data for training a stronger model?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focus on 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and mostly 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861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37A95-6808-03CF-6BDB-7E96B3E18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CAC040-8EBB-5022-D2B4-D78632F55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class, you will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09E41D8-43DC-73C9-9EEF-7E1B314B1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0989"/>
            <a:ext cx="10515600" cy="427597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 how to train deep neural networks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Chance to apply for research internship in various groups.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Know some applications of cutting-edge technologies (like RAG)</a:t>
            </a:r>
          </a:p>
        </p:txBody>
      </p:sp>
    </p:spTree>
    <p:extLst>
      <p:ext uri="{BB962C8B-B14F-4D97-AF65-F5344CB8AC3E}">
        <p14:creationId xmlns:p14="http://schemas.microsoft.com/office/powerpoint/2010/main" val="3549025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6E1A0-E7D6-11DD-C9C7-B56EAFBA1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F701BB-C38C-3B4E-AC03-C34AC8FC6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Syllabus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0E8F1E4-39A6-E492-F128-F7C585810524}"/>
              </a:ext>
            </a:extLst>
          </p:cNvPr>
          <p:cNvSpPr txBox="1"/>
          <p:nvPr/>
        </p:nvSpPr>
        <p:spPr>
          <a:xfrm>
            <a:off x="926431" y="1997242"/>
            <a:ext cx="9637295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1: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Basics (Week 1-5)</a:t>
            </a:r>
          </a:p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2: Predictive models (Week 6, 7, 9)</a:t>
            </a:r>
          </a:p>
          <a:p>
            <a:r>
              <a:rPr lang="en-US" altLang="zh-C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(Week 8: Mid-term exam)</a:t>
            </a:r>
          </a:p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3: Generative models (Week 10-12)</a:t>
            </a:r>
          </a:p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4: Advance Topics (Week 13-14) </a:t>
            </a:r>
          </a:p>
          <a:p>
            <a:r>
              <a:rPr lang="en-US" altLang="zh-CN" sz="2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Transformer, RAG…</a:t>
            </a:r>
          </a:p>
          <a:p>
            <a:r>
              <a:rPr lang="en-US" altLang="zh-C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(Week 15: Project presentation)</a:t>
            </a:r>
          </a:p>
        </p:txBody>
      </p:sp>
    </p:spTree>
    <p:extLst>
      <p:ext uri="{BB962C8B-B14F-4D97-AF65-F5344CB8AC3E}">
        <p14:creationId xmlns:p14="http://schemas.microsoft.com/office/powerpoint/2010/main" val="3894992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8F46B0-4C4D-1D3E-411E-07FCB4A19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Book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A3961E-0D97-F18A-08C4-46BECD593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1: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Basics (Week 1-5)</a:t>
            </a:r>
          </a:p>
          <a:p>
            <a:pPr marL="0" indent="0">
              <a:buNone/>
            </a:pP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Chapters 1, 3, 4, 5, 12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2: Predictive models (Week 6, 7, 9)</a:t>
            </a:r>
          </a:p>
          <a:p>
            <a:pPr marL="0" indent="0">
              <a:buNone/>
            </a:pP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Chapters 7, 8, 14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3: Generative models (Week 10-12)</a:t>
            </a:r>
          </a:p>
          <a:p>
            <a:pPr marL="0" indent="0">
              <a:buNone/>
            </a:pP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20 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4: Advance Topics (Week 13-14)</a:t>
            </a:r>
          </a:p>
          <a:p>
            <a:pPr marL="0" indent="0">
              <a:buNone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099D7A2-DFE7-0EB4-C067-BAC6F582A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7753" y="1825625"/>
            <a:ext cx="2274087" cy="2808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518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4D55E-6C09-6E00-C7BE-AE04A3F97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933159-AE87-2A6D-0908-98CB8327F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Book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14DD2D-C341-5F88-98F8-598EAB0FF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1: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Basics (Week 1-5)</a:t>
            </a:r>
          </a:p>
          <a:p>
            <a:pPr marL="0" indent="0">
              <a:buNone/>
            </a:pP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1, 4, 5, 6, 7, 8, 9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2: Predictive models (Week 6, 7, 9)</a:t>
            </a:r>
          </a:p>
          <a:p>
            <a:pPr marL="0" indent="0">
              <a:buNone/>
            </a:pP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10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3: Generative models (Week 10-12)</a:t>
            </a:r>
          </a:p>
          <a:p>
            <a:pPr marL="0" indent="0">
              <a:buNone/>
            </a:pP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17, 20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4: Advance Topics (Week 13-14)</a:t>
            </a:r>
          </a:p>
          <a:p>
            <a:endParaRPr lang="zh-CN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88ABCF9-9AEF-F71F-48A2-14B47ED95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5310" y="1394142"/>
            <a:ext cx="282837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8634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B05C5-C2DD-A3D4-8DF6-68D28EE22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B467EA-0C81-806D-8481-A4AFDE927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Grading Formula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A2E5236-2507-A66B-9EDE-39857F7B0526}"/>
              </a:ext>
            </a:extLst>
          </p:cNvPr>
          <p:cNvSpPr txBox="1"/>
          <p:nvPr/>
        </p:nvSpPr>
        <p:spPr>
          <a:xfrm>
            <a:off x="1391653" y="2342546"/>
            <a:ext cx="8738936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Grade(100) =  Ca (10) + FP (30) + A (30) + M(30)</a:t>
            </a:r>
          </a:p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 – Course attendance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 – Final Project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- Assignment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- Midterm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A6B705F-FEB0-519D-23A4-1999CE177F9D}"/>
              </a:ext>
            </a:extLst>
          </p:cNvPr>
          <p:cNvSpPr txBox="1"/>
          <p:nvPr/>
        </p:nvSpPr>
        <p:spPr>
          <a:xfrm>
            <a:off x="1391653" y="5534526"/>
            <a:ext cx="8738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Participation = +1 bonus when you need it 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361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85644-10EF-F1E0-F72E-802441376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D98AAD-120B-B974-180A-F93B6F3CB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E3539FA-3874-6D7C-581F-5AE605956DEC}"/>
              </a:ext>
            </a:extLst>
          </p:cNvPr>
          <p:cNvSpPr txBox="1"/>
          <p:nvPr/>
        </p:nvSpPr>
        <p:spPr>
          <a:xfrm>
            <a:off x="619626" y="1690688"/>
            <a:ext cx="11175331" cy="3574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assignment: Week 5  (Training a model on a standard dataset)</a:t>
            </a:r>
          </a:p>
          <a:p>
            <a:pPr marL="457200" indent="-4572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assignment: Week 10 (Project midterm report)</a:t>
            </a:r>
          </a:p>
          <a:p>
            <a:pPr marL="457200" indent="-4572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assignment: Week 13 (Generate some image data)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4FB937A-18D4-40CB-9B33-8A47E6BEAA76}"/>
              </a:ext>
            </a:extLst>
          </p:cNvPr>
          <p:cNvSpPr txBox="1"/>
          <p:nvPr/>
        </p:nvSpPr>
        <p:spPr>
          <a:xfrm>
            <a:off x="838200" y="5702968"/>
            <a:ext cx="99661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 on time with at most 1 late days. </a:t>
            </a:r>
            <a:endParaRPr lang="zh-CN" alt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134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50E07-B1E9-F486-6785-6C7B84590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D9406B-86DF-A732-5860-F09785BD8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Prerequisites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E44293-43CE-000A-571F-518F039C6EB6}"/>
              </a:ext>
            </a:extLst>
          </p:cNvPr>
          <p:cNvSpPr txBox="1"/>
          <p:nvPr/>
        </p:nvSpPr>
        <p:spPr>
          <a:xfrm>
            <a:off x="619626" y="1690688"/>
            <a:ext cx="11175331" cy="3574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programming skills (especially </a:t>
            </a:r>
            <a:r>
              <a:rPr lang="en-US" altLang="zh-CN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Familiar with the probability theory</a:t>
            </a:r>
          </a:p>
          <a:p>
            <a:pPr marL="457200" indent="-4572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Familiar with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727377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1787C-70D4-4EB1-6FA0-D3F0949D9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A9ACA4-2550-E04F-E437-27936CB24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project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(2025 Spring)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A9E7825-8224-CD16-E336-9A66D1AC4D60}"/>
              </a:ext>
            </a:extLst>
          </p:cNvPr>
          <p:cNvSpPr txBox="1"/>
          <p:nvPr/>
        </p:nvSpPr>
        <p:spPr>
          <a:xfrm>
            <a:off x="619626" y="1075546"/>
            <a:ext cx="11175331" cy="3635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Rock Classification </a:t>
            </a:r>
            <a:r>
              <a:rPr lang="zh-CN" altLang="en-US" sz="2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will be released in week 2-3</a:t>
            </a:r>
            <a:r>
              <a:rPr lang="zh-CN" altLang="en-US" sz="2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400" i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 you are a research scientist, and the rock museum hope you to train a deep model that can classify rock images into different classes. With the classification model, they can automatically collect rocks for various classes. </a:t>
            </a:r>
          </a:p>
          <a:p>
            <a:pPr marL="457200" indent="-457200">
              <a:lnSpc>
                <a:spcPct val="250000"/>
              </a:lnSpc>
              <a:buFont typeface="Wingdings" panose="05000000000000000000" pitchFamily="2" charset="2"/>
              <a:buChar char="Ø"/>
            </a:pP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C5BB65E0-387B-2D21-1EA0-3F72E214C4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626" y="3855071"/>
            <a:ext cx="3323048" cy="2192997"/>
          </a:xfrm>
          <a:prstGeom prst="rect">
            <a:avLst/>
          </a:prstGeom>
        </p:spPr>
      </p:pic>
      <p:pic>
        <p:nvPicPr>
          <p:cNvPr id="7" name="图片 6" descr="图片包含 游戏机, 岩石, 食物&#10;&#10;AI 生成的内容可能不正确。">
            <a:extLst>
              <a:ext uri="{FF2B5EF4-FFF2-40B4-BE49-F238E27FC236}">
                <a16:creationId xmlns:a16="http://schemas.microsoft.com/office/drawing/2014/main" id="{FF5F9B27-CD12-8F73-F2E7-C5BFA1A569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190" y="3855071"/>
            <a:ext cx="3323048" cy="2192833"/>
          </a:xfrm>
          <a:prstGeom prst="rect">
            <a:avLst/>
          </a:prstGeom>
        </p:spPr>
      </p:pic>
      <p:pic>
        <p:nvPicPr>
          <p:cNvPr id="9" name="图片 8" descr="地图&#10;&#10;AI 生成的内容可能不正确。">
            <a:extLst>
              <a:ext uri="{FF2B5EF4-FFF2-40B4-BE49-F238E27FC236}">
                <a16:creationId xmlns:a16="http://schemas.microsoft.com/office/drawing/2014/main" id="{CE9C710D-A8D3-0BEA-A999-6F561AE7D5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09" y="3855072"/>
            <a:ext cx="3189905" cy="213904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81B2E30-2ED4-3EC0-DE2A-BE02016E87E9}"/>
              </a:ext>
            </a:extLst>
          </p:cNvPr>
          <p:cNvSpPr txBox="1"/>
          <p:nvPr/>
        </p:nvSpPr>
        <p:spPr>
          <a:xfrm>
            <a:off x="1183870" y="6184669"/>
            <a:ext cx="2194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变质岩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8F8CFEE-34BD-2911-408F-F1D5FA1920D3}"/>
              </a:ext>
            </a:extLst>
          </p:cNvPr>
          <p:cNvSpPr txBox="1"/>
          <p:nvPr/>
        </p:nvSpPr>
        <p:spPr>
          <a:xfrm>
            <a:off x="5148434" y="6184669"/>
            <a:ext cx="2194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沉积岩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76BAF8B-297E-E12B-77B0-2C033B67E645}"/>
              </a:ext>
            </a:extLst>
          </p:cNvPr>
          <p:cNvSpPr txBox="1"/>
          <p:nvPr/>
        </p:nvSpPr>
        <p:spPr>
          <a:xfrm>
            <a:off x="8969581" y="6184669"/>
            <a:ext cx="2194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火成岩</a:t>
            </a:r>
          </a:p>
        </p:txBody>
      </p:sp>
    </p:spTree>
    <p:extLst>
      <p:ext uri="{BB962C8B-B14F-4D97-AF65-F5344CB8AC3E}">
        <p14:creationId xmlns:p14="http://schemas.microsoft.com/office/powerpoint/2010/main" val="3910734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600AE-2CC6-9D24-0D9A-6687FD5AF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6DD012-A600-CEE1-A2E9-8DE4062F1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project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FDBCEDE-51FE-0A16-F72F-822876B43D05}"/>
              </a:ext>
            </a:extLst>
          </p:cNvPr>
          <p:cNvSpPr txBox="1"/>
          <p:nvPr/>
        </p:nvSpPr>
        <p:spPr>
          <a:xfrm>
            <a:off x="619626" y="1075546"/>
            <a:ext cx="1117533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support self-customized projects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Suggestions for high rating: </a:t>
            </a:r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 a model that can be directly applied in daily life.</a:t>
            </a:r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 the dataset by yourself, instead of using standard datasets.</a:t>
            </a:r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Adopt some cutting-edge technologies to improve the performance.</a:t>
            </a:r>
          </a:p>
          <a:p>
            <a:endParaRPr lang="en-US" altLang="zh-CN" sz="3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show some great student projects from CS-230 Stanford</a:t>
            </a:r>
            <a:endParaRPr lang="en-US" altLang="zh-CN" sz="28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035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7C1C6-6A03-2CB7-3401-DF4063467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ECFFD7-295F-6F9B-2DAB-868F31571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52747" cy="132556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Sign Language image classification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2EC25AC-A4D3-047E-E96F-E08096BAF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64606"/>
            <a:ext cx="10182225" cy="516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312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61F49-4C84-E2E1-1306-4C7DDD391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36EBE4-8586-9371-2F39-63490A36A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48" y="4474"/>
            <a:ext cx="10952747" cy="132556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LeafNet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DB35B84-345B-9BE3-81DA-BC1362527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21" y="993052"/>
            <a:ext cx="10367357" cy="586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7120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1E084-81D6-03D2-27ED-08BDFD8CE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E3E737-97FF-2DC4-5F06-359760574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626" y="291014"/>
            <a:ext cx="10952747" cy="132556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Inferring Alternate Language Sets from Fonts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BFEBF05-EEFA-7FFB-85E0-9D36BFD65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275" y="1566361"/>
            <a:ext cx="6267450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398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84E95-142B-7E50-4E6B-8C03C3823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E69914-14A5-1AE1-DF8F-B08DD0AE7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626" y="291014"/>
            <a:ext cx="10952747" cy="132556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Image-to-Image translation with Conditional-GAN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A0D0299-150E-F77A-CE02-CBF2F3E29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4" y="1828299"/>
            <a:ext cx="992505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0165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45D7AF-8F41-5375-445F-21C22C1B9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Check more projects…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E90A0FA-29C5-735A-836F-5BB954B39A7A}"/>
              </a:ext>
            </a:extLst>
          </p:cNvPr>
          <p:cNvSpPr txBox="1"/>
          <p:nvPr/>
        </p:nvSpPr>
        <p:spPr>
          <a:xfrm>
            <a:off x="3045995" y="5564426"/>
            <a:ext cx="6100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https://cs230.stanford.edu/past-projects/</a:t>
            </a:r>
            <a:endParaRPr lang="zh-CN" altLang="en-US" sz="2400" dirty="0"/>
          </a:p>
        </p:txBody>
      </p:sp>
      <p:pic>
        <p:nvPicPr>
          <p:cNvPr id="2050" name="Picture 2" descr="生成的二维码">
            <a:extLst>
              <a:ext uri="{FF2B5EF4-FFF2-40B4-BE49-F238E27FC236}">
                <a16:creationId xmlns:a16="http://schemas.microsoft.com/office/drawing/2014/main" id="{D5FA22DA-7AAB-1210-444B-353D571DE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2316" y="2223873"/>
            <a:ext cx="2807368" cy="2807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48090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BB425-FA82-9274-22E9-A400D08A2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9BD2D6-3F48-B2A1-49FD-11CD96918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zh-CN" dirty="0"/>
              <a:t>Any question?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9291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678</Words>
  <Application>Microsoft Macintosh PowerPoint</Application>
  <PresentationFormat>宽屏</PresentationFormat>
  <Paragraphs>109</Paragraphs>
  <Slides>20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等线</vt:lpstr>
      <vt:lpstr>等线 Light</vt:lpstr>
      <vt:lpstr>Roboto Light</vt:lpstr>
      <vt:lpstr>Arial</vt:lpstr>
      <vt:lpstr>Oswald</vt:lpstr>
      <vt:lpstr>Times New Roman</vt:lpstr>
      <vt:lpstr>Wingdings</vt:lpstr>
      <vt:lpstr>Office 主题​​</vt:lpstr>
      <vt:lpstr>STA326: Data Science Practice</vt:lpstr>
      <vt:lpstr>Who are we?</vt:lpstr>
      <vt:lpstr>Outlines</vt:lpstr>
      <vt:lpstr>Data Science Practice? </vt:lpstr>
      <vt:lpstr>Course Objective</vt:lpstr>
      <vt:lpstr>In this class, you will</vt:lpstr>
      <vt:lpstr>Course Syllabus</vt:lpstr>
      <vt:lpstr>Book</vt:lpstr>
      <vt:lpstr>Book</vt:lpstr>
      <vt:lpstr>Grading Formula</vt:lpstr>
      <vt:lpstr>Assignments</vt:lpstr>
      <vt:lpstr>Prerequisites</vt:lpstr>
      <vt:lpstr>Final project (2025 Spring)</vt:lpstr>
      <vt:lpstr>Final project</vt:lpstr>
      <vt:lpstr>Examples: Sign Language image classification </vt:lpstr>
      <vt:lpstr>Examples: LeafNet</vt:lpstr>
      <vt:lpstr>Examples: Inferring Alternate Language Sets from Fonts</vt:lpstr>
      <vt:lpstr>Examples: Image-to-Image translation with Conditional-GAN </vt:lpstr>
      <vt:lpstr>Check more projects…</vt:lpstr>
      <vt:lpstr>Any question?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鸿鑫 魏</dc:creator>
  <cp:lastModifiedBy>鸿鑫 魏</cp:lastModifiedBy>
  <cp:revision>193</cp:revision>
  <dcterms:created xsi:type="dcterms:W3CDTF">2025-02-14T06:47:06Z</dcterms:created>
  <dcterms:modified xsi:type="dcterms:W3CDTF">2026-02-25T05:32:31Z</dcterms:modified>
</cp:coreProperties>
</file>